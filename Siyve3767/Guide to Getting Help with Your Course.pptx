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878" r:id="rId2"/>
    <p:sldId id="910" r:id="rId3"/>
    <p:sldId id="911" r:id="rId4"/>
    <p:sldId id="913" r:id="rId5"/>
    <p:sldId id="912" r:id="rId6"/>
    <p:sldId id="903" r:id="rId7"/>
    <p:sldId id="909" r:id="rId8"/>
    <p:sldId id="905" r:id="rId9"/>
    <p:sldId id="904" r:id="rId10"/>
    <p:sldId id="908" r:id="rId11"/>
    <p:sldId id="906" r:id="rId12"/>
    <p:sldId id="907" r:id="rId13"/>
    <p:sldId id="91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699"/>
    <p:restoredTop sz="94752"/>
  </p:normalViewPr>
  <p:slideViewPr>
    <p:cSldViewPr snapToGrid="0">
      <p:cViewPr varScale="1">
        <p:scale>
          <a:sx n="101" d="100"/>
          <a:sy n="101" d="100"/>
        </p:scale>
        <p:origin x="224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A45B0-31DB-4D42-8D00-AA8F279FFED8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2DA12-45A4-8445-A336-1E899BEA06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0554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6532D-16C9-E38C-F39B-416C51E848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43B3F5-DC28-7E3E-FC86-993C44956A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681A1-6855-AD64-B58E-6131A94B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D4C0A3-8485-B7A4-DAEA-B4AA8C801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60889-E8CB-41B2-B29E-36C243435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5734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C91095-29DB-C153-DBDB-21B6CBFD8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7167F-8B00-F117-D37B-2FBF4E7FF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9D2BAB-33ED-BBE2-7322-A407DE742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E059F-7FA7-D6E4-F427-32B6F715F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75C18-C175-146D-4CF1-2EFF3A15E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4178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62B34-2A12-26C4-74B6-A683F08BD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DEE099-69FA-C57B-719E-9C231FF542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287EC-6880-2A54-E62F-5F0EA28FE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95CDB-1CCD-D564-D257-269ABDC7F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3A0D4-4222-72E4-00A4-9ABDC728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8609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E1BB3-1B43-945F-7DAD-A0BC36B07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BBBB8-29D4-DAD2-5C2A-CF5A0E424A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5E0078-C1AE-9857-B8EB-E8B04AEB28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42778-9044-9CAC-5E35-7AD92730F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D154E-EAB0-6A26-871F-A6CE8C5B7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75321-86DA-DD1C-7E58-B84ACE1B5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47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D4E8E-C36D-DAB4-B7A2-325C76AA9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FB82C5-31D6-A162-D575-A79FD19AD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EE5C1D-78CF-5E93-775A-DD54CD556D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4762B5-C721-E581-3A9E-695EA7252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155DEF-0B77-5A8A-2419-7D970165EB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A393CA-F2EC-4521-5CBC-3A698558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19C130-5D58-D873-4352-D66608429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3EB0B7-72EB-43BE-C24D-D5BED0787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312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B500-7C8D-3161-6094-BB7C7243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C1DCEA-F11C-0D44-D36D-C234564A7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F1AD16-7BD5-2E48-AC52-D15E0B2F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8BFC4-2B7E-1DEF-3302-80EF7969F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8337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5A71F-F446-628D-243D-BE075117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22E33-04F2-1C98-F282-4C9E2C033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D44E52-C8E5-C777-A316-4E03062B3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4993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A176B-1AF5-F907-4132-1DF2B156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2B2A2-D874-ED7A-A7E2-16BA41D01D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C71EA-F027-6794-E1CF-73229CB8E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474AD2-0F3C-DB67-4994-A0C96D400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8AC507-4654-D8A3-E4B3-3686CF3D2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EC8F3-95E8-DFA6-C71F-83A40D938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6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74E19-B0E5-2933-4B64-7C006622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1F697B-CFEF-7841-1466-2717EADE40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086D2F-E559-8329-9715-8D3A2CFB63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4BA8B9-EFF7-D067-4594-B14FC155F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5BD18C-29A8-3A18-9F2D-3BDD54D8E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B0D37-92C6-53EA-3C94-625899DCD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3884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1CA2B-AA69-5C1E-951F-171C7B894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3CFBA-C623-3602-160F-6B28FC6CD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FAE37D-BE99-42D1-92F8-06A97C08F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A116C-477C-580E-5BE9-504F355B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7D873B-7EC2-C7A9-C3F4-D3B12AF37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509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756F5A-BFF3-70F9-DFC3-231ED8DFC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BC2A7A-2487-306A-A8F2-E40F8F5EF2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E31BDA-C9E6-F854-8C31-63EBB4AF45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D13A77-6656-178D-C13B-DAE59ABA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27240-0413-DFB0-2D79-A77DA0520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47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14605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solidFill>
                  <a:srgbClr val="F2652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5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10515600" cy="4351338"/>
          </a:xfrm>
        </p:spPr>
        <p:txBody>
          <a:bodyPr/>
          <a:lstStyle>
            <a:lvl1pPr>
              <a:buClr>
                <a:srgbClr val="F58220"/>
              </a:buClr>
              <a:defRPr/>
            </a:lvl1pPr>
            <a:lvl2pPr>
              <a:buClr>
                <a:srgbClr val="F58220"/>
              </a:buClr>
              <a:defRPr/>
            </a:lvl2pPr>
            <a:lvl3pPr>
              <a:buClr>
                <a:srgbClr val="F58220"/>
              </a:buClr>
              <a:defRPr/>
            </a:lvl3pPr>
            <a:lvl4pPr>
              <a:buClr>
                <a:srgbClr val="F58220"/>
              </a:buClr>
              <a:defRPr/>
            </a:lvl4pPr>
            <a:lvl5pPr>
              <a:buClr>
                <a:srgbClr val="F582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571290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page - oran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40099"/>
            <a:ext cx="9182100" cy="2146301"/>
          </a:xfrm>
          <a:prstGeom prst="rect">
            <a:avLst/>
          </a:prstGeom>
          <a:solidFill>
            <a:srgbClr val="F26522">
              <a:alpha val="8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 sz="80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749300" y="3556000"/>
            <a:ext cx="8140700" cy="127793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NZ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749300" y="4833938"/>
            <a:ext cx="8140700" cy="6016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NZ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8522" y="0"/>
            <a:ext cx="2007556" cy="199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086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3E8372-D4DB-AEB7-C91F-25C9A1C40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107DFC-29D8-D16E-D5D5-67211B43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C9BBF-E5C7-C3B6-30D5-538E96390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CC961-9611-B64B-9761-A614A4AD09A3}" type="datetimeFigureOut">
              <a:rPr lang="en-GB" smtClean="0"/>
              <a:t>25/06/2026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32FB9-0199-17F1-F01A-01920C2825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B412C-DA2B-CFFC-9614-57D92F031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0AE8EC-F02D-304B-999F-595FB330C2D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47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mailto:mahsa.mohaghegh@aut.ac.nz?subject=[COURSECODE]%20[STUDENTID]%20Deasscription%20of%20Query" TargetMode="Externa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mailto:mali.senapathi@aut.ac.nz%20%20?subject=[COURSECODE]%20[STUDENTID]%20Deasscription%20of%20Query" TargetMode="Externa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mailto:parma.nand@aut.ac.nz?subject=[COURSECODE]%20[STUDENTID]%20Deasscription%20of%20Query" TargetMode="Externa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mailto:alastair.nisbet@aut.ac.nz?subject=[COURSECODE]%20[STUDENTID]%20Deasscription%20of%20Query" TargetMode="Externa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mailto:daniel.vaipulu@aut.ac.nz?subject=[COURSECODE]%20[STUDENTID]%20Deasscription%20of%20Query" TargetMode="Externa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mailto:matthew.kuo@aut.ac.nz?subject=[COURSECODE]%20[STUDENTID]%20Deasscription%20of%20Query" TargetMode="Externa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hyperlink" Target="mailto:nathan.allen@aut.ac.nz?subject=[COURSECODE]%20[STUDENTID]%20Deasscription%20of%20Query" TargetMode="External"/><Relationship Id="rId7" Type="http://schemas.openxmlformats.org/officeDocument/2006/relationships/image" Target="../media/image11.png"/><Relationship Id="rId2" Type="http://schemas.openxmlformats.org/officeDocument/2006/relationships/hyperlink" Target="mailto:duaa.alhamid@aut.ac.nz?subject=[COURSECODE]%20[STUDENTID]%20Deasscription%20of%20Query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11" Type="http://schemas.openxmlformats.org/officeDocument/2006/relationships/hyperlink" Target="mailto:akbar.ghobakhlou@aut.ac.nz?subject=[COURSECODE]%20[STUDENTID]%20Deasscription%20of%20Query" TargetMode="External"/><Relationship Id="rId5" Type="http://schemas.openxmlformats.org/officeDocument/2006/relationships/hyperlink" Target="mailto:anuradha.singh@aut.ac.nz?subject=[COURSECODE]%20[STUDENTID]%20Deasscription%20of%20Query" TargetMode="External"/><Relationship Id="rId10" Type="http://schemas.openxmlformats.org/officeDocument/2006/relationships/image" Target="../media/image14.jpeg"/><Relationship Id="rId4" Type="http://schemas.openxmlformats.org/officeDocument/2006/relationships/hyperlink" Target="mailto:raymond.lutui@aut.ac.nz?subject=[COURSECODE]%20[STUDENTID]%20Deasscription%20of%20Query" TargetMode="External"/><Relationship Id="rId9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638A9-1E86-FBA3-85E5-9FEECAD0B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1BAA2-7D19-79F0-5556-D9DB043FF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299" y="3556000"/>
            <a:ext cx="8462433" cy="1277938"/>
          </a:xfrm>
        </p:spPr>
        <p:txBody>
          <a:bodyPr>
            <a:normAutofit/>
          </a:bodyPr>
          <a:lstStyle/>
          <a:p>
            <a:pPr lvl="0"/>
            <a:r>
              <a:rPr lang="en-US" sz="3600" dirty="0"/>
              <a:t>A Guide to Getting Help with Your Course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382978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0DCA7-1664-66A7-315C-7EE81326E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Getting the Right Help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D31F8-ECAA-5A5E-71F2-9C96B8667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AUT has many people to help support your studies</a:t>
            </a:r>
          </a:p>
          <a:p>
            <a:endParaRPr lang="en-GB" dirty="0"/>
          </a:p>
          <a:p>
            <a:r>
              <a:rPr lang="en-GB" dirty="0"/>
              <a:t>Knowing who to contact will resolve your query faster</a:t>
            </a:r>
          </a:p>
          <a:p>
            <a:endParaRPr lang="en-GB" dirty="0"/>
          </a:p>
          <a:p>
            <a:r>
              <a:rPr lang="en-GB" dirty="0"/>
              <a:t>Most questions can be resolved quickly at the right level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2072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F1B61B-5212-D906-1CE4-6075599EB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Your First Point of Contact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801739-DE36-736E-833B-77A42063C2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 dirty="0"/>
              <a:t>Start with the person closest to your learning</a:t>
            </a:r>
          </a:p>
          <a:p>
            <a:endParaRPr lang="en-GB" dirty="0"/>
          </a:p>
          <a:p>
            <a:r>
              <a:rPr lang="en-GB" dirty="0"/>
              <a:t>In most cases, this is your Course Leader</a:t>
            </a:r>
          </a:p>
          <a:p>
            <a:endParaRPr lang="en-GB" dirty="0"/>
          </a:p>
          <a:p>
            <a:r>
              <a:rPr lang="en-GB" dirty="0"/>
              <a:t>If needed, your query can be progressed step-by-step</a:t>
            </a:r>
          </a:p>
        </p:txBody>
      </p:sp>
    </p:spTree>
    <p:extLst>
      <p:ext uri="{BB962C8B-B14F-4D97-AF65-F5344CB8AC3E}">
        <p14:creationId xmlns:p14="http://schemas.microsoft.com/office/powerpoint/2010/main" val="2897933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FC253-70CE-A07D-5E7D-17C82AA10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Roles: Who Does What?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8B7948-996F-067A-682C-11FF527FD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dirty="0"/>
              <a:t>The </a:t>
            </a:r>
            <a:r>
              <a:rPr lang="en-GB" u="sng" dirty="0"/>
              <a:t>Course Leader</a:t>
            </a:r>
            <a:r>
              <a:rPr lang="en-GB" dirty="0"/>
              <a:t> manages your teaching, assessments, and course delivery. </a:t>
            </a:r>
          </a:p>
          <a:p>
            <a:endParaRPr lang="en-GB" dirty="0"/>
          </a:p>
          <a:p>
            <a:r>
              <a:rPr lang="en-GB" dirty="0"/>
              <a:t>Usually, but not always, the Course Leader is your weekly lecturer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u="sng" dirty="0"/>
              <a:t>Major Leader</a:t>
            </a:r>
            <a:r>
              <a:rPr lang="en-GB" dirty="0"/>
              <a:t> supports your specialisation and academic pathway</a:t>
            </a:r>
          </a:p>
          <a:p>
            <a:endParaRPr lang="en-GB" dirty="0"/>
          </a:p>
          <a:p>
            <a:r>
              <a:rPr lang="en-GB" dirty="0"/>
              <a:t>Major Leaders reports to the Programme Director</a:t>
            </a:r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The </a:t>
            </a:r>
            <a:r>
              <a:rPr lang="en-GB" u="sng" dirty="0"/>
              <a:t>Programme Director</a:t>
            </a:r>
            <a:r>
              <a:rPr lang="en-GB" dirty="0"/>
              <a:t> oversees programme structure and quality</a:t>
            </a:r>
          </a:p>
          <a:p>
            <a:endParaRPr lang="en-GB" dirty="0"/>
          </a:p>
          <a:p>
            <a:r>
              <a:rPr lang="en-GB" dirty="0"/>
              <a:t>The </a:t>
            </a:r>
            <a:r>
              <a:rPr lang="en-GB" u="sng" dirty="0"/>
              <a:t>Head of Department</a:t>
            </a:r>
            <a:r>
              <a:rPr lang="en-GB" dirty="0"/>
              <a:t> provides leadership to staff teaching across programmes</a:t>
            </a:r>
          </a:p>
        </p:txBody>
      </p:sp>
    </p:spTree>
    <p:extLst>
      <p:ext uri="{BB962C8B-B14F-4D97-AF65-F5344CB8AC3E}">
        <p14:creationId xmlns:p14="http://schemas.microsoft.com/office/powerpoint/2010/main" val="3430465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CD5B0-16CC-734E-DF83-C52DDE21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Should I Contact?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7FE18-C1C0-B901-C075-397EECAC12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dirty="0"/>
              <a:t>For assessment queries contact the Course Leader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For course-related concerns contact the Course Leader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For major or study pathway advice contact the Major Leader</a:t>
            </a:r>
            <a:br>
              <a:rPr lang="en-GB" dirty="0"/>
            </a:br>
            <a:endParaRPr lang="en-GB" dirty="0"/>
          </a:p>
          <a:p>
            <a:r>
              <a:rPr lang="en-GB" dirty="0"/>
              <a:t>For any unresolved queries escalate up one step:</a:t>
            </a:r>
          </a:p>
          <a:p>
            <a:endParaRPr lang="en-GB" dirty="0"/>
          </a:p>
          <a:p>
            <a:pPr lvl="1"/>
            <a:r>
              <a:rPr lang="en-GB" dirty="0"/>
              <a:t>Course Leader → Major Leader → Programme Director</a:t>
            </a:r>
          </a:p>
          <a:p>
            <a:endParaRPr lang="en-GB" dirty="0"/>
          </a:p>
          <a:p>
            <a:r>
              <a:rPr lang="en-GB" dirty="0"/>
              <a:t>The Programme Director contacts Head of Department as needed</a:t>
            </a:r>
          </a:p>
        </p:txBody>
      </p:sp>
    </p:spTree>
    <p:extLst>
      <p:ext uri="{BB962C8B-B14F-4D97-AF65-F5344CB8AC3E}">
        <p14:creationId xmlns:p14="http://schemas.microsoft.com/office/powerpoint/2010/main" val="2555315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5988D-F977-0EB4-4C3C-89578A1D7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3AFC8-CBF9-A76A-7FE2-B97B5F69A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Head of Department </a:t>
            </a:r>
            <a:br>
              <a:rPr lang="en-US" dirty="0"/>
            </a:br>
            <a:r>
              <a:rPr lang="en-US" dirty="0"/>
              <a:t>Computer &amp; Information Sciences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D529E2-02D9-438D-536B-684002431F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2478504"/>
            <a:ext cx="6172752" cy="2781607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A/Prof. Mahsa </a:t>
            </a:r>
            <a:r>
              <a:rPr lang="en-GB" dirty="0" err="1">
                <a:solidFill>
                  <a:schemeClr val="tx2"/>
                </a:solidFill>
              </a:rPr>
              <a:t>Mohaghegh</a:t>
            </a:r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  <a:hlinkClick r:id="rId2"/>
              </a:rPr>
              <a:t>mahsa.mohaghegh@aut.ac.nz</a:t>
            </a:r>
            <a:endParaRPr lang="en-GB" dirty="0">
              <a:solidFill>
                <a:schemeClr val="tx2"/>
              </a:solidFill>
            </a:endParaRP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Manages Programme Directors</a:t>
            </a:r>
          </a:p>
          <a:p>
            <a:pPr marL="0" indent="0">
              <a:buNone/>
            </a:pPr>
            <a:endParaRPr lang="en-GB" dirty="0">
              <a:solidFill>
                <a:schemeClr val="tx2"/>
              </a:solidFill>
            </a:endParaRPr>
          </a:p>
          <a:p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7D58972-A812-F8F1-E074-6FC32D7863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537" y="1954696"/>
            <a:ext cx="3578563" cy="3578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281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88F9-F844-EF5C-44C3-8EC8D3D0F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Post-Graduate Studies Programme Director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71E70-F3E9-A496-C6C6-F580DFDDFE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2552543"/>
            <a:ext cx="5565942" cy="2763565"/>
          </a:xfrm>
        </p:spPr>
        <p:txBody>
          <a:bodyPr/>
          <a:lstStyle/>
          <a:p>
            <a:endParaRPr lang="en-NZ" dirty="0"/>
          </a:p>
          <a:p>
            <a:r>
              <a:rPr lang="en-NZ" dirty="0"/>
              <a:t>Dr. Mali </a:t>
            </a:r>
            <a:r>
              <a:rPr lang="en-NZ" dirty="0" err="1"/>
              <a:t>Senapathi</a:t>
            </a:r>
            <a:endParaRPr lang="en-NZ" dirty="0"/>
          </a:p>
          <a:p>
            <a:r>
              <a:rPr lang="en-NZ" dirty="0">
                <a:hlinkClick r:id="rId2"/>
              </a:rPr>
              <a:t>mali.senapathi@aut.ac.nz</a:t>
            </a:r>
            <a:endParaRPr lang="en-NZ" dirty="0"/>
          </a:p>
          <a:p>
            <a:endParaRPr lang="en-NZ" dirty="0"/>
          </a:p>
          <a:p>
            <a:r>
              <a:rPr lang="en-NZ" dirty="0"/>
              <a:t>Programme Director PG Studies</a:t>
            </a:r>
            <a:endParaRPr lang="en-GB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3F6A87E-5348-54B5-05B3-ADF9D106CE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9176" y="2349856"/>
            <a:ext cx="3170191" cy="3170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2347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0C98C7-CDB8-101F-474E-6651F366A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8D74-BF69-AF0A-7D39-B07DE88A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of Computing and Information Sciences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4F925E-51F9-489E-1FCB-C8BB62F06DA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43270" y="1803952"/>
            <a:ext cx="5618921" cy="3250095"/>
          </a:xfrm>
        </p:spPr>
        <p:txBody>
          <a:bodyPr/>
          <a:lstStyle/>
          <a:p>
            <a:endParaRPr lang="en-GB" dirty="0"/>
          </a:p>
          <a:p>
            <a:r>
              <a:rPr lang="en-GB" dirty="0"/>
              <a:t>Parma Nand</a:t>
            </a:r>
          </a:p>
          <a:p>
            <a:r>
              <a:rPr lang="en-GB" dirty="0">
                <a:hlinkClick r:id="rId2"/>
              </a:rPr>
              <a:t>parma.nand@aut.ac.nz</a:t>
            </a:r>
            <a:endParaRPr lang="en-GB" dirty="0"/>
          </a:p>
          <a:p>
            <a:endParaRPr lang="en-GB" dirty="0"/>
          </a:p>
          <a:p>
            <a:r>
              <a:rPr lang="en-GB" dirty="0"/>
              <a:t>Programme Director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70391C8E-F1B8-5133-DD25-79E989766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1844530"/>
            <a:ext cx="3250095" cy="3250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7518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150CF-A2B7-B48C-30AB-196937A4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B24A6-E67E-98A7-C150-65B217138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Master of Cyber Security and Digital Forensics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0D8136-3ED8-5A87-8124-5DF56B23E4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92470" y="2729458"/>
            <a:ext cx="5125830" cy="2064861"/>
          </a:xfrm>
        </p:spPr>
        <p:txBody>
          <a:bodyPr/>
          <a:lstStyle/>
          <a:p>
            <a:r>
              <a:rPr lang="en-GB" dirty="0"/>
              <a:t>Dr. Alastair Nisbet</a:t>
            </a:r>
          </a:p>
          <a:p>
            <a:r>
              <a:rPr lang="en-GB" dirty="0">
                <a:hlinkClick r:id="rId2"/>
              </a:rPr>
              <a:t>alastair.nisbet@aut.ac.nz</a:t>
            </a:r>
            <a:br>
              <a:rPr lang="en-GB" dirty="0"/>
            </a:br>
            <a:endParaRPr lang="en-GB" dirty="0"/>
          </a:p>
          <a:p>
            <a:r>
              <a:rPr lang="en-GB" dirty="0"/>
              <a:t>Programme Director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F71C30A-D7CB-E645-D6F3-05709445E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3982" y="1994103"/>
            <a:ext cx="3535570" cy="3535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28565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1F948C-2323-2773-7769-807A72852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Master of IT Project Management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4F0D3-4B48-0B5B-A578-59FDE82ED2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2570922"/>
            <a:ext cx="5125830" cy="231913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2"/>
                </a:solidFill>
              </a:rPr>
              <a:t>Daniel </a:t>
            </a:r>
            <a:r>
              <a:rPr lang="en-GB" dirty="0" err="1">
                <a:solidFill>
                  <a:schemeClr val="tx2"/>
                </a:solidFill>
              </a:rPr>
              <a:t>Vaipulu</a:t>
            </a:r>
            <a:endParaRPr lang="en-GB" dirty="0">
              <a:solidFill>
                <a:schemeClr val="tx2"/>
              </a:solidFill>
            </a:endParaRPr>
          </a:p>
          <a:p>
            <a:r>
              <a:rPr lang="en-GB" dirty="0" err="1">
                <a:solidFill>
                  <a:schemeClr val="tx2"/>
                </a:solidFill>
                <a:hlinkClick r:id="rId2"/>
              </a:rPr>
              <a:t>daniel.vaipulu@aut.ac.nz</a:t>
            </a:r>
            <a:endParaRPr lang="en-GB" dirty="0">
              <a:solidFill>
                <a:schemeClr val="tx2"/>
              </a:solidFill>
            </a:endParaRPr>
          </a:p>
          <a:p>
            <a:endParaRPr lang="en-GB" dirty="0">
              <a:solidFill>
                <a:schemeClr val="tx2"/>
              </a:solidFill>
            </a:endParaRPr>
          </a:p>
          <a:p>
            <a:r>
              <a:rPr lang="en-GB" dirty="0">
                <a:solidFill>
                  <a:schemeClr val="tx2"/>
                </a:solidFill>
              </a:rPr>
              <a:t>Programme Director</a:t>
            </a:r>
          </a:p>
          <a:p>
            <a:endParaRPr lang="en-GB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4D6E53D2-82E8-FF05-A5C0-0FEEE49F8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97149" y="1763920"/>
            <a:ext cx="3933134" cy="3933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99529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B2049-FAF0-ADFC-7DED-978D3CAB8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Bachelor of Computer and Information Sciences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23C4D-A579-9B52-EED7-D224AE7F06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1844530"/>
            <a:ext cx="5205343" cy="4351338"/>
          </a:xfrm>
        </p:spPr>
        <p:txBody>
          <a:bodyPr/>
          <a:lstStyle/>
          <a:p>
            <a:endParaRPr lang="en-GB" dirty="0"/>
          </a:p>
          <a:p>
            <a:endParaRPr lang="en-GB" dirty="0"/>
          </a:p>
          <a:p>
            <a:r>
              <a:rPr lang="en-GB" dirty="0"/>
              <a:t>Matthew Kuo</a:t>
            </a:r>
          </a:p>
          <a:p>
            <a:r>
              <a:rPr lang="en-GB" dirty="0" err="1">
                <a:hlinkClick r:id="rId2"/>
              </a:rPr>
              <a:t>matthew.kuo@aut.ac.nz</a:t>
            </a:r>
            <a:br>
              <a:rPr lang="en-GB" dirty="0"/>
            </a:br>
            <a:endParaRPr lang="en-GB" dirty="0"/>
          </a:p>
          <a:p>
            <a:r>
              <a:rPr lang="en-GB" dirty="0"/>
              <a:t>BCIS Programme Director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558BD9E-6090-78E8-3B41-53BDB6BABF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191" y="1844530"/>
            <a:ext cx="3819940" cy="38199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0403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97F03-3421-39CE-8D90-3E071D596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BCIS Major Leaders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B354CB-EE83-609B-2F7B-1F3A627D348C}"/>
              </a:ext>
            </a:extLst>
          </p:cNvPr>
          <p:cNvSpPr/>
          <p:nvPr/>
        </p:nvSpPr>
        <p:spPr>
          <a:xfrm>
            <a:off x="1393304" y="3891831"/>
            <a:ext cx="1602020" cy="55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Dr. Nathan Allen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7BB871-B8EB-1A07-D3EE-6E332E4E25AA}"/>
              </a:ext>
            </a:extLst>
          </p:cNvPr>
          <p:cNvSpPr/>
          <p:nvPr/>
        </p:nvSpPr>
        <p:spPr>
          <a:xfrm>
            <a:off x="1393303" y="4624643"/>
            <a:ext cx="1602021" cy="5508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Computer Science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E0C191-A674-A2DF-E6F1-98171F5BB0A4}"/>
              </a:ext>
            </a:extLst>
          </p:cNvPr>
          <p:cNvSpPr/>
          <p:nvPr/>
        </p:nvSpPr>
        <p:spPr>
          <a:xfrm>
            <a:off x="3627354" y="3878606"/>
            <a:ext cx="1602020" cy="55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Dr. Duaa Zuhair Al-Hamid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F81C7E-AEDF-6585-FE5E-5F12E9CCFE09}"/>
              </a:ext>
            </a:extLst>
          </p:cNvPr>
          <p:cNvSpPr/>
          <p:nvPr/>
        </p:nvSpPr>
        <p:spPr>
          <a:xfrm>
            <a:off x="3627353" y="4601202"/>
            <a:ext cx="1602021" cy="5508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Digital Services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887BF1-C9A1-2114-2ED1-14E195086D4F}"/>
              </a:ext>
            </a:extLst>
          </p:cNvPr>
          <p:cNvSpPr/>
          <p:nvPr/>
        </p:nvSpPr>
        <p:spPr>
          <a:xfrm>
            <a:off x="3630125" y="5323798"/>
            <a:ext cx="1602021" cy="55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2"/>
                </a:solidFill>
                <a:hlinkClick r:id="rId2"/>
              </a:rPr>
              <a:t>duaa.alhamid</a:t>
            </a:r>
            <a:br>
              <a:rPr lang="en-GB" sz="1400" dirty="0">
                <a:solidFill>
                  <a:schemeClr val="tx2"/>
                </a:solidFill>
                <a:hlinkClick r:id="rId2"/>
              </a:rPr>
            </a:br>
            <a:r>
              <a:rPr lang="en-GB" sz="1400" dirty="0">
                <a:solidFill>
                  <a:schemeClr val="tx2"/>
                </a:solidFill>
                <a:hlinkClick r:id="rId2"/>
              </a:rPr>
              <a:t>@</a:t>
            </a:r>
            <a:r>
              <a:rPr lang="en-GB" sz="1400" dirty="0" err="1">
                <a:solidFill>
                  <a:schemeClr val="tx2"/>
                </a:solidFill>
                <a:hlinkClick r:id="rId2"/>
              </a:rPr>
              <a:t>aut.ac.nz</a:t>
            </a:r>
            <a:endParaRPr lang="en-GB" sz="1400" dirty="0">
              <a:solidFill>
                <a:schemeClr val="tx2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ED9CB0F-762D-705B-0952-E0C1F6522DB8}"/>
              </a:ext>
            </a:extLst>
          </p:cNvPr>
          <p:cNvSpPr/>
          <p:nvPr/>
        </p:nvSpPr>
        <p:spPr>
          <a:xfrm>
            <a:off x="1393303" y="5357455"/>
            <a:ext cx="1602021" cy="55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2"/>
                </a:solidFill>
                <a:hlinkClick r:id="rId3"/>
              </a:rPr>
              <a:t>nathan.allen</a:t>
            </a:r>
            <a:br>
              <a:rPr lang="en-GB" sz="1400" dirty="0">
                <a:solidFill>
                  <a:schemeClr val="tx2"/>
                </a:solidFill>
                <a:hlinkClick r:id="rId3"/>
              </a:rPr>
            </a:br>
            <a:r>
              <a:rPr lang="en-GB" sz="1400" dirty="0">
                <a:solidFill>
                  <a:schemeClr val="tx2"/>
                </a:solidFill>
                <a:hlinkClick r:id="rId3"/>
              </a:rPr>
              <a:t>@</a:t>
            </a:r>
            <a:r>
              <a:rPr lang="en-GB" sz="1400" dirty="0" err="1">
                <a:solidFill>
                  <a:schemeClr val="tx2"/>
                </a:solidFill>
                <a:hlinkClick r:id="rId3"/>
              </a:rPr>
              <a:t>aut.ac.nz</a:t>
            </a:r>
            <a:endParaRPr lang="en-GB" sz="1400" dirty="0">
              <a:solidFill>
                <a:schemeClr val="tx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03A357A-DBDB-B592-3B8E-8DDCDC915269}"/>
              </a:ext>
            </a:extLst>
          </p:cNvPr>
          <p:cNvSpPr/>
          <p:nvPr/>
        </p:nvSpPr>
        <p:spPr>
          <a:xfrm>
            <a:off x="5806949" y="3878606"/>
            <a:ext cx="1602020" cy="55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Dr. Raymond Lutui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E9D436-80F1-084E-423F-E4B955AACE9C}"/>
              </a:ext>
            </a:extLst>
          </p:cNvPr>
          <p:cNvSpPr/>
          <p:nvPr/>
        </p:nvSpPr>
        <p:spPr>
          <a:xfrm>
            <a:off x="5806948" y="4601202"/>
            <a:ext cx="1602021" cy="5508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Network and Cyber Security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DD3C3D-5BC8-7D51-2305-D6B720446F8B}"/>
              </a:ext>
            </a:extLst>
          </p:cNvPr>
          <p:cNvSpPr/>
          <p:nvPr/>
        </p:nvSpPr>
        <p:spPr>
          <a:xfrm>
            <a:off x="5812492" y="5323798"/>
            <a:ext cx="1602021" cy="55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2"/>
                </a:solidFill>
                <a:hlinkClick r:id="rId4"/>
              </a:rPr>
              <a:t>raymond.lutui</a:t>
            </a:r>
            <a:br>
              <a:rPr lang="en-GB" sz="1400" dirty="0">
                <a:solidFill>
                  <a:schemeClr val="tx2"/>
                </a:solidFill>
                <a:hlinkClick r:id="rId4"/>
              </a:rPr>
            </a:br>
            <a:r>
              <a:rPr lang="en-GB" sz="1400" dirty="0">
                <a:solidFill>
                  <a:schemeClr val="tx2"/>
                </a:solidFill>
                <a:hlinkClick r:id="rId4"/>
              </a:rPr>
              <a:t>@</a:t>
            </a:r>
            <a:r>
              <a:rPr lang="en-GB" sz="1400" dirty="0" err="1">
                <a:solidFill>
                  <a:schemeClr val="tx2"/>
                </a:solidFill>
                <a:hlinkClick r:id="rId4"/>
              </a:rPr>
              <a:t>aut.ac.nz</a:t>
            </a:r>
            <a:endParaRPr lang="en-GB" sz="1400" dirty="0">
              <a:solidFill>
                <a:schemeClr val="tx2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12F872-9653-6A9C-94C1-8766EFE17440}"/>
              </a:ext>
            </a:extLst>
          </p:cNvPr>
          <p:cNvSpPr/>
          <p:nvPr/>
        </p:nvSpPr>
        <p:spPr>
          <a:xfrm>
            <a:off x="7986543" y="3891831"/>
            <a:ext cx="1602020" cy="55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Dr. Anuradha Singh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0E4BAD-2130-EC64-53C4-04D486813B1A}"/>
              </a:ext>
            </a:extLst>
          </p:cNvPr>
          <p:cNvSpPr/>
          <p:nvPr/>
        </p:nvSpPr>
        <p:spPr>
          <a:xfrm>
            <a:off x="7986542" y="4614427"/>
            <a:ext cx="1602021" cy="5508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Software Development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81274A-6153-54CC-498B-897157C12738}"/>
              </a:ext>
            </a:extLst>
          </p:cNvPr>
          <p:cNvSpPr/>
          <p:nvPr/>
        </p:nvSpPr>
        <p:spPr>
          <a:xfrm>
            <a:off x="7994858" y="5337023"/>
            <a:ext cx="1602021" cy="55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2"/>
                </a:solidFill>
                <a:hlinkClick r:id="rId5"/>
              </a:rPr>
              <a:t>anuradha.singh</a:t>
            </a:r>
            <a:br>
              <a:rPr lang="en-GB" sz="1400" dirty="0">
                <a:solidFill>
                  <a:schemeClr val="tx2"/>
                </a:solidFill>
                <a:hlinkClick r:id="rId5"/>
              </a:rPr>
            </a:br>
            <a:r>
              <a:rPr lang="en-GB" sz="1400" dirty="0">
                <a:solidFill>
                  <a:schemeClr val="tx2"/>
                </a:solidFill>
                <a:hlinkClick r:id="rId5"/>
              </a:rPr>
              <a:t>@</a:t>
            </a:r>
            <a:r>
              <a:rPr lang="en-GB" sz="1400" dirty="0" err="1">
                <a:solidFill>
                  <a:schemeClr val="tx2"/>
                </a:solidFill>
                <a:hlinkClick r:id="rId5"/>
              </a:rPr>
              <a:t>aut.ac.nz</a:t>
            </a:r>
            <a:endParaRPr lang="en-GB" sz="1400" dirty="0">
              <a:solidFill>
                <a:schemeClr val="tx2"/>
              </a:solidFill>
            </a:endParaRP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F7E137B6-0032-D9A4-B71A-CDF2DEA8D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2181" y="1755589"/>
            <a:ext cx="1746262" cy="17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15A52F28-1EA9-C942-BB4E-0312685A9A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611" y="1747639"/>
            <a:ext cx="1746262" cy="17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5C3DF00-5DB6-C680-2E86-15C26DC18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041" y="1747639"/>
            <a:ext cx="1746262" cy="17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>
            <a:extLst>
              <a:ext uri="{FF2B5EF4-FFF2-40B4-BE49-F238E27FC236}">
                <a16:creationId xmlns:a16="http://schemas.microsoft.com/office/drawing/2014/main" id="{C9639A55-50C8-18AE-2051-4AF5BE5AD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09471" y="1763465"/>
            <a:ext cx="1746262" cy="17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94B3369-2C98-70C9-A656-6C3B2826A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0517" y="1763465"/>
            <a:ext cx="1746262" cy="1746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92F69D7-EFD4-1B78-5A5E-F540325C8FC7}"/>
              </a:ext>
            </a:extLst>
          </p:cNvPr>
          <p:cNvSpPr/>
          <p:nvPr/>
        </p:nvSpPr>
        <p:spPr>
          <a:xfrm>
            <a:off x="10177225" y="3878606"/>
            <a:ext cx="1602020" cy="550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Dr. Akbar </a:t>
            </a:r>
            <a:r>
              <a:rPr lang="en-GB" sz="1400" dirty="0" err="1">
                <a:solidFill>
                  <a:schemeClr val="tx2"/>
                </a:solidFill>
              </a:rPr>
              <a:t>Ghobakhlou</a:t>
            </a:r>
            <a:endParaRPr lang="en-GB" sz="1400" dirty="0">
              <a:solidFill>
                <a:schemeClr val="tx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2EA792-5C40-09EF-A222-177EC5F1D459}"/>
              </a:ext>
            </a:extLst>
          </p:cNvPr>
          <p:cNvSpPr/>
          <p:nvPr/>
        </p:nvSpPr>
        <p:spPr>
          <a:xfrm>
            <a:off x="10177224" y="4611418"/>
            <a:ext cx="1602021" cy="55088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>
                <a:solidFill>
                  <a:schemeClr val="tx2"/>
                </a:solidFill>
              </a:rPr>
              <a:t>Data Science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187A175-1970-BA7B-58C0-6718CB8D8630}"/>
              </a:ext>
            </a:extLst>
          </p:cNvPr>
          <p:cNvSpPr/>
          <p:nvPr/>
        </p:nvSpPr>
        <p:spPr>
          <a:xfrm>
            <a:off x="10177224" y="5344230"/>
            <a:ext cx="1602021" cy="55088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dirty="0" err="1">
                <a:solidFill>
                  <a:schemeClr val="tx2"/>
                </a:solidFill>
                <a:hlinkClick r:id="rId11"/>
              </a:rPr>
              <a:t>akbar.ghobakhlou@aut.ac.nz</a:t>
            </a:r>
            <a:endParaRPr lang="en-GB" sz="1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393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DAFA7-54EC-FCC2-590E-614E7A7E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Further Questions</a:t>
            </a:r>
            <a:r>
              <a:rPr lang="en-GB" dirty="0"/>
              <a:t>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9DDD20-E291-1358-6813-4EC65AF2A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60500" y="2441430"/>
            <a:ext cx="6769100" cy="2702070"/>
          </a:xfrm>
        </p:spPr>
        <p:txBody>
          <a:bodyPr/>
          <a:lstStyle/>
          <a:p>
            <a:r>
              <a:rPr lang="en-GB" dirty="0"/>
              <a:t>Why not visit student reception on the third floor of the WZ building!</a:t>
            </a:r>
          </a:p>
          <a:p>
            <a:endParaRPr lang="en-GB" dirty="0"/>
          </a:p>
          <a:p>
            <a:r>
              <a:rPr lang="en-GB" dirty="0"/>
              <a:t>We can provide you advice and help you get into contact with the best person to answer your questions</a:t>
            </a:r>
          </a:p>
        </p:txBody>
      </p:sp>
    </p:spTree>
    <p:extLst>
      <p:ext uri="{BB962C8B-B14F-4D97-AF65-F5344CB8AC3E}">
        <p14:creationId xmlns:p14="http://schemas.microsoft.com/office/powerpoint/2010/main" val="1166468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445</Words>
  <Application>Microsoft Macintosh PowerPoint</Application>
  <PresentationFormat>Widescreen</PresentationFormat>
  <Paragraphs>87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A Guide to Getting Help with Your Course</vt:lpstr>
      <vt:lpstr>Getting the Right Help</vt:lpstr>
      <vt:lpstr>Your First Point of Contact</vt:lpstr>
      <vt:lpstr>Roles: Who Does What?</vt:lpstr>
      <vt:lpstr>Who Should I Contact?</vt:lpstr>
      <vt:lpstr>Head of Department  Computer &amp; Information Sciences</vt:lpstr>
      <vt:lpstr>Post-Graduate Studies Programme Director</vt:lpstr>
      <vt:lpstr>Master of Computing and Information Sciences</vt:lpstr>
      <vt:lpstr>Master of Cyber Security and Digital Forensics</vt:lpstr>
      <vt:lpstr>Master of IT Project Management</vt:lpstr>
      <vt:lpstr>Bachelor of Computer and Information Sciences</vt:lpstr>
      <vt:lpstr>BCIS Major Leaders</vt:lpstr>
      <vt:lpstr>Further 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Kenneth Johnson</dc:creator>
  <cp:lastModifiedBy>Kenneth Johnson</cp:lastModifiedBy>
  <cp:revision>42</cp:revision>
  <dcterms:created xsi:type="dcterms:W3CDTF">2026-06-10T20:32:57Z</dcterms:created>
  <dcterms:modified xsi:type="dcterms:W3CDTF">2026-06-25T09:27:48Z</dcterms:modified>
</cp:coreProperties>
</file>