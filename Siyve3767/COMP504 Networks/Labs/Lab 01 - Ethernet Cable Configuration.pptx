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2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41810-B85C-9CC6-2FBE-4C2CCC792C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EF23BD-6869-B4F4-DE8E-34EF5739F1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D0C25B-5062-9D81-39E9-D64CE220A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A08B8-2329-4280-9470-8D33B9EA33B6}" type="datetimeFigureOut">
              <a:rPr lang="en-NZ" smtClean="0"/>
              <a:t>9/03/2024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56BC96-AC29-7786-067E-75B8E00F1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143CBB-A740-8AE0-8B85-6E0CF1399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6B290-87DD-4AD2-80F2-C4C030D48444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504642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1DB08-716B-C4AD-4D86-16A7B6122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904A42-85CE-9039-174B-8FB7DC2784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3611AF-A3B4-F358-3A27-AF667E967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A08B8-2329-4280-9470-8D33B9EA33B6}" type="datetimeFigureOut">
              <a:rPr lang="en-NZ" smtClean="0"/>
              <a:t>9/03/2024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665FB8-E986-23AC-9709-F365C3FDC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D0719-3AB4-83B6-9A5D-7EF6127FA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6B290-87DD-4AD2-80F2-C4C030D48444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837131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FFCD2-D4B3-BC1F-E5BF-6EC9AFF79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999F04-D289-BC8B-2A82-3A0ABCFBC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A7764C-D893-D26B-A6C3-44D6BE439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A08B8-2329-4280-9470-8D33B9EA33B6}" type="datetimeFigureOut">
              <a:rPr lang="en-NZ" smtClean="0"/>
              <a:t>9/03/2024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4D8620-DDC4-8998-0EBF-1A5686D41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C10F61-BCC7-01B1-67E6-0EDE8BC91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6B290-87DD-4AD2-80F2-C4C030D48444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002692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3D673-067D-32C5-2FAE-7F5DA0EE3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1085F2-C435-2870-74D8-BE5AC629B6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C7214B-16E4-6A84-8858-38A1ABAD2F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424D59-B6A7-68C4-84C1-87C99E8CC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A08B8-2329-4280-9470-8D33B9EA33B6}" type="datetimeFigureOut">
              <a:rPr lang="en-NZ" smtClean="0"/>
              <a:t>9/03/2024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0CE616-B303-90EE-99AB-FE51DB28A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B7E1CF-A344-87C6-8732-80256E096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6B290-87DD-4AD2-80F2-C4C030D48444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1263131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C9099-2E71-98C5-A502-799D44A89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0340B1-E2E2-7CCA-8FE9-A910569A71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F2AF72-3E18-7147-89E9-980F77778D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BE3595-2B1F-C6C3-41E0-5E7F429B45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07640D-DFDD-D3FA-C33A-A29F380A57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A232C2-3456-15F9-CF20-801F06BC7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A08B8-2329-4280-9470-8D33B9EA33B6}" type="datetimeFigureOut">
              <a:rPr lang="en-NZ" smtClean="0"/>
              <a:t>9/03/2024</a:t>
            </a:fld>
            <a:endParaRPr lang="en-N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A9A2E8-B330-72AB-1AA6-085683E72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EE45D2-E893-490B-27C1-E54E85BD6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6B290-87DD-4AD2-80F2-C4C030D48444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912889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BA752-831F-9BB5-D69B-8F7C87BC8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53718D-76E4-5EA8-3D64-9DF4EE673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A08B8-2329-4280-9470-8D33B9EA33B6}" type="datetimeFigureOut">
              <a:rPr lang="en-NZ" smtClean="0"/>
              <a:t>9/03/2024</a:t>
            </a:fld>
            <a:endParaRPr lang="en-N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E2BDC-6D23-CB57-6D1C-08FED9D02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1A511A-D7D2-17FD-6FE9-38D21E9F5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6B290-87DD-4AD2-80F2-C4C030D48444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505685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8EB3D4-1D73-B6B4-AFBD-FAC252D2C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A08B8-2329-4280-9470-8D33B9EA33B6}" type="datetimeFigureOut">
              <a:rPr lang="en-NZ" smtClean="0"/>
              <a:t>9/03/2024</a:t>
            </a:fld>
            <a:endParaRPr lang="en-N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7A7087-A4BD-79EF-CD92-01D39FA70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8D87D7-5179-2A42-638B-1796D0573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6B290-87DD-4AD2-80F2-C4C030D48444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168152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A25D6-4E69-DAD6-40B6-F82F1560A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20A754-92DF-219D-BA30-1DF43E6535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ED7B36-D94C-DBD2-F2D2-B4122766E3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A9FE98-B2FF-0EDF-7EB3-22D821932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A08B8-2329-4280-9470-8D33B9EA33B6}" type="datetimeFigureOut">
              <a:rPr lang="en-NZ" smtClean="0"/>
              <a:t>9/03/2024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B71576-3156-49FD-0FAE-63C7B4302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43E0BA-512F-7F95-74B7-B8BD2613E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6B290-87DD-4AD2-80F2-C4C030D48444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986422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914FB-A7BF-84E1-CDE8-B88CE8A51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A58798-F233-53DB-6EBC-E1F4B5CFF2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27081E-8306-AC31-D126-CC89C33BF1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6C0AFD-65FC-1B43-D322-C50F51E17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A08B8-2329-4280-9470-8D33B9EA33B6}" type="datetimeFigureOut">
              <a:rPr lang="en-NZ" smtClean="0"/>
              <a:t>9/03/2024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1AFEF2-4350-57E5-B118-74ED4015A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ECFAAD-8B4F-D886-77AA-F997EFEF2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6B290-87DD-4AD2-80F2-C4C030D48444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082160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4390D-5FB3-2EB8-E6A3-7E6EE4378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C810EE-E319-973F-3D95-47C545E4B2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D0A7EB-3BE6-348A-936D-C0E1AC68E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A08B8-2329-4280-9470-8D33B9EA33B6}" type="datetimeFigureOut">
              <a:rPr lang="en-NZ" smtClean="0"/>
              <a:t>9/03/2024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335E26-28F8-8CE9-64AE-8505C4321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A1138-4348-14EE-EE8C-0AB62629C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6B290-87DD-4AD2-80F2-C4C030D48444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2270595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423BE7-93AE-A9D6-704A-22F75664A2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546F1B-8BA0-447C-0EEF-11E5B9571B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F1FB9E-3D6B-41AF-426B-1576718F2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A08B8-2329-4280-9470-8D33B9EA33B6}" type="datetimeFigureOut">
              <a:rPr lang="en-NZ" smtClean="0"/>
              <a:t>9/03/2024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E4293F-90A2-E58C-6AA6-B112D0235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32BDD1-380C-0C48-EBE5-447221B47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6B290-87DD-4AD2-80F2-C4C030D48444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196351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791866-7142-8622-88AD-73DA3F8C7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98CBD3-E2A1-9818-2DE1-41958007FD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68B034-C42E-E9A0-7850-B2FA6EEA20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1A08B8-2329-4280-9470-8D33B9EA33B6}" type="datetimeFigureOut">
              <a:rPr lang="en-NZ" smtClean="0"/>
              <a:t>9/03/2024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53C7C8-F855-91AE-E7A3-63F61CDD68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F3F870-2534-D4D7-2FE3-1B94B3B0F4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A6B290-87DD-4AD2-80F2-C4C030D48444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045360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5000" b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9D3AF60-5032-398A-029B-14C31E13EC2D}"/>
              </a:ext>
            </a:extLst>
          </p:cNvPr>
          <p:cNvSpPr txBox="1"/>
          <p:nvPr/>
        </p:nvSpPr>
        <p:spPr>
          <a:xfrm>
            <a:off x="3538537" y="922139"/>
            <a:ext cx="51149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N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Networks and Internet COMP504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B47276-53B9-236A-1169-E45AF6F0285C}"/>
              </a:ext>
            </a:extLst>
          </p:cNvPr>
          <p:cNvSpPr txBox="1"/>
          <p:nvPr/>
        </p:nvSpPr>
        <p:spPr>
          <a:xfrm>
            <a:off x="3914775" y="2647950"/>
            <a:ext cx="571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b="1" dirty="0"/>
              <a:t>Cross over cable and Straight through cable</a:t>
            </a:r>
          </a:p>
        </p:txBody>
      </p:sp>
    </p:spTree>
    <p:extLst>
      <p:ext uri="{BB962C8B-B14F-4D97-AF65-F5344CB8AC3E}">
        <p14:creationId xmlns:p14="http://schemas.microsoft.com/office/powerpoint/2010/main" val="41552536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95DC65-BFE3-388D-F3BF-08FE9FF8B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D1D51F-5433-B374-99FC-7B3E1679A4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9869" y="1373505"/>
            <a:ext cx="5924523" cy="287845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56FDF84-9DB8-D1CB-F38C-B4002E95542B}"/>
              </a:ext>
            </a:extLst>
          </p:cNvPr>
          <p:cNvSpPr txBox="1"/>
          <p:nvPr/>
        </p:nvSpPr>
        <p:spPr>
          <a:xfrm>
            <a:off x="3939540" y="464820"/>
            <a:ext cx="3970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b="1" dirty="0"/>
              <a:t>Cross Over cable wiring Scheme</a:t>
            </a:r>
          </a:p>
        </p:txBody>
      </p:sp>
    </p:spTree>
    <p:extLst>
      <p:ext uri="{BB962C8B-B14F-4D97-AF65-F5344CB8AC3E}">
        <p14:creationId xmlns:p14="http://schemas.microsoft.com/office/powerpoint/2010/main" val="38969713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5000" b="-5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0D6419-A488-D6B4-489A-C614ECBBD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E808317-8672-AC92-8352-5153E52AEB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9325" y="1704974"/>
            <a:ext cx="8324850" cy="364807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7D688AE-604F-AE01-7584-AE471737BF4A}"/>
              </a:ext>
            </a:extLst>
          </p:cNvPr>
          <p:cNvSpPr txBox="1"/>
          <p:nvPr/>
        </p:nvSpPr>
        <p:spPr>
          <a:xfrm>
            <a:off x="4145280" y="624840"/>
            <a:ext cx="4229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b="1" dirty="0"/>
              <a:t>Straight Through Cable Wiring Scheme</a:t>
            </a:r>
          </a:p>
        </p:txBody>
      </p:sp>
    </p:spTree>
    <p:extLst>
      <p:ext uri="{BB962C8B-B14F-4D97-AF65-F5344CB8AC3E}">
        <p14:creationId xmlns:p14="http://schemas.microsoft.com/office/powerpoint/2010/main" val="332635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FFEEF0-1044-6126-C1D8-6A2F14828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D0403DC-615C-C7DB-DEDF-FB44A96DE083}"/>
              </a:ext>
            </a:extLst>
          </p:cNvPr>
          <p:cNvSpPr txBox="1"/>
          <p:nvPr/>
        </p:nvSpPr>
        <p:spPr>
          <a:xfrm>
            <a:off x="1200150" y="1461341"/>
            <a:ext cx="9715500" cy="3325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1800"/>
              </a:lnSpc>
            </a:pPr>
            <a:r>
              <a:rPr lang="en-NZ" b="1" dirty="0">
                <a:solidFill>
                  <a:srgbClr val="1B1C1D"/>
                </a:solidFill>
                <a:latin typeface="CiscoSans"/>
                <a:ea typeface="Times New Roman" panose="02020603050405020304" pitchFamily="18" charset="0"/>
              </a:rPr>
              <a:t>Usages of Cross over and straight through cable</a:t>
            </a:r>
          </a:p>
          <a:p>
            <a:pPr marL="285750" indent="-285750" algn="just" fontAlgn="base">
              <a:lnSpc>
                <a:spcPts val="1800"/>
              </a:lnSpc>
              <a:buFont typeface="Arial" panose="020B0604020202020204" pitchFamily="34" charset="0"/>
              <a:buChar char="•"/>
            </a:pPr>
            <a:endParaRPr lang="en-NZ" sz="1800" dirty="0">
              <a:solidFill>
                <a:srgbClr val="1B1C1D"/>
              </a:solidFill>
              <a:effectLst/>
              <a:latin typeface="CiscoSans"/>
              <a:ea typeface="Times New Roman" panose="02020603050405020304" pitchFamily="18" charset="0"/>
            </a:endParaRPr>
          </a:p>
          <a:p>
            <a:pPr marL="285750" indent="-285750" algn="just" fontAlgn="base">
              <a:lnSpc>
                <a:spcPts val="1800"/>
              </a:lnSpc>
              <a:buFont typeface="Arial" panose="020B0604020202020204" pitchFamily="34" charset="0"/>
              <a:buChar char="•"/>
            </a:pPr>
            <a:endParaRPr lang="en-NZ" dirty="0">
              <a:solidFill>
                <a:srgbClr val="1B1C1D"/>
              </a:solidFill>
              <a:latin typeface="CiscoSans"/>
              <a:ea typeface="Times New Roman" panose="02020603050405020304" pitchFamily="18" charset="0"/>
            </a:endParaRPr>
          </a:p>
          <a:p>
            <a:pPr marL="285750" indent="-285750" algn="just" fontAlgn="base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NZ" sz="1800" dirty="0">
                <a:solidFill>
                  <a:srgbClr val="1B1C1D"/>
                </a:solidFill>
                <a:effectLst/>
                <a:latin typeface="CiscoSans"/>
                <a:ea typeface="Times New Roman" panose="02020603050405020304" pitchFamily="18" charset="0"/>
              </a:rPr>
              <a:t>Cross-over cable when connecting two similar equipment, like switch-to-switch or router-to-router.</a:t>
            </a:r>
            <a:endParaRPr lang="en-NZ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 fontAlgn="base">
              <a:lnSpc>
                <a:spcPts val="1800"/>
              </a:lnSpc>
            </a:pPr>
            <a:r>
              <a:rPr lang="en-NZ" sz="1800" dirty="0">
                <a:solidFill>
                  <a:srgbClr val="1B1C1D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</a:t>
            </a:r>
            <a:r>
              <a:rPr lang="en-NZ" sz="1800" dirty="0">
                <a:solidFill>
                  <a:srgbClr val="1B1C1D"/>
                </a:solidFill>
                <a:effectLst/>
                <a:latin typeface="CiscoSans"/>
                <a:ea typeface="Times New Roman" panose="02020603050405020304" pitchFamily="18" charset="0"/>
              </a:rPr>
              <a:t>Basically, it can classify equipment into DTE (Data Terminal Equipment) and DCE (Data Circuit   </a:t>
            </a:r>
          </a:p>
          <a:p>
            <a:pPr algn="just" fontAlgn="base">
              <a:lnSpc>
                <a:spcPts val="1800"/>
              </a:lnSpc>
            </a:pPr>
            <a:r>
              <a:rPr lang="en-NZ" dirty="0">
                <a:solidFill>
                  <a:srgbClr val="1B1C1D"/>
                </a:solidFill>
                <a:latin typeface="CiscoSans"/>
                <a:ea typeface="Times New Roman" panose="02020603050405020304" pitchFamily="18" charset="0"/>
              </a:rPr>
              <a:t>     </a:t>
            </a:r>
            <a:r>
              <a:rPr lang="en-NZ" sz="1800" dirty="0">
                <a:solidFill>
                  <a:srgbClr val="1B1C1D"/>
                </a:solidFill>
                <a:effectLst/>
                <a:latin typeface="CiscoSans"/>
                <a:ea typeface="Times New Roman" panose="02020603050405020304" pitchFamily="18" charset="0"/>
              </a:rPr>
              <a:t>Equipment). End-user stations are DTE (computers, laptops, Ethernet printers), while switching and </a:t>
            </a:r>
          </a:p>
          <a:p>
            <a:pPr algn="just" fontAlgn="base">
              <a:lnSpc>
                <a:spcPts val="1800"/>
              </a:lnSpc>
            </a:pPr>
            <a:r>
              <a:rPr lang="en-NZ" dirty="0">
                <a:solidFill>
                  <a:srgbClr val="1B1C1D"/>
                </a:solidFill>
                <a:latin typeface="CiscoSans"/>
                <a:ea typeface="Times New Roman" panose="02020603050405020304" pitchFamily="18" charset="0"/>
              </a:rPr>
              <a:t>     </a:t>
            </a:r>
            <a:r>
              <a:rPr lang="en-NZ" sz="1800" dirty="0">
                <a:solidFill>
                  <a:srgbClr val="1B1C1D"/>
                </a:solidFill>
                <a:effectLst/>
                <a:latin typeface="CiscoSans"/>
                <a:ea typeface="Times New Roman" panose="02020603050405020304" pitchFamily="18" charset="0"/>
              </a:rPr>
              <a:t>routing devices are DCE (switches, hubs, routers).</a:t>
            </a:r>
          </a:p>
          <a:p>
            <a:pPr algn="just" fontAlgn="base">
              <a:lnSpc>
                <a:spcPts val="1800"/>
              </a:lnSpc>
            </a:pPr>
            <a:endParaRPr lang="en-NZ" dirty="0">
              <a:solidFill>
                <a:srgbClr val="1B1C1D"/>
              </a:solidFill>
              <a:latin typeface="CiscoSans"/>
              <a:ea typeface="Times New Roman" panose="02020603050405020304" pitchFamily="18" charset="0"/>
            </a:endParaRPr>
          </a:p>
          <a:p>
            <a:pPr algn="just" fontAlgn="base">
              <a:lnSpc>
                <a:spcPts val="1800"/>
              </a:lnSpc>
            </a:pPr>
            <a:endParaRPr lang="en-NZ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indent="-285750" algn="just" fontAlgn="base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NZ" sz="1800" dirty="0">
                <a:solidFill>
                  <a:srgbClr val="1B1C1D"/>
                </a:solidFill>
                <a:effectLst/>
                <a:latin typeface="CiscoSans"/>
                <a:ea typeface="Times New Roman" panose="02020603050405020304" pitchFamily="18" charset="0"/>
              </a:rPr>
              <a:t>Cross-over cables are used to connect DCE-to-DCE, or DTE-to-DTE. However, some modern equipment is able to detect whether its peer is a DCE or DTE and whether the connection is using a cross-over cable or a direct-through cable and adjust properly. For example, Apple PowerBook, although it is a DTE, has the ability to connect to my switch using either a cross-over cable or a direct-through cable.</a:t>
            </a:r>
            <a:endParaRPr lang="en-NZ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95831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FCA4AD-F846-01AB-6488-6270AFB5D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8CDDDF5-809C-DC79-2CAC-EC3D0D254B0E}"/>
              </a:ext>
            </a:extLst>
          </p:cNvPr>
          <p:cNvSpPr txBox="1"/>
          <p:nvPr/>
        </p:nvSpPr>
        <p:spPr>
          <a:xfrm>
            <a:off x="4099560" y="1677916"/>
            <a:ext cx="3619500" cy="1479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ts val="1800"/>
              </a:lnSpc>
            </a:pPr>
            <a:r>
              <a:rPr lang="en-NZ" sz="1800" dirty="0">
                <a:solidFill>
                  <a:srgbClr val="1B1C1D"/>
                </a:solidFill>
                <a:effectLst/>
                <a:latin typeface="CiscoSans"/>
                <a:ea typeface="Times New Roman" panose="02020603050405020304" pitchFamily="18" charset="0"/>
              </a:rPr>
              <a:t>Router - Router = Crossover</a:t>
            </a:r>
            <a:endParaRPr lang="en-NZ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fontAlgn="base">
              <a:lnSpc>
                <a:spcPts val="1800"/>
              </a:lnSpc>
            </a:pPr>
            <a:r>
              <a:rPr lang="en-NZ" sz="1800" dirty="0">
                <a:solidFill>
                  <a:srgbClr val="1B1C1D"/>
                </a:solidFill>
                <a:effectLst/>
                <a:latin typeface="CiscoSans"/>
                <a:ea typeface="Times New Roman" panose="02020603050405020304" pitchFamily="18" charset="0"/>
              </a:rPr>
              <a:t>Router - Switch = straight</a:t>
            </a:r>
            <a:endParaRPr lang="en-NZ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fontAlgn="base">
              <a:lnSpc>
                <a:spcPts val="1800"/>
              </a:lnSpc>
            </a:pPr>
            <a:r>
              <a:rPr lang="en-NZ" sz="1800" dirty="0">
                <a:solidFill>
                  <a:srgbClr val="1B1C1D"/>
                </a:solidFill>
                <a:effectLst/>
                <a:latin typeface="CiscoSans"/>
                <a:ea typeface="Times New Roman" panose="02020603050405020304" pitchFamily="18" charset="0"/>
              </a:rPr>
              <a:t>Switch - Switch = Crossover</a:t>
            </a:r>
            <a:endParaRPr lang="en-NZ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fontAlgn="base">
              <a:lnSpc>
                <a:spcPts val="1800"/>
              </a:lnSpc>
            </a:pPr>
            <a:r>
              <a:rPr lang="en-NZ" sz="1800" dirty="0">
                <a:solidFill>
                  <a:srgbClr val="1B1C1D"/>
                </a:solidFill>
                <a:effectLst/>
                <a:latin typeface="CiscoSans"/>
                <a:ea typeface="Times New Roman" panose="02020603050405020304" pitchFamily="18" charset="0"/>
              </a:rPr>
              <a:t>PC - PC = Crossover</a:t>
            </a:r>
            <a:endParaRPr lang="en-NZ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fontAlgn="base">
              <a:lnSpc>
                <a:spcPts val="1800"/>
              </a:lnSpc>
            </a:pPr>
            <a:r>
              <a:rPr lang="en-NZ" sz="1800" dirty="0">
                <a:solidFill>
                  <a:srgbClr val="1B1C1D"/>
                </a:solidFill>
                <a:effectLst/>
                <a:latin typeface="CiscoSans"/>
                <a:ea typeface="Times New Roman" panose="02020603050405020304" pitchFamily="18" charset="0"/>
              </a:rPr>
              <a:t>PC - switch = straight</a:t>
            </a:r>
            <a:endParaRPr lang="en-NZ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fontAlgn="base">
              <a:lnSpc>
                <a:spcPts val="1800"/>
              </a:lnSpc>
            </a:pPr>
            <a:r>
              <a:rPr lang="en-NZ" sz="1800" dirty="0">
                <a:solidFill>
                  <a:srgbClr val="1B1C1D"/>
                </a:solidFill>
                <a:effectLst/>
                <a:latin typeface="CiscoSans"/>
                <a:ea typeface="Times New Roman" panose="02020603050405020304" pitchFamily="18" charset="0"/>
              </a:rPr>
              <a:t>PC - router = Crossover</a:t>
            </a:r>
            <a:endParaRPr lang="en-NZ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06FB40-B5CE-013B-3AF2-35C223FF03CC}"/>
              </a:ext>
            </a:extLst>
          </p:cNvPr>
          <p:cNvSpPr txBox="1"/>
          <p:nvPr/>
        </p:nvSpPr>
        <p:spPr>
          <a:xfrm>
            <a:off x="2960370" y="670560"/>
            <a:ext cx="6374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b="1" dirty="0"/>
              <a:t>Example of Cross over and straight through cable usages</a:t>
            </a:r>
          </a:p>
        </p:txBody>
      </p:sp>
    </p:spTree>
    <p:extLst>
      <p:ext uri="{BB962C8B-B14F-4D97-AF65-F5344CB8AC3E}">
        <p14:creationId xmlns:p14="http://schemas.microsoft.com/office/powerpoint/2010/main" val="26505366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5A57C1-D16C-A378-BE13-EE74E1982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294B245-B9B7-1371-4934-EC5E621D7A80}"/>
              </a:ext>
            </a:extLst>
          </p:cNvPr>
          <p:cNvSpPr txBox="1"/>
          <p:nvPr/>
        </p:nvSpPr>
        <p:spPr>
          <a:xfrm>
            <a:off x="5280660" y="2046358"/>
            <a:ext cx="1988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1525908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207</Words>
  <Application>Microsoft Office PowerPoint</Application>
  <PresentationFormat>Widescreen</PresentationFormat>
  <Paragraphs>22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Arial</vt:lpstr>
      <vt:lpstr>CiscoSans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Mamunur Rahman</dc:creator>
  <cp:lastModifiedBy>Mamunur Rahman</cp:lastModifiedBy>
  <cp:revision>13</cp:revision>
  <dcterms:created xsi:type="dcterms:W3CDTF">2024-03-08T16:20:45Z</dcterms:created>
  <dcterms:modified xsi:type="dcterms:W3CDTF">2024-03-08T16:38:07Z</dcterms:modified>
</cp:coreProperties>
</file>