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handoutMasterIdLst>
    <p:handoutMasterId r:id="rId24"/>
  </p:handoutMasterIdLst>
  <p:sldIdLst>
    <p:sldId id="436" r:id="rId5"/>
    <p:sldId id="442" r:id="rId6"/>
    <p:sldId id="1165" r:id="rId7"/>
    <p:sldId id="1168" r:id="rId8"/>
    <p:sldId id="1166" r:id="rId9"/>
    <p:sldId id="508" r:id="rId10"/>
    <p:sldId id="1169" r:id="rId11"/>
    <p:sldId id="1171" r:id="rId12"/>
    <p:sldId id="1172" r:id="rId13"/>
    <p:sldId id="1173" r:id="rId14"/>
    <p:sldId id="1174" r:id="rId15"/>
    <p:sldId id="1175" r:id="rId16"/>
    <p:sldId id="1176" r:id="rId17"/>
    <p:sldId id="1177" r:id="rId18"/>
    <p:sldId id="1178" r:id="rId19"/>
    <p:sldId id="1179" r:id="rId20"/>
    <p:sldId id="1180" r:id="rId21"/>
    <p:sldId id="441" r:id="rId22"/>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6522"/>
    <a:srgbClr val="ED7D31"/>
    <a:srgbClr val="F36B2B"/>
    <a:srgbClr val="F36927"/>
    <a:srgbClr val="F6996D"/>
    <a:srgbClr val="F26400"/>
    <a:srgbClr val="F79F74"/>
    <a:srgbClr val="F69466"/>
    <a:srgbClr val="F8AE8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3750"/>
  </p:normalViewPr>
  <p:slideViewPr>
    <p:cSldViewPr snapToGrid="0">
      <p:cViewPr varScale="1">
        <p:scale>
          <a:sx n="111" d="100"/>
          <a:sy n="111" d="100"/>
        </p:scale>
        <p:origin x="594" y="96"/>
      </p:cViewPr>
      <p:guideLst/>
    </p:cSldViewPr>
  </p:slideViewPr>
  <p:notesTextViewPr>
    <p:cViewPr>
      <p:scale>
        <a:sx n="1" d="1"/>
        <a:sy n="1" d="1"/>
      </p:scale>
      <p:origin x="0" y="0"/>
    </p:cViewPr>
  </p:notesTextViewPr>
  <p:sorterViewPr>
    <p:cViewPr>
      <p:scale>
        <a:sx n="110" d="100"/>
        <a:sy n="11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DE66AC3A-F782-2847-86CF-E88635483174}" type="datetimeFigureOut">
              <a:rPr lang="en-US" smtClean="0"/>
              <a:t>5/27/2026</a:t>
            </a:fld>
            <a:endParaRPr lang="en-US" dirty="0"/>
          </a:p>
        </p:txBody>
      </p:sp>
      <p:sp>
        <p:nvSpPr>
          <p:cNvPr id="4" name="Footer Placeholder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D6852266-9354-4F45-A6D7-440AB95480CF}" type="slidenum">
              <a:rPr lang="en-US" smtClean="0"/>
              <a:t>‹#›</a:t>
            </a:fld>
            <a:endParaRPr lang="en-US" dirty="0"/>
          </a:p>
        </p:txBody>
      </p:sp>
    </p:spTree>
    <p:extLst>
      <p:ext uri="{BB962C8B-B14F-4D97-AF65-F5344CB8AC3E}">
        <p14:creationId xmlns:p14="http://schemas.microsoft.com/office/powerpoint/2010/main" val="1439351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NZ" dirty="0"/>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181B8C58-07EF-404D-B457-37886CF22D71}" type="datetimeFigureOut">
              <a:rPr lang="en-NZ" smtClean="0"/>
              <a:t>27/05/2026</a:t>
            </a:fld>
            <a:endParaRPr lang="en-NZ" dirty="0"/>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NZ" dirty="0"/>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NZ" dirty="0"/>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A514EF88-E836-44B1-9C0B-F43CD65EDBC6}" type="slidenum">
              <a:rPr lang="en-NZ" smtClean="0"/>
              <a:t>‹#›</a:t>
            </a:fld>
            <a:endParaRPr lang="en-NZ" dirty="0"/>
          </a:p>
        </p:txBody>
      </p:sp>
    </p:spTree>
    <p:extLst>
      <p:ext uri="{BB962C8B-B14F-4D97-AF65-F5344CB8AC3E}">
        <p14:creationId xmlns:p14="http://schemas.microsoft.com/office/powerpoint/2010/main" val="1894259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14EF88-E836-44B1-9C0B-F43CD65EDBC6}" type="slidenum">
              <a:rPr lang="en-NZ" smtClean="0"/>
              <a:t>1</a:t>
            </a:fld>
            <a:endParaRPr lang="en-NZ" dirty="0"/>
          </a:p>
        </p:txBody>
      </p:sp>
    </p:spTree>
    <p:extLst>
      <p:ext uri="{BB962C8B-B14F-4D97-AF65-F5344CB8AC3E}">
        <p14:creationId xmlns:p14="http://schemas.microsoft.com/office/powerpoint/2010/main" val="5838723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14EF88-E836-44B1-9C0B-F43CD65EDBC6}" type="slidenum">
              <a:rPr lang="en-NZ" smtClean="0"/>
              <a:t>6</a:t>
            </a:fld>
            <a:endParaRPr lang="en-NZ"/>
          </a:p>
        </p:txBody>
      </p:sp>
    </p:spTree>
    <p:extLst>
      <p:ext uri="{BB962C8B-B14F-4D97-AF65-F5344CB8AC3E}">
        <p14:creationId xmlns:p14="http://schemas.microsoft.com/office/powerpoint/2010/main" val="679395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8299E-0C1A-03E8-FD43-0AB897A615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E3BE48-51B9-1B4A-5230-A14E4B3315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862768-7B2F-242A-0331-0EC86D6A7C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0FE85B-8417-1E15-073F-11636249DF24}"/>
              </a:ext>
            </a:extLst>
          </p:cNvPr>
          <p:cNvSpPr>
            <a:spLocks noGrp="1"/>
          </p:cNvSpPr>
          <p:nvPr>
            <p:ph type="sldNum" sz="quarter" idx="10"/>
          </p:nvPr>
        </p:nvSpPr>
        <p:spPr/>
        <p:txBody>
          <a:bodyPr/>
          <a:lstStyle/>
          <a:p>
            <a:fld id="{A514EF88-E836-44B1-9C0B-F43CD65EDBC6}" type="slidenum">
              <a:rPr lang="en-NZ" smtClean="0"/>
              <a:t>7</a:t>
            </a:fld>
            <a:endParaRPr lang="en-NZ"/>
          </a:p>
        </p:txBody>
      </p:sp>
    </p:spTree>
    <p:extLst>
      <p:ext uri="{BB962C8B-B14F-4D97-AF65-F5344CB8AC3E}">
        <p14:creationId xmlns:p14="http://schemas.microsoft.com/office/powerpoint/2010/main" val="10851538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96687-65EE-CD77-8899-93042FA2CE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4F5ADE-BA78-C01B-64A0-FB1AA50C5F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2550FA-5B8C-DFC6-F09F-99EE740B0C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145E93-3D34-900A-C5B9-7C01DE9EFBCF}"/>
              </a:ext>
            </a:extLst>
          </p:cNvPr>
          <p:cNvSpPr>
            <a:spLocks noGrp="1"/>
          </p:cNvSpPr>
          <p:nvPr>
            <p:ph type="sldNum" sz="quarter" idx="10"/>
          </p:nvPr>
        </p:nvSpPr>
        <p:spPr/>
        <p:txBody>
          <a:bodyPr/>
          <a:lstStyle/>
          <a:p>
            <a:fld id="{A514EF88-E836-44B1-9C0B-F43CD65EDBC6}" type="slidenum">
              <a:rPr lang="en-NZ" smtClean="0"/>
              <a:t>8</a:t>
            </a:fld>
            <a:endParaRPr lang="en-NZ"/>
          </a:p>
        </p:txBody>
      </p:sp>
    </p:spTree>
    <p:extLst>
      <p:ext uri="{BB962C8B-B14F-4D97-AF65-F5344CB8AC3E}">
        <p14:creationId xmlns:p14="http://schemas.microsoft.com/office/powerpoint/2010/main" val="2938019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776C8-C245-D374-0A5F-1279DCEB22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0961C3-7081-2FFA-B9B8-2D64C53A0D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4F76F1-9DCF-783B-95FD-C297915D7C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7C7CA9-3C39-6DB5-64CB-7039FB5937CA}"/>
              </a:ext>
            </a:extLst>
          </p:cNvPr>
          <p:cNvSpPr>
            <a:spLocks noGrp="1"/>
          </p:cNvSpPr>
          <p:nvPr>
            <p:ph type="sldNum" sz="quarter" idx="10"/>
          </p:nvPr>
        </p:nvSpPr>
        <p:spPr/>
        <p:txBody>
          <a:bodyPr/>
          <a:lstStyle/>
          <a:p>
            <a:fld id="{A514EF88-E836-44B1-9C0B-F43CD65EDBC6}" type="slidenum">
              <a:rPr lang="en-NZ" smtClean="0"/>
              <a:t>9</a:t>
            </a:fld>
            <a:endParaRPr lang="en-NZ"/>
          </a:p>
        </p:txBody>
      </p:sp>
    </p:spTree>
    <p:extLst>
      <p:ext uri="{BB962C8B-B14F-4D97-AF65-F5344CB8AC3E}">
        <p14:creationId xmlns:p14="http://schemas.microsoft.com/office/powerpoint/2010/main" val="328552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92A70-156F-115D-0AA8-36120D5B66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A7368F-005A-40D6-E54E-B9397DEB98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309980-70FD-416A-6230-5E6A301D45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23B89B-BC79-C086-A633-10B0AEE53EE8}"/>
              </a:ext>
            </a:extLst>
          </p:cNvPr>
          <p:cNvSpPr>
            <a:spLocks noGrp="1"/>
          </p:cNvSpPr>
          <p:nvPr>
            <p:ph type="sldNum" sz="quarter" idx="10"/>
          </p:nvPr>
        </p:nvSpPr>
        <p:spPr/>
        <p:txBody>
          <a:bodyPr/>
          <a:lstStyle/>
          <a:p>
            <a:fld id="{A514EF88-E836-44B1-9C0B-F43CD65EDBC6}" type="slidenum">
              <a:rPr lang="en-NZ" smtClean="0"/>
              <a:t>10</a:t>
            </a:fld>
            <a:endParaRPr lang="en-NZ"/>
          </a:p>
        </p:txBody>
      </p:sp>
    </p:spTree>
    <p:extLst>
      <p:ext uri="{BB962C8B-B14F-4D97-AF65-F5344CB8AC3E}">
        <p14:creationId xmlns:p14="http://schemas.microsoft.com/office/powerpoint/2010/main" val="38218492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813F5-4033-4C04-B1E2-673EFCFD56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4E37D3-ECBA-B2B3-2B94-D8F0EE1E11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263B45-6CB5-8192-0B84-0D7863BF36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37B16E-DF7A-501C-A593-269BDF91D8B7}"/>
              </a:ext>
            </a:extLst>
          </p:cNvPr>
          <p:cNvSpPr>
            <a:spLocks noGrp="1"/>
          </p:cNvSpPr>
          <p:nvPr>
            <p:ph type="sldNum" sz="quarter" idx="10"/>
          </p:nvPr>
        </p:nvSpPr>
        <p:spPr/>
        <p:txBody>
          <a:bodyPr/>
          <a:lstStyle/>
          <a:p>
            <a:fld id="{A514EF88-E836-44B1-9C0B-F43CD65EDBC6}" type="slidenum">
              <a:rPr lang="en-NZ" smtClean="0"/>
              <a:t>11</a:t>
            </a:fld>
            <a:endParaRPr lang="en-NZ"/>
          </a:p>
        </p:txBody>
      </p:sp>
    </p:spTree>
    <p:extLst>
      <p:ext uri="{BB962C8B-B14F-4D97-AF65-F5344CB8AC3E}">
        <p14:creationId xmlns:p14="http://schemas.microsoft.com/office/powerpoint/2010/main" val="24453710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B287D-B13A-C5A8-4A66-DBDF036CDC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973DD6-244F-2528-BE57-CE43089ABA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EAA6B8-BEA1-5BEF-E5B7-7A17D3BB61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82CB09-D9E9-0A27-B3D8-0FAFC90D43AE}"/>
              </a:ext>
            </a:extLst>
          </p:cNvPr>
          <p:cNvSpPr>
            <a:spLocks noGrp="1"/>
          </p:cNvSpPr>
          <p:nvPr>
            <p:ph type="sldNum" sz="quarter" idx="10"/>
          </p:nvPr>
        </p:nvSpPr>
        <p:spPr/>
        <p:txBody>
          <a:bodyPr/>
          <a:lstStyle/>
          <a:p>
            <a:fld id="{A514EF88-E836-44B1-9C0B-F43CD65EDBC6}" type="slidenum">
              <a:rPr lang="en-NZ" smtClean="0"/>
              <a:t>12</a:t>
            </a:fld>
            <a:endParaRPr lang="en-NZ"/>
          </a:p>
        </p:txBody>
      </p:sp>
    </p:spTree>
    <p:extLst>
      <p:ext uri="{BB962C8B-B14F-4D97-AF65-F5344CB8AC3E}">
        <p14:creationId xmlns:p14="http://schemas.microsoft.com/office/powerpoint/2010/main" val="41909940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3B765-3D93-FFAA-2293-239794A5E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3C01F-5825-CA48-5271-D299FC23FA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C123A1-34D4-C2D9-5355-67C0E5D2CD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04A23C-9DCE-A60F-B455-173A1274210F}"/>
              </a:ext>
            </a:extLst>
          </p:cNvPr>
          <p:cNvSpPr>
            <a:spLocks noGrp="1"/>
          </p:cNvSpPr>
          <p:nvPr>
            <p:ph type="sldNum" sz="quarter" idx="10"/>
          </p:nvPr>
        </p:nvSpPr>
        <p:spPr/>
        <p:txBody>
          <a:bodyPr/>
          <a:lstStyle/>
          <a:p>
            <a:fld id="{A514EF88-E836-44B1-9C0B-F43CD65EDBC6}" type="slidenum">
              <a:rPr lang="en-NZ" smtClean="0"/>
              <a:t>13</a:t>
            </a:fld>
            <a:endParaRPr lang="en-NZ"/>
          </a:p>
        </p:txBody>
      </p:sp>
    </p:spTree>
    <p:extLst>
      <p:ext uri="{BB962C8B-B14F-4D97-AF65-F5344CB8AC3E}">
        <p14:creationId xmlns:p14="http://schemas.microsoft.com/office/powerpoint/2010/main" val="16627364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50F19-3FF5-29A8-87CF-FF52486F0E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50971F-F250-512E-1FE7-058F60AD0F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0FD252-28A3-C701-87FD-B041F56FBE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12A04B-C9A6-C3BA-C06B-3B66494A33C0}"/>
              </a:ext>
            </a:extLst>
          </p:cNvPr>
          <p:cNvSpPr>
            <a:spLocks noGrp="1"/>
          </p:cNvSpPr>
          <p:nvPr>
            <p:ph type="sldNum" sz="quarter" idx="10"/>
          </p:nvPr>
        </p:nvSpPr>
        <p:spPr/>
        <p:txBody>
          <a:bodyPr/>
          <a:lstStyle/>
          <a:p>
            <a:fld id="{A514EF88-E836-44B1-9C0B-F43CD65EDBC6}" type="slidenum">
              <a:rPr lang="en-NZ" smtClean="0"/>
              <a:t>14</a:t>
            </a:fld>
            <a:endParaRPr lang="en-NZ"/>
          </a:p>
        </p:txBody>
      </p:sp>
    </p:spTree>
    <p:extLst>
      <p:ext uri="{BB962C8B-B14F-4D97-AF65-F5344CB8AC3E}">
        <p14:creationId xmlns:p14="http://schemas.microsoft.com/office/powerpoint/2010/main" val="42770194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5A837-04E6-43FD-CCA8-81A94CD0BB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1FD4D-0856-6F31-11A0-1D6BD43FCE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6CE360-CD08-1D46-C50B-8CC0E41AA3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2ADD35-E265-F0E4-4130-3F99B66C41BD}"/>
              </a:ext>
            </a:extLst>
          </p:cNvPr>
          <p:cNvSpPr>
            <a:spLocks noGrp="1"/>
          </p:cNvSpPr>
          <p:nvPr>
            <p:ph type="sldNum" sz="quarter" idx="10"/>
          </p:nvPr>
        </p:nvSpPr>
        <p:spPr/>
        <p:txBody>
          <a:bodyPr/>
          <a:lstStyle/>
          <a:p>
            <a:fld id="{A514EF88-E836-44B1-9C0B-F43CD65EDBC6}" type="slidenum">
              <a:rPr lang="en-NZ" smtClean="0"/>
              <a:t>15</a:t>
            </a:fld>
            <a:endParaRPr lang="en-NZ"/>
          </a:p>
        </p:txBody>
      </p:sp>
    </p:spTree>
    <p:extLst>
      <p:ext uri="{BB962C8B-B14F-4D97-AF65-F5344CB8AC3E}">
        <p14:creationId xmlns:p14="http://schemas.microsoft.com/office/powerpoint/2010/main" val="26320686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15FC0-700A-0920-629C-CDDCA46041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CA1408-3828-C975-9926-45DFBCD57A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C648FA-1F3D-CFDC-D67A-4D1C67A518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76B635-4CAA-03FE-884E-A99F71A9FCCE}"/>
              </a:ext>
            </a:extLst>
          </p:cNvPr>
          <p:cNvSpPr>
            <a:spLocks noGrp="1"/>
          </p:cNvSpPr>
          <p:nvPr>
            <p:ph type="sldNum" sz="quarter" idx="10"/>
          </p:nvPr>
        </p:nvSpPr>
        <p:spPr/>
        <p:txBody>
          <a:bodyPr/>
          <a:lstStyle/>
          <a:p>
            <a:fld id="{A514EF88-E836-44B1-9C0B-F43CD65EDBC6}" type="slidenum">
              <a:rPr lang="en-NZ" smtClean="0"/>
              <a:t>16</a:t>
            </a:fld>
            <a:endParaRPr lang="en-NZ"/>
          </a:p>
        </p:txBody>
      </p:sp>
    </p:spTree>
    <p:extLst>
      <p:ext uri="{BB962C8B-B14F-4D97-AF65-F5344CB8AC3E}">
        <p14:creationId xmlns:p14="http://schemas.microsoft.com/office/powerpoint/2010/main" val="34238759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1326D-16CD-DF7C-4F13-29912A9602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BE20FA-F867-E9C7-761B-F4DAC40EA9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E4D30D-2126-09FB-4C4D-3C3ABB3517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1DEE8B-B7AF-F77A-CDDA-718DA21501CA}"/>
              </a:ext>
            </a:extLst>
          </p:cNvPr>
          <p:cNvSpPr>
            <a:spLocks noGrp="1"/>
          </p:cNvSpPr>
          <p:nvPr>
            <p:ph type="sldNum" sz="quarter" idx="10"/>
          </p:nvPr>
        </p:nvSpPr>
        <p:spPr/>
        <p:txBody>
          <a:bodyPr/>
          <a:lstStyle/>
          <a:p>
            <a:fld id="{A514EF88-E836-44B1-9C0B-F43CD65EDBC6}" type="slidenum">
              <a:rPr lang="en-NZ" smtClean="0"/>
              <a:t>17</a:t>
            </a:fld>
            <a:endParaRPr lang="en-NZ"/>
          </a:p>
        </p:txBody>
      </p:sp>
    </p:spTree>
    <p:extLst>
      <p:ext uri="{BB962C8B-B14F-4D97-AF65-F5344CB8AC3E}">
        <p14:creationId xmlns:p14="http://schemas.microsoft.com/office/powerpoint/2010/main" val="40373824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0585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age - Oran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1460500" y="365125"/>
            <a:ext cx="10515600" cy="1325563"/>
          </a:xfrm>
          <a:prstGeom prst="rect">
            <a:avLst/>
          </a:prstGeom>
        </p:spPr>
        <p:txBody>
          <a:bodyPr vert="horz" lIns="91440" tIns="45720" rIns="91440" bIns="45720" rtlCol="0" anchor="ctr">
            <a:normAutofit/>
          </a:bodyPr>
          <a:lstStyle>
            <a:lvl1pPr>
              <a:defRPr>
                <a:solidFill>
                  <a:srgbClr val="F26522"/>
                </a:solidFill>
              </a:defRPr>
            </a:lvl1pPr>
          </a:lstStyle>
          <a:p>
            <a:r>
              <a:rPr lang="en-US" dirty="0"/>
              <a:t>Click to edit Master title style</a:t>
            </a:r>
            <a:endParaRPr lang="en-NZ" dirty="0"/>
          </a:p>
        </p:txBody>
      </p:sp>
      <p:sp>
        <p:nvSpPr>
          <p:cNvPr id="5" name="Text Placeholder 11"/>
          <p:cNvSpPr>
            <a:spLocks noGrp="1"/>
          </p:cNvSpPr>
          <p:nvPr>
            <p:ph type="body" sz="quarter" idx="13"/>
          </p:nvPr>
        </p:nvSpPr>
        <p:spPr>
          <a:xfrm>
            <a:off x="1460500" y="1844530"/>
            <a:ext cx="10515600" cy="4351338"/>
          </a:xfrm>
        </p:spPr>
        <p:txBody>
          <a:bodyPr/>
          <a:lstStyle>
            <a:lvl1pPr>
              <a:buClr>
                <a:srgbClr val="F58220"/>
              </a:buClr>
              <a:defRPr/>
            </a:lvl1pPr>
            <a:lvl2pPr>
              <a:buClr>
                <a:srgbClr val="F58220"/>
              </a:buClr>
              <a:defRPr/>
            </a:lvl2pPr>
            <a:lvl3pPr>
              <a:buClr>
                <a:srgbClr val="F58220"/>
              </a:buClr>
              <a:defRPr/>
            </a:lvl3pPr>
            <a:lvl4pPr>
              <a:buClr>
                <a:srgbClr val="F58220"/>
              </a:buClr>
              <a:defRPr/>
            </a:lvl4pPr>
            <a:lvl5pPr>
              <a:buClr>
                <a:srgbClr val="F58220"/>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NZ" dirty="0"/>
          </a:p>
        </p:txBody>
      </p:sp>
      <p:sp>
        <p:nvSpPr>
          <p:cNvPr id="4" name="Slide Number Placeholder 4"/>
          <p:cNvSpPr>
            <a:spLocks noGrp="1"/>
          </p:cNvSpPr>
          <p:nvPr>
            <p:ph type="sldNum" sz="quarter" idx="12"/>
          </p:nvPr>
        </p:nvSpPr>
        <p:spPr>
          <a:xfrm>
            <a:off x="11529696" y="6407945"/>
            <a:ext cx="487680" cy="365125"/>
          </a:xfrm>
          <a:prstGeom prst="rect">
            <a:avLst/>
          </a:prstGeom>
        </p:spPr>
        <p:txBody>
          <a:bodyPr/>
          <a:lstStyle/>
          <a:p>
            <a:pPr>
              <a:defRPr/>
            </a:pPr>
            <a:fld id="{74182478-D854-4386-B19D-338899BFC4A3}" type="slidenum">
              <a:rPr lang="en-US" smtClean="0"/>
              <a:pPr>
                <a:defRPr/>
              </a:pPr>
              <a:t>‹#›</a:t>
            </a:fld>
            <a:endParaRPr lang="en-US" dirty="0"/>
          </a:p>
        </p:txBody>
      </p:sp>
    </p:spTree>
    <p:extLst>
      <p:ext uri="{BB962C8B-B14F-4D97-AF65-F5344CB8AC3E}">
        <p14:creationId xmlns:p14="http://schemas.microsoft.com/office/powerpoint/2010/main" val="2872869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page - Orang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869868" y="2414156"/>
            <a:ext cx="4237844" cy="1325563"/>
          </a:xfrm>
          <a:prstGeom prst="rect">
            <a:avLst/>
          </a:prstGeom>
        </p:spPr>
        <p:txBody>
          <a:bodyPr vert="horz" lIns="91440" tIns="45720" rIns="91440" bIns="45720" rtlCol="0" anchor="ctr">
            <a:normAutofit/>
          </a:bodyPr>
          <a:lstStyle>
            <a:lvl1pPr>
              <a:defRPr sz="3600">
                <a:solidFill>
                  <a:srgbClr val="F26400"/>
                </a:solidFill>
              </a:defRPr>
            </a:lvl1pPr>
          </a:lstStyle>
          <a:p>
            <a:r>
              <a:rPr lang="en-US" dirty="0"/>
              <a:t>Click to edit Master title style</a:t>
            </a:r>
            <a:endParaRPr lang="en-NZ" dirty="0"/>
          </a:p>
        </p:txBody>
      </p:sp>
      <p:sp>
        <p:nvSpPr>
          <p:cNvPr id="5" name="Text Placeholder 11"/>
          <p:cNvSpPr>
            <a:spLocks noGrp="1"/>
          </p:cNvSpPr>
          <p:nvPr>
            <p:ph type="body" sz="quarter" idx="13"/>
          </p:nvPr>
        </p:nvSpPr>
        <p:spPr>
          <a:xfrm>
            <a:off x="6869868" y="3913172"/>
            <a:ext cx="4237844" cy="1063562"/>
          </a:xfrm>
        </p:spPr>
        <p:txBody>
          <a:bodyPr/>
          <a:lstStyle>
            <a:lvl1pPr marL="0" indent="0">
              <a:buClr>
                <a:srgbClr val="ED1C24"/>
              </a:buClr>
              <a:buNone/>
              <a:defRPr/>
            </a:lvl1pPr>
            <a:lvl2pPr>
              <a:buClr>
                <a:srgbClr val="ED1C24"/>
              </a:buClr>
              <a:defRPr/>
            </a:lvl2pPr>
            <a:lvl3pPr>
              <a:buClr>
                <a:srgbClr val="ED1C24"/>
              </a:buClr>
              <a:defRPr/>
            </a:lvl3pPr>
            <a:lvl4pPr>
              <a:buClr>
                <a:srgbClr val="ED1C24"/>
              </a:buClr>
              <a:defRPr/>
            </a:lvl4pPr>
            <a:lvl5pPr>
              <a:buClr>
                <a:srgbClr val="ED1C24"/>
              </a:buClr>
              <a:defRPr/>
            </a:lvl5pPr>
          </a:lstStyle>
          <a:p>
            <a:pPr lvl="0"/>
            <a:r>
              <a:rPr lang="en-US" dirty="0"/>
              <a:t>Click to edit Master text styles</a:t>
            </a:r>
          </a:p>
        </p:txBody>
      </p:sp>
      <p:sp>
        <p:nvSpPr>
          <p:cNvPr id="4" name="Slide Number Placeholder 4"/>
          <p:cNvSpPr>
            <a:spLocks noGrp="1"/>
          </p:cNvSpPr>
          <p:nvPr>
            <p:ph type="sldNum" sz="quarter" idx="12"/>
          </p:nvPr>
        </p:nvSpPr>
        <p:spPr>
          <a:xfrm>
            <a:off x="11529696" y="6407945"/>
            <a:ext cx="487680" cy="365125"/>
          </a:xfrm>
          <a:prstGeom prst="rect">
            <a:avLst/>
          </a:prstGeom>
        </p:spPr>
        <p:txBody>
          <a:bodyPr/>
          <a:lstStyle/>
          <a:p>
            <a:pPr>
              <a:defRPr/>
            </a:pPr>
            <a:fld id="{74182478-D854-4386-B19D-338899BFC4A3}" type="slidenum">
              <a:rPr lang="en-US" smtClean="0"/>
              <a:pPr>
                <a:defRPr/>
              </a:pPr>
              <a:t>‹#›</a:t>
            </a:fld>
            <a:endParaRPr lang="en-US" dirty="0"/>
          </a:p>
        </p:txBody>
      </p:sp>
    </p:spTree>
    <p:extLst>
      <p:ext uri="{BB962C8B-B14F-4D97-AF65-F5344CB8AC3E}">
        <p14:creationId xmlns:p14="http://schemas.microsoft.com/office/powerpoint/2010/main" val="780845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age - oran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40099"/>
            <a:ext cx="9182100" cy="2146301"/>
          </a:xfrm>
          <a:prstGeom prst="rect">
            <a:avLst/>
          </a:prstGeom>
          <a:solidFill>
            <a:srgbClr val="F26522">
              <a:alpha val="80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NZ" sz="800" dirty="0"/>
          </a:p>
        </p:txBody>
      </p:sp>
      <p:sp>
        <p:nvSpPr>
          <p:cNvPr id="5" name="Title 1"/>
          <p:cNvSpPr>
            <a:spLocks noGrp="1"/>
          </p:cNvSpPr>
          <p:nvPr>
            <p:ph type="title"/>
          </p:nvPr>
        </p:nvSpPr>
        <p:spPr>
          <a:xfrm>
            <a:off x="749300" y="3556000"/>
            <a:ext cx="8140700" cy="1277938"/>
          </a:xfrm>
        </p:spPr>
        <p:txBody>
          <a:bodyPr anchor="b"/>
          <a:lstStyle>
            <a:lvl1pPr>
              <a:defRPr>
                <a:solidFill>
                  <a:schemeClr val="bg1"/>
                </a:solidFill>
              </a:defRPr>
            </a:lvl1pPr>
          </a:lstStyle>
          <a:p>
            <a:r>
              <a:rPr lang="en-US" dirty="0"/>
              <a:t>Click to edit Master title style</a:t>
            </a:r>
            <a:endParaRPr lang="en-NZ" dirty="0"/>
          </a:p>
        </p:txBody>
      </p:sp>
      <p:sp>
        <p:nvSpPr>
          <p:cNvPr id="6" name="Subtitle 2"/>
          <p:cNvSpPr>
            <a:spLocks noGrp="1"/>
          </p:cNvSpPr>
          <p:nvPr>
            <p:ph type="subTitle" idx="1"/>
          </p:nvPr>
        </p:nvSpPr>
        <p:spPr>
          <a:xfrm>
            <a:off x="749300" y="4833938"/>
            <a:ext cx="8140700" cy="6016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NZ" dirty="0"/>
          </a:p>
        </p:txBody>
      </p:sp>
      <p:pic>
        <p:nvPicPr>
          <p:cNvPr id="7" name="Picture 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778522" y="0"/>
            <a:ext cx="2007556" cy="1995055"/>
          </a:xfrm>
          <a:prstGeom prst="rect">
            <a:avLst/>
          </a:prstGeom>
        </p:spPr>
      </p:pic>
    </p:spTree>
    <p:extLst>
      <p:ext uri="{BB962C8B-B14F-4D97-AF65-F5344CB8AC3E}">
        <p14:creationId xmlns:p14="http://schemas.microsoft.com/office/powerpoint/2010/main" val="41280432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NZ"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NZ" dirty="0"/>
          </a:p>
        </p:txBody>
      </p:sp>
    </p:spTree>
    <p:extLst>
      <p:ext uri="{BB962C8B-B14F-4D97-AF65-F5344CB8AC3E}">
        <p14:creationId xmlns:p14="http://schemas.microsoft.com/office/powerpoint/2010/main" val="3093605729"/>
      </p:ext>
    </p:extLst>
  </p:cSld>
  <p:clrMap bg1="lt1" tx1="dk1" bg2="lt2" tx2="dk2" accent1="accent1" accent2="accent2" accent3="accent3" accent4="accent4" accent5="accent5" accent6="accent6" hlink="hlink" folHlink="folHlink"/>
  <p:sldLayoutIdLst>
    <p:sldLayoutId id="2147483671" r:id="rId1"/>
    <p:sldLayoutId id="2147483668" r:id="rId2"/>
    <p:sldLayoutId id="2147483677" r:id="rId3"/>
    <p:sldLayoutId id="2147483663" r:id="rId4"/>
  </p:sldLayoutIdLst>
  <p:hf hdr="0" dt="0"/>
  <p:txStyles>
    <p:titleStyle>
      <a:lvl1pPr algn="l" defTabSz="914400" rtl="0" eaLnBrk="1" latinLnBrk="0" hangingPunct="1">
        <a:lnSpc>
          <a:spcPct val="90000"/>
        </a:lnSpc>
        <a:spcBef>
          <a:spcPct val="0"/>
        </a:spcBef>
        <a:buNone/>
        <a:defRPr sz="4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hyperlink" Target="https://cloud.timeedit.net/nz_aut/web/staff01/objects/172942.html?l=en&amp;types=5&amp;sid=66&amp;fr=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NZ" dirty="0"/>
              <a:t>COMP504 – On Campus Final Exam Revision</a:t>
            </a:r>
          </a:p>
        </p:txBody>
      </p:sp>
      <p:sp>
        <p:nvSpPr>
          <p:cNvPr id="3" name="Subtitle 2"/>
          <p:cNvSpPr>
            <a:spLocks noGrp="1"/>
          </p:cNvSpPr>
          <p:nvPr>
            <p:ph type="subTitle" idx="1"/>
          </p:nvPr>
        </p:nvSpPr>
        <p:spPr>
          <a:xfrm>
            <a:off x="749300" y="4952246"/>
            <a:ext cx="8140700" cy="483354"/>
          </a:xfrm>
        </p:spPr>
        <p:txBody>
          <a:bodyPr>
            <a:normAutofit/>
          </a:bodyPr>
          <a:lstStyle/>
          <a:p>
            <a:r>
              <a:rPr lang="en-NZ" dirty="0"/>
              <a:t>Lecturer – Nurul Sarkar and Duaa Al-Hamid</a:t>
            </a:r>
          </a:p>
        </p:txBody>
      </p:sp>
    </p:spTree>
    <p:extLst>
      <p:ext uri="{BB962C8B-B14F-4D97-AF65-F5344CB8AC3E}">
        <p14:creationId xmlns:p14="http://schemas.microsoft.com/office/powerpoint/2010/main" val="590757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035B0-52EF-B1BA-A990-2298916EED02}"/>
              </a:ext>
            </a:extLst>
          </p:cNvPr>
          <p:cNvSpPr>
            <a:spLocks noGrp="1"/>
          </p:cNvSpPr>
          <p:nvPr>
            <p:ph type="title"/>
          </p:nvPr>
        </p:nvSpPr>
        <p:spPr/>
        <p:txBody>
          <a:bodyPr/>
          <a:lstStyle/>
          <a:p>
            <a:r>
              <a:rPr lang="en-NZ" dirty="0"/>
              <a:t>COMP504 on campus Final Exam</a:t>
            </a:r>
          </a:p>
        </p:txBody>
      </p:sp>
      <p:sp>
        <p:nvSpPr>
          <p:cNvPr id="4" name="Slide Number Placeholder 3">
            <a:extLst>
              <a:ext uri="{FF2B5EF4-FFF2-40B4-BE49-F238E27FC236}">
                <a16:creationId xmlns:a16="http://schemas.microsoft.com/office/drawing/2014/main" id="{369AA553-FC77-CF51-E90A-393EC9F11B01}"/>
              </a:ext>
            </a:extLst>
          </p:cNvPr>
          <p:cNvSpPr>
            <a:spLocks noGrp="1"/>
          </p:cNvSpPr>
          <p:nvPr>
            <p:ph type="sldNum" sz="quarter" idx="12"/>
          </p:nvPr>
        </p:nvSpPr>
        <p:spPr/>
        <p:txBody>
          <a:bodyPr/>
          <a:lstStyle/>
          <a:p>
            <a:pPr>
              <a:defRPr/>
            </a:pPr>
            <a:fld id="{74182478-D854-4386-B19D-338899BFC4A3}" type="slidenum">
              <a:rPr lang="en-US" smtClean="0"/>
              <a:pPr>
                <a:defRPr/>
              </a:pPr>
              <a:t>2</a:t>
            </a:fld>
            <a:endParaRPr lang="en-US" dirty="0"/>
          </a:p>
        </p:txBody>
      </p:sp>
      <p:graphicFrame>
        <p:nvGraphicFramePr>
          <p:cNvPr id="7" name="Table 6">
            <a:extLst>
              <a:ext uri="{FF2B5EF4-FFF2-40B4-BE49-F238E27FC236}">
                <a16:creationId xmlns:a16="http://schemas.microsoft.com/office/drawing/2014/main" id="{0765ABD3-A45D-0A53-08D3-2712C2CEBBD9}"/>
              </a:ext>
            </a:extLst>
          </p:cNvPr>
          <p:cNvGraphicFramePr>
            <a:graphicFrameLocks noGrp="1"/>
          </p:cNvGraphicFramePr>
          <p:nvPr>
            <p:extLst>
              <p:ext uri="{D42A27DB-BD31-4B8C-83A1-F6EECF244321}">
                <p14:modId xmlns:p14="http://schemas.microsoft.com/office/powerpoint/2010/main" val="826177781"/>
              </p:ext>
            </p:extLst>
          </p:nvPr>
        </p:nvGraphicFramePr>
        <p:xfrm>
          <a:off x="1406264" y="2022383"/>
          <a:ext cx="10367272" cy="1823831"/>
        </p:xfrm>
        <a:graphic>
          <a:graphicData uri="http://schemas.openxmlformats.org/drawingml/2006/table">
            <a:tbl>
              <a:tblPr firstRow="1" bandRow="1">
                <a:tableStyleId>{21E4AEA4-8DFA-4A89-87EB-49C32662AFE0}</a:tableStyleId>
              </a:tblPr>
              <a:tblGrid>
                <a:gridCol w="1596912">
                  <a:extLst>
                    <a:ext uri="{9D8B030D-6E8A-4147-A177-3AD203B41FA5}">
                      <a16:colId xmlns:a16="http://schemas.microsoft.com/office/drawing/2014/main" val="3851402506"/>
                    </a:ext>
                  </a:extLst>
                </a:gridCol>
                <a:gridCol w="1676400">
                  <a:extLst>
                    <a:ext uri="{9D8B030D-6E8A-4147-A177-3AD203B41FA5}">
                      <a16:colId xmlns:a16="http://schemas.microsoft.com/office/drawing/2014/main" val="2422175758"/>
                    </a:ext>
                  </a:extLst>
                </a:gridCol>
                <a:gridCol w="4428565">
                  <a:extLst>
                    <a:ext uri="{9D8B030D-6E8A-4147-A177-3AD203B41FA5}">
                      <a16:colId xmlns:a16="http://schemas.microsoft.com/office/drawing/2014/main" val="824778200"/>
                    </a:ext>
                  </a:extLst>
                </a:gridCol>
                <a:gridCol w="1290918">
                  <a:extLst>
                    <a:ext uri="{9D8B030D-6E8A-4147-A177-3AD203B41FA5}">
                      <a16:colId xmlns:a16="http://schemas.microsoft.com/office/drawing/2014/main" val="2711923538"/>
                    </a:ext>
                  </a:extLst>
                </a:gridCol>
                <a:gridCol w="1374477">
                  <a:extLst>
                    <a:ext uri="{9D8B030D-6E8A-4147-A177-3AD203B41FA5}">
                      <a16:colId xmlns:a16="http://schemas.microsoft.com/office/drawing/2014/main" val="3549028277"/>
                    </a:ext>
                  </a:extLst>
                </a:gridCol>
              </a:tblGrid>
              <a:tr h="6670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200" dirty="0">
                          <a:latin typeface="+mn-lt"/>
                        </a:rPr>
                        <a:t>Date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200" dirty="0">
                          <a:latin typeface="+mn-lt"/>
                        </a:rPr>
                        <a:t>Course Code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200" dirty="0">
                          <a:latin typeface="+mn-lt"/>
                        </a:rPr>
                        <a:t>Description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200" dirty="0">
                          <a:latin typeface="+mn-lt"/>
                        </a:rPr>
                        <a:t>Time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200" dirty="0">
                          <a:latin typeface="+mn-lt"/>
                        </a:rPr>
                        <a:t>Duration</a:t>
                      </a:r>
                      <a:endParaRPr lang="en-NZ" sz="2200" dirty="0">
                        <a:latin typeface="+mn-lt"/>
                      </a:endParaRPr>
                    </a:p>
                  </a:txBody>
                  <a:tcPr anchor="ctr"/>
                </a:tc>
                <a:extLst>
                  <a:ext uri="{0D108BD9-81ED-4DB2-BD59-A6C34878D82A}">
                    <a16:rowId xmlns:a16="http://schemas.microsoft.com/office/drawing/2014/main" val="1956848487"/>
                  </a:ext>
                </a:extLst>
              </a:tr>
              <a:tr h="11568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2200" b="0" i="0" u="none" strike="noStrike" baseline="0" dirty="0">
                          <a:solidFill>
                            <a:srgbClr val="000000"/>
                          </a:solidFill>
                          <a:latin typeface="+mn-lt"/>
                        </a:rPr>
                        <a:t>Wednesday, 17 June</a:t>
                      </a:r>
                      <a:endParaRPr lang="fr-FR" sz="2200" dirty="0">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2200" b="0" i="0" u="none" strike="noStrike" baseline="0" dirty="0">
                          <a:solidFill>
                            <a:srgbClr val="000000"/>
                          </a:solidFill>
                          <a:latin typeface="+mn-lt"/>
                        </a:rPr>
                        <a:t>COMP504</a:t>
                      </a:r>
                      <a:endParaRPr lang="fr-FR" sz="2200" dirty="0">
                        <a:latin typeface="+mn-lt"/>
                      </a:endParaRPr>
                    </a:p>
                  </a:txBody>
                  <a:tcPr anchor="ctr"/>
                </a:tc>
                <a:tc>
                  <a:txBody>
                    <a:bodyPr/>
                    <a:lstStyle/>
                    <a:p>
                      <a:pPr fontAlgn="t"/>
                      <a:br>
                        <a:rPr lang="en-NZ" u="none" strike="noStrike" dirty="0">
                          <a:solidFill>
                            <a:srgbClr val="0F1818"/>
                          </a:solidFill>
                          <a:effectLst/>
                          <a:hlinkClick r:id="rId2"/>
                        </a:rPr>
                      </a:br>
                      <a:r>
                        <a:rPr lang="en-NZ" sz="2200" b="0" i="0" u="none" strike="noStrike" kern="1200" baseline="0" dirty="0">
                          <a:solidFill>
                            <a:srgbClr val="000000"/>
                          </a:solidFill>
                          <a:latin typeface="+mn-lt"/>
                          <a:ea typeface="+mn-ea"/>
                          <a:cs typeface="+mn-cs"/>
                        </a:rPr>
                        <a:t>Networks and Internet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2200" b="0" i="0" u="none" strike="noStrike" baseline="0" dirty="0">
                          <a:solidFill>
                            <a:srgbClr val="000000"/>
                          </a:solidFill>
                          <a:latin typeface="+mn-lt"/>
                        </a:rPr>
                        <a:t>2:00 pm</a:t>
                      </a:r>
                      <a:endParaRPr lang="fr-FR" sz="2200" dirty="0">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2200" b="0" i="0" u="none" strike="noStrike" baseline="0" dirty="0">
                          <a:solidFill>
                            <a:srgbClr val="000000"/>
                          </a:solidFill>
                          <a:latin typeface="+mn-lt"/>
                        </a:rPr>
                        <a:t>2hrs 10mins</a:t>
                      </a:r>
                      <a:endParaRPr lang="en-NZ" sz="2200" dirty="0">
                        <a:latin typeface="+mn-lt"/>
                      </a:endParaRPr>
                    </a:p>
                  </a:txBody>
                  <a:tcPr anchor="ctr"/>
                </a:tc>
                <a:extLst>
                  <a:ext uri="{0D108BD9-81ED-4DB2-BD59-A6C34878D82A}">
                    <a16:rowId xmlns:a16="http://schemas.microsoft.com/office/drawing/2014/main" val="3778100886"/>
                  </a:ext>
                </a:extLst>
              </a:tr>
            </a:tbl>
          </a:graphicData>
        </a:graphic>
      </p:graphicFrame>
    </p:spTree>
    <p:extLst>
      <p:ext uri="{BB962C8B-B14F-4D97-AF65-F5344CB8AC3E}">
        <p14:creationId xmlns:p14="http://schemas.microsoft.com/office/powerpoint/2010/main" val="2820743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C035B0-52EF-B1BA-A990-2298916EED02}"/>
              </a:ext>
            </a:extLst>
          </p:cNvPr>
          <p:cNvSpPr>
            <a:spLocks noGrp="1"/>
          </p:cNvSpPr>
          <p:nvPr>
            <p:ph type="title"/>
          </p:nvPr>
        </p:nvSpPr>
        <p:spPr>
          <a:xfrm>
            <a:off x="4447221" y="136525"/>
            <a:ext cx="6781800" cy="903381"/>
          </a:xfrm>
        </p:spPr>
        <p:txBody>
          <a:bodyPr vert="horz" lIns="91440" tIns="45720" rIns="91440" bIns="45720" rtlCol="0" anchor="ctr">
            <a:normAutofit/>
          </a:bodyPr>
          <a:lstStyle/>
          <a:p>
            <a:r>
              <a:rPr lang="en-US" sz="3600" dirty="0">
                <a:solidFill>
                  <a:schemeClr val="tx1"/>
                </a:solidFill>
                <a:latin typeface="+mj-lt"/>
              </a:rPr>
              <a:t>ASSESSMENT INSTRUCTIONS</a:t>
            </a:r>
          </a:p>
        </p:txBody>
      </p:sp>
      <p:pic>
        <p:nvPicPr>
          <p:cNvPr id="8" name="Picture 7">
            <a:extLst>
              <a:ext uri="{FF2B5EF4-FFF2-40B4-BE49-F238E27FC236}">
                <a16:creationId xmlns:a16="http://schemas.microsoft.com/office/drawing/2014/main" id="{D4CB51C6-1CC8-B9E2-B887-1A0EDAC82C6D}"/>
              </a:ext>
            </a:extLst>
          </p:cNvPr>
          <p:cNvPicPr>
            <a:picLocks noChangeAspect="1"/>
          </p:cNvPicPr>
          <p:nvPr/>
        </p:nvPicPr>
        <p:blipFill rotWithShape="1">
          <a:blip r:embed="rId2"/>
          <a:srcRect l="24235" r="36619"/>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5" name="TextBox 4">
            <a:extLst>
              <a:ext uri="{FF2B5EF4-FFF2-40B4-BE49-F238E27FC236}">
                <a16:creationId xmlns:a16="http://schemas.microsoft.com/office/drawing/2014/main" id="{545BDF1F-1448-07D1-0422-5C619F00664E}"/>
              </a:ext>
            </a:extLst>
          </p:cNvPr>
          <p:cNvSpPr txBox="1"/>
          <p:nvPr/>
        </p:nvSpPr>
        <p:spPr>
          <a:xfrm>
            <a:off x="3818965" y="1039906"/>
            <a:ext cx="8232567" cy="3900730"/>
          </a:xfrm>
          <a:prstGeom prst="rect">
            <a:avLst/>
          </a:prstGeom>
        </p:spPr>
        <p:txBody>
          <a:bodyPr vert="horz" lIns="91440" tIns="45720" rIns="91440" bIns="45720" rtlCol="0" anchor="t">
            <a:noAutofit/>
          </a:bodyPr>
          <a:lstStyle/>
          <a:p>
            <a:pPr marL="342900" lvl="0" indent="-342900" algn="just" rtl="0">
              <a:spcBef>
                <a:spcPts val="375"/>
              </a:spcBef>
              <a:spcAft>
                <a:spcPts val="375"/>
              </a:spcAft>
              <a:buFont typeface="+mj-lt"/>
              <a:buAutoNum type="arabicPeriod"/>
            </a:pPr>
            <a:r>
              <a:rPr lang="en-AU" sz="2000" dirty="0">
                <a:effectLst/>
                <a:latin typeface="Calibri" panose="020F0502020204030204" pitchFamily="34" charset="0"/>
                <a:ea typeface="Times New Roman" panose="02020603050405020304" pitchFamily="18" charset="0"/>
              </a:rPr>
              <a:t>This is an individual assessment – there must be no discussion or collaboration with anyone else. No component of this assessment may be shared with any person in any manner other than your course coordinator or University Examinations Office.</a:t>
            </a:r>
            <a:endParaRPr lang="en-NZ" sz="2000" dirty="0">
              <a:effectLst/>
              <a:latin typeface="Times New Roman" panose="02020603050405020304" pitchFamily="18" charset="0"/>
              <a:ea typeface="Times New Roman" panose="02020603050405020304" pitchFamily="18" charset="0"/>
            </a:endParaRPr>
          </a:p>
          <a:p>
            <a:pPr marL="342900" lvl="0" indent="-342900" algn="just">
              <a:spcBef>
                <a:spcPts val="375"/>
              </a:spcBef>
              <a:spcAft>
                <a:spcPts val="375"/>
              </a:spcAft>
              <a:buFont typeface="+mj-lt"/>
              <a:buAutoNum type="arabicPeriod"/>
            </a:pPr>
            <a:r>
              <a:rPr lang="en-AU" sz="2000" dirty="0">
                <a:effectLst/>
                <a:latin typeface="Calibri" panose="020F0502020204030204" pitchFamily="34" charset="0"/>
                <a:ea typeface="Times New Roman" panose="02020603050405020304" pitchFamily="18" charset="0"/>
              </a:rPr>
              <a:t>Do not start typing/writing until you are instructed. Candidates must not write/type during reading time.</a:t>
            </a:r>
            <a:endParaRPr lang="en-NZ" sz="2000" dirty="0">
              <a:effectLst/>
              <a:latin typeface="Times New Roman" panose="02020603050405020304" pitchFamily="18" charset="0"/>
              <a:ea typeface="Times New Roman" panose="02020603050405020304" pitchFamily="18" charset="0"/>
            </a:endParaRPr>
          </a:p>
          <a:p>
            <a:pPr marL="342900" lvl="0" indent="-342900" algn="just">
              <a:spcBef>
                <a:spcPts val="375"/>
              </a:spcBef>
              <a:spcAft>
                <a:spcPts val="375"/>
              </a:spcAft>
              <a:buFont typeface="+mj-lt"/>
              <a:buAutoNum type="arabicPeriod"/>
            </a:pPr>
            <a:r>
              <a:rPr lang="en-AU" sz="2000" dirty="0">
                <a:effectLst/>
                <a:latin typeface="Calibri" panose="020F0502020204030204" pitchFamily="34" charset="0"/>
                <a:ea typeface="Times New Roman" panose="02020603050405020304" pitchFamily="18" charset="0"/>
              </a:rPr>
              <a:t>During </a:t>
            </a:r>
            <a:r>
              <a:rPr lang="en-AU" sz="2000" dirty="0">
                <a:solidFill>
                  <a:srgbClr val="000000"/>
                </a:solidFill>
                <a:effectLst/>
                <a:latin typeface="Calibri" panose="020F0502020204030204" pitchFamily="34" charset="0"/>
                <a:ea typeface="Times New Roman" panose="02020603050405020304" pitchFamily="18" charset="0"/>
              </a:rPr>
              <a:t>the reading time, turn on the computer and log into Canvas.</a:t>
            </a:r>
            <a:endParaRPr lang="en-NZ" sz="20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AU" sz="2000" dirty="0">
                <a:solidFill>
                  <a:srgbClr val="000000"/>
                </a:solidFill>
                <a:effectLst/>
                <a:latin typeface="Calibri" panose="020F0502020204030204" pitchFamily="34" charset="0"/>
                <a:ea typeface="Times New Roman" panose="02020603050405020304" pitchFamily="18" charset="0"/>
              </a:rPr>
              <a:t>This is a Closed Book Examination (online canvas-based exam). Access the Exam by logging into Canvas (Assignments-&gt; Final Exam S1 2026)</a:t>
            </a:r>
            <a:endParaRPr lang="en-NZ" sz="20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AU" sz="2000" dirty="0">
                <a:solidFill>
                  <a:srgbClr val="000000"/>
                </a:solidFill>
                <a:effectLst/>
                <a:latin typeface="Calibri" panose="020F0502020204030204" pitchFamily="34" charset="0"/>
                <a:ea typeface="Times New Roman" panose="02020603050405020304" pitchFamily="18" charset="0"/>
              </a:rPr>
              <a:t>Answer </a:t>
            </a:r>
            <a:r>
              <a:rPr lang="en-AU" sz="2000" b="1" dirty="0">
                <a:solidFill>
                  <a:srgbClr val="000000"/>
                </a:solidFill>
                <a:effectLst/>
                <a:latin typeface="Calibri" panose="020F0502020204030204" pitchFamily="34" charset="0"/>
                <a:ea typeface="Times New Roman" panose="02020603050405020304" pitchFamily="18" charset="0"/>
              </a:rPr>
              <a:t>ALL</a:t>
            </a:r>
            <a:r>
              <a:rPr lang="en-AU" sz="2000" dirty="0">
                <a:solidFill>
                  <a:srgbClr val="000000"/>
                </a:solidFill>
                <a:effectLst/>
                <a:latin typeface="Calibri" panose="020F0502020204030204" pitchFamily="34" charset="0"/>
                <a:ea typeface="Times New Roman" panose="02020603050405020304" pitchFamily="18" charset="0"/>
              </a:rPr>
              <a:t> the questions.</a:t>
            </a:r>
            <a:endParaRPr lang="en-NZ" sz="2000" dirty="0">
              <a:effectLst/>
              <a:latin typeface="Times New Roman" panose="02020603050405020304" pitchFamily="18" charset="0"/>
              <a:ea typeface="Times New Roman" panose="02020603050405020304" pitchFamily="18" charset="0"/>
            </a:endParaRPr>
          </a:p>
          <a:p>
            <a:pPr marL="342900" marR="1223645" lvl="0" indent="-342900" algn="just">
              <a:buFont typeface="+mj-lt"/>
              <a:buAutoNum type="arabicPeriod"/>
              <a:tabLst>
                <a:tab pos="433705" algn="l"/>
                <a:tab pos="434340" algn="l"/>
              </a:tabLst>
            </a:pPr>
            <a:r>
              <a:rPr lang="en-NZ" sz="20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Non-programmable Calculator may be permitted.</a:t>
            </a:r>
            <a:endParaRPr lang="en-NZ" sz="200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a:pPr>
            <a:r>
              <a:rPr lang="en-AU" sz="2000" dirty="0">
                <a:solidFill>
                  <a:srgbClr val="000000"/>
                </a:solidFill>
                <a:effectLst/>
                <a:latin typeface="Calibri" panose="020F0502020204030204" pitchFamily="34" charset="0"/>
                <a:ea typeface="Times New Roman" panose="02020603050405020304" pitchFamily="18" charset="0"/>
                <a:cs typeface="Arial" panose="020B0604020202020204" pitchFamily="34" charset="0"/>
              </a:rPr>
              <a:t>You have one attempt to submit this assessment. Ensure frequent saving and do not leave the assessment before clicking Save and Submit.</a:t>
            </a:r>
            <a:endParaRPr lang="en-NZ" sz="200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a:pPr>
            <a:r>
              <a:rPr lang="en-AU" sz="2000" dirty="0">
                <a:effectLst/>
                <a:latin typeface="Calibri" panose="020F0502020204030204" pitchFamily="34" charset="0"/>
                <a:ea typeface="Times New Roman" panose="02020603050405020304" pitchFamily="18" charset="0"/>
              </a:rPr>
              <a:t>No dictionaries, translators, or thesaurus (of any sort) are allowed.</a:t>
            </a:r>
            <a:endParaRPr lang="en-NZ" sz="2000" dirty="0">
              <a:effectLst/>
              <a:latin typeface="Times New Roman" panose="02020603050405020304" pitchFamily="18"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369AA553-FC77-CF51-E90A-393EC9F11B0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lgn="r">
              <a:spcAft>
                <a:spcPts val="600"/>
              </a:spcAft>
              <a:defRPr/>
            </a:pPr>
            <a:fld id="{74182478-D854-4386-B19D-338899BFC4A3}" type="slidenum">
              <a:rPr lang="en-US" sz="1000">
                <a:solidFill>
                  <a:prstClr val="black">
                    <a:tint val="75000"/>
                  </a:prstClr>
                </a:solidFill>
                <a:latin typeface="Calibri" panose="020F0502020204030204"/>
              </a:rPr>
              <a:pPr algn="r">
                <a:spcAft>
                  <a:spcPts val="600"/>
                </a:spcAft>
                <a:defRPr/>
              </a:pPr>
              <a:t>3</a:t>
            </a:fld>
            <a:endParaRPr lang="en-US" sz="1000">
              <a:solidFill>
                <a:prstClr val="black">
                  <a:tint val="75000"/>
                </a:prstClr>
              </a:solidFill>
              <a:latin typeface="Calibri" panose="020F0502020204030204"/>
            </a:endParaRPr>
          </a:p>
        </p:txBody>
      </p:sp>
    </p:spTree>
    <p:extLst>
      <p:ext uri="{BB962C8B-B14F-4D97-AF65-F5344CB8AC3E}">
        <p14:creationId xmlns:p14="http://schemas.microsoft.com/office/powerpoint/2010/main" val="1970684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B8F482-884B-5F55-7C8C-81940255A94A}"/>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5308A61-B03B-35DA-65C0-8CC744031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06590F-18F9-7CF3-09EA-3B0C31140B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2DBA49-009B-F2CE-E7E5-A6F8F4D703D4}"/>
              </a:ext>
            </a:extLst>
          </p:cNvPr>
          <p:cNvSpPr>
            <a:spLocks noGrp="1"/>
          </p:cNvSpPr>
          <p:nvPr>
            <p:ph type="title"/>
          </p:nvPr>
        </p:nvSpPr>
        <p:spPr>
          <a:xfrm>
            <a:off x="4447221" y="312988"/>
            <a:ext cx="6781800" cy="903381"/>
          </a:xfrm>
        </p:spPr>
        <p:txBody>
          <a:bodyPr vert="horz" lIns="91440" tIns="45720" rIns="91440" bIns="45720" rtlCol="0" anchor="ctr">
            <a:normAutofit fontScale="90000"/>
          </a:bodyPr>
          <a:lstStyle/>
          <a:p>
            <a:r>
              <a:rPr lang="en-AU" sz="3600" dirty="0">
                <a:solidFill>
                  <a:schemeClr val="tx1"/>
                </a:solidFill>
                <a:latin typeface="+mj-lt"/>
              </a:rPr>
              <a:t>ADDITIONAL MATERIALS</a:t>
            </a:r>
            <a:br>
              <a:rPr lang="en-NZ" sz="3600" dirty="0">
                <a:effectLst/>
                <a:latin typeface="Times New Roman" panose="02020603050405020304" pitchFamily="18" charset="0"/>
                <a:ea typeface="Times New Roman" panose="02020603050405020304" pitchFamily="18" charset="0"/>
              </a:rPr>
            </a:br>
            <a:endParaRPr lang="en-US" sz="3600" dirty="0">
              <a:solidFill>
                <a:schemeClr val="tx1"/>
              </a:solidFill>
              <a:latin typeface="+mj-lt"/>
            </a:endParaRPr>
          </a:p>
        </p:txBody>
      </p:sp>
      <p:pic>
        <p:nvPicPr>
          <p:cNvPr id="8" name="Picture 7">
            <a:extLst>
              <a:ext uri="{FF2B5EF4-FFF2-40B4-BE49-F238E27FC236}">
                <a16:creationId xmlns:a16="http://schemas.microsoft.com/office/drawing/2014/main" id="{C4ED7CED-2D6B-722B-A3D9-512821263721}"/>
              </a:ext>
            </a:extLst>
          </p:cNvPr>
          <p:cNvPicPr>
            <a:picLocks noChangeAspect="1"/>
          </p:cNvPicPr>
          <p:nvPr/>
        </p:nvPicPr>
        <p:blipFill rotWithShape="1">
          <a:blip r:embed="rId2"/>
          <a:srcRect l="24235" r="36619"/>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5" name="TextBox 4">
            <a:extLst>
              <a:ext uri="{FF2B5EF4-FFF2-40B4-BE49-F238E27FC236}">
                <a16:creationId xmlns:a16="http://schemas.microsoft.com/office/drawing/2014/main" id="{A54B7044-156A-3B51-1CFE-F21FC5AE8A34}"/>
              </a:ext>
            </a:extLst>
          </p:cNvPr>
          <p:cNvSpPr txBox="1"/>
          <p:nvPr/>
        </p:nvSpPr>
        <p:spPr>
          <a:xfrm>
            <a:off x="3818965" y="1039906"/>
            <a:ext cx="8232567" cy="3900730"/>
          </a:xfrm>
          <a:prstGeom prst="rect">
            <a:avLst/>
          </a:prstGeom>
        </p:spPr>
        <p:txBody>
          <a:bodyPr vert="horz" lIns="91440" tIns="45720" rIns="91440" bIns="45720" rtlCol="0" anchor="t">
            <a:noAutofit/>
          </a:bodyPr>
          <a:lstStyle/>
          <a:p>
            <a:pPr marL="342900" lvl="0" indent="-342900" algn="just">
              <a:spcAft>
                <a:spcPts val="600"/>
              </a:spcAft>
              <a:buFont typeface="+mj-lt"/>
              <a:buAutoNum type="alphaLcParenR"/>
            </a:pPr>
            <a:r>
              <a:rPr lang="en-AU" sz="2000" dirty="0">
                <a:effectLst/>
                <a:latin typeface="Calibri" panose="020F0502020204030204" pitchFamily="34" charset="0"/>
                <a:ea typeface="Times New Roman" panose="02020603050405020304" pitchFamily="18" charset="0"/>
              </a:rPr>
              <a:t>STANDARD materials allowed on desks during an examination are pens, pencils, erasers, ID card, single tissues, and a clear bottle of water/juice.</a:t>
            </a:r>
            <a:endParaRPr lang="en-NZ" sz="2000" dirty="0">
              <a:effectLst/>
              <a:latin typeface="Times New Roman" panose="02020603050405020304" pitchFamily="18" charset="0"/>
              <a:ea typeface="Times New Roman" panose="02020603050405020304" pitchFamily="18" charset="0"/>
            </a:endParaRPr>
          </a:p>
          <a:p>
            <a:pPr marL="342900" lvl="0" indent="-342900" algn="just">
              <a:spcAft>
                <a:spcPts val="600"/>
              </a:spcAft>
              <a:buFont typeface="+mj-lt"/>
              <a:buAutoNum type="alphaLcParenR"/>
            </a:pPr>
            <a:r>
              <a:rPr lang="en-AU" sz="2000" dirty="0">
                <a:effectLst/>
                <a:latin typeface="Calibri" panose="020F0502020204030204" pitchFamily="34" charset="0"/>
                <a:ea typeface="Times New Roman" panose="02020603050405020304" pitchFamily="18" charset="0"/>
              </a:rPr>
              <a:t>Non-programmable calculator.</a:t>
            </a:r>
            <a:endParaRPr lang="en-NZ" sz="2000" dirty="0">
              <a:effectLst/>
              <a:latin typeface="Times New Roman" panose="02020603050405020304" pitchFamily="18" charset="0"/>
              <a:ea typeface="Times New Roman" panose="02020603050405020304" pitchFamily="18" charset="0"/>
            </a:endParaRPr>
          </a:p>
          <a:p>
            <a:pPr marL="342900" lvl="0" indent="-342900" algn="just">
              <a:spcAft>
                <a:spcPts val="600"/>
              </a:spcAft>
              <a:buFont typeface="+mj-lt"/>
              <a:buAutoNum type="alphaLcParenR"/>
            </a:pPr>
            <a:r>
              <a:rPr lang="en-AU" sz="2000" dirty="0">
                <a:effectLst/>
                <a:latin typeface="Calibri" panose="020F0502020204030204" pitchFamily="34" charset="0"/>
                <a:ea typeface="Times New Roman" panose="02020603050405020304" pitchFamily="18" charset="0"/>
              </a:rPr>
              <a:t>1 x blank A4 paper.</a:t>
            </a:r>
            <a:endParaRPr lang="en-NZ" sz="2000" dirty="0">
              <a:effectLst/>
              <a:latin typeface="Times New Roman" panose="02020603050405020304" pitchFamily="18"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381D6964-9FE5-BD5A-8DA9-BAB287C22D5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lgn="r">
              <a:spcAft>
                <a:spcPts val="600"/>
              </a:spcAft>
              <a:defRPr/>
            </a:pPr>
            <a:fld id="{74182478-D854-4386-B19D-338899BFC4A3}" type="slidenum">
              <a:rPr lang="en-US" sz="1000">
                <a:solidFill>
                  <a:prstClr val="black">
                    <a:tint val="75000"/>
                  </a:prstClr>
                </a:solidFill>
                <a:latin typeface="Calibri" panose="020F0502020204030204"/>
              </a:rPr>
              <a:pPr algn="r">
                <a:spcAft>
                  <a:spcPts val="600"/>
                </a:spcAft>
                <a:defRPr/>
              </a:pPr>
              <a:t>4</a:t>
            </a:fld>
            <a:endParaRPr lang="en-US" sz="1000">
              <a:solidFill>
                <a:prstClr val="black">
                  <a:tint val="75000"/>
                </a:prstClr>
              </a:solidFill>
              <a:latin typeface="Calibri" panose="020F0502020204030204"/>
            </a:endParaRPr>
          </a:p>
        </p:txBody>
      </p:sp>
    </p:spTree>
    <p:extLst>
      <p:ext uri="{BB962C8B-B14F-4D97-AF65-F5344CB8AC3E}">
        <p14:creationId xmlns:p14="http://schemas.microsoft.com/office/powerpoint/2010/main" val="88160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C035B0-52EF-B1BA-A990-2298916EED02}"/>
              </a:ext>
            </a:extLst>
          </p:cNvPr>
          <p:cNvSpPr>
            <a:spLocks noGrp="1"/>
          </p:cNvSpPr>
          <p:nvPr>
            <p:ph type="title"/>
          </p:nvPr>
        </p:nvSpPr>
        <p:spPr>
          <a:xfrm>
            <a:off x="4447221" y="136525"/>
            <a:ext cx="6781800" cy="903381"/>
          </a:xfrm>
        </p:spPr>
        <p:txBody>
          <a:bodyPr vert="horz" lIns="91440" tIns="45720" rIns="91440" bIns="45720" rtlCol="0" anchor="ctr">
            <a:normAutofit/>
          </a:bodyPr>
          <a:lstStyle/>
          <a:p>
            <a:r>
              <a:rPr lang="en-US" sz="3600" dirty="0">
                <a:solidFill>
                  <a:schemeClr val="tx1"/>
                </a:solidFill>
                <a:latin typeface="+mj-lt"/>
              </a:rPr>
              <a:t>EXAM SUMMARY</a:t>
            </a:r>
          </a:p>
        </p:txBody>
      </p:sp>
      <p:pic>
        <p:nvPicPr>
          <p:cNvPr id="8" name="Picture 7">
            <a:extLst>
              <a:ext uri="{FF2B5EF4-FFF2-40B4-BE49-F238E27FC236}">
                <a16:creationId xmlns:a16="http://schemas.microsoft.com/office/drawing/2014/main" id="{D4CB51C6-1CC8-B9E2-B887-1A0EDAC82C6D}"/>
              </a:ext>
            </a:extLst>
          </p:cNvPr>
          <p:cNvPicPr>
            <a:picLocks noChangeAspect="1"/>
          </p:cNvPicPr>
          <p:nvPr/>
        </p:nvPicPr>
        <p:blipFill rotWithShape="1">
          <a:blip r:embed="rId2"/>
          <a:srcRect l="24235" r="36619"/>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4" name="Slide Number Placeholder 3">
            <a:extLst>
              <a:ext uri="{FF2B5EF4-FFF2-40B4-BE49-F238E27FC236}">
                <a16:creationId xmlns:a16="http://schemas.microsoft.com/office/drawing/2014/main" id="{369AA553-FC77-CF51-E90A-393EC9F11B0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lgn="r">
              <a:spcAft>
                <a:spcPts val="600"/>
              </a:spcAft>
              <a:defRPr/>
            </a:pPr>
            <a:fld id="{74182478-D854-4386-B19D-338899BFC4A3}" type="slidenum">
              <a:rPr lang="en-US" sz="1000">
                <a:solidFill>
                  <a:prstClr val="black">
                    <a:tint val="75000"/>
                  </a:prstClr>
                </a:solidFill>
                <a:latin typeface="Calibri" panose="020F0502020204030204"/>
              </a:rPr>
              <a:pPr algn="r">
                <a:spcAft>
                  <a:spcPts val="600"/>
                </a:spcAft>
                <a:defRPr/>
              </a:pPr>
              <a:t>5</a:t>
            </a:fld>
            <a:endParaRPr lang="en-US" sz="1000">
              <a:solidFill>
                <a:prstClr val="black">
                  <a:tint val="75000"/>
                </a:prstClr>
              </a:solidFill>
              <a:latin typeface="Calibri" panose="020F0502020204030204"/>
            </a:endParaRPr>
          </a:p>
        </p:txBody>
      </p:sp>
      <p:graphicFrame>
        <p:nvGraphicFramePr>
          <p:cNvPr id="3" name="Table 2">
            <a:extLst>
              <a:ext uri="{FF2B5EF4-FFF2-40B4-BE49-F238E27FC236}">
                <a16:creationId xmlns:a16="http://schemas.microsoft.com/office/drawing/2014/main" id="{C4423F89-8E08-766F-6635-14981FD65A0F}"/>
              </a:ext>
            </a:extLst>
          </p:cNvPr>
          <p:cNvGraphicFramePr>
            <a:graphicFrameLocks noGrp="1"/>
          </p:cNvGraphicFramePr>
          <p:nvPr>
            <p:extLst>
              <p:ext uri="{D42A27DB-BD31-4B8C-83A1-F6EECF244321}">
                <p14:modId xmlns:p14="http://schemas.microsoft.com/office/powerpoint/2010/main" val="2171534359"/>
              </p:ext>
            </p:extLst>
          </p:nvPr>
        </p:nvGraphicFramePr>
        <p:xfrm>
          <a:off x="3916849" y="1444573"/>
          <a:ext cx="8113060" cy="1748119"/>
        </p:xfrm>
        <a:graphic>
          <a:graphicData uri="http://schemas.openxmlformats.org/drawingml/2006/table">
            <a:tbl>
              <a:tblPr firstRow="1" firstCol="1" bandRow="1">
                <a:tableStyleId>{1FECB4D8-DB02-4DC6-A0A2-4F2EBAE1DC90}</a:tableStyleId>
              </a:tblPr>
              <a:tblGrid>
                <a:gridCol w="3944472">
                  <a:extLst>
                    <a:ext uri="{9D8B030D-6E8A-4147-A177-3AD203B41FA5}">
                      <a16:colId xmlns:a16="http://schemas.microsoft.com/office/drawing/2014/main" val="580757668"/>
                    </a:ext>
                  </a:extLst>
                </a:gridCol>
                <a:gridCol w="1873623">
                  <a:extLst>
                    <a:ext uri="{9D8B030D-6E8A-4147-A177-3AD203B41FA5}">
                      <a16:colId xmlns:a16="http://schemas.microsoft.com/office/drawing/2014/main" val="4165592382"/>
                    </a:ext>
                  </a:extLst>
                </a:gridCol>
                <a:gridCol w="2294965">
                  <a:extLst>
                    <a:ext uri="{9D8B030D-6E8A-4147-A177-3AD203B41FA5}">
                      <a16:colId xmlns:a16="http://schemas.microsoft.com/office/drawing/2014/main" val="1395849226"/>
                    </a:ext>
                  </a:extLst>
                </a:gridCol>
              </a:tblGrid>
              <a:tr h="495608">
                <a:tc>
                  <a:txBody>
                    <a:bodyPr/>
                    <a:lstStyle/>
                    <a:p>
                      <a:r>
                        <a:rPr lang="en-AU" sz="2000">
                          <a:effectLst/>
                        </a:rPr>
                        <a:t>Section</a:t>
                      </a:r>
                      <a:endParaRPr lang="en-NZ"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en-AU" sz="2000">
                          <a:effectLst/>
                        </a:rPr>
                        <a:t>Marks</a:t>
                      </a:r>
                      <a:endParaRPr lang="en-NZ"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r>
                        <a:rPr lang="en-AU" sz="2000">
                          <a:effectLst/>
                        </a:rPr>
                        <a:t>Suggested time (Minutes)</a:t>
                      </a:r>
                      <a:endParaRPr lang="en-NZ" sz="2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513925889"/>
                  </a:ext>
                </a:extLst>
              </a:tr>
              <a:tr h="493058">
                <a:tc>
                  <a:txBody>
                    <a:bodyPr/>
                    <a:lstStyle/>
                    <a:p>
                      <a:pPr>
                        <a:buNone/>
                      </a:pPr>
                      <a:r>
                        <a:rPr lang="en-NZ" sz="2000" b="1" kern="1200" dirty="0">
                          <a:solidFill>
                            <a:schemeClr val="dk1"/>
                          </a:solidFill>
                          <a:effectLst/>
                          <a:latin typeface="+mn-lt"/>
                          <a:ea typeface="+mn-ea"/>
                          <a:cs typeface="+mn-cs"/>
                        </a:rPr>
                        <a:t>Multichoice Questions (100 Questions)</a:t>
                      </a:r>
                    </a:p>
                  </a:txBody>
                  <a:tcPr marL="68580" marR="68580" marT="0" marB="0" anchor="ctr"/>
                </a:tc>
                <a:tc>
                  <a:txBody>
                    <a:bodyPr/>
                    <a:lstStyle/>
                    <a:p>
                      <a:pPr algn="ctr">
                        <a:buNone/>
                      </a:pPr>
                      <a:r>
                        <a:rPr lang="en-NZ" sz="2000" b="1" kern="1200" dirty="0">
                          <a:solidFill>
                            <a:schemeClr val="dk1"/>
                          </a:solidFill>
                          <a:effectLst/>
                          <a:latin typeface="+mn-lt"/>
                          <a:ea typeface="+mn-ea"/>
                          <a:cs typeface="+mn-cs"/>
                        </a:rPr>
                        <a:t>100X1 = 100</a:t>
                      </a:r>
                    </a:p>
                  </a:txBody>
                  <a:tcPr marL="68580" marR="68580" marT="0" marB="0" anchor="ctr"/>
                </a:tc>
                <a:tc>
                  <a:txBody>
                    <a:bodyPr/>
                    <a:lstStyle/>
                    <a:p>
                      <a:pPr algn="ctr">
                        <a:buNone/>
                      </a:pPr>
                      <a:r>
                        <a:rPr lang="en-NZ" sz="2000" b="1" kern="1200" dirty="0">
                          <a:solidFill>
                            <a:schemeClr val="dk1"/>
                          </a:solidFill>
                          <a:effectLst/>
                          <a:latin typeface="+mn-lt"/>
                          <a:ea typeface="+mn-ea"/>
                          <a:cs typeface="+mn-cs"/>
                        </a:rPr>
                        <a:t>120</a:t>
                      </a:r>
                    </a:p>
                  </a:txBody>
                  <a:tcPr marL="68580" marR="68580" marT="0" marB="0" anchor="ctr"/>
                </a:tc>
                <a:extLst>
                  <a:ext uri="{0D108BD9-81ED-4DB2-BD59-A6C34878D82A}">
                    <a16:rowId xmlns:a16="http://schemas.microsoft.com/office/drawing/2014/main" val="4217443021"/>
                  </a:ext>
                </a:extLst>
              </a:tr>
              <a:tr h="528919">
                <a:tc>
                  <a:txBody>
                    <a:bodyPr/>
                    <a:lstStyle/>
                    <a:p>
                      <a:pPr>
                        <a:buNone/>
                      </a:pPr>
                      <a:r>
                        <a:rPr lang="en-AU" sz="2000" b="1" kern="1200" dirty="0">
                          <a:solidFill>
                            <a:schemeClr val="dk1"/>
                          </a:solidFill>
                          <a:effectLst/>
                          <a:latin typeface="+mn-lt"/>
                          <a:ea typeface="+mn-ea"/>
                          <a:cs typeface="+mn-cs"/>
                        </a:rPr>
                        <a:t>Total</a:t>
                      </a:r>
                      <a:endParaRPr lang="en-NZ" sz="2000" b="1" kern="1200" dirty="0">
                        <a:solidFill>
                          <a:schemeClr val="dk1"/>
                        </a:solidFill>
                        <a:effectLst/>
                        <a:latin typeface="+mn-lt"/>
                        <a:ea typeface="+mn-ea"/>
                        <a:cs typeface="+mn-cs"/>
                      </a:endParaRPr>
                    </a:p>
                  </a:txBody>
                  <a:tcPr marL="68580" marR="68580" marT="0" marB="0"/>
                </a:tc>
                <a:tc>
                  <a:txBody>
                    <a:bodyPr/>
                    <a:lstStyle/>
                    <a:p>
                      <a:pPr algn="ctr">
                        <a:buNone/>
                      </a:pPr>
                      <a:r>
                        <a:rPr lang="en-AU" sz="2000" b="1" kern="1200" dirty="0">
                          <a:solidFill>
                            <a:schemeClr val="dk1"/>
                          </a:solidFill>
                          <a:effectLst/>
                          <a:latin typeface="+mn-lt"/>
                          <a:ea typeface="+mn-ea"/>
                          <a:cs typeface="+mn-cs"/>
                        </a:rPr>
                        <a:t>100</a:t>
                      </a:r>
                      <a:endParaRPr lang="en-NZ" sz="2000" b="1" kern="1200" dirty="0">
                        <a:solidFill>
                          <a:schemeClr val="dk1"/>
                        </a:solidFill>
                        <a:effectLst/>
                        <a:latin typeface="+mn-lt"/>
                        <a:ea typeface="+mn-ea"/>
                        <a:cs typeface="+mn-cs"/>
                      </a:endParaRPr>
                    </a:p>
                  </a:txBody>
                  <a:tcPr marL="68580" marR="68580" marT="0" marB="0"/>
                </a:tc>
                <a:tc>
                  <a:txBody>
                    <a:bodyPr/>
                    <a:lstStyle/>
                    <a:p>
                      <a:pPr algn="ctr">
                        <a:buNone/>
                      </a:pPr>
                      <a:r>
                        <a:rPr lang="en-AU" sz="2000" b="1" kern="1200" dirty="0">
                          <a:solidFill>
                            <a:schemeClr val="dk1"/>
                          </a:solidFill>
                          <a:effectLst/>
                          <a:latin typeface="+mn-lt"/>
                          <a:ea typeface="+mn-ea"/>
                          <a:cs typeface="+mn-cs"/>
                        </a:rPr>
                        <a:t>120</a:t>
                      </a:r>
                      <a:endParaRPr lang="en-NZ" sz="2000" b="1"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1830211802"/>
                  </a:ext>
                </a:extLst>
              </a:tr>
            </a:tbl>
          </a:graphicData>
        </a:graphic>
      </p:graphicFrame>
    </p:spTree>
    <p:extLst>
      <p:ext uri="{BB962C8B-B14F-4D97-AF65-F5344CB8AC3E}">
        <p14:creationId xmlns:p14="http://schemas.microsoft.com/office/powerpoint/2010/main" val="2411170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74182478-D854-4386-B19D-338899BFC4A3}" type="slidenum">
              <a:rPr lang="en-US" smtClean="0"/>
              <a:pPr>
                <a:defRPr/>
              </a:pPr>
              <a:t>6</a:t>
            </a:fld>
            <a:endParaRPr lang="en-US"/>
          </a:p>
        </p:txBody>
      </p:sp>
      <p:sp>
        <p:nvSpPr>
          <p:cNvPr id="7" name="Title 6">
            <a:extLst>
              <a:ext uri="{FF2B5EF4-FFF2-40B4-BE49-F238E27FC236}">
                <a16:creationId xmlns:a16="http://schemas.microsoft.com/office/drawing/2014/main" id="{8D278E9F-A84F-48F7-A779-406450E74A8E}"/>
              </a:ext>
            </a:extLst>
          </p:cNvPr>
          <p:cNvSpPr>
            <a:spLocks noGrp="1"/>
          </p:cNvSpPr>
          <p:nvPr>
            <p:ph type="title"/>
          </p:nvPr>
        </p:nvSpPr>
        <p:spPr>
          <a:xfrm>
            <a:off x="1094307" y="67375"/>
            <a:ext cx="10515600" cy="705849"/>
          </a:xfrm>
        </p:spPr>
        <p:txBody>
          <a:bodyPr>
            <a:normAutofit fontScale="90000"/>
          </a:bodyPr>
          <a:lstStyle/>
          <a:p>
            <a:r>
              <a:rPr lang="en-NZ" u="none" dirty="0"/>
              <a:t>Chapter 1-Introduction- Week 1 (3-5 questions)</a:t>
            </a:r>
            <a:endParaRPr lang="en-NZ" dirty="0"/>
          </a:p>
        </p:txBody>
      </p:sp>
      <p:sp>
        <p:nvSpPr>
          <p:cNvPr id="15" name="TextBox 14">
            <a:extLst>
              <a:ext uri="{FF2B5EF4-FFF2-40B4-BE49-F238E27FC236}">
                <a16:creationId xmlns:a16="http://schemas.microsoft.com/office/drawing/2014/main" id="{2AC93345-8BF4-63E7-9CDF-22E5C23EBEE9}"/>
              </a:ext>
            </a:extLst>
          </p:cNvPr>
          <p:cNvSpPr txBox="1"/>
          <p:nvPr/>
        </p:nvSpPr>
        <p:spPr>
          <a:xfrm>
            <a:off x="1094307" y="824553"/>
            <a:ext cx="10742595" cy="6232155"/>
          </a:xfrm>
          <a:prstGeom prst="rect">
            <a:avLst/>
          </a:prstGeom>
          <a:noFill/>
        </p:spPr>
        <p:txBody>
          <a:bodyPr wrap="square">
            <a:spAutoFit/>
          </a:bodyPr>
          <a:lstStyle/>
          <a:p>
            <a:pPr marL="342900" indent="-342900" algn="l">
              <a:spcBef>
                <a:spcPts val="300"/>
              </a:spcBef>
              <a:spcAft>
                <a:spcPts val="30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Review the quizzes for this chapter on CANVAS.</a:t>
            </a:r>
          </a:p>
          <a:p>
            <a:pPr marL="342900" indent="-342900" algn="just">
              <a:lnSpc>
                <a:spcPct val="120000"/>
              </a:lnSpc>
              <a:buFont typeface="Arial" panose="020B0604020202020204" pitchFamily="34" charset="0"/>
              <a:buChar char="•"/>
            </a:pPr>
            <a:r>
              <a:rPr lang="en-NZ" sz="2400" dirty="0">
                <a:latin typeface="Calibri" panose="020F0502020204030204" pitchFamily="34" charset="0"/>
                <a:cs typeface="Calibri" panose="020F0502020204030204" pitchFamily="34" charset="0"/>
              </a:rPr>
              <a:t>Understand the two key models of data communication:</a:t>
            </a:r>
          </a:p>
          <a:p>
            <a:pPr marL="342900" indent="-342900" algn="just">
              <a:lnSpc>
                <a:spcPct val="120000"/>
              </a:lnSpc>
              <a:buFont typeface="Wingdings" panose="05000000000000000000" pitchFamily="2" charset="2"/>
              <a:buChar char="v"/>
            </a:pPr>
            <a:r>
              <a:rPr lang="en-NZ" sz="2400" dirty="0">
                <a:latin typeface="Calibri" panose="020F0502020204030204" pitchFamily="34" charset="0"/>
                <a:cs typeface="Calibri" panose="020F0502020204030204" pitchFamily="34" charset="0"/>
              </a:rPr>
              <a:t>OSI model- 7 layers </a:t>
            </a:r>
          </a:p>
          <a:p>
            <a:pPr marL="342900" indent="-342900" algn="just">
              <a:lnSpc>
                <a:spcPct val="120000"/>
              </a:lnSpc>
              <a:buFont typeface="Wingdings" panose="05000000000000000000" pitchFamily="2" charset="2"/>
              <a:buChar char="v"/>
            </a:pPr>
            <a:r>
              <a:rPr lang="en-NZ" sz="2400" dirty="0">
                <a:latin typeface="Calibri" panose="020F0502020204030204" pitchFamily="34" charset="0"/>
                <a:cs typeface="Calibri" panose="020F0502020204030204" pitchFamily="34" charset="0"/>
              </a:rPr>
              <a:t>Internet model (TCP/IP model)- 5 layers. </a:t>
            </a:r>
          </a:p>
          <a:p>
            <a:pPr marL="342900" indent="-342900" algn="just">
              <a:lnSpc>
                <a:spcPct val="120000"/>
              </a:lnSpc>
              <a:buFont typeface="Arial" panose="020B0604020202020204" pitchFamily="34" charset="0"/>
              <a:buChar char="•"/>
            </a:pPr>
            <a:r>
              <a:rPr lang="en-NZ" sz="2400" dirty="0">
                <a:latin typeface="Calibri" panose="020F0502020204030204" pitchFamily="34" charset="0"/>
                <a:cs typeface="Calibri" panose="020F0502020204030204" pitchFamily="34" charset="0"/>
              </a:rPr>
              <a:t>Each layer has a specific role and uses different protocols:</a:t>
            </a:r>
          </a:p>
          <a:p>
            <a:pPr marL="342900" indent="-342900" algn="just">
              <a:lnSpc>
                <a:spcPct val="120000"/>
              </a:lnSpc>
              <a:buFont typeface="Wingdings" panose="05000000000000000000" pitchFamily="2" charset="2"/>
              <a:buChar char="v"/>
            </a:pPr>
            <a:r>
              <a:rPr lang="en-NZ" sz="2400" dirty="0">
                <a:latin typeface="Calibri" panose="020F0502020204030204" pitchFamily="34" charset="0"/>
                <a:cs typeface="Calibri" panose="020F0502020204030204" pitchFamily="34" charset="0"/>
              </a:rPr>
              <a:t>Physical Layer: Transmits raw bits (0s and 1s) over a medium.</a:t>
            </a:r>
          </a:p>
          <a:p>
            <a:pPr marL="342900" indent="-342900" algn="just">
              <a:lnSpc>
                <a:spcPct val="120000"/>
              </a:lnSpc>
              <a:buFont typeface="Wingdings" panose="05000000000000000000" pitchFamily="2" charset="2"/>
              <a:buChar char="v"/>
            </a:pPr>
            <a:r>
              <a:rPr lang="en-NZ" sz="2400" dirty="0">
                <a:latin typeface="Calibri" panose="020F0502020204030204" pitchFamily="34" charset="0"/>
                <a:cs typeface="Calibri" panose="020F0502020204030204" pitchFamily="34" charset="0"/>
              </a:rPr>
              <a:t>Data Link Layer: Groups bits into frames.</a:t>
            </a:r>
          </a:p>
          <a:p>
            <a:pPr marL="342900" indent="-342900" algn="just">
              <a:lnSpc>
                <a:spcPct val="120000"/>
              </a:lnSpc>
              <a:buFont typeface="Wingdings" panose="05000000000000000000" pitchFamily="2" charset="2"/>
              <a:buChar char="v"/>
            </a:pPr>
            <a:r>
              <a:rPr lang="en-NZ" sz="2400" dirty="0">
                <a:latin typeface="Calibri" panose="020F0502020204030204" pitchFamily="34" charset="0"/>
                <a:cs typeface="Calibri" panose="020F0502020204030204" pitchFamily="34" charset="0"/>
              </a:rPr>
              <a:t>Network Layer: Organizes frames into packets and route them </a:t>
            </a:r>
            <a:r>
              <a:rPr lang="en-US" sz="2400" dirty="0">
                <a:latin typeface="Calibri" panose="020F0502020204030204" pitchFamily="34" charset="0"/>
                <a:cs typeface="Calibri" panose="020F0502020204030204" pitchFamily="34" charset="0"/>
              </a:rPr>
              <a:t>from </a:t>
            </a:r>
            <a:r>
              <a:rPr lang="en-NZ" sz="2400" dirty="0">
                <a:latin typeface="Calibri" panose="020F0502020204030204" pitchFamily="34" charset="0"/>
                <a:cs typeface="Calibri" panose="020F0502020204030204" pitchFamily="34" charset="0"/>
              </a:rPr>
              <a:t>the sender to the receiver. </a:t>
            </a:r>
          </a:p>
          <a:p>
            <a:pPr marL="342900" indent="-342900" algn="just">
              <a:lnSpc>
                <a:spcPct val="120000"/>
              </a:lnSpc>
              <a:buFont typeface="Arial" panose="020B0604020202020204" pitchFamily="34" charset="0"/>
              <a:buChar char="•"/>
            </a:pPr>
            <a:r>
              <a:rPr lang="en-NZ" sz="2400" dirty="0">
                <a:latin typeface="Calibri" panose="020F0502020204030204" pitchFamily="34" charset="0"/>
                <a:cs typeface="Calibri" panose="020F0502020204030204" pitchFamily="34" charset="0"/>
              </a:rPr>
              <a:t>Common protocols:</a:t>
            </a:r>
          </a:p>
          <a:p>
            <a:pPr marL="342900" indent="-342900" algn="just">
              <a:lnSpc>
                <a:spcPct val="120000"/>
              </a:lnSpc>
              <a:buFont typeface="Wingdings" panose="05000000000000000000" pitchFamily="2" charset="2"/>
              <a:buChar char="v"/>
            </a:pPr>
            <a:r>
              <a:rPr lang="en-NZ" sz="2400" dirty="0">
                <a:latin typeface="Calibri" panose="020F0502020204030204" pitchFamily="34" charset="0"/>
                <a:cs typeface="Calibri" panose="020F0502020204030204" pitchFamily="34" charset="0"/>
              </a:rPr>
              <a:t>Transport Layer: TCP, UDP</a:t>
            </a:r>
          </a:p>
          <a:p>
            <a:pPr marL="342900" indent="-342900" algn="just">
              <a:lnSpc>
                <a:spcPct val="120000"/>
              </a:lnSpc>
              <a:buFont typeface="Wingdings" panose="05000000000000000000" pitchFamily="2" charset="2"/>
              <a:buChar char="v"/>
            </a:pPr>
            <a:r>
              <a:rPr lang="en-NZ" sz="2400" dirty="0">
                <a:latin typeface="Calibri" panose="020F0502020204030204" pitchFamily="34" charset="0"/>
                <a:cs typeface="Calibri" panose="020F0502020204030204" pitchFamily="34" charset="0"/>
              </a:rPr>
              <a:t>Application Layer: HTTP, SMTP, FTP</a:t>
            </a:r>
          </a:p>
          <a:p>
            <a:pPr>
              <a:lnSpc>
                <a:spcPct val="120000"/>
              </a:lnSpc>
            </a:pPr>
            <a:endParaRPr lang="en-NZ" sz="2400" dirty="0">
              <a:latin typeface="Calibri" panose="020F0502020204030204" pitchFamily="34" charset="0"/>
              <a:cs typeface="Calibri" panose="020F0502020204030204" pitchFamily="34" charset="0"/>
            </a:endParaRPr>
          </a:p>
          <a:p>
            <a:pPr marL="342900" indent="-342900">
              <a:lnSpc>
                <a:spcPct val="120000"/>
              </a:lnSpc>
              <a:buFont typeface="Arial" panose="020B0604020202020204" pitchFamily="34" charset="0"/>
              <a:buChar char="•"/>
            </a:pPr>
            <a:endParaRPr lang="en-NZ"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15743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09B3B-C79B-A2FF-956C-736E03DE98B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258BF1-C9A7-085D-A49B-7B58B7674500}"/>
              </a:ext>
            </a:extLst>
          </p:cNvPr>
          <p:cNvSpPr>
            <a:spLocks noGrp="1"/>
          </p:cNvSpPr>
          <p:nvPr>
            <p:ph type="sldNum" sz="quarter" idx="12"/>
          </p:nvPr>
        </p:nvSpPr>
        <p:spPr/>
        <p:txBody>
          <a:bodyPr/>
          <a:lstStyle/>
          <a:p>
            <a:pPr>
              <a:defRPr/>
            </a:pPr>
            <a:fld id="{74182478-D854-4386-B19D-338899BFC4A3}" type="slidenum">
              <a:rPr lang="en-US" smtClean="0"/>
              <a:pPr>
                <a:defRPr/>
              </a:pPr>
              <a:t>7</a:t>
            </a:fld>
            <a:endParaRPr lang="en-US"/>
          </a:p>
        </p:txBody>
      </p:sp>
      <p:sp>
        <p:nvSpPr>
          <p:cNvPr id="7" name="Title 6">
            <a:extLst>
              <a:ext uri="{FF2B5EF4-FFF2-40B4-BE49-F238E27FC236}">
                <a16:creationId xmlns:a16="http://schemas.microsoft.com/office/drawing/2014/main" id="{5B530008-AF4F-7B0E-C452-924014F80C03}"/>
              </a:ext>
            </a:extLst>
          </p:cNvPr>
          <p:cNvSpPr>
            <a:spLocks noGrp="1"/>
          </p:cNvSpPr>
          <p:nvPr>
            <p:ph type="title"/>
          </p:nvPr>
        </p:nvSpPr>
        <p:spPr>
          <a:xfrm>
            <a:off x="1094307" y="67375"/>
            <a:ext cx="10515600" cy="705849"/>
          </a:xfrm>
        </p:spPr>
        <p:txBody>
          <a:bodyPr>
            <a:normAutofit fontScale="90000"/>
          </a:bodyPr>
          <a:lstStyle/>
          <a:p>
            <a:r>
              <a:rPr lang="en-NZ" u="none" dirty="0"/>
              <a:t>Chapter 3-Physical layer- Week 2 (3-5 questions)</a:t>
            </a:r>
            <a:endParaRPr lang="en-NZ" dirty="0"/>
          </a:p>
        </p:txBody>
      </p:sp>
      <p:sp>
        <p:nvSpPr>
          <p:cNvPr id="15" name="TextBox 14">
            <a:extLst>
              <a:ext uri="{FF2B5EF4-FFF2-40B4-BE49-F238E27FC236}">
                <a16:creationId xmlns:a16="http://schemas.microsoft.com/office/drawing/2014/main" id="{17DBF46F-05DC-1AA1-B4C2-687858E60534}"/>
              </a:ext>
            </a:extLst>
          </p:cNvPr>
          <p:cNvSpPr txBox="1"/>
          <p:nvPr/>
        </p:nvSpPr>
        <p:spPr>
          <a:xfrm>
            <a:off x="1094307" y="824553"/>
            <a:ext cx="10742595" cy="5763116"/>
          </a:xfrm>
          <a:prstGeom prst="rect">
            <a:avLst/>
          </a:prstGeom>
          <a:noFill/>
        </p:spPr>
        <p:txBody>
          <a:bodyPr wrap="square">
            <a:spAutoFit/>
          </a:bodyPr>
          <a:lstStyle/>
          <a:p>
            <a:pPr marL="342900" indent="-342900">
              <a:spcBef>
                <a:spcPts val="450"/>
              </a:spcBef>
              <a:spcAft>
                <a:spcPts val="75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Review the quizzes for this chapter on CANVAS.</a:t>
            </a:r>
          </a:p>
          <a:p>
            <a:pPr marL="342900" indent="-342900" algn="l">
              <a:spcBef>
                <a:spcPts val="450"/>
              </a:spcBef>
              <a:spcAft>
                <a:spcPts val="750"/>
              </a:spcAft>
              <a:buFont typeface="Wingdings" panose="05000000000000000000" pitchFamily="2" charset="2"/>
              <a:buChar char="v"/>
            </a:pPr>
            <a:r>
              <a:rPr lang="en-NZ" sz="2400" dirty="0">
                <a:latin typeface="Calibri" panose="020F0502020204030204" pitchFamily="34" charset="0"/>
                <a:cs typeface="Calibri" panose="020F0502020204030204" pitchFamily="34" charset="0"/>
              </a:rPr>
              <a:t>Circuit configuration is the basic physical layout of the circuit. There are two fundamental circuit configurations: Point-to-point and Multipoint.</a:t>
            </a:r>
          </a:p>
          <a:p>
            <a:pPr marL="342900" indent="-342900" algn="l">
              <a:spcBef>
                <a:spcPts val="450"/>
              </a:spcBef>
              <a:spcAft>
                <a:spcPts val="75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Multipoint Circuit: In this configuration, many computers are connected to the same circuit. Also called a shared circuit. </a:t>
            </a:r>
          </a:p>
          <a:p>
            <a:pPr algn="l">
              <a:buNone/>
            </a:pPr>
            <a:endParaRPr lang="en-NZ" sz="2400" dirty="0">
              <a:latin typeface="Calibri" panose="020F0502020204030204" pitchFamily="34" charset="0"/>
              <a:cs typeface="Calibri" panose="020F0502020204030204" pitchFamily="34" charset="0"/>
            </a:endParaRPr>
          </a:p>
          <a:p>
            <a:pPr marL="342900" indent="-342900" algn="l">
              <a:buFont typeface="Wingdings" panose="05000000000000000000" pitchFamily="2" charset="2"/>
              <a:buChar char="v"/>
            </a:pPr>
            <a:r>
              <a:rPr lang="en-NZ" sz="2400" dirty="0">
                <a:latin typeface="Calibri" panose="020F0502020204030204" pitchFamily="34" charset="0"/>
                <a:cs typeface="Calibri" panose="020F0502020204030204" pitchFamily="34" charset="0"/>
              </a:rPr>
              <a:t>Data Flow</a:t>
            </a:r>
          </a:p>
          <a:p>
            <a:pPr marL="342900" indent="-342900" algn="l">
              <a:buFont typeface="Arial" panose="020B0604020202020204" pitchFamily="34" charset="0"/>
              <a:buChar char="•"/>
            </a:pPr>
            <a:r>
              <a:rPr lang="en-NZ" sz="2400" dirty="0">
                <a:latin typeface="Calibri" panose="020F0502020204030204" pitchFamily="34" charset="0"/>
                <a:cs typeface="Calibri" panose="020F0502020204030204" pitchFamily="34" charset="0"/>
              </a:rPr>
              <a:t>Simplex transmission is one-way transmission, such as that with radios and TVs.</a:t>
            </a:r>
          </a:p>
          <a:p>
            <a:pPr marL="342900" indent="-342900" algn="l">
              <a:buFont typeface="Arial" panose="020B0604020202020204" pitchFamily="34" charset="0"/>
              <a:buChar char="•"/>
            </a:pPr>
            <a:r>
              <a:rPr lang="en-NZ" sz="2400" dirty="0">
                <a:latin typeface="Calibri" panose="020F0502020204030204" pitchFamily="34" charset="0"/>
                <a:cs typeface="Calibri" panose="020F0502020204030204" pitchFamily="34" charset="0"/>
              </a:rPr>
              <a:t>Half-duplex transmission is a two-way transmission, but you can transmit in only one direction at a time, such as a walkie-talkie. </a:t>
            </a:r>
          </a:p>
          <a:p>
            <a:pPr marL="342900" indent="-342900" algn="l">
              <a:buFont typeface="Arial" panose="020B0604020202020204" pitchFamily="34" charset="0"/>
              <a:buChar char="•"/>
            </a:pPr>
            <a:r>
              <a:rPr lang="en-NZ" sz="2400" dirty="0">
                <a:latin typeface="Calibri" panose="020F0502020204030204" pitchFamily="34" charset="0"/>
                <a:cs typeface="Calibri" panose="020F0502020204030204" pitchFamily="34" charset="0"/>
              </a:rPr>
              <a:t>Full-duplex transmission is when you can transmit in both directions simultaneously.</a:t>
            </a:r>
          </a:p>
          <a:p>
            <a:pPr marL="342900" indent="-342900" algn="l">
              <a:buFont typeface="Arial" panose="020B0604020202020204" pitchFamily="34" charset="0"/>
              <a:buChar char="•"/>
            </a:pPr>
            <a:endParaRPr lang="en-NZ" sz="2400" dirty="0">
              <a:latin typeface="Calibri" panose="020F0502020204030204" pitchFamily="34" charset="0"/>
              <a:cs typeface="Calibri" panose="020F0502020204030204" pitchFamily="34" charset="0"/>
            </a:endParaRPr>
          </a:p>
          <a:p>
            <a:pPr marL="342900" indent="-342900">
              <a:spcBef>
                <a:spcPts val="450"/>
              </a:spcBef>
              <a:spcAft>
                <a:spcPts val="750"/>
              </a:spcAft>
              <a:buFont typeface="Wingdings" panose="05000000000000000000" pitchFamily="2" charset="2"/>
              <a:buChar char="v"/>
            </a:pPr>
            <a:r>
              <a:rPr lang="en-NZ" sz="2400" dirty="0">
                <a:latin typeface="Calibri" panose="020F0502020204030204" pitchFamily="34" charset="0"/>
                <a:cs typeface="Calibri" panose="020F0502020204030204" pitchFamily="34" charset="0"/>
              </a:rPr>
              <a:t>Signal Weakening: The weakening of a signal over distance is called attenuation.</a:t>
            </a:r>
          </a:p>
        </p:txBody>
      </p:sp>
    </p:spTree>
    <p:extLst>
      <p:ext uri="{BB962C8B-B14F-4D97-AF65-F5344CB8AC3E}">
        <p14:creationId xmlns:p14="http://schemas.microsoft.com/office/powerpoint/2010/main" val="147284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ED57B-3FB0-E49D-39F2-63E6B185BEE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4463AFD-9094-1C9C-17FF-8E2A743B2C03}"/>
              </a:ext>
            </a:extLst>
          </p:cNvPr>
          <p:cNvSpPr>
            <a:spLocks noGrp="1"/>
          </p:cNvSpPr>
          <p:nvPr>
            <p:ph type="sldNum" sz="quarter" idx="12"/>
          </p:nvPr>
        </p:nvSpPr>
        <p:spPr/>
        <p:txBody>
          <a:bodyPr/>
          <a:lstStyle/>
          <a:p>
            <a:pPr>
              <a:defRPr/>
            </a:pPr>
            <a:fld id="{74182478-D854-4386-B19D-338899BFC4A3}" type="slidenum">
              <a:rPr lang="en-US" smtClean="0"/>
              <a:pPr>
                <a:defRPr/>
              </a:pPr>
              <a:t>8</a:t>
            </a:fld>
            <a:endParaRPr lang="en-US"/>
          </a:p>
        </p:txBody>
      </p:sp>
      <p:sp>
        <p:nvSpPr>
          <p:cNvPr id="7" name="Title 6">
            <a:extLst>
              <a:ext uri="{FF2B5EF4-FFF2-40B4-BE49-F238E27FC236}">
                <a16:creationId xmlns:a16="http://schemas.microsoft.com/office/drawing/2014/main" id="{2B8CE1A3-1DDD-B2FF-9ED5-D1A6D1E6E8C2}"/>
              </a:ext>
            </a:extLst>
          </p:cNvPr>
          <p:cNvSpPr>
            <a:spLocks noGrp="1"/>
          </p:cNvSpPr>
          <p:nvPr>
            <p:ph type="title"/>
          </p:nvPr>
        </p:nvSpPr>
        <p:spPr>
          <a:xfrm>
            <a:off x="1094306" y="67375"/>
            <a:ext cx="10742595" cy="705849"/>
          </a:xfrm>
        </p:spPr>
        <p:txBody>
          <a:bodyPr>
            <a:normAutofit fontScale="90000"/>
          </a:bodyPr>
          <a:lstStyle/>
          <a:p>
            <a:r>
              <a:rPr lang="en-NZ" u="none" dirty="0"/>
              <a:t>Chapter 4-Data Link layer- Week 3 (3-5 questions)</a:t>
            </a:r>
            <a:endParaRPr lang="en-NZ" dirty="0"/>
          </a:p>
        </p:txBody>
      </p:sp>
      <p:sp>
        <p:nvSpPr>
          <p:cNvPr id="15" name="TextBox 14">
            <a:extLst>
              <a:ext uri="{FF2B5EF4-FFF2-40B4-BE49-F238E27FC236}">
                <a16:creationId xmlns:a16="http://schemas.microsoft.com/office/drawing/2014/main" id="{ECAD67DF-FCF8-7DDE-E6EB-7B0393420838}"/>
              </a:ext>
            </a:extLst>
          </p:cNvPr>
          <p:cNvSpPr txBox="1"/>
          <p:nvPr/>
        </p:nvSpPr>
        <p:spPr>
          <a:xfrm>
            <a:off x="1094307" y="824553"/>
            <a:ext cx="10742595" cy="3713837"/>
          </a:xfrm>
          <a:prstGeom prst="rect">
            <a:avLst/>
          </a:prstGeom>
          <a:noFill/>
        </p:spPr>
        <p:txBody>
          <a:bodyPr wrap="square">
            <a:spAutoFit/>
          </a:bodyPr>
          <a:lstStyle/>
          <a:p>
            <a:pPr marL="342900" indent="-342900">
              <a:spcBef>
                <a:spcPts val="450"/>
              </a:spcBef>
              <a:spcAft>
                <a:spcPts val="75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Review the quizzes for this chapter on CANVAS.</a:t>
            </a:r>
          </a:p>
          <a:p>
            <a:pPr marL="342900" indent="-342900">
              <a:spcBef>
                <a:spcPts val="450"/>
              </a:spcBef>
              <a:spcAft>
                <a:spcPts val="75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The Data Link layer is responsible for communications between end-device network interface cards. </a:t>
            </a:r>
          </a:p>
          <a:p>
            <a:pPr marL="342900" indent="-342900">
              <a:spcBef>
                <a:spcPts val="450"/>
              </a:spcBef>
              <a:spcAft>
                <a:spcPts val="75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It allows upper layer protocols to access the physical layer media and encapsulates Layer 3 packets (IPv4 and IPv6) into Layer 2 Frames.</a:t>
            </a:r>
          </a:p>
          <a:p>
            <a:pPr marL="342900" indent="-342900">
              <a:spcBef>
                <a:spcPts val="450"/>
              </a:spcBef>
              <a:spcAft>
                <a:spcPts val="75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It also performs error detection and rejects corrupted frames.</a:t>
            </a:r>
          </a:p>
          <a:p>
            <a:pPr marL="342900" indent="-342900">
              <a:spcBef>
                <a:spcPts val="450"/>
              </a:spcBef>
              <a:spcAft>
                <a:spcPts val="75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The data link layer does not specify the type of connection and the electrical signals, radio waves, or light pulses that pass through it.</a:t>
            </a:r>
          </a:p>
        </p:txBody>
      </p:sp>
    </p:spTree>
    <p:extLst>
      <p:ext uri="{BB962C8B-B14F-4D97-AF65-F5344CB8AC3E}">
        <p14:creationId xmlns:p14="http://schemas.microsoft.com/office/powerpoint/2010/main" val="303980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8EA99-16C5-E417-7CE5-B3D8407EC2F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4E210F7-A710-6A6B-8A7B-D537221BB788}"/>
              </a:ext>
            </a:extLst>
          </p:cNvPr>
          <p:cNvSpPr>
            <a:spLocks noGrp="1"/>
          </p:cNvSpPr>
          <p:nvPr>
            <p:ph type="sldNum" sz="quarter" idx="12"/>
          </p:nvPr>
        </p:nvSpPr>
        <p:spPr/>
        <p:txBody>
          <a:bodyPr/>
          <a:lstStyle/>
          <a:p>
            <a:pPr>
              <a:defRPr/>
            </a:pPr>
            <a:fld id="{74182478-D854-4386-B19D-338899BFC4A3}" type="slidenum">
              <a:rPr lang="en-US" smtClean="0"/>
              <a:pPr>
                <a:defRPr/>
              </a:pPr>
              <a:t>9</a:t>
            </a:fld>
            <a:endParaRPr lang="en-US"/>
          </a:p>
        </p:txBody>
      </p:sp>
      <p:sp>
        <p:nvSpPr>
          <p:cNvPr id="7" name="Title 6">
            <a:extLst>
              <a:ext uri="{FF2B5EF4-FFF2-40B4-BE49-F238E27FC236}">
                <a16:creationId xmlns:a16="http://schemas.microsoft.com/office/drawing/2014/main" id="{C9D7744C-6E45-154B-D6F1-2550DF67F1DC}"/>
              </a:ext>
            </a:extLst>
          </p:cNvPr>
          <p:cNvSpPr>
            <a:spLocks noGrp="1"/>
          </p:cNvSpPr>
          <p:nvPr>
            <p:ph type="title"/>
          </p:nvPr>
        </p:nvSpPr>
        <p:spPr>
          <a:xfrm>
            <a:off x="1094306" y="67375"/>
            <a:ext cx="10742595" cy="705849"/>
          </a:xfrm>
        </p:spPr>
        <p:txBody>
          <a:bodyPr>
            <a:normAutofit fontScale="90000"/>
          </a:bodyPr>
          <a:lstStyle/>
          <a:p>
            <a:r>
              <a:rPr lang="en-NZ" u="none" dirty="0"/>
              <a:t>Chapter 4-Data Link layer- Week 3 (3-5 questions)</a:t>
            </a:r>
            <a:endParaRPr lang="en-NZ" dirty="0"/>
          </a:p>
        </p:txBody>
      </p:sp>
      <p:sp>
        <p:nvSpPr>
          <p:cNvPr id="15" name="TextBox 14">
            <a:extLst>
              <a:ext uri="{FF2B5EF4-FFF2-40B4-BE49-F238E27FC236}">
                <a16:creationId xmlns:a16="http://schemas.microsoft.com/office/drawing/2014/main" id="{734F2152-EE9D-6270-D451-A5661FA7DA78}"/>
              </a:ext>
            </a:extLst>
          </p:cNvPr>
          <p:cNvSpPr txBox="1"/>
          <p:nvPr/>
        </p:nvSpPr>
        <p:spPr>
          <a:xfrm>
            <a:off x="1094307" y="824553"/>
            <a:ext cx="10742595" cy="4154984"/>
          </a:xfrm>
          <a:prstGeom prst="rect">
            <a:avLst/>
          </a:prstGeom>
          <a:noFill/>
        </p:spPr>
        <p:txBody>
          <a:bodyPr wrap="square">
            <a:spAutoFit/>
          </a:bodyPr>
          <a:lstStyle/>
          <a:p>
            <a:pPr marL="342900" indent="-342900">
              <a:spcBef>
                <a:spcPts val="450"/>
              </a:spcBef>
              <a:spcAft>
                <a:spcPts val="75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Error Detection Techniques</a:t>
            </a:r>
            <a:br>
              <a:rPr lang="en-NZ" sz="2400" dirty="0">
                <a:latin typeface="Calibri" panose="020F0502020204030204" pitchFamily="34" charset="0"/>
                <a:cs typeface="Calibri" panose="020F0502020204030204" pitchFamily="34" charset="0"/>
              </a:rPr>
            </a:br>
            <a:r>
              <a:rPr lang="en-NZ" sz="2400" dirty="0">
                <a:latin typeface="Calibri" panose="020F0502020204030204" pitchFamily="34" charset="0"/>
                <a:cs typeface="Calibri" panose="020F0502020204030204" pitchFamily="34" charset="0"/>
              </a:rPr>
              <a:t>• Parity checking: With this technique, one additional bit is added to each byte in the message. The value of this additional parity bit is based on the number of 1s in each byte transmitted.</a:t>
            </a:r>
            <a:br>
              <a:rPr lang="en-NZ" sz="2400" dirty="0">
                <a:latin typeface="Calibri" panose="020F0502020204030204" pitchFamily="34" charset="0"/>
                <a:cs typeface="Calibri" panose="020F0502020204030204" pitchFamily="34" charset="0"/>
              </a:rPr>
            </a:br>
            <a:r>
              <a:rPr lang="en-NZ" sz="2400" dirty="0">
                <a:latin typeface="Calibri" panose="020F0502020204030204" pitchFamily="34" charset="0"/>
                <a:cs typeface="Calibri" panose="020F0502020204030204" pitchFamily="34" charset="0"/>
              </a:rPr>
              <a:t>• Checksum: With the checksum technique, a checksum (typically 1 byte) is added to the end of the message. The checksum is calculated by adding the decimal value of each character in the message, dividing the sum by 255, and using the remainder as the checksum.</a:t>
            </a:r>
            <a:br>
              <a:rPr lang="en-NZ" sz="2400" dirty="0">
                <a:latin typeface="Calibri" panose="020F0502020204030204" pitchFamily="34" charset="0"/>
                <a:cs typeface="Calibri" panose="020F0502020204030204" pitchFamily="34" charset="0"/>
              </a:rPr>
            </a:br>
            <a:r>
              <a:rPr lang="en-NZ" sz="2400" dirty="0">
                <a:latin typeface="Calibri" panose="020F0502020204030204" pitchFamily="34" charset="0"/>
                <a:cs typeface="Calibri" panose="020F0502020204030204" pitchFamily="34" charset="0"/>
              </a:rPr>
              <a:t>• Cyclic redundancy check (CRC): With CRC, a message is treated as one long binary number, which is divided by a preset number, and the remainder is used as the CRC code. E.g. CRC-16; CRC-32.</a:t>
            </a:r>
          </a:p>
        </p:txBody>
      </p:sp>
    </p:spTree>
    <p:extLst>
      <p:ext uri="{BB962C8B-B14F-4D97-AF65-F5344CB8AC3E}">
        <p14:creationId xmlns:p14="http://schemas.microsoft.com/office/powerpoint/2010/main" val="3458708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C1EC0-B792-5FE0-821B-352074B692A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D53CE11-E130-2663-389D-65AC4D58C18E}"/>
              </a:ext>
            </a:extLst>
          </p:cNvPr>
          <p:cNvSpPr>
            <a:spLocks noGrp="1"/>
          </p:cNvSpPr>
          <p:nvPr>
            <p:ph type="sldNum" sz="quarter" idx="12"/>
          </p:nvPr>
        </p:nvSpPr>
        <p:spPr/>
        <p:txBody>
          <a:bodyPr/>
          <a:lstStyle/>
          <a:p>
            <a:pPr>
              <a:defRPr/>
            </a:pPr>
            <a:fld id="{74182478-D854-4386-B19D-338899BFC4A3}" type="slidenum">
              <a:rPr lang="en-US" smtClean="0"/>
              <a:pPr>
                <a:defRPr/>
              </a:pPr>
              <a:t>10</a:t>
            </a:fld>
            <a:endParaRPr lang="en-US"/>
          </a:p>
        </p:txBody>
      </p:sp>
      <p:sp>
        <p:nvSpPr>
          <p:cNvPr id="7" name="Title 6">
            <a:extLst>
              <a:ext uri="{FF2B5EF4-FFF2-40B4-BE49-F238E27FC236}">
                <a16:creationId xmlns:a16="http://schemas.microsoft.com/office/drawing/2014/main" id="{1935B787-A245-28C9-0276-F5CF6E457402}"/>
              </a:ext>
            </a:extLst>
          </p:cNvPr>
          <p:cNvSpPr>
            <a:spLocks noGrp="1"/>
          </p:cNvSpPr>
          <p:nvPr>
            <p:ph type="title"/>
          </p:nvPr>
        </p:nvSpPr>
        <p:spPr>
          <a:xfrm>
            <a:off x="1094306" y="316028"/>
            <a:ext cx="11097694" cy="705849"/>
          </a:xfrm>
        </p:spPr>
        <p:txBody>
          <a:bodyPr>
            <a:normAutofit fontScale="90000"/>
          </a:bodyPr>
          <a:lstStyle/>
          <a:p>
            <a:r>
              <a:rPr lang="en-NZ" u="none" dirty="0"/>
              <a:t>Chapter 5-Network and Transport layers- Week 4 &amp;5 (10-15 questions)</a:t>
            </a:r>
            <a:endParaRPr lang="en-NZ" dirty="0"/>
          </a:p>
        </p:txBody>
      </p:sp>
      <p:sp>
        <p:nvSpPr>
          <p:cNvPr id="15" name="TextBox 14">
            <a:extLst>
              <a:ext uri="{FF2B5EF4-FFF2-40B4-BE49-F238E27FC236}">
                <a16:creationId xmlns:a16="http://schemas.microsoft.com/office/drawing/2014/main" id="{24B21AE8-1608-5973-2D4D-6D7500B6191B}"/>
              </a:ext>
            </a:extLst>
          </p:cNvPr>
          <p:cNvSpPr txBox="1"/>
          <p:nvPr/>
        </p:nvSpPr>
        <p:spPr>
          <a:xfrm>
            <a:off x="1094306" y="1193521"/>
            <a:ext cx="10742595" cy="5763116"/>
          </a:xfrm>
          <a:prstGeom prst="rect">
            <a:avLst/>
          </a:prstGeom>
          <a:noFill/>
        </p:spPr>
        <p:txBody>
          <a:bodyPr wrap="square">
            <a:spAutoFit/>
          </a:bodyPr>
          <a:lstStyle/>
          <a:p>
            <a:pPr marL="342900" indent="-342900">
              <a:spcBef>
                <a:spcPts val="450"/>
              </a:spcBef>
              <a:spcAft>
                <a:spcPts val="75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Review the quizzes for this chapter on CANVAS.</a:t>
            </a:r>
          </a:p>
          <a:p>
            <a:pPr marL="342900" indent="-342900" algn="l">
              <a:lnSpc>
                <a:spcPts val="2400"/>
              </a:lnSpc>
              <a:spcBef>
                <a:spcPts val="150"/>
              </a:spcBef>
              <a:spcAft>
                <a:spcPts val="450"/>
              </a:spcAft>
              <a:buFont typeface="Wingdings" panose="05000000000000000000" pitchFamily="2" charset="2"/>
              <a:buChar char="v"/>
            </a:pPr>
            <a:r>
              <a:rPr lang="en-NZ" sz="2400" dirty="0">
                <a:latin typeface="Calibri" panose="020F0502020204030204" pitchFamily="34" charset="0"/>
                <a:cs typeface="Calibri" panose="020F0502020204030204" pitchFamily="34" charset="0"/>
              </a:rPr>
              <a:t>Network layer (review part 2 lecture and week 9 content):</a:t>
            </a:r>
          </a:p>
          <a:p>
            <a:pPr algn="l">
              <a:buNone/>
            </a:pPr>
            <a:r>
              <a:rPr lang="en-NZ" sz="2400" dirty="0">
                <a:latin typeface="Calibri" panose="020F0502020204030204" pitchFamily="34" charset="0"/>
                <a:cs typeface="Calibri" panose="020F0502020204030204" pitchFamily="34" charset="0"/>
              </a:rPr>
              <a:t>IPv4 Public Address Space</a:t>
            </a:r>
            <a:br>
              <a:rPr lang="en-NZ" sz="2400" dirty="0">
                <a:latin typeface="Calibri" panose="020F0502020204030204" pitchFamily="34" charset="0"/>
                <a:cs typeface="Calibri" panose="020F0502020204030204" pitchFamily="34" charset="0"/>
              </a:rPr>
            </a:br>
            <a:r>
              <a:rPr lang="en-NZ" sz="2400" dirty="0">
                <a:latin typeface="Calibri" panose="020F0502020204030204" pitchFamily="34" charset="0"/>
                <a:cs typeface="Calibri" panose="020F0502020204030204" pitchFamily="34" charset="0"/>
              </a:rPr>
              <a:t>• IPv4 uses 32 bits (4 bytes) to define </a:t>
            </a:r>
          </a:p>
          <a:p>
            <a:pPr algn="l">
              <a:buNone/>
            </a:pPr>
            <a:r>
              <a:rPr lang="en-NZ" sz="2400" dirty="0">
                <a:latin typeface="Calibri" panose="020F0502020204030204" pitchFamily="34" charset="0"/>
                <a:cs typeface="Calibri" panose="020F0502020204030204" pitchFamily="34" charset="0"/>
              </a:rPr>
              <a:t>an address.</a:t>
            </a:r>
            <a:br>
              <a:rPr lang="en-NZ" sz="2400" dirty="0">
                <a:latin typeface="Calibri" panose="020F0502020204030204" pitchFamily="34" charset="0"/>
                <a:cs typeface="Calibri" panose="020F0502020204030204" pitchFamily="34" charset="0"/>
              </a:rPr>
            </a:br>
            <a:r>
              <a:rPr lang="en-NZ" sz="2400" dirty="0">
                <a:latin typeface="Calibri" panose="020F0502020204030204" pitchFamily="34" charset="0"/>
                <a:cs typeface="Calibri" panose="020F0502020204030204" pitchFamily="34" charset="0"/>
              </a:rPr>
              <a:t>• Therefore, the number of available </a:t>
            </a:r>
          </a:p>
          <a:p>
            <a:pPr algn="l">
              <a:buNone/>
            </a:pPr>
            <a:r>
              <a:rPr lang="en-NZ" sz="2400" dirty="0">
                <a:latin typeface="Calibri" panose="020F0502020204030204" pitchFamily="34" charset="0"/>
                <a:cs typeface="Calibri" panose="020F0502020204030204" pitchFamily="34" charset="0"/>
              </a:rPr>
              <a:t>addresses is 232 = 4,294, 967,296 or</a:t>
            </a:r>
            <a:br>
              <a:rPr lang="en-NZ" sz="2400" dirty="0">
                <a:latin typeface="Calibri" panose="020F0502020204030204" pitchFamily="34" charset="0"/>
                <a:cs typeface="Calibri" panose="020F0502020204030204" pitchFamily="34" charset="0"/>
              </a:rPr>
            </a:br>
            <a:r>
              <a:rPr lang="en-NZ" sz="2400" dirty="0">
                <a:latin typeface="Calibri" panose="020F0502020204030204" pitchFamily="34" charset="0"/>
                <a:cs typeface="Calibri" panose="020F0502020204030204" pitchFamily="34" charset="0"/>
              </a:rPr>
              <a:t>approximately 4.3 billion.</a:t>
            </a:r>
            <a:br>
              <a:rPr lang="en-NZ" sz="2400" dirty="0">
                <a:latin typeface="Calibri" panose="020F0502020204030204" pitchFamily="34" charset="0"/>
                <a:cs typeface="Calibri" panose="020F0502020204030204" pitchFamily="34" charset="0"/>
              </a:rPr>
            </a:br>
            <a:r>
              <a:rPr lang="en-NZ" sz="2400" dirty="0">
                <a:latin typeface="Calibri" panose="020F0502020204030204" pitchFamily="34" charset="0"/>
                <a:cs typeface="Calibri" panose="020F0502020204030204" pitchFamily="34" charset="0"/>
              </a:rPr>
              <a:t>• These addresses in the IPv4 address </a:t>
            </a:r>
          </a:p>
          <a:p>
            <a:pPr algn="l">
              <a:buNone/>
            </a:pPr>
            <a:r>
              <a:rPr lang="en-NZ" sz="2400" dirty="0">
                <a:latin typeface="Calibri" panose="020F0502020204030204" pitchFamily="34" charset="0"/>
                <a:cs typeface="Calibri" panose="020F0502020204030204" pitchFamily="34" charset="0"/>
              </a:rPr>
              <a:t>space are divided into Internet address </a:t>
            </a:r>
          </a:p>
          <a:p>
            <a:pPr algn="l">
              <a:buNone/>
            </a:pPr>
            <a:r>
              <a:rPr lang="en-NZ" sz="2400" dirty="0">
                <a:latin typeface="Calibri" panose="020F0502020204030204" pitchFamily="34" charset="0"/>
                <a:cs typeface="Calibri" panose="020F0502020204030204" pitchFamily="34" charset="0"/>
              </a:rPr>
              <a:t>classes.</a:t>
            </a:r>
          </a:p>
          <a:p>
            <a:pPr marL="342900" indent="-342900" algn="l">
              <a:buFont typeface="Wingdings" panose="05000000000000000000" pitchFamily="2" charset="2"/>
              <a:buChar char="v"/>
            </a:pPr>
            <a:r>
              <a:rPr lang="en-NZ" sz="2400" dirty="0">
                <a:solidFill>
                  <a:srgbClr val="000000"/>
                </a:solidFill>
                <a:latin typeface="Calibri" panose="020F0502020204030204" pitchFamily="34" charset="0"/>
                <a:cs typeface="Calibri" panose="020F0502020204030204" pitchFamily="34" charset="0"/>
              </a:rPr>
              <a:t>As we use Ping command to test connectivity after configuration with the required IP addresses, the command </a:t>
            </a:r>
            <a:r>
              <a:rPr lang="en-NZ" sz="2400" dirty="0"/>
              <a:t>uses the most basic interior routing protocol on the Internet which is Internet Control Message Protocol. </a:t>
            </a:r>
            <a:br>
              <a:rPr lang="en-NZ" sz="2400" b="0" i="0" dirty="0">
                <a:solidFill>
                  <a:srgbClr val="000000"/>
                </a:solidFill>
                <a:effectLst/>
                <a:latin typeface="Lato" panose="020F0502020204030203" pitchFamily="34" charset="0"/>
              </a:rPr>
            </a:br>
            <a:endParaRPr lang="en-NZ" sz="2400" dirty="0">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5F0DBD90-E998-FA7A-708E-177834E39452}"/>
              </a:ext>
            </a:extLst>
          </p:cNvPr>
          <p:cNvPicPr>
            <a:picLocks noChangeAspect="1"/>
          </p:cNvPicPr>
          <p:nvPr/>
        </p:nvPicPr>
        <p:blipFill>
          <a:blip r:embed="rId3"/>
          <a:stretch>
            <a:fillRect/>
          </a:stretch>
        </p:blipFill>
        <p:spPr>
          <a:xfrm>
            <a:off x="6096000" y="2126533"/>
            <a:ext cx="5781406" cy="3111214"/>
          </a:xfrm>
          <a:prstGeom prst="rect">
            <a:avLst/>
          </a:prstGeom>
        </p:spPr>
      </p:pic>
    </p:spTree>
    <p:extLst>
      <p:ext uri="{BB962C8B-B14F-4D97-AF65-F5344CB8AC3E}">
        <p14:creationId xmlns:p14="http://schemas.microsoft.com/office/powerpoint/2010/main" val="3707060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10784-0F94-364C-C009-1CAAFA2FFE7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78EF6CE-F52B-0D12-64AE-ACF871FC87DB}"/>
              </a:ext>
            </a:extLst>
          </p:cNvPr>
          <p:cNvSpPr>
            <a:spLocks noGrp="1"/>
          </p:cNvSpPr>
          <p:nvPr>
            <p:ph type="sldNum" sz="quarter" idx="12"/>
          </p:nvPr>
        </p:nvSpPr>
        <p:spPr/>
        <p:txBody>
          <a:bodyPr/>
          <a:lstStyle/>
          <a:p>
            <a:pPr>
              <a:defRPr/>
            </a:pPr>
            <a:fld id="{74182478-D854-4386-B19D-338899BFC4A3}" type="slidenum">
              <a:rPr lang="en-US" smtClean="0"/>
              <a:pPr>
                <a:defRPr/>
              </a:pPr>
              <a:t>11</a:t>
            </a:fld>
            <a:endParaRPr lang="en-US"/>
          </a:p>
        </p:txBody>
      </p:sp>
      <p:sp>
        <p:nvSpPr>
          <p:cNvPr id="7" name="Title 6">
            <a:extLst>
              <a:ext uri="{FF2B5EF4-FFF2-40B4-BE49-F238E27FC236}">
                <a16:creationId xmlns:a16="http://schemas.microsoft.com/office/drawing/2014/main" id="{3EE7C347-735A-0A9E-6636-91A0429E0C36}"/>
              </a:ext>
            </a:extLst>
          </p:cNvPr>
          <p:cNvSpPr>
            <a:spLocks noGrp="1"/>
          </p:cNvSpPr>
          <p:nvPr>
            <p:ph type="title"/>
          </p:nvPr>
        </p:nvSpPr>
        <p:spPr>
          <a:xfrm>
            <a:off x="1094306" y="316028"/>
            <a:ext cx="11097694" cy="705849"/>
          </a:xfrm>
        </p:spPr>
        <p:txBody>
          <a:bodyPr>
            <a:normAutofit fontScale="90000"/>
          </a:bodyPr>
          <a:lstStyle/>
          <a:p>
            <a:r>
              <a:rPr lang="en-NZ" u="none" dirty="0"/>
              <a:t>Chapter 5-Network and Transport layers- Week 4 &amp;5 (10-15 questions)</a:t>
            </a:r>
            <a:endParaRPr lang="en-NZ" dirty="0"/>
          </a:p>
        </p:txBody>
      </p:sp>
      <p:sp>
        <p:nvSpPr>
          <p:cNvPr id="15" name="TextBox 14">
            <a:extLst>
              <a:ext uri="{FF2B5EF4-FFF2-40B4-BE49-F238E27FC236}">
                <a16:creationId xmlns:a16="http://schemas.microsoft.com/office/drawing/2014/main" id="{BCED030C-701F-2244-1DBA-FFA607BE9020}"/>
              </a:ext>
            </a:extLst>
          </p:cNvPr>
          <p:cNvSpPr txBox="1"/>
          <p:nvPr/>
        </p:nvSpPr>
        <p:spPr>
          <a:xfrm>
            <a:off x="1094306" y="1193521"/>
            <a:ext cx="10742595" cy="5339923"/>
          </a:xfrm>
          <a:prstGeom prst="rect">
            <a:avLst/>
          </a:prstGeom>
          <a:noFill/>
        </p:spPr>
        <p:txBody>
          <a:bodyPr wrap="square">
            <a:spAutoFit/>
          </a:bodyPr>
          <a:lstStyle/>
          <a:p>
            <a:pPr algn="l">
              <a:buNone/>
            </a:pPr>
            <a:r>
              <a:rPr lang="en-NZ" sz="2400" b="1" dirty="0">
                <a:latin typeface="Calibri" panose="020F0502020204030204" pitchFamily="34" charset="0"/>
                <a:cs typeface="Calibri" panose="020F0502020204030204" pitchFamily="34" charset="0"/>
              </a:rPr>
              <a:t>Subnet: is a group of computers that are logically grouped together by IP number. </a:t>
            </a:r>
            <a:br>
              <a:rPr lang="en-NZ" sz="2400" dirty="0">
                <a:latin typeface="Calibri" panose="020F0502020204030204" pitchFamily="34" charset="0"/>
                <a:cs typeface="Calibri" panose="020F0502020204030204" pitchFamily="34" charset="0"/>
              </a:rPr>
            </a:br>
            <a:r>
              <a:rPr lang="en-NZ" sz="2400" dirty="0">
                <a:latin typeface="Calibri" panose="020F0502020204030204" pitchFamily="34" charset="0"/>
                <a:cs typeface="Calibri" panose="020F0502020204030204" pitchFamily="34" charset="0"/>
              </a:rPr>
              <a:t>• Each organization must assign the IP addresses it has received to specific computers on its networks.</a:t>
            </a:r>
            <a:br>
              <a:rPr lang="en-NZ" sz="2400" dirty="0">
                <a:latin typeface="Calibri" panose="020F0502020204030204" pitchFamily="34" charset="0"/>
                <a:cs typeface="Calibri" panose="020F0502020204030204" pitchFamily="34" charset="0"/>
              </a:rPr>
            </a:br>
            <a:r>
              <a:rPr lang="en-NZ" sz="2400" dirty="0">
                <a:latin typeface="Calibri" panose="020F0502020204030204" pitchFamily="34" charset="0"/>
                <a:cs typeface="Calibri" panose="020F0502020204030204" pitchFamily="34" charset="0"/>
              </a:rPr>
              <a:t>• This is done using an addressing hierarchy</a:t>
            </a:r>
            <a:br>
              <a:rPr lang="en-NZ" sz="2400" dirty="0">
                <a:latin typeface="Calibri" panose="020F0502020204030204" pitchFamily="34" charset="0"/>
                <a:cs typeface="Calibri" panose="020F0502020204030204" pitchFamily="34" charset="0"/>
              </a:rPr>
            </a:br>
            <a:r>
              <a:rPr lang="en-NZ" sz="2400" dirty="0">
                <a:latin typeface="Calibri" panose="020F0502020204030204" pitchFamily="34" charset="0"/>
                <a:cs typeface="Calibri" panose="020F0502020204030204" pitchFamily="34" charset="0"/>
              </a:rPr>
              <a:t>o The first part of the address defines the network.</a:t>
            </a:r>
            <a:br>
              <a:rPr lang="en-NZ" sz="2400" dirty="0">
                <a:latin typeface="Calibri" panose="020F0502020204030204" pitchFamily="34" charset="0"/>
                <a:cs typeface="Calibri" panose="020F0502020204030204" pitchFamily="34" charset="0"/>
              </a:rPr>
            </a:br>
            <a:r>
              <a:rPr lang="en-NZ" sz="2400" dirty="0">
                <a:latin typeface="Calibri" panose="020F0502020204030204" pitchFamily="34" charset="0"/>
                <a:cs typeface="Calibri" panose="020F0502020204030204" pitchFamily="34" charset="0"/>
              </a:rPr>
              <a:t>o The second part defines a particular computer or host on the network.</a:t>
            </a:r>
            <a:br>
              <a:rPr lang="en-NZ" sz="2400" b="0" i="0" dirty="0">
                <a:solidFill>
                  <a:srgbClr val="000000"/>
                </a:solidFill>
                <a:effectLst/>
                <a:latin typeface="Lato" panose="020F0502020204030203" pitchFamily="34" charset="0"/>
              </a:rPr>
            </a:br>
            <a:r>
              <a:rPr lang="en-NZ" sz="2400" b="1" dirty="0">
                <a:latin typeface="Calibri" panose="020F0502020204030204" pitchFamily="34" charset="0"/>
                <a:cs typeface="Calibri" panose="020F0502020204030204" pitchFamily="34" charset="0"/>
              </a:rPr>
              <a:t>Subnet mask – Examples</a:t>
            </a:r>
            <a:br>
              <a:rPr lang="en-NZ" sz="2400" dirty="0">
                <a:latin typeface="Calibri" panose="020F0502020204030204" pitchFamily="34" charset="0"/>
                <a:cs typeface="Calibri" panose="020F0502020204030204" pitchFamily="34" charset="0"/>
              </a:rPr>
            </a:br>
            <a:r>
              <a:rPr lang="en-NZ" sz="2400" dirty="0">
                <a:latin typeface="Calibri" panose="020F0502020204030204" pitchFamily="34" charset="0"/>
                <a:cs typeface="Calibri" panose="020F0502020204030204" pitchFamily="34" charset="0"/>
              </a:rPr>
              <a:t>• A subnet mask of 255.255.255.0: 1st 3-byte indicate the same subnet.</a:t>
            </a:r>
            <a:br>
              <a:rPr lang="en-NZ" sz="2400" dirty="0">
                <a:latin typeface="Calibri" panose="020F0502020204030204" pitchFamily="34" charset="0"/>
                <a:cs typeface="Calibri" panose="020F0502020204030204" pitchFamily="34" charset="0"/>
              </a:rPr>
            </a:br>
            <a:r>
              <a:rPr lang="en-NZ" sz="2400" dirty="0">
                <a:latin typeface="Calibri" panose="020F0502020204030204" pitchFamily="34" charset="0"/>
                <a:cs typeface="Calibri" panose="020F0502020204030204" pitchFamily="34" charset="0"/>
              </a:rPr>
              <a:t>• A subnet mask of 255.255.0.0: 1st 2-byte indicate the same subnet.</a:t>
            </a:r>
            <a:br>
              <a:rPr lang="en-NZ" sz="2400" dirty="0">
                <a:latin typeface="Calibri" panose="020F0502020204030204" pitchFamily="34" charset="0"/>
                <a:cs typeface="Calibri" panose="020F0502020204030204" pitchFamily="34" charset="0"/>
              </a:rPr>
            </a:br>
            <a:r>
              <a:rPr lang="en-NZ" sz="2400" dirty="0">
                <a:latin typeface="Calibri" panose="020F0502020204030204" pitchFamily="34" charset="0"/>
                <a:cs typeface="Calibri" panose="020F0502020204030204" pitchFamily="34" charset="0"/>
              </a:rPr>
              <a:t>• A subnet mask of 255.255.255.128 (11111111.11111111.11111111.10000000): 1st 3-byte plus the first bit in the fourth byte indicate the subnet.</a:t>
            </a:r>
            <a:endParaRPr lang="en-NZ" sz="2400" dirty="0">
              <a:solidFill>
                <a:srgbClr val="000000"/>
              </a:solidFill>
              <a:latin typeface="Lato" panose="020F0502020204030203" pitchFamily="34" charset="0"/>
              <a:cs typeface="Calibri" panose="020F0502020204030204" pitchFamily="34" charset="0"/>
            </a:endParaRPr>
          </a:p>
          <a:p>
            <a:pPr algn="l">
              <a:spcAft>
                <a:spcPts val="60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A subnet mask of 255.0.0.0 means that all computers with only the same first byte in their IP address are on the same subnet. </a:t>
            </a:r>
          </a:p>
          <a:p>
            <a:pPr algn="l">
              <a:spcAft>
                <a:spcPts val="600"/>
              </a:spcAft>
            </a:pPr>
            <a:endParaRPr lang="en-NZ"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33011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0C95E-0891-548C-9F98-387673B84C1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247E1C8-6713-6D1F-E119-AD40E408173B}"/>
              </a:ext>
            </a:extLst>
          </p:cNvPr>
          <p:cNvSpPr>
            <a:spLocks noGrp="1"/>
          </p:cNvSpPr>
          <p:nvPr>
            <p:ph type="sldNum" sz="quarter" idx="12"/>
          </p:nvPr>
        </p:nvSpPr>
        <p:spPr/>
        <p:txBody>
          <a:bodyPr/>
          <a:lstStyle/>
          <a:p>
            <a:pPr>
              <a:defRPr/>
            </a:pPr>
            <a:fld id="{74182478-D854-4386-B19D-338899BFC4A3}" type="slidenum">
              <a:rPr lang="en-US" smtClean="0"/>
              <a:pPr>
                <a:defRPr/>
              </a:pPr>
              <a:t>12</a:t>
            </a:fld>
            <a:endParaRPr lang="en-US"/>
          </a:p>
        </p:txBody>
      </p:sp>
      <p:sp>
        <p:nvSpPr>
          <p:cNvPr id="7" name="Title 6">
            <a:extLst>
              <a:ext uri="{FF2B5EF4-FFF2-40B4-BE49-F238E27FC236}">
                <a16:creationId xmlns:a16="http://schemas.microsoft.com/office/drawing/2014/main" id="{7BA567F8-98B2-3996-0446-EF399239E4B9}"/>
              </a:ext>
            </a:extLst>
          </p:cNvPr>
          <p:cNvSpPr>
            <a:spLocks noGrp="1"/>
          </p:cNvSpPr>
          <p:nvPr>
            <p:ph type="title"/>
          </p:nvPr>
        </p:nvSpPr>
        <p:spPr>
          <a:xfrm>
            <a:off x="1094306" y="316028"/>
            <a:ext cx="11097694" cy="705849"/>
          </a:xfrm>
        </p:spPr>
        <p:txBody>
          <a:bodyPr>
            <a:normAutofit fontScale="90000"/>
          </a:bodyPr>
          <a:lstStyle/>
          <a:p>
            <a:r>
              <a:rPr lang="en-NZ" u="none" dirty="0"/>
              <a:t>Chapter 5-Network and Transport layers- Week 4 &amp;5 (10-15 questions)</a:t>
            </a:r>
            <a:endParaRPr lang="en-NZ" dirty="0"/>
          </a:p>
        </p:txBody>
      </p:sp>
      <p:sp>
        <p:nvSpPr>
          <p:cNvPr id="15" name="TextBox 14">
            <a:extLst>
              <a:ext uri="{FF2B5EF4-FFF2-40B4-BE49-F238E27FC236}">
                <a16:creationId xmlns:a16="http://schemas.microsoft.com/office/drawing/2014/main" id="{D4B6D55A-DBC1-0B06-5BB5-04D7F12A87E8}"/>
              </a:ext>
            </a:extLst>
          </p:cNvPr>
          <p:cNvSpPr txBox="1"/>
          <p:nvPr/>
        </p:nvSpPr>
        <p:spPr>
          <a:xfrm>
            <a:off x="1094306" y="1193521"/>
            <a:ext cx="10742595" cy="4839786"/>
          </a:xfrm>
          <a:prstGeom prst="rect">
            <a:avLst/>
          </a:prstGeom>
          <a:noFill/>
        </p:spPr>
        <p:txBody>
          <a:bodyPr wrap="square">
            <a:spAutoFit/>
          </a:bodyPr>
          <a:lstStyle/>
          <a:p>
            <a:pPr marL="342900" indent="-342900" algn="l">
              <a:spcAft>
                <a:spcPts val="600"/>
              </a:spcAft>
              <a:buFont typeface="Arial" panose="020B0604020202020204" pitchFamily="34" charset="0"/>
              <a:buChar char="•"/>
            </a:pPr>
            <a:r>
              <a:rPr lang="en-NZ" sz="2400" b="1" dirty="0">
                <a:latin typeface="Calibri" panose="020F0502020204030204" pitchFamily="34" charset="0"/>
                <a:cs typeface="Calibri" panose="020F0502020204030204" pitchFamily="34" charset="0"/>
              </a:rPr>
              <a:t>UDP vs. TCP Messaging</a:t>
            </a:r>
          </a:p>
          <a:p>
            <a:pPr marL="342900" indent="-342900" algn="l">
              <a:lnSpc>
                <a:spcPts val="1800"/>
              </a:lnSpc>
              <a:spcBef>
                <a:spcPts val="900"/>
              </a:spcBef>
              <a:spcAft>
                <a:spcPts val="300"/>
              </a:spcAft>
              <a:buFont typeface="Wingdings" panose="05000000000000000000" pitchFamily="2" charset="2"/>
              <a:buChar char="v"/>
            </a:pPr>
            <a:r>
              <a:rPr lang="en-NZ" sz="2400" dirty="0">
                <a:latin typeface="Calibri" panose="020F0502020204030204" pitchFamily="34" charset="0"/>
                <a:cs typeface="Calibri" panose="020F0502020204030204" pitchFamily="34" charset="0"/>
              </a:rPr>
              <a:t>UDP (User Datagram Protocol)</a:t>
            </a:r>
          </a:p>
          <a:p>
            <a:pPr algn="l">
              <a:spcBef>
                <a:spcPts val="300"/>
              </a:spcBef>
              <a:spcAft>
                <a:spcPts val="30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Connectionless: No setup, no sequence numbers, no acknowledgements.</a:t>
            </a:r>
          </a:p>
          <a:p>
            <a:pPr algn="l">
              <a:spcBef>
                <a:spcPts val="300"/>
              </a:spcBef>
              <a:spcAft>
                <a:spcPts val="30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Each message (datagram) travels independently.</a:t>
            </a:r>
          </a:p>
          <a:p>
            <a:pPr algn="l">
              <a:spcBef>
                <a:spcPts val="300"/>
              </a:spcBef>
              <a:spcAft>
                <a:spcPts val="30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Fast but unreliable – used for real-time apps like video streaming.</a:t>
            </a:r>
          </a:p>
          <a:p>
            <a:pPr marL="342900" indent="-342900" algn="l">
              <a:lnSpc>
                <a:spcPts val="1800"/>
              </a:lnSpc>
              <a:spcBef>
                <a:spcPts val="900"/>
              </a:spcBef>
              <a:spcAft>
                <a:spcPts val="300"/>
              </a:spcAft>
              <a:buFont typeface="Wingdings" panose="05000000000000000000" pitchFamily="2" charset="2"/>
              <a:buChar char="v"/>
            </a:pPr>
            <a:r>
              <a:rPr lang="en-NZ" sz="2400" dirty="0">
                <a:latin typeface="Calibri" panose="020F0502020204030204" pitchFamily="34" charset="0"/>
                <a:cs typeface="Calibri" panose="020F0502020204030204" pitchFamily="34" charset="0"/>
              </a:rPr>
              <a:t>TCP (Transmission Control Protocol)</a:t>
            </a:r>
          </a:p>
          <a:p>
            <a:pPr algn="l">
              <a:spcBef>
                <a:spcPts val="300"/>
              </a:spcBef>
              <a:spcAft>
                <a:spcPts val="30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Connection-oriented: Uses a three-way handshake to establish a connection.</a:t>
            </a:r>
          </a:p>
          <a:p>
            <a:pPr algn="l">
              <a:spcBef>
                <a:spcPts val="300"/>
              </a:spcBef>
              <a:spcAft>
                <a:spcPts val="30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Includes ACKs and sequence numbers for reliable delivery.</a:t>
            </a:r>
          </a:p>
          <a:p>
            <a:pPr algn="l">
              <a:spcBef>
                <a:spcPts val="300"/>
              </a:spcBef>
              <a:spcAft>
                <a:spcPts val="30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Reliable – ideal for web traffic (e.g., HTTP, file transfers).</a:t>
            </a:r>
          </a:p>
          <a:p>
            <a:pPr algn="l">
              <a:spcBef>
                <a:spcPts val="300"/>
              </a:spcBef>
              <a:spcAft>
                <a:spcPts val="300"/>
              </a:spcAft>
            </a:pPr>
            <a:endParaRPr lang="en-NZ" sz="2400" dirty="0">
              <a:latin typeface="Calibri" panose="020F0502020204030204" pitchFamily="34" charset="0"/>
              <a:cs typeface="Calibri" panose="020F0502020204030204" pitchFamily="34" charset="0"/>
            </a:endParaRPr>
          </a:p>
          <a:p>
            <a:pPr marL="342900" indent="-342900">
              <a:spcBef>
                <a:spcPts val="300"/>
              </a:spcBef>
              <a:spcAft>
                <a:spcPts val="600"/>
              </a:spcAft>
              <a:buFont typeface="Arial" panose="020B0604020202020204" pitchFamily="34" charset="0"/>
              <a:buChar char="•"/>
            </a:pPr>
            <a:r>
              <a:rPr lang="en-NZ" sz="2400" b="1" dirty="0">
                <a:latin typeface="Calibri" panose="020F0502020204030204" pitchFamily="34" charset="0"/>
                <a:cs typeface="Calibri" panose="020F0502020204030204" pitchFamily="34" charset="0"/>
              </a:rPr>
              <a:t>Review DNS protocol</a:t>
            </a:r>
          </a:p>
        </p:txBody>
      </p:sp>
    </p:spTree>
    <p:extLst>
      <p:ext uri="{BB962C8B-B14F-4D97-AF65-F5344CB8AC3E}">
        <p14:creationId xmlns:p14="http://schemas.microsoft.com/office/powerpoint/2010/main" val="4277533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F4B77-8481-5977-5DB8-E7C1363409D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3F76800-4E53-841E-8064-76708705C80F}"/>
              </a:ext>
            </a:extLst>
          </p:cNvPr>
          <p:cNvSpPr>
            <a:spLocks noGrp="1"/>
          </p:cNvSpPr>
          <p:nvPr>
            <p:ph type="sldNum" sz="quarter" idx="12"/>
          </p:nvPr>
        </p:nvSpPr>
        <p:spPr/>
        <p:txBody>
          <a:bodyPr/>
          <a:lstStyle/>
          <a:p>
            <a:pPr>
              <a:defRPr/>
            </a:pPr>
            <a:fld id="{74182478-D854-4386-B19D-338899BFC4A3}" type="slidenum">
              <a:rPr lang="en-US" smtClean="0"/>
              <a:pPr>
                <a:defRPr/>
              </a:pPr>
              <a:t>13</a:t>
            </a:fld>
            <a:endParaRPr lang="en-US"/>
          </a:p>
        </p:txBody>
      </p:sp>
      <p:sp>
        <p:nvSpPr>
          <p:cNvPr id="7" name="Title 6">
            <a:extLst>
              <a:ext uri="{FF2B5EF4-FFF2-40B4-BE49-F238E27FC236}">
                <a16:creationId xmlns:a16="http://schemas.microsoft.com/office/drawing/2014/main" id="{62D4CCB6-A21D-FCAC-C5AB-F4042B8E8840}"/>
              </a:ext>
            </a:extLst>
          </p:cNvPr>
          <p:cNvSpPr>
            <a:spLocks noGrp="1"/>
          </p:cNvSpPr>
          <p:nvPr>
            <p:ph type="title"/>
          </p:nvPr>
        </p:nvSpPr>
        <p:spPr>
          <a:xfrm>
            <a:off x="1094305" y="316028"/>
            <a:ext cx="10435391" cy="705849"/>
          </a:xfrm>
        </p:spPr>
        <p:txBody>
          <a:bodyPr>
            <a:normAutofit fontScale="90000"/>
          </a:bodyPr>
          <a:lstStyle/>
          <a:p>
            <a:r>
              <a:rPr lang="en-NZ" u="none" dirty="0"/>
              <a:t>Chapter 2-Application layer- Week 10 (10-15 questions)</a:t>
            </a:r>
            <a:endParaRPr lang="en-NZ" dirty="0"/>
          </a:p>
        </p:txBody>
      </p:sp>
      <p:sp>
        <p:nvSpPr>
          <p:cNvPr id="15" name="TextBox 14">
            <a:extLst>
              <a:ext uri="{FF2B5EF4-FFF2-40B4-BE49-F238E27FC236}">
                <a16:creationId xmlns:a16="http://schemas.microsoft.com/office/drawing/2014/main" id="{04C2CB1C-992F-00E8-0731-EDAE470DC9A3}"/>
              </a:ext>
            </a:extLst>
          </p:cNvPr>
          <p:cNvSpPr txBox="1"/>
          <p:nvPr/>
        </p:nvSpPr>
        <p:spPr>
          <a:xfrm>
            <a:off x="1094306" y="1193521"/>
            <a:ext cx="10742595" cy="5188600"/>
          </a:xfrm>
          <a:prstGeom prst="rect">
            <a:avLst/>
          </a:prstGeom>
          <a:noFill/>
        </p:spPr>
        <p:txBody>
          <a:bodyPr wrap="square">
            <a:spAutoFit/>
          </a:bodyPr>
          <a:lstStyle/>
          <a:p>
            <a:pPr marL="342900" indent="-342900">
              <a:spcBef>
                <a:spcPts val="450"/>
              </a:spcBef>
              <a:spcAft>
                <a:spcPts val="75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Review the quizzes for this chapter on CANVAS.</a:t>
            </a:r>
          </a:p>
          <a:p>
            <a:pPr marL="342900" indent="-342900" algn="l">
              <a:lnSpc>
                <a:spcPts val="2400"/>
              </a:lnSpc>
              <a:spcBef>
                <a:spcPts val="150"/>
              </a:spcBef>
              <a:spcAft>
                <a:spcPts val="450"/>
              </a:spcAft>
              <a:buFont typeface="Wingdings" panose="05000000000000000000" pitchFamily="2" charset="2"/>
              <a:buChar char="v"/>
            </a:pPr>
            <a:r>
              <a:rPr lang="en-NZ" sz="2400" b="0" i="0" dirty="0">
                <a:solidFill>
                  <a:srgbClr val="424242"/>
                </a:solidFill>
                <a:effectLst/>
                <a:latin typeface="Segoe Sans"/>
              </a:rPr>
              <a:t> </a:t>
            </a:r>
            <a:r>
              <a:rPr lang="en-NZ" sz="2400" dirty="0">
                <a:latin typeface="Calibri" panose="020F0502020204030204" pitchFamily="34" charset="0"/>
                <a:cs typeface="Calibri" panose="020F0502020204030204" pitchFamily="34" charset="0"/>
              </a:rPr>
              <a:t>Client-Server Architecture</a:t>
            </a:r>
          </a:p>
          <a:p>
            <a:pPr algn="l">
              <a:spcAft>
                <a:spcPts val="60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Web browsing is an example of a client-server application architecture.</a:t>
            </a:r>
          </a:p>
          <a:p>
            <a:pPr algn="l">
              <a:spcAft>
                <a:spcPts val="60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In a client-based network, all data on the server must travel to the client for processing.</a:t>
            </a:r>
          </a:p>
          <a:p>
            <a:pPr marL="342900" indent="-342900" algn="l">
              <a:lnSpc>
                <a:spcPts val="2400"/>
              </a:lnSpc>
              <a:spcBef>
                <a:spcPts val="150"/>
              </a:spcBef>
              <a:spcAft>
                <a:spcPts val="450"/>
              </a:spcAft>
              <a:buFont typeface="Wingdings" panose="05000000000000000000" pitchFamily="2" charset="2"/>
              <a:buChar char="v"/>
            </a:pPr>
            <a:r>
              <a:rPr lang="en-NZ" sz="2400" dirty="0">
                <a:latin typeface="Calibri" panose="020F0502020204030204" pitchFamily="34" charset="0"/>
                <a:cs typeface="Calibri" panose="020F0502020204030204" pitchFamily="34" charset="0"/>
              </a:rPr>
              <a:t>Middleware: is software that sits between the application software on the client and the server. It enhances the functionality of a client-server application by facilitating communication and data management.</a:t>
            </a:r>
          </a:p>
          <a:p>
            <a:pPr marL="342900" indent="-342900" algn="l">
              <a:lnSpc>
                <a:spcPts val="2400"/>
              </a:lnSpc>
              <a:spcBef>
                <a:spcPts val="150"/>
              </a:spcBef>
              <a:spcAft>
                <a:spcPts val="450"/>
              </a:spcAft>
              <a:buFont typeface="Wingdings" panose="05000000000000000000" pitchFamily="2" charset="2"/>
              <a:buChar char="v"/>
            </a:pPr>
            <a:r>
              <a:rPr lang="en-NZ" sz="2400" dirty="0">
                <a:latin typeface="Calibri" panose="020F0502020204030204" pitchFamily="34" charset="0"/>
                <a:cs typeface="Calibri" panose="020F0502020204030204" pitchFamily="34" charset="0"/>
              </a:rPr>
              <a:t>Two-Tier, Three-Tier, and n-Tier Architectures</a:t>
            </a:r>
          </a:p>
          <a:p>
            <a:pPr algn="l">
              <a:spcAft>
                <a:spcPts val="60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In three-tier architecture, the client handles presentation logic, the application server handles application logic, and the database server handles data access logic and storage.</a:t>
            </a:r>
          </a:p>
          <a:p>
            <a:pPr algn="l">
              <a:spcAft>
                <a:spcPts val="60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An n-tier architecture is generally more scalable than a three-tiered architecture.</a:t>
            </a:r>
          </a:p>
        </p:txBody>
      </p:sp>
    </p:spTree>
    <p:extLst>
      <p:ext uri="{BB962C8B-B14F-4D97-AF65-F5344CB8AC3E}">
        <p14:creationId xmlns:p14="http://schemas.microsoft.com/office/powerpoint/2010/main" val="2894942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37B82-3A02-663E-6AA8-968AAB9BBEF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EDB31C-70AA-9474-FAB4-817ECD4E101B}"/>
              </a:ext>
            </a:extLst>
          </p:cNvPr>
          <p:cNvSpPr>
            <a:spLocks noGrp="1"/>
          </p:cNvSpPr>
          <p:nvPr>
            <p:ph type="sldNum" sz="quarter" idx="12"/>
          </p:nvPr>
        </p:nvSpPr>
        <p:spPr/>
        <p:txBody>
          <a:bodyPr/>
          <a:lstStyle/>
          <a:p>
            <a:pPr>
              <a:defRPr/>
            </a:pPr>
            <a:fld id="{74182478-D854-4386-B19D-338899BFC4A3}" type="slidenum">
              <a:rPr lang="en-US" smtClean="0"/>
              <a:pPr>
                <a:defRPr/>
              </a:pPr>
              <a:t>14</a:t>
            </a:fld>
            <a:endParaRPr lang="en-US"/>
          </a:p>
        </p:txBody>
      </p:sp>
      <p:sp>
        <p:nvSpPr>
          <p:cNvPr id="7" name="Title 6">
            <a:extLst>
              <a:ext uri="{FF2B5EF4-FFF2-40B4-BE49-F238E27FC236}">
                <a16:creationId xmlns:a16="http://schemas.microsoft.com/office/drawing/2014/main" id="{775C8129-3472-CCD3-2DE8-04E88DAAC827}"/>
              </a:ext>
            </a:extLst>
          </p:cNvPr>
          <p:cNvSpPr>
            <a:spLocks noGrp="1"/>
          </p:cNvSpPr>
          <p:nvPr>
            <p:ph type="title"/>
          </p:nvPr>
        </p:nvSpPr>
        <p:spPr>
          <a:xfrm>
            <a:off x="1094305" y="316028"/>
            <a:ext cx="10435391" cy="705849"/>
          </a:xfrm>
        </p:spPr>
        <p:txBody>
          <a:bodyPr>
            <a:normAutofit fontScale="90000"/>
          </a:bodyPr>
          <a:lstStyle/>
          <a:p>
            <a:r>
              <a:rPr lang="en-NZ" u="none" dirty="0"/>
              <a:t>Chapter 2-Application layer- Week 10 (10-15 questions)</a:t>
            </a:r>
            <a:endParaRPr lang="en-NZ" dirty="0"/>
          </a:p>
        </p:txBody>
      </p:sp>
      <p:sp>
        <p:nvSpPr>
          <p:cNvPr id="15" name="TextBox 14">
            <a:extLst>
              <a:ext uri="{FF2B5EF4-FFF2-40B4-BE49-F238E27FC236}">
                <a16:creationId xmlns:a16="http://schemas.microsoft.com/office/drawing/2014/main" id="{BFBF2D60-5272-203A-9EB0-9175D97D6F7B}"/>
              </a:ext>
            </a:extLst>
          </p:cNvPr>
          <p:cNvSpPr txBox="1"/>
          <p:nvPr/>
        </p:nvSpPr>
        <p:spPr>
          <a:xfrm>
            <a:off x="1094305" y="1329879"/>
            <a:ext cx="10742595" cy="3841244"/>
          </a:xfrm>
          <a:prstGeom prst="rect">
            <a:avLst/>
          </a:prstGeom>
          <a:noFill/>
        </p:spPr>
        <p:txBody>
          <a:bodyPr wrap="square">
            <a:spAutoFit/>
          </a:bodyPr>
          <a:lstStyle/>
          <a:p>
            <a:pPr marL="342900" indent="-342900" algn="l">
              <a:lnSpc>
                <a:spcPts val="2400"/>
              </a:lnSpc>
              <a:spcBef>
                <a:spcPts val="150"/>
              </a:spcBef>
              <a:spcAft>
                <a:spcPts val="450"/>
              </a:spcAft>
              <a:buFont typeface="Wingdings" panose="05000000000000000000" pitchFamily="2" charset="2"/>
              <a:buChar char="v"/>
            </a:pPr>
            <a:r>
              <a:rPr lang="en-NZ" sz="2400" dirty="0">
                <a:latin typeface="Calibri" panose="020F0502020204030204" pitchFamily="34" charset="0"/>
                <a:cs typeface="Calibri" panose="020F0502020204030204" pitchFamily="34" charset="0"/>
              </a:rPr>
              <a:t>Thick Client Architecture: it places all or almost all of the application logic on the client.</a:t>
            </a:r>
          </a:p>
          <a:p>
            <a:pPr marL="342900" indent="-342900" algn="l">
              <a:lnSpc>
                <a:spcPts val="2400"/>
              </a:lnSpc>
              <a:spcBef>
                <a:spcPts val="150"/>
              </a:spcBef>
              <a:spcAft>
                <a:spcPts val="450"/>
              </a:spcAft>
              <a:buFont typeface="Wingdings" panose="05000000000000000000" pitchFamily="2" charset="2"/>
              <a:buChar char="v"/>
            </a:pPr>
            <a:r>
              <a:rPr lang="en-NZ" sz="2400" dirty="0">
                <a:latin typeface="Calibri" panose="020F0502020204030204" pitchFamily="34" charset="0"/>
                <a:cs typeface="Calibri" panose="020F0502020204030204" pitchFamily="34" charset="0"/>
              </a:rPr>
              <a:t>Web Browser Requirement: To use the Web, each client computer requires a Web browser.</a:t>
            </a:r>
          </a:p>
          <a:p>
            <a:pPr marL="342900" indent="-342900" algn="l">
              <a:lnSpc>
                <a:spcPts val="2400"/>
              </a:lnSpc>
              <a:spcBef>
                <a:spcPts val="150"/>
              </a:spcBef>
              <a:spcAft>
                <a:spcPts val="450"/>
              </a:spcAft>
              <a:buFont typeface="Wingdings" panose="05000000000000000000" pitchFamily="2" charset="2"/>
              <a:buChar char="v"/>
            </a:pPr>
            <a:r>
              <a:rPr lang="en-NZ" sz="2400" dirty="0">
                <a:latin typeface="Calibri" panose="020F0502020204030204" pitchFamily="34" charset="0"/>
                <a:cs typeface="Calibri" panose="020F0502020204030204" pitchFamily="34" charset="0"/>
              </a:rPr>
              <a:t>Email: SMTP email is usually implemented as a two-tier thick client–server application, but not always. With a two-tier thick client–server architecture, each client computer runs an application layer software package called a mail user agent.</a:t>
            </a:r>
          </a:p>
          <a:p>
            <a:pPr marL="342900" indent="-342900" algn="l">
              <a:lnSpc>
                <a:spcPts val="2400"/>
              </a:lnSpc>
              <a:spcBef>
                <a:spcPts val="150"/>
              </a:spcBef>
              <a:spcAft>
                <a:spcPts val="450"/>
              </a:spcAft>
              <a:buFont typeface="Wingdings" panose="05000000000000000000" pitchFamily="2" charset="2"/>
              <a:buChar char="v"/>
            </a:pPr>
            <a:r>
              <a:rPr lang="en-NZ" sz="2400" dirty="0">
                <a:latin typeface="Calibri" panose="020F0502020204030204" pitchFamily="34" charset="0"/>
                <a:cs typeface="Calibri" panose="020F0502020204030204" pitchFamily="34" charset="0"/>
              </a:rPr>
              <a:t>Telnet: It requires an application layer program on both the client and server computers.</a:t>
            </a:r>
          </a:p>
          <a:p>
            <a:pPr marL="342900" indent="-342900" algn="l">
              <a:lnSpc>
                <a:spcPts val="2400"/>
              </a:lnSpc>
              <a:spcBef>
                <a:spcPts val="150"/>
              </a:spcBef>
              <a:spcAft>
                <a:spcPts val="450"/>
              </a:spcAft>
              <a:buFont typeface="Wingdings" panose="05000000000000000000" pitchFamily="2" charset="2"/>
              <a:buChar char="v"/>
            </a:pPr>
            <a:r>
              <a:rPr lang="en-NZ" sz="2400" dirty="0">
                <a:latin typeface="Calibri" panose="020F0502020204030204" pitchFamily="34" charset="0"/>
                <a:cs typeface="Calibri" panose="020F0502020204030204" pitchFamily="34" charset="0"/>
              </a:rPr>
              <a:t>Server Farm: is a group of computers linked together to act as one computer.</a:t>
            </a:r>
          </a:p>
        </p:txBody>
      </p:sp>
    </p:spTree>
    <p:extLst>
      <p:ext uri="{BB962C8B-B14F-4D97-AF65-F5344CB8AC3E}">
        <p14:creationId xmlns:p14="http://schemas.microsoft.com/office/powerpoint/2010/main" val="2740103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72769-9B1A-82C6-D1A9-F5156D5370D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5747763-6146-5C25-F6F4-76433E13B291}"/>
              </a:ext>
            </a:extLst>
          </p:cNvPr>
          <p:cNvSpPr>
            <a:spLocks noGrp="1"/>
          </p:cNvSpPr>
          <p:nvPr>
            <p:ph type="sldNum" sz="quarter" idx="12"/>
          </p:nvPr>
        </p:nvSpPr>
        <p:spPr/>
        <p:txBody>
          <a:bodyPr/>
          <a:lstStyle/>
          <a:p>
            <a:pPr>
              <a:defRPr/>
            </a:pPr>
            <a:fld id="{74182478-D854-4386-B19D-338899BFC4A3}" type="slidenum">
              <a:rPr lang="en-US" smtClean="0"/>
              <a:pPr>
                <a:defRPr/>
              </a:pPr>
              <a:t>15</a:t>
            </a:fld>
            <a:endParaRPr lang="en-US"/>
          </a:p>
        </p:txBody>
      </p:sp>
      <p:sp>
        <p:nvSpPr>
          <p:cNvPr id="7" name="Title 6">
            <a:extLst>
              <a:ext uri="{FF2B5EF4-FFF2-40B4-BE49-F238E27FC236}">
                <a16:creationId xmlns:a16="http://schemas.microsoft.com/office/drawing/2014/main" id="{011AAE92-1EE9-BB35-9FE7-E959492DE420}"/>
              </a:ext>
            </a:extLst>
          </p:cNvPr>
          <p:cNvSpPr>
            <a:spLocks noGrp="1"/>
          </p:cNvSpPr>
          <p:nvPr>
            <p:ph type="title"/>
          </p:nvPr>
        </p:nvSpPr>
        <p:spPr>
          <a:xfrm>
            <a:off x="1094305" y="316028"/>
            <a:ext cx="10435391" cy="705849"/>
          </a:xfrm>
        </p:spPr>
        <p:txBody>
          <a:bodyPr>
            <a:normAutofit fontScale="90000"/>
          </a:bodyPr>
          <a:lstStyle/>
          <a:p>
            <a:r>
              <a:rPr lang="en-NZ" u="none" dirty="0"/>
              <a:t>Chapter 6-Network Design-Week 7 (5-10 questions)</a:t>
            </a:r>
            <a:endParaRPr lang="en-NZ" dirty="0"/>
          </a:p>
        </p:txBody>
      </p:sp>
      <p:sp>
        <p:nvSpPr>
          <p:cNvPr id="15" name="TextBox 14">
            <a:extLst>
              <a:ext uri="{FF2B5EF4-FFF2-40B4-BE49-F238E27FC236}">
                <a16:creationId xmlns:a16="http://schemas.microsoft.com/office/drawing/2014/main" id="{61D15E6D-9024-5CFD-FC2D-C55A7DEE81FD}"/>
              </a:ext>
            </a:extLst>
          </p:cNvPr>
          <p:cNvSpPr txBox="1"/>
          <p:nvPr/>
        </p:nvSpPr>
        <p:spPr>
          <a:xfrm>
            <a:off x="1094305" y="1329879"/>
            <a:ext cx="10742595" cy="7644850"/>
          </a:xfrm>
          <a:prstGeom prst="rect">
            <a:avLst/>
          </a:prstGeom>
          <a:noFill/>
        </p:spPr>
        <p:txBody>
          <a:bodyPr wrap="square">
            <a:spAutoFit/>
          </a:bodyPr>
          <a:lstStyle/>
          <a:p>
            <a:pPr marL="342900" indent="-342900">
              <a:spcBef>
                <a:spcPts val="450"/>
              </a:spcBef>
              <a:spcAft>
                <a:spcPts val="75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Review the quizzes for this chapter on CANVAS and the content of this chapter. </a:t>
            </a:r>
          </a:p>
          <a:p>
            <a:pPr>
              <a:spcBef>
                <a:spcPts val="450"/>
              </a:spcBef>
              <a:spcAft>
                <a:spcPts val="750"/>
              </a:spcAft>
            </a:pPr>
            <a:r>
              <a:rPr lang="en-NZ" sz="4000" b="1" dirty="0">
                <a:solidFill>
                  <a:srgbClr val="F26522"/>
                </a:solidFill>
                <a:latin typeface="Calibri" panose="020F0502020204030204" pitchFamily="34" charset="0"/>
                <a:ea typeface="+mj-ea"/>
                <a:cs typeface="+mj-cs"/>
              </a:rPr>
              <a:t>Chapter 7-Wired and Wireless Local Area Networks -Week 6 (15-20 questions)</a:t>
            </a:r>
          </a:p>
          <a:p>
            <a:pPr marL="342900" indent="-342900">
              <a:spcBef>
                <a:spcPts val="450"/>
              </a:spcBef>
              <a:spcAft>
                <a:spcPts val="75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Review the quizzes for this chapter on CANVAS and the content of this chapter. </a:t>
            </a:r>
          </a:p>
          <a:p>
            <a:pPr marL="342900" indent="-342900" algn="l">
              <a:lnSpc>
                <a:spcPts val="2400"/>
              </a:lnSpc>
              <a:spcBef>
                <a:spcPts val="150"/>
              </a:spcBef>
              <a:spcAft>
                <a:spcPts val="450"/>
              </a:spcAft>
              <a:buFont typeface="Wingdings" panose="05000000000000000000" pitchFamily="2" charset="2"/>
              <a:buChar char="v"/>
            </a:pPr>
            <a:r>
              <a:rPr lang="en-NZ" sz="2400" dirty="0">
                <a:latin typeface="Calibri" panose="020F0502020204030204" pitchFamily="34" charset="0"/>
                <a:cs typeface="Calibri" panose="020F0502020204030204" pitchFamily="34" charset="0"/>
              </a:rPr>
              <a:t>Some useful information:</a:t>
            </a:r>
          </a:p>
          <a:p>
            <a:pPr marL="342900" indent="-342900" algn="l">
              <a:lnSpc>
                <a:spcPts val="2400"/>
              </a:lnSpc>
              <a:spcBef>
                <a:spcPts val="150"/>
              </a:spcBef>
              <a:spcAft>
                <a:spcPts val="45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CSMA/CD (Carrier Sense Multiple Access with Collision Detection) is not used in token ring protocol LANs. It is a contention-based media access control technique used in Ethernet networks.</a:t>
            </a:r>
          </a:p>
          <a:p>
            <a:pPr marL="342900" indent="-342900" algn="l">
              <a:lnSpc>
                <a:spcPts val="2400"/>
              </a:lnSpc>
              <a:spcBef>
                <a:spcPts val="150"/>
              </a:spcBef>
              <a:spcAft>
                <a:spcPts val="45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CSMA/CA (Carrier Sense Multiple Access with Collision Avoidance) is a network protocol that helps prevent collisions in wireless networks.</a:t>
            </a:r>
          </a:p>
          <a:p>
            <a:pPr marL="342900" indent="-342900">
              <a:lnSpc>
                <a:spcPts val="2400"/>
              </a:lnSpc>
              <a:spcBef>
                <a:spcPts val="150"/>
              </a:spcBef>
              <a:spcAft>
                <a:spcPts val="45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Focus on cables, access point, LAN components, Domain controller, Switch-Based Ethernet, Switch Forwarding Table, Switch Modes, WLAN standards. </a:t>
            </a:r>
          </a:p>
          <a:p>
            <a:pPr marL="342900" indent="-342900">
              <a:lnSpc>
                <a:spcPts val="2400"/>
              </a:lnSpc>
              <a:spcBef>
                <a:spcPts val="150"/>
              </a:spcBef>
              <a:spcAft>
                <a:spcPts val="450"/>
              </a:spcAft>
              <a:buFont typeface="Arial" panose="020B0604020202020204" pitchFamily="34" charset="0"/>
              <a:buChar char="•"/>
            </a:pPr>
            <a:endParaRPr lang="en-NZ" sz="2400" b="0" i="0" dirty="0">
              <a:solidFill>
                <a:srgbClr val="424242"/>
              </a:solidFill>
              <a:effectLst/>
              <a:latin typeface="Segoe Sans"/>
            </a:endParaRPr>
          </a:p>
          <a:p>
            <a:pPr marL="342900" indent="-342900">
              <a:lnSpc>
                <a:spcPts val="2400"/>
              </a:lnSpc>
              <a:spcBef>
                <a:spcPts val="150"/>
              </a:spcBef>
              <a:spcAft>
                <a:spcPts val="450"/>
              </a:spcAft>
              <a:buFont typeface="Arial" panose="020B0604020202020204" pitchFamily="34" charset="0"/>
              <a:buChar char="•"/>
            </a:pPr>
            <a:endParaRPr lang="en-NZ" sz="2400" b="0" i="0" dirty="0">
              <a:solidFill>
                <a:srgbClr val="424242"/>
              </a:solidFill>
              <a:effectLst/>
              <a:latin typeface="Segoe Sans"/>
            </a:endParaRPr>
          </a:p>
          <a:p>
            <a:pPr marL="342900" indent="-342900" algn="l">
              <a:lnSpc>
                <a:spcPts val="2400"/>
              </a:lnSpc>
              <a:spcBef>
                <a:spcPts val="150"/>
              </a:spcBef>
              <a:spcAft>
                <a:spcPts val="450"/>
              </a:spcAft>
              <a:buFont typeface="Arial" panose="020B0604020202020204" pitchFamily="34" charset="0"/>
              <a:buChar char="•"/>
            </a:pPr>
            <a:endParaRPr lang="en-NZ" sz="2400" dirty="0">
              <a:latin typeface="Calibri" panose="020F0502020204030204" pitchFamily="34" charset="0"/>
              <a:cs typeface="Calibri" panose="020F0502020204030204" pitchFamily="34" charset="0"/>
            </a:endParaRPr>
          </a:p>
          <a:p>
            <a:pPr algn="l">
              <a:lnSpc>
                <a:spcPts val="2400"/>
              </a:lnSpc>
              <a:spcBef>
                <a:spcPts val="150"/>
              </a:spcBef>
              <a:spcAft>
                <a:spcPts val="450"/>
              </a:spcAft>
              <a:buNone/>
            </a:pPr>
            <a:endParaRPr lang="en-NZ" sz="2400" dirty="0">
              <a:latin typeface="Calibri" panose="020F0502020204030204" pitchFamily="34" charset="0"/>
              <a:cs typeface="Calibri" panose="020F0502020204030204" pitchFamily="34" charset="0"/>
            </a:endParaRPr>
          </a:p>
          <a:p>
            <a:pPr algn="l">
              <a:lnSpc>
                <a:spcPts val="2400"/>
              </a:lnSpc>
              <a:spcBef>
                <a:spcPts val="150"/>
              </a:spcBef>
              <a:spcAft>
                <a:spcPts val="450"/>
              </a:spcAft>
              <a:buNone/>
            </a:pPr>
            <a:endParaRPr lang="en-NZ" sz="2400" b="0" i="0" dirty="0">
              <a:solidFill>
                <a:srgbClr val="424242"/>
              </a:solidFill>
              <a:effectLst/>
              <a:latin typeface="Segoe Sans"/>
            </a:endParaRPr>
          </a:p>
          <a:p>
            <a:pPr algn="l">
              <a:lnSpc>
                <a:spcPts val="2400"/>
              </a:lnSpc>
              <a:spcBef>
                <a:spcPts val="150"/>
              </a:spcBef>
              <a:spcAft>
                <a:spcPts val="450"/>
              </a:spcAft>
            </a:pPr>
            <a:endParaRPr lang="en-NZ"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14202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1DC45-2760-8A31-5B2D-7BE65CEAE5E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DC3F38-1068-9BEB-4D22-9C01609C3B1D}"/>
              </a:ext>
            </a:extLst>
          </p:cNvPr>
          <p:cNvSpPr>
            <a:spLocks noGrp="1"/>
          </p:cNvSpPr>
          <p:nvPr>
            <p:ph type="sldNum" sz="quarter" idx="12"/>
          </p:nvPr>
        </p:nvSpPr>
        <p:spPr/>
        <p:txBody>
          <a:bodyPr/>
          <a:lstStyle/>
          <a:p>
            <a:pPr>
              <a:defRPr/>
            </a:pPr>
            <a:fld id="{74182478-D854-4386-B19D-338899BFC4A3}" type="slidenum">
              <a:rPr lang="en-US" smtClean="0"/>
              <a:pPr>
                <a:defRPr/>
              </a:pPr>
              <a:t>16</a:t>
            </a:fld>
            <a:endParaRPr lang="en-US"/>
          </a:p>
        </p:txBody>
      </p:sp>
      <p:sp>
        <p:nvSpPr>
          <p:cNvPr id="7" name="Title 6">
            <a:extLst>
              <a:ext uri="{FF2B5EF4-FFF2-40B4-BE49-F238E27FC236}">
                <a16:creationId xmlns:a16="http://schemas.microsoft.com/office/drawing/2014/main" id="{8762F677-C1DF-62EA-2D4F-328AD89B88D2}"/>
              </a:ext>
            </a:extLst>
          </p:cNvPr>
          <p:cNvSpPr>
            <a:spLocks noGrp="1"/>
          </p:cNvSpPr>
          <p:nvPr>
            <p:ph type="title"/>
          </p:nvPr>
        </p:nvSpPr>
        <p:spPr>
          <a:xfrm>
            <a:off x="1094305" y="316028"/>
            <a:ext cx="10435391" cy="705849"/>
          </a:xfrm>
        </p:spPr>
        <p:txBody>
          <a:bodyPr>
            <a:normAutofit fontScale="90000"/>
          </a:bodyPr>
          <a:lstStyle/>
          <a:p>
            <a:r>
              <a:rPr lang="en-NZ" u="none" dirty="0"/>
              <a:t>Chapter 8-</a:t>
            </a:r>
            <a:r>
              <a:rPr lang="en-NZ" dirty="0"/>
              <a:t>Backbone Networks</a:t>
            </a:r>
            <a:r>
              <a:rPr lang="en-NZ" u="none" dirty="0"/>
              <a:t>-Week 7 (5-10 questions)</a:t>
            </a:r>
            <a:endParaRPr lang="en-NZ" dirty="0"/>
          </a:p>
        </p:txBody>
      </p:sp>
      <p:sp>
        <p:nvSpPr>
          <p:cNvPr id="15" name="TextBox 14">
            <a:extLst>
              <a:ext uri="{FF2B5EF4-FFF2-40B4-BE49-F238E27FC236}">
                <a16:creationId xmlns:a16="http://schemas.microsoft.com/office/drawing/2014/main" id="{ED038969-3530-2D51-EC7B-34CA33EDBF0D}"/>
              </a:ext>
            </a:extLst>
          </p:cNvPr>
          <p:cNvSpPr txBox="1"/>
          <p:nvPr/>
        </p:nvSpPr>
        <p:spPr>
          <a:xfrm>
            <a:off x="1094305" y="1329879"/>
            <a:ext cx="10742595" cy="6552243"/>
          </a:xfrm>
          <a:prstGeom prst="rect">
            <a:avLst/>
          </a:prstGeom>
          <a:noFill/>
        </p:spPr>
        <p:txBody>
          <a:bodyPr wrap="square">
            <a:spAutoFit/>
          </a:bodyPr>
          <a:lstStyle/>
          <a:p>
            <a:pPr marL="342900" indent="-342900">
              <a:spcBef>
                <a:spcPts val="450"/>
              </a:spcBef>
              <a:spcAft>
                <a:spcPts val="75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Review the quizzes for this chapter on CANVAS and the content of this chapter. </a:t>
            </a:r>
          </a:p>
          <a:p>
            <a:pPr>
              <a:spcBef>
                <a:spcPts val="450"/>
              </a:spcBef>
              <a:spcAft>
                <a:spcPts val="750"/>
              </a:spcAft>
            </a:pPr>
            <a:r>
              <a:rPr lang="en-NZ" sz="4000" b="1" dirty="0">
                <a:solidFill>
                  <a:srgbClr val="F26522"/>
                </a:solidFill>
                <a:latin typeface="Calibri" panose="020F0502020204030204" pitchFamily="34" charset="0"/>
                <a:ea typeface="+mj-ea"/>
                <a:cs typeface="+mj-cs"/>
              </a:rPr>
              <a:t>Chapter 9-Wide Area Networks -Week 10 (5-10 questions)</a:t>
            </a:r>
          </a:p>
          <a:p>
            <a:pPr marL="342900" indent="-342900">
              <a:spcBef>
                <a:spcPts val="450"/>
              </a:spcBef>
              <a:spcAft>
                <a:spcPts val="75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Review the quizzes for this chapter on CANVAS and the content of this chapter.</a:t>
            </a:r>
          </a:p>
          <a:p>
            <a:pPr>
              <a:spcBef>
                <a:spcPts val="450"/>
              </a:spcBef>
              <a:spcAft>
                <a:spcPts val="750"/>
              </a:spcAft>
            </a:pPr>
            <a:r>
              <a:rPr lang="en-NZ" sz="2400" dirty="0">
                <a:latin typeface="Calibri" panose="020F0502020204030204" pitchFamily="34" charset="0"/>
                <a:cs typeface="Calibri" panose="020F0502020204030204" pitchFamily="34" charset="0"/>
              </a:rPr>
              <a:t> </a:t>
            </a:r>
          </a:p>
          <a:p>
            <a:pPr>
              <a:lnSpc>
                <a:spcPct val="90000"/>
              </a:lnSpc>
              <a:spcBef>
                <a:spcPct val="0"/>
              </a:spcBef>
              <a:spcAft>
                <a:spcPts val="750"/>
              </a:spcAft>
            </a:pPr>
            <a:r>
              <a:rPr lang="en-NZ" sz="4000" b="1" dirty="0">
                <a:solidFill>
                  <a:srgbClr val="F26522"/>
                </a:solidFill>
                <a:latin typeface="Calibri" panose="020F0502020204030204" pitchFamily="34" charset="0"/>
                <a:ea typeface="+mj-ea"/>
                <a:cs typeface="+mj-cs"/>
              </a:rPr>
              <a:t>Chapter 10-Internet-Week 8 (5-8 questions)</a:t>
            </a:r>
          </a:p>
          <a:p>
            <a:pPr>
              <a:lnSpc>
                <a:spcPts val="2400"/>
              </a:lnSpc>
              <a:spcBef>
                <a:spcPts val="150"/>
              </a:spcBef>
              <a:spcAft>
                <a:spcPts val="450"/>
              </a:spcAft>
            </a:pPr>
            <a:endParaRPr lang="en-NZ" sz="2400" b="0" i="0" dirty="0">
              <a:solidFill>
                <a:srgbClr val="424242"/>
              </a:solidFill>
              <a:effectLst/>
              <a:latin typeface="Segoe Sans"/>
            </a:endParaRPr>
          </a:p>
          <a:p>
            <a:pPr marL="342900" indent="-342900">
              <a:lnSpc>
                <a:spcPts val="2400"/>
              </a:lnSpc>
              <a:spcBef>
                <a:spcPts val="150"/>
              </a:spcBef>
              <a:spcAft>
                <a:spcPts val="45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Review the quizzes for this chapter on CANVAS and the content of this chapter.</a:t>
            </a:r>
          </a:p>
          <a:p>
            <a:pPr marL="342900" indent="-342900">
              <a:lnSpc>
                <a:spcPts val="2400"/>
              </a:lnSpc>
              <a:spcBef>
                <a:spcPts val="150"/>
              </a:spcBef>
              <a:spcAft>
                <a:spcPts val="450"/>
              </a:spcAft>
              <a:buFont typeface="Arial" panose="020B0604020202020204" pitchFamily="34" charset="0"/>
              <a:buChar char="•"/>
            </a:pPr>
            <a:endParaRPr lang="en-NZ" sz="2400" b="0" i="0" dirty="0">
              <a:solidFill>
                <a:srgbClr val="424242"/>
              </a:solidFill>
              <a:effectLst/>
              <a:latin typeface="Segoe Sans"/>
            </a:endParaRPr>
          </a:p>
          <a:p>
            <a:pPr marL="342900" indent="-342900" algn="l">
              <a:lnSpc>
                <a:spcPts val="2400"/>
              </a:lnSpc>
              <a:spcBef>
                <a:spcPts val="150"/>
              </a:spcBef>
              <a:spcAft>
                <a:spcPts val="450"/>
              </a:spcAft>
              <a:buFont typeface="Arial" panose="020B0604020202020204" pitchFamily="34" charset="0"/>
              <a:buChar char="•"/>
            </a:pPr>
            <a:endParaRPr lang="en-NZ" sz="2400" dirty="0">
              <a:latin typeface="Calibri" panose="020F0502020204030204" pitchFamily="34" charset="0"/>
              <a:cs typeface="Calibri" panose="020F0502020204030204" pitchFamily="34" charset="0"/>
            </a:endParaRPr>
          </a:p>
          <a:p>
            <a:pPr algn="l">
              <a:lnSpc>
                <a:spcPts val="2400"/>
              </a:lnSpc>
              <a:spcBef>
                <a:spcPts val="150"/>
              </a:spcBef>
              <a:spcAft>
                <a:spcPts val="450"/>
              </a:spcAft>
              <a:buNone/>
            </a:pPr>
            <a:endParaRPr lang="en-NZ" sz="2400" dirty="0">
              <a:latin typeface="Calibri" panose="020F0502020204030204" pitchFamily="34" charset="0"/>
              <a:cs typeface="Calibri" panose="020F0502020204030204" pitchFamily="34" charset="0"/>
            </a:endParaRPr>
          </a:p>
          <a:p>
            <a:pPr algn="l">
              <a:lnSpc>
                <a:spcPts val="2400"/>
              </a:lnSpc>
              <a:spcBef>
                <a:spcPts val="150"/>
              </a:spcBef>
              <a:spcAft>
                <a:spcPts val="450"/>
              </a:spcAft>
              <a:buNone/>
            </a:pPr>
            <a:endParaRPr lang="en-NZ" sz="2400" b="0" i="0" dirty="0">
              <a:solidFill>
                <a:srgbClr val="424242"/>
              </a:solidFill>
              <a:effectLst/>
              <a:latin typeface="Segoe Sans"/>
            </a:endParaRPr>
          </a:p>
          <a:p>
            <a:pPr algn="l">
              <a:lnSpc>
                <a:spcPts val="2400"/>
              </a:lnSpc>
              <a:spcBef>
                <a:spcPts val="150"/>
              </a:spcBef>
              <a:spcAft>
                <a:spcPts val="450"/>
              </a:spcAft>
            </a:pPr>
            <a:endParaRPr lang="en-NZ"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93008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1BD38-FA59-96C5-914C-C5328D7BAD0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4FAEAD6-CCE3-C84F-7B3B-259193A5A779}"/>
              </a:ext>
            </a:extLst>
          </p:cNvPr>
          <p:cNvSpPr>
            <a:spLocks noGrp="1"/>
          </p:cNvSpPr>
          <p:nvPr>
            <p:ph type="sldNum" sz="quarter" idx="12"/>
          </p:nvPr>
        </p:nvSpPr>
        <p:spPr/>
        <p:txBody>
          <a:bodyPr/>
          <a:lstStyle/>
          <a:p>
            <a:pPr>
              <a:defRPr/>
            </a:pPr>
            <a:fld id="{74182478-D854-4386-B19D-338899BFC4A3}" type="slidenum">
              <a:rPr lang="en-US" smtClean="0"/>
              <a:pPr>
                <a:defRPr/>
              </a:pPr>
              <a:t>17</a:t>
            </a:fld>
            <a:endParaRPr lang="en-US"/>
          </a:p>
        </p:txBody>
      </p:sp>
      <p:sp>
        <p:nvSpPr>
          <p:cNvPr id="7" name="Title 6">
            <a:extLst>
              <a:ext uri="{FF2B5EF4-FFF2-40B4-BE49-F238E27FC236}">
                <a16:creationId xmlns:a16="http://schemas.microsoft.com/office/drawing/2014/main" id="{3B9FAF49-E405-B05C-0810-C4EF9120E48B}"/>
              </a:ext>
            </a:extLst>
          </p:cNvPr>
          <p:cNvSpPr>
            <a:spLocks noGrp="1"/>
          </p:cNvSpPr>
          <p:nvPr>
            <p:ph type="title"/>
          </p:nvPr>
        </p:nvSpPr>
        <p:spPr>
          <a:xfrm>
            <a:off x="1094305" y="316028"/>
            <a:ext cx="10435391" cy="705849"/>
          </a:xfrm>
        </p:spPr>
        <p:txBody>
          <a:bodyPr>
            <a:normAutofit fontScale="90000"/>
          </a:bodyPr>
          <a:lstStyle/>
          <a:p>
            <a:r>
              <a:rPr lang="en-NZ" u="none" dirty="0"/>
              <a:t>Chapter 11-Network Security-Week 11 (5-8 questions)</a:t>
            </a:r>
            <a:endParaRPr lang="en-NZ" dirty="0"/>
          </a:p>
        </p:txBody>
      </p:sp>
      <p:sp>
        <p:nvSpPr>
          <p:cNvPr id="15" name="TextBox 14">
            <a:extLst>
              <a:ext uri="{FF2B5EF4-FFF2-40B4-BE49-F238E27FC236}">
                <a16:creationId xmlns:a16="http://schemas.microsoft.com/office/drawing/2014/main" id="{1027429D-5FE6-912B-A366-7E73C7473A7E}"/>
              </a:ext>
            </a:extLst>
          </p:cNvPr>
          <p:cNvSpPr txBox="1"/>
          <p:nvPr/>
        </p:nvSpPr>
        <p:spPr>
          <a:xfrm>
            <a:off x="1094305" y="1329879"/>
            <a:ext cx="10742595" cy="4962064"/>
          </a:xfrm>
          <a:prstGeom prst="rect">
            <a:avLst/>
          </a:prstGeom>
          <a:noFill/>
        </p:spPr>
        <p:txBody>
          <a:bodyPr wrap="square">
            <a:spAutoFit/>
          </a:bodyPr>
          <a:lstStyle/>
          <a:p>
            <a:pPr marL="342900" indent="-342900">
              <a:spcBef>
                <a:spcPts val="450"/>
              </a:spcBef>
              <a:spcAft>
                <a:spcPts val="75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Review the quizzes for this chapter on CANVAS and the content of this chapter. </a:t>
            </a:r>
          </a:p>
          <a:p>
            <a:pPr>
              <a:spcBef>
                <a:spcPts val="450"/>
              </a:spcBef>
              <a:spcAft>
                <a:spcPts val="750"/>
              </a:spcAft>
            </a:pPr>
            <a:r>
              <a:rPr lang="en-NZ" sz="4000" b="1" dirty="0">
                <a:solidFill>
                  <a:srgbClr val="F26522"/>
                </a:solidFill>
                <a:latin typeface="Calibri" panose="020F0502020204030204" pitchFamily="34" charset="0"/>
                <a:ea typeface="+mj-ea"/>
                <a:cs typeface="+mj-cs"/>
              </a:rPr>
              <a:t>Chapter 12-Network Management-Week 8 (3-5 questions)</a:t>
            </a:r>
          </a:p>
          <a:p>
            <a:pPr marL="342900" indent="-342900">
              <a:spcBef>
                <a:spcPts val="450"/>
              </a:spcBef>
              <a:spcAft>
                <a:spcPts val="750"/>
              </a:spcAft>
              <a:buFont typeface="Arial" panose="020B0604020202020204" pitchFamily="34" charset="0"/>
              <a:buChar char="•"/>
            </a:pPr>
            <a:r>
              <a:rPr lang="en-NZ" sz="2400" dirty="0">
                <a:latin typeface="Calibri" panose="020F0502020204030204" pitchFamily="34" charset="0"/>
                <a:cs typeface="Calibri" panose="020F0502020204030204" pitchFamily="34" charset="0"/>
              </a:rPr>
              <a:t>Review the quizzes for this chapter on CANVAS and the content of this chapter.</a:t>
            </a:r>
          </a:p>
          <a:p>
            <a:pPr>
              <a:spcBef>
                <a:spcPts val="450"/>
              </a:spcBef>
              <a:spcAft>
                <a:spcPts val="750"/>
              </a:spcAft>
            </a:pPr>
            <a:r>
              <a:rPr lang="en-NZ" sz="2400" dirty="0">
                <a:latin typeface="Calibri" panose="020F0502020204030204" pitchFamily="34" charset="0"/>
                <a:cs typeface="Calibri" panose="020F0502020204030204" pitchFamily="34" charset="0"/>
              </a:rPr>
              <a:t> </a:t>
            </a:r>
          </a:p>
          <a:p>
            <a:pPr>
              <a:lnSpc>
                <a:spcPts val="2400"/>
              </a:lnSpc>
              <a:spcBef>
                <a:spcPts val="150"/>
              </a:spcBef>
              <a:spcAft>
                <a:spcPts val="450"/>
              </a:spcAft>
            </a:pPr>
            <a:endParaRPr lang="en-NZ" sz="2400" b="0" i="0" dirty="0">
              <a:solidFill>
                <a:srgbClr val="424242"/>
              </a:solidFill>
              <a:effectLst/>
              <a:latin typeface="Segoe Sans"/>
            </a:endParaRPr>
          </a:p>
          <a:p>
            <a:pPr marL="342900" indent="-342900" algn="l">
              <a:lnSpc>
                <a:spcPts val="2400"/>
              </a:lnSpc>
              <a:spcBef>
                <a:spcPts val="150"/>
              </a:spcBef>
              <a:spcAft>
                <a:spcPts val="450"/>
              </a:spcAft>
              <a:buFont typeface="Arial" panose="020B0604020202020204" pitchFamily="34" charset="0"/>
              <a:buChar char="•"/>
            </a:pPr>
            <a:endParaRPr lang="en-NZ" sz="2400" dirty="0">
              <a:latin typeface="Calibri" panose="020F0502020204030204" pitchFamily="34" charset="0"/>
              <a:cs typeface="Calibri" panose="020F0502020204030204" pitchFamily="34" charset="0"/>
            </a:endParaRPr>
          </a:p>
          <a:p>
            <a:pPr algn="l">
              <a:lnSpc>
                <a:spcPts val="2400"/>
              </a:lnSpc>
              <a:spcBef>
                <a:spcPts val="150"/>
              </a:spcBef>
              <a:spcAft>
                <a:spcPts val="450"/>
              </a:spcAft>
              <a:buNone/>
            </a:pPr>
            <a:endParaRPr lang="en-NZ" sz="2400" dirty="0">
              <a:latin typeface="Calibri" panose="020F0502020204030204" pitchFamily="34" charset="0"/>
              <a:cs typeface="Calibri" panose="020F0502020204030204" pitchFamily="34" charset="0"/>
            </a:endParaRPr>
          </a:p>
          <a:p>
            <a:pPr algn="l">
              <a:lnSpc>
                <a:spcPts val="2400"/>
              </a:lnSpc>
              <a:spcBef>
                <a:spcPts val="150"/>
              </a:spcBef>
              <a:spcAft>
                <a:spcPts val="450"/>
              </a:spcAft>
              <a:buNone/>
            </a:pPr>
            <a:endParaRPr lang="en-NZ" sz="2400" b="0" i="0" dirty="0">
              <a:solidFill>
                <a:srgbClr val="424242"/>
              </a:solidFill>
              <a:effectLst/>
              <a:latin typeface="Segoe Sans"/>
            </a:endParaRPr>
          </a:p>
          <a:p>
            <a:pPr algn="l">
              <a:lnSpc>
                <a:spcPts val="2400"/>
              </a:lnSpc>
              <a:spcBef>
                <a:spcPts val="150"/>
              </a:spcBef>
              <a:spcAft>
                <a:spcPts val="450"/>
              </a:spcAft>
            </a:pPr>
            <a:endParaRPr lang="en-NZ"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75861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508604" y="1781119"/>
            <a:ext cx="6390968" cy="1325563"/>
          </a:xfrm>
        </p:spPr>
        <p:txBody>
          <a:bodyPr>
            <a:noAutofit/>
          </a:bodyPr>
          <a:lstStyle/>
          <a:p>
            <a:r>
              <a:rPr lang="en-NZ" sz="6000" dirty="0"/>
              <a:t>Questions</a:t>
            </a:r>
          </a:p>
        </p:txBody>
      </p:sp>
      <p:sp>
        <p:nvSpPr>
          <p:cNvPr id="2" name="Slide Number Placeholder 1"/>
          <p:cNvSpPr>
            <a:spLocks noGrp="1"/>
          </p:cNvSpPr>
          <p:nvPr>
            <p:ph type="sldNum" sz="quarter" idx="12"/>
          </p:nvPr>
        </p:nvSpPr>
        <p:spPr/>
        <p:txBody>
          <a:bodyPr/>
          <a:lstStyle/>
          <a:p>
            <a:pPr>
              <a:defRPr/>
            </a:pPr>
            <a:fld id="{74182478-D854-4386-B19D-338899BFC4A3}" type="slidenum">
              <a:rPr lang="en-US" smtClean="0"/>
              <a:pPr>
                <a:defRPr/>
              </a:pPr>
              <a:t>18</a:t>
            </a:fld>
            <a:endParaRPr lang="en-US" dirty="0"/>
          </a:p>
        </p:txBody>
      </p:sp>
    </p:spTree>
    <p:extLst>
      <p:ext uri="{BB962C8B-B14F-4D97-AF65-F5344CB8AC3E}">
        <p14:creationId xmlns:p14="http://schemas.microsoft.com/office/powerpoint/2010/main" val="5186642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DC9A5102B5B754D8551214860F4B512" ma:contentTypeVersion="1" ma:contentTypeDescription="Create a new document." ma:contentTypeScope="" ma:versionID="4d5bcd3236515693560183c71834b9ea">
  <xsd:schema xmlns:xsd="http://www.w3.org/2001/XMLSchema" xmlns:xs="http://www.w3.org/2001/XMLSchema" xmlns:p="http://schemas.microsoft.com/office/2006/metadata/properties" xmlns:ns1="http://schemas.microsoft.com/sharepoint/v3" targetNamespace="http://schemas.microsoft.com/office/2006/metadata/properties" ma:root="true" ma:fieldsID="6687c2d9dede78e24b8f92e044f97f8b"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Props1.xml><?xml version="1.0" encoding="utf-8"?>
<ds:datastoreItem xmlns:ds="http://schemas.openxmlformats.org/officeDocument/2006/customXml" ds:itemID="{A437E481-44FE-4ABD-B795-DBD8244C6C74}">
  <ds:schemaRefs>
    <ds:schemaRef ds:uri="http://schemas.microsoft.com/sharepoint/v3/contenttype/forms"/>
  </ds:schemaRefs>
</ds:datastoreItem>
</file>

<file path=customXml/itemProps2.xml><?xml version="1.0" encoding="utf-8"?>
<ds:datastoreItem xmlns:ds="http://schemas.openxmlformats.org/officeDocument/2006/customXml" ds:itemID="{7B729C2A-8111-486E-BE4C-72E5BC6D9D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47B4A22-418F-4834-9543-17CB4C005035}">
  <ds:schemaRefs>
    <ds:schemaRef ds:uri="http://purl.org/dc/elements/1.1/"/>
    <ds:schemaRef ds:uri="http://schemas.microsoft.com/office/infopath/2007/PartnerControls"/>
    <ds:schemaRef ds:uri="http://purl.org/dc/terms/"/>
    <ds:schemaRef ds:uri="http://schemas.microsoft.com/office/2006/documentManagement/types"/>
    <ds:schemaRef ds:uri="http://www.w3.org/XML/1998/namespace"/>
    <ds:schemaRef ds:uri="http://schemas.microsoft.com/sharepoint/v3"/>
    <ds:schemaRef ds:uri="http://schemas.microsoft.com/office/2006/metadata/propertie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28596</TotalTime>
  <Words>1679</Words>
  <Application>Microsoft Office PowerPoint</Application>
  <PresentationFormat>Widescreen</PresentationFormat>
  <Paragraphs>168</Paragraphs>
  <Slides>18</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Lato</vt:lpstr>
      <vt:lpstr>Segoe Sans</vt:lpstr>
      <vt:lpstr>Times New Roman</vt:lpstr>
      <vt:lpstr>Wingdings</vt:lpstr>
      <vt:lpstr>Office Theme</vt:lpstr>
      <vt:lpstr>COMP504 – On Campus Final Exam Revision</vt:lpstr>
      <vt:lpstr>COMP504 on campus Final Exam</vt:lpstr>
      <vt:lpstr>ASSESSMENT INSTRUCTIONS</vt:lpstr>
      <vt:lpstr>ADDITIONAL MATERIALS </vt:lpstr>
      <vt:lpstr>EXAM SUMMARY</vt:lpstr>
      <vt:lpstr>Chapter 1-Introduction- Week 1 (3-5 questions)</vt:lpstr>
      <vt:lpstr>Chapter 3-Physical layer- Week 2 (3-5 questions)</vt:lpstr>
      <vt:lpstr>Chapter 4-Data Link layer- Week 3 (3-5 questions)</vt:lpstr>
      <vt:lpstr>Chapter 4-Data Link layer- Week 3 (3-5 questions)</vt:lpstr>
      <vt:lpstr>Chapter 5-Network and Transport layers- Week 4 &amp;5 (10-15 questions)</vt:lpstr>
      <vt:lpstr>Chapter 5-Network and Transport layers- Week 4 &amp;5 (10-15 questions)</vt:lpstr>
      <vt:lpstr>Chapter 5-Network and Transport layers- Week 4 &amp;5 (10-15 questions)</vt:lpstr>
      <vt:lpstr>Chapter 2-Application layer- Week 10 (10-15 questions)</vt:lpstr>
      <vt:lpstr>Chapter 2-Application layer- Week 10 (10-15 questions)</vt:lpstr>
      <vt:lpstr>Chapter 6-Network Design-Week 7 (5-10 questions)</vt:lpstr>
      <vt:lpstr>Chapter 8-Backbone Networks-Week 7 (5-10 questions)</vt:lpstr>
      <vt:lpstr>Chapter 11-Network Security-Week 11 (5-8 questions)</vt:lpstr>
      <vt:lpstr>Questions</vt:lpstr>
    </vt:vector>
  </TitlesOfParts>
  <Company>AUT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dc:title>
  <dc:creator>Remko de Jong</dc:creator>
  <cp:lastModifiedBy>Duaa Zuhair Al-Hamid</cp:lastModifiedBy>
  <cp:revision>515</cp:revision>
  <cp:lastPrinted>2016-07-16T04:58:49Z</cp:lastPrinted>
  <dcterms:created xsi:type="dcterms:W3CDTF">2015-01-26T22:08:43Z</dcterms:created>
  <dcterms:modified xsi:type="dcterms:W3CDTF">2026-05-26T23:44:37Z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0x0101004DC9A5102B5B754D8551214860F4B512</vt:lpwstr>
  </property>
</Properties>
</file>