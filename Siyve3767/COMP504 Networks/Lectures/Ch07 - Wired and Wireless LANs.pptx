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5.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6.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71"/>
  </p:notesMasterIdLst>
  <p:sldIdLst>
    <p:sldId id="256" r:id="rId11"/>
    <p:sldId id="257" r:id="rId12"/>
    <p:sldId id="258" r:id="rId13"/>
    <p:sldId id="259" r:id="rId14"/>
    <p:sldId id="260" r:id="rId15"/>
    <p:sldId id="261" r:id="rId16"/>
    <p:sldId id="262" r:id="rId17"/>
    <p:sldId id="263" r:id="rId18"/>
    <p:sldId id="264" r:id="rId19"/>
    <p:sldId id="265" r:id="rId20"/>
    <p:sldId id="309" r:id="rId21"/>
    <p:sldId id="310" r:id="rId22"/>
    <p:sldId id="266" r:id="rId23"/>
    <p:sldId id="267" r:id="rId24"/>
    <p:sldId id="268" r:id="rId25"/>
    <p:sldId id="269" r:id="rId26"/>
    <p:sldId id="271" r:id="rId27"/>
    <p:sldId id="311" r:id="rId28"/>
    <p:sldId id="312" r:id="rId29"/>
    <p:sldId id="272" r:id="rId30"/>
    <p:sldId id="273" r:id="rId31"/>
    <p:sldId id="274" r:id="rId32"/>
    <p:sldId id="275" r:id="rId33"/>
    <p:sldId id="276" r:id="rId34"/>
    <p:sldId id="278" r:id="rId35"/>
    <p:sldId id="279" r:id="rId36"/>
    <p:sldId id="313" r:id="rId37"/>
    <p:sldId id="314" r:id="rId38"/>
    <p:sldId id="280" r:id="rId39"/>
    <p:sldId id="281" r:id="rId40"/>
    <p:sldId id="282" r:id="rId41"/>
    <p:sldId id="283" r:id="rId42"/>
    <p:sldId id="284" r:id="rId43"/>
    <p:sldId id="285" r:id="rId44"/>
    <p:sldId id="286" r:id="rId45"/>
    <p:sldId id="287" r:id="rId46"/>
    <p:sldId id="288" r:id="rId47"/>
    <p:sldId id="289" r:id="rId48"/>
    <p:sldId id="290" r:id="rId49"/>
    <p:sldId id="294" r:id="rId50"/>
    <p:sldId id="297" r:id="rId51"/>
    <p:sldId id="298" r:id="rId52"/>
    <p:sldId id="303" r:id="rId53"/>
    <p:sldId id="305" r:id="rId54"/>
    <p:sldId id="308" r:id="rId55"/>
    <p:sldId id="927" r:id="rId56"/>
    <p:sldId id="270" r:id="rId57"/>
    <p:sldId id="277" r:id="rId58"/>
    <p:sldId id="291" r:id="rId59"/>
    <p:sldId id="292" r:id="rId60"/>
    <p:sldId id="293" r:id="rId61"/>
    <p:sldId id="295" r:id="rId62"/>
    <p:sldId id="296" r:id="rId63"/>
    <p:sldId id="301" r:id="rId64"/>
    <p:sldId id="302" r:id="rId65"/>
    <p:sldId id="304" r:id="rId66"/>
    <p:sldId id="306" r:id="rId67"/>
    <p:sldId id="307" r:id="rId68"/>
    <p:sldId id="299" r:id="rId69"/>
    <p:sldId id="300" r:id="rId70"/>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AEAE9"/>
    <a:srgbClr val="E4E5E3"/>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6B85C6-492B-45E5-8A24-094FF48C30BB}" v="10" dt="2024-08-27T11:06:51.9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9051" autoAdjust="0"/>
  </p:normalViewPr>
  <p:slideViewPr>
    <p:cSldViewPr>
      <p:cViewPr varScale="1">
        <p:scale>
          <a:sx n="95" d="100"/>
          <a:sy n="95" d="100"/>
        </p:scale>
        <p:origin x="206" y="72"/>
      </p:cViewPr>
      <p:guideLst>
        <p:guide orient="horz" pos="2160"/>
        <p:guide pos="3840"/>
      </p:guideLst>
    </p:cSldViewPr>
  </p:slideViewPr>
  <p:outlineViewPr>
    <p:cViewPr>
      <p:scale>
        <a:sx n="33" d="100"/>
        <a:sy n="33" d="100"/>
      </p:scale>
      <p:origin x="0" y="40260"/>
    </p:cViewPr>
  </p:outlineViewPr>
  <p:notesTextViewPr>
    <p:cViewPr>
      <p:scale>
        <a:sx n="66" d="100"/>
        <a:sy n="66" d="100"/>
      </p:scale>
      <p:origin x="0" y="0"/>
    </p:cViewPr>
  </p:notesTextViewPr>
  <p:sorterViewPr>
    <p:cViewPr>
      <p:scale>
        <a:sx n="70" d="100"/>
        <a:sy n="70" d="100"/>
      </p:scale>
      <p:origin x="0" y="6254"/>
    </p:cViewPr>
  </p:sorterViewPr>
  <p:notesViewPr>
    <p:cSldViewPr>
      <p:cViewPr varScale="1">
        <p:scale>
          <a:sx n="134" d="100"/>
          <a:sy n="134" d="100"/>
        </p:scale>
        <p:origin x="3184" y="200"/>
      </p:cViewPr>
      <p:guideLst>
        <p:guide orient="horz" pos="3131"/>
        <p:guide pos="214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16" Type="http://schemas.openxmlformats.org/officeDocument/2006/relationships/slide" Target="slides/slide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slide" Target="slides/slide56.xml"/><Relationship Id="rId74"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1.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tableStyles" Target="tableStyles.xml"/><Relationship Id="rId7" Type="http://schemas.openxmlformats.org/officeDocument/2006/relationships/slideMaster" Target="slideMasters/slideMaster4.xml"/><Relationship Id="rId71"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696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3855838" y="0"/>
            <a:ext cx="2949787" cy="496967"/>
          </a:xfrm>
          <a:prstGeom prst="rect">
            <a:avLst/>
          </a:prstGeom>
        </p:spPr>
        <p:txBody>
          <a:bodyPr vert="horz" lIns="96661" tIns="48331" rIns="96661" bIns="48331" rtlCol="0"/>
          <a:lstStyle>
            <a:lvl1pPr algn="r">
              <a:defRPr sz="1300"/>
            </a:lvl1pPr>
          </a:lstStyle>
          <a:p>
            <a:fld id="{E194C1A8-DC4B-4329-AF88-FD913597DE85}" type="datetimeFigureOut">
              <a:rPr lang="en-US" smtClean="0"/>
              <a:t>6/6/2025</a:t>
            </a:fld>
            <a:endParaRPr lang="en-US" dirty="0"/>
          </a:p>
        </p:txBody>
      </p:sp>
      <p:sp>
        <p:nvSpPr>
          <p:cNvPr id="4" name="Slide Image Placeholder 3"/>
          <p:cNvSpPr>
            <a:spLocks noGrp="1" noRot="1" noChangeAspect="1"/>
          </p:cNvSpPr>
          <p:nvPr>
            <p:ph type="sldImg" idx="2"/>
          </p:nvPr>
        </p:nvSpPr>
        <p:spPr>
          <a:xfrm>
            <a:off x="90488" y="746125"/>
            <a:ext cx="6626225" cy="3727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680720" y="4721186"/>
            <a:ext cx="5445760" cy="4472702"/>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0646"/>
            <a:ext cx="2949787" cy="496967"/>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3855838" y="9440646"/>
            <a:ext cx="2949787" cy="496967"/>
          </a:xfrm>
          <a:prstGeom prst="rect">
            <a:avLst/>
          </a:prstGeom>
        </p:spPr>
        <p:txBody>
          <a:bodyPr vert="horz" lIns="96661" tIns="48331" rIns="96661" bIns="48331"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2</a:t>
            </a:fld>
            <a:endParaRPr lang="en-US" dirty="0"/>
          </a:p>
        </p:txBody>
      </p:sp>
    </p:spTree>
    <p:extLst>
      <p:ext uri="{BB962C8B-B14F-4D97-AF65-F5344CB8AC3E}">
        <p14:creationId xmlns:p14="http://schemas.microsoft.com/office/powerpoint/2010/main" val="1288907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203200" y="365126"/>
            <a:ext cx="117856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Book Title</a:t>
            </a:r>
          </a:p>
        </p:txBody>
      </p:sp>
      <p:sp>
        <p:nvSpPr>
          <p:cNvPr id="25" name="Edition"/>
          <p:cNvSpPr>
            <a:spLocks noGrp="1"/>
          </p:cNvSpPr>
          <p:nvPr>
            <p:ph sz="quarter" idx="17" hasCustomPrompt="1"/>
          </p:nvPr>
        </p:nvSpPr>
        <p:spPr>
          <a:xfrm>
            <a:off x="203200" y="1752600"/>
            <a:ext cx="11785600" cy="6096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dirty="0"/>
              <a:t>Edition</a:t>
            </a:r>
          </a:p>
        </p:txBody>
      </p:sp>
      <p:sp>
        <p:nvSpPr>
          <p:cNvPr id="27" name="Author"/>
          <p:cNvSpPr>
            <a:spLocks noGrp="1"/>
          </p:cNvSpPr>
          <p:nvPr>
            <p:ph sz="quarter" idx="18" hasCustomPrompt="1"/>
          </p:nvPr>
        </p:nvSpPr>
        <p:spPr>
          <a:xfrm>
            <a:off x="203200" y="2362200"/>
            <a:ext cx="117856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dirty="0"/>
              <a:t>Authors</a:t>
            </a:r>
          </a:p>
        </p:txBody>
      </p:sp>
      <p:sp>
        <p:nvSpPr>
          <p:cNvPr id="29" name="CN"/>
          <p:cNvSpPr>
            <a:spLocks noGrp="1"/>
          </p:cNvSpPr>
          <p:nvPr>
            <p:ph sz="quarter" idx="19" hasCustomPrompt="1"/>
          </p:nvPr>
        </p:nvSpPr>
        <p:spPr>
          <a:xfrm>
            <a:off x="203200" y="3733800"/>
            <a:ext cx="117856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a:t>
            </a:r>
          </a:p>
        </p:txBody>
      </p:sp>
      <p:sp>
        <p:nvSpPr>
          <p:cNvPr id="31" name="CT"/>
          <p:cNvSpPr>
            <a:spLocks noGrp="1"/>
          </p:cNvSpPr>
          <p:nvPr>
            <p:ph sz="quarter" idx="20" hasCustomPrompt="1"/>
          </p:nvPr>
        </p:nvSpPr>
        <p:spPr>
          <a:xfrm>
            <a:off x="203200" y="4267200"/>
            <a:ext cx="11785600" cy="24384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203200" y="228600"/>
            <a:ext cx="117856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203200" y="762000"/>
            <a:ext cx="11785600" cy="22860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203200" y="3505200"/>
            <a:ext cx="117856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203200" y="5029200"/>
            <a:ext cx="11785600" cy="7620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203200" y="6096000"/>
            <a:ext cx="117856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3699" y="777241"/>
            <a:ext cx="11391901"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406400" y="1752600"/>
            <a:ext cx="113792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406400" y="1752600"/>
            <a:ext cx="113792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406400" y="1752600"/>
            <a:ext cx="113792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786427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406400" y="1752600"/>
            <a:ext cx="113792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406400" y="1752600"/>
            <a:ext cx="11379200" cy="4495800"/>
          </a:xfrm>
          <a:prstGeom prst="rect">
            <a:avLst/>
          </a:prstGeom>
        </p:spPr>
        <p:txBody>
          <a:bodyPr>
            <a:normAutofit/>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0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406400" y="1752600"/>
            <a:ext cx="113792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406400" y="1752600"/>
            <a:ext cx="113792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406400" y="1752600"/>
            <a:ext cx="113792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406400" y="1752600"/>
            <a:ext cx="113792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406400" y="1752600"/>
            <a:ext cx="5384800" cy="4419600"/>
          </a:xfrm>
          <a:prstGeom prst="rect">
            <a:avLst/>
          </a:prstGeom>
        </p:spPr>
        <p:txBody>
          <a:bodyPr numCol="1" spcCol="548640">
            <a:normAutofit/>
          </a:bodyPr>
          <a:lstStyle>
            <a:lvl1pPr marL="457200" marR="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800" b="0" i="0" baseline="0">
                <a:latin typeface="Calibri" charset="0"/>
                <a:ea typeface="Calibri" charset="0"/>
                <a:cs typeface="Calibri" charset="0"/>
              </a:defRPr>
            </a:lvl1pPr>
          </a:lstStyle>
          <a:p>
            <a:pPr lvl="0"/>
            <a:r>
              <a:rPr lang="en-US" dirty="0"/>
              <a:t>This Is a Sample Outline for Two-Column (2 Boxes) and Double-numbered</a:t>
            </a:r>
          </a:p>
          <a:p>
            <a:pPr lvl="0"/>
            <a:r>
              <a:rPr lang="en-US" dirty="0"/>
              <a:t>It is Two-column </a:t>
            </a:r>
          </a:p>
          <a:p>
            <a:pPr lvl="0"/>
            <a:r>
              <a:rPr lang="en-US" dirty="0"/>
              <a:t>This Outline Has No Sub-lists</a:t>
            </a:r>
          </a:p>
          <a:p>
            <a:pPr lvl="0"/>
            <a:r>
              <a:rPr lang="en-US" dirty="0"/>
              <a:t>This List Is Double-numbered</a:t>
            </a:r>
          </a:p>
        </p:txBody>
      </p:sp>
      <p:sp>
        <p:nvSpPr>
          <p:cNvPr id="7" name="COBNL2"/>
          <p:cNvSpPr>
            <a:spLocks noGrp="1"/>
          </p:cNvSpPr>
          <p:nvPr>
            <p:ph sz="quarter" idx="15" hasCustomPrompt="1"/>
          </p:nvPr>
        </p:nvSpPr>
        <p:spPr>
          <a:xfrm>
            <a:off x="6356349" y="1752600"/>
            <a:ext cx="5384800" cy="4419600"/>
          </a:xfrm>
          <a:prstGeom prst="rect">
            <a:avLst/>
          </a:prstGeom>
        </p:spPr>
        <p:txBody>
          <a:bodyPr numCol="1" spcCol="548640">
            <a:normAutofit/>
          </a:bodyPr>
          <a:lstStyle>
            <a:lvl1pPr marL="292608" marR="0" indent="-292608"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800" b="0" i="0" baseline="0">
                <a:latin typeface="Calibri" charset="0"/>
                <a:ea typeface="Calibri" charset="0"/>
                <a:cs typeface="Calibri" charset="0"/>
              </a:defRPr>
            </a:lvl1pPr>
          </a:lstStyle>
          <a:p>
            <a:pPr lvl="0"/>
            <a:r>
              <a:rPr lang="en-US" dirty="0"/>
              <a:t>The Outline Slide Has a Footer</a:t>
            </a:r>
          </a:p>
          <a:p>
            <a:pPr lvl="0"/>
            <a:r>
              <a:rPr lang="en-US" dirty="0"/>
              <a:t>Outline Items Usually Have No Ending Punctuation</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410060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406400" y="1752600"/>
            <a:ext cx="113792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95633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pter Outline: Version 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406400" y="1752600"/>
            <a:ext cx="11379200" cy="4495800"/>
          </a:xfrm>
          <a:prstGeom prst="rect">
            <a:avLst/>
          </a:prstGeom>
        </p:spPr>
        <p:txBody>
          <a:bodyPr>
            <a:normAutofit/>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0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r>
              <a:rPr lang="en-US" dirty="0"/>
              <a:t>3-</a:t>
            </a:r>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8137438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Tree>
    <p:extLst>
      <p:ext uri="{BB962C8B-B14F-4D97-AF65-F5344CB8AC3E}">
        <p14:creationId xmlns:p14="http://schemas.microsoft.com/office/powerpoint/2010/main" val="14318604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06400" y="743712"/>
            <a:ext cx="113792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406400" y="1752600"/>
            <a:ext cx="113792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8610600" y="6356351"/>
            <a:ext cx="3175000" cy="365125"/>
          </a:xfrm>
          <a:prstGeom prst="rect">
            <a:avLst/>
          </a:prstGeom>
        </p:spPr>
        <p:txBody>
          <a:bodyPr/>
          <a:lstStyle>
            <a:lvl1pPr>
              <a:defRPr b="0" i="0">
                <a:latin typeface="Calibri" charset="0"/>
                <a:ea typeface="Calibri" charset="0"/>
                <a:cs typeface="Calibri" charset="0"/>
              </a:defRPr>
            </a:lvl1pPr>
          </a:lstStyle>
          <a:p>
            <a:r>
              <a:rPr lang="en-US" dirty="0"/>
              <a:t>7-</a:t>
            </a:r>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406400" y="743712"/>
            <a:ext cx="113792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406400" y="1752600"/>
            <a:ext cx="113792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406400" y="1752600"/>
            <a:ext cx="113792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1.1 Periodicity Assumption</a:t>
            </a:r>
          </a:p>
        </p:txBody>
      </p:sp>
      <p:sp>
        <p:nvSpPr>
          <p:cNvPr id="12" name="Question"/>
          <p:cNvSpPr>
            <a:spLocks noGrp="1"/>
          </p:cNvSpPr>
          <p:nvPr>
            <p:ph sz="quarter" idx="15" hasCustomPrompt="1"/>
          </p:nvPr>
        </p:nvSpPr>
        <p:spPr>
          <a:xfrm>
            <a:off x="406400" y="1752600"/>
            <a:ext cx="113792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768351"/>
            <a:ext cx="11379200" cy="990599"/>
          </a:xfrm>
        </p:spPr>
        <p:txBody>
          <a:bodyPr/>
          <a:lstStyle/>
          <a:p>
            <a:r>
              <a:rPr lang="en-US"/>
              <a:t>Language</a:t>
            </a:r>
            <a:endParaRPr lang="en-US" dirty="0"/>
          </a:p>
        </p:txBody>
      </p:sp>
      <p:sp>
        <p:nvSpPr>
          <p:cNvPr id="7" name="Definition of Key Term"/>
          <p:cNvSpPr>
            <a:spLocks noGrp="1"/>
          </p:cNvSpPr>
          <p:nvPr>
            <p:ph sz="quarter" idx="15" hasCustomPrompt="1"/>
          </p:nvPr>
        </p:nvSpPr>
        <p:spPr>
          <a:xfrm>
            <a:off x="406400" y="1752600"/>
            <a:ext cx="113792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406400" y="5867400"/>
            <a:ext cx="113792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914402"/>
            <a:ext cx="11379200" cy="9905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406400" y="1905000"/>
            <a:ext cx="113792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406400" y="1752600"/>
            <a:ext cx="113792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406400" y="5029200"/>
            <a:ext cx="113792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9771030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46037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2539791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46037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6299200" y="1752600"/>
            <a:ext cx="5486400" cy="46037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2647604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6299200" y="1752600"/>
            <a:ext cx="54864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3048000" y="4724401"/>
            <a:ext cx="6096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7-</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6132984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5350051"/>
            <a:ext cx="113792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406400" y="820739"/>
            <a:ext cx="113792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406400" y="5780676"/>
            <a:ext cx="113792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8610600" y="6356351"/>
            <a:ext cx="3175000" cy="365125"/>
          </a:xfrm>
        </p:spPr>
        <p:txBody>
          <a:bodyPr/>
          <a:lstStyle>
            <a:lvl1pPr>
              <a:defRPr b="0" i="0">
                <a:latin typeface="Calibri" charset="0"/>
                <a:ea typeface="Calibri" charset="0"/>
                <a:cs typeface="Calibri" charset="0"/>
              </a:defRPr>
            </a:lvl1pPr>
          </a:lstStyle>
          <a:p>
            <a:r>
              <a:rPr lang="en-US" dirty="0"/>
              <a:t>7-</a:t>
            </a:r>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406400" y="5920581"/>
            <a:ext cx="113792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406400" y="820738"/>
            <a:ext cx="113792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8610600" y="6356351"/>
            <a:ext cx="3175000" cy="365125"/>
          </a:xfrm>
        </p:spPr>
        <p:txBody>
          <a:bodyPr/>
          <a:lstStyle>
            <a:lvl1pPr>
              <a:defRPr b="0" i="0">
                <a:latin typeface="Calibri" charset="0"/>
                <a:ea typeface="Calibri" charset="0"/>
                <a:cs typeface="Calibri" charset="0"/>
              </a:defRPr>
            </a:lvl1pPr>
          </a:lstStyle>
          <a:p>
            <a:r>
              <a:rPr lang="en-US" dirty="0"/>
              <a:t>7-</a:t>
            </a:r>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5" Type="http://schemas.openxmlformats.org/officeDocument/2006/relationships/theme" Target="../theme/theme6.xml"/><Relationship Id="rId4" Type="http://schemas.openxmlformats.org/officeDocument/2006/relationships/slideLayout" Target="../slideLayouts/slideLayout25.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93699" y="777242"/>
            <a:ext cx="11391901"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17" name="Straight Connector 16"/>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7-</a:t>
            </a:r>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©2021 John Wiley &amp; Sons, Inc. </a:t>
            </a:r>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 id="2147483980" r:id="rId12"/>
    <p:sldLayoutId id="2147483981" r:id="rId13"/>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6400" y="743714"/>
            <a:ext cx="113792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7-</a:t>
            </a:r>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©2021 John Wiley &amp; Sons, Inc. </a:t>
            </a:r>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8272" y="762002"/>
            <a:ext cx="11387328"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7-</a:t>
            </a:r>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©2021 John Wiley &amp; Sons, Inc. </a:t>
            </a:r>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6400" y="762001"/>
            <a:ext cx="113792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7-</a:t>
            </a:r>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©2021 John Wiley &amp; Sons, Inc. </a:t>
            </a:r>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2016" y="762001"/>
            <a:ext cx="113792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7-</a:t>
            </a:r>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©2021 John Wiley &amp; Sons, Inc. </a:t>
            </a:r>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038600" y="6400801"/>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US" dirty="0"/>
              <a:t>Copyright ©2021 John Wiley &amp; Sons, Inc. </a:t>
            </a:r>
          </a:p>
        </p:txBody>
      </p:sp>
      <p:sp>
        <p:nvSpPr>
          <p:cNvPr id="6" name="Slide Number Placeholder 5"/>
          <p:cNvSpPr>
            <a:spLocks noGrp="1"/>
          </p:cNvSpPr>
          <p:nvPr>
            <p:ph type="sldNum" sz="quarter" idx="4"/>
          </p:nvPr>
        </p:nvSpPr>
        <p:spPr>
          <a:xfrm>
            <a:off x="8610600" y="6356351"/>
            <a:ext cx="3172968" cy="365125"/>
          </a:xfrm>
          <a:prstGeom prst="rect">
            <a:avLst/>
          </a:prstGeom>
        </p:spPr>
        <p:txBody>
          <a:bodyPr vert="horz" lIns="91440" tIns="45720" rIns="91440" bIns="45720" rtlCol="0" anchor="ctr"/>
          <a:lstStyle>
            <a:lvl1pPr algn="r">
              <a:defRPr sz="1200">
                <a:solidFill>
                  <a:schemeClr val="tx1"/>
                </a:solidFill>
              </a:defRPr>
            </a:lvl1pPr>
          </a:lstStyle>
          <a:p>
            <a:r>
              <a:rPr lang="en-US" dirty="0"/>
              <a:t>7-</a:t>
            </a:r>
            <a:fld id="{42181430-7FCB-BA4C-90CE-EB7ACCC9EC50}" type="slidenum">
              <a:rPr lang="en-US" smtClean="0"/>
              <a:pPr/>
              <a:t>‹#›</a:t>
            </a:fld>
            <a:endParaRPr lang="en-US" dirty="0"/>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Data Communications</a:t>
            </a:r>
          </a:p>
        </p:txBody>
      </p:sp>
      <p:sp>
        <p:nvSpPr>
          <p:cNvPr id="3" name="Content Placeholder 2"/>
          <p:cNvSpPr>
            <a:spLocks noGrp="1"/>
          </p:cNvSpPr>
          <p:nvPr>
            <p:ph sz="quarter" idx="17"/>
          </p:nvPr>
        </p:nvSpPr>
        <p:spPr/>
        <p:txBody>
          <a:bodyPr/>
          <a:lstStyle/>
          <a:p>
            <a:r>
              <a:rPr lang="en-US" dirty="0"/>
              <a:t>Fourteenth Edition</a:t>
            </a:r>
          </a:p>
        </p:txBody>
      </p:sp>
      <p:sp>
        <p:nvSpPr>
          <p:cNvPr id="4" name="Content Placeholder 3"/>
          <p:cNvSpPr>
            <a:spLocks noGrp="1"/>
          </p:cNvSpPr>
          <p:nvPr>
            <p:ph sz="quarter" idx="18"/>
          </p:nvPr>
        </p:nvSpPr>
        <p:spPr/>
        <p:txBody>
          <a:bodyPr/>
          <a:lstStyle/>
          <a:p>
            <a:r>
              <a:rPr lang="en-US" dirty="0"/>
              <a:t>Jerry FitzGerald, Alan Dennis, and Alexandra Durcikova</a:t>
            </a:r>
          </a:p>
        </p:txBody>
      </p:sp>
      <p:sp>
        <p:nvSpPr>
          <p:cNvPr id="5" name="Content Placeholder 4"/>
          <p:cNvSpPr>
            <a:spLocks noGrp="1"/>
          </p:cNvSpPr>
          <p:nvPr>
            <p:ph sz="quarter" idx="19"/>
          </p:nvPr>
        </p:nvSpPr>
        <p:spPr/>
        <p:txBody>
          <a:bodyPr/>
          <a:lstStyle/>
          <a:p>
            <a:r>
              <a:rPr lang="en-US" dirty="0"/>
              <a:t>Chapter 7</a:t>
            </a:r>
          </a:p>
        </p:txBody>
      </p:sp>
      <p:sp>
        <p:nvSpPr>
          <p:cNvPr id="6" name="Content Placeholder 5"/>
          <p:cNvSpPr>
            <a:spLocks noGrp="1"/>
          </p:cNvSpPr>
          <p:nvPr>
            <p:ph sz="quarter" idx="20"/>
          </p:nvPr>
        </p:nvSpPr>
        <p:spPr/>
        <p:txBody>
          <a:bodyPr/>
          <a:lstStyle/>
          <a:p>
            <a:r>
              <a:rPr lang="en-US" dirty="0"/>
              <a:t>Wired and Wireless Local Area Networks</a:t>
            </a:r>
          </a:p>
        </p:txBody>
      </p:sp>
    </p:spTree>
    <p:extLst>
      <p:ext uri="{BB962C8B-B14F-4D97-AF65-F5344CB8AC3E}">
        <p14:creationId xmlns:p14="http://schemas.microsoft.com/office/powerpoint/2010/main" val="660503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Learning Objectives</a:t>
            </a:r>
          </a:p>
        </p:txBody>
      </p:sp>
      <p:sp>
        <p:nvSpPr>
          <p:cNvPr id="8" name="Content Placeholder 7"/>
          <p:cNvSpPr>
            <a:spLocks noGrp="1"/>
          </p:cNvSpPr>
          <p:nvPr>
            <p:ph sz="quarter" idx="16"/>
          </p:nvPr>
        </p:nvSpPr>
        <p:spPr/>
        <p:txBody>
          <a:bodyPr/>
          <a:lstStyle/>
          <a:p>
            <a:pPr>
              <a:buFont typeface="Arial" panose="020B0604020202020204" pitchFamily="34" charset="0"/>
              <a:buChar char="•"/>
            </a:pPr>
            <a:r>
              <a:rPr lang="en-US" dirty="0"/>
              <a:t>Discuss the main </a:t>
            </a:r>
            <a:r>
              <a:rPr lang="en-US" dirty="0">
                <a:solidFill>
                  <a:srgbClr val="FF0000"/>
                </a:solidFill>
              </a:rPr>
              <a:t>components of LANs.</a:t>
            </a:r>
          </a:p>
          <a:p>
            <a:pPr>
              <a:buFont typeface="Arial" panose="020B0604020202020204" pitchFamily="34" charset="0"/>
              <a:buChar char="•"/>
            </a:pPr>
            <a:r>
              <a:rPr lang="en-US" dirty="0"/>
              <a:t>Discuss the best practice recommendations for </a:t>
            </a:r>
            <a:r>
              <a:rPr lang="en-US" dirty="0">
                <a:solidFill>
                  <a:srgbClr val="FF0000"/>
                </a:solidFill>
              </a:rPr>
              <a:t>LAN design.</a:t>
            </a:r>
          </a:p>
          <a:p>
            <a:pPr>
              <a:buFont typeface="Arial" panose="020B0604020202020204" pitchFamily="34" charset="0"/>
              <a:buChar char="•"/>
            </a:pPr>
            <a:r>
              <a:rPr lang="en-US" dirty="0"/>
              <a:t>Design wired </a:t>
            </a:r>
            <a:r>
              <a:rPr lang="en-US" dirty="0">
                <a:solidFill>
                  <a:srgbClr val="FF0000"/>
                </a:solidFill>
              </a:rPr>
              <a:t>Ethernet LANs.</a:t>
            </a:r>
          </a:p>
          <a:p>
            <a:pPr>
              <a:buFont typeface="Arial" panose="020B0604020202020204" pitchFamily="34" charset="0"/>
              <a:buChar char="•"/>
            </a:pPr>
            <a:r>
              <a:rPr lang="en-US" dirty="0"/>
              <a:t>Design </a:t>
            </a:r>
            <a:r>
              <a:rPr lang="en-US" dirty="0">
                <a:solidFill>
                  <a:srgbClr val="FF0000"/>
                </a:solidFill>
              </a:rPr>
              <a:t>wireless Ethernet LANs.</a:t>
            </a:r>
          </a:p>
          <a:p>
            <a:pPr>
              <a:buFont typeface="Arial" panose="020B0604020202020204" pitchFamily="34" charset="0"/>
              <a:buChar char="•"/>
            </a:pPr>
            <a:r>
              <a:rPr lang="en-US" dirty="0"/>
              <a:t>Explain how </a:t>
            </a:r>
            <a:r>
              <a:rPr lang="en-US" dirty="0">
                <a:solidFill>
                  <a:srgbClr val="FF0000"/>
                </a:solidFill>
              </a:rPr>
              <a:t>LAN performance </a:t>
            </a:r>
            <a:r>
              <a:rPr lang="en-US" dirty="0"/>
              <a:t>can be improved.</a:t>
            </a:r>
          </a:p>
        </p:txBody>
      </p:sp>
      <p:sp>
        <p:nvSpPr>
          <p:cNvPr id="9" name="Footer Placeholder 8"/>
          <p:cNvSpPr>
            <a:spLocks noGrp="1"/>
          </p:cNvSpPr>
          <p:nvPr>
            <p:ph type="ftr" sz="quarter" idx="11"/>
          </p:nvPr>
        </p:nvSpPr>
        <p:spPr/>
        <p:txBody>
          <a:bodyPr/>
          <a:lstStyle/>
          <a:p>
            <a:r>
              <a:rPr lang="en-US" dirty="0"/>
              <a:t>Copyright ©2021 John Wiley &amp; Sons, Inc. </a:t>
            </a:r>
          </a:p>
        </p:txBody>
      </p:sp>
      <p:sp>
        <p:nvSpPr>
          <p:cNvPr id="10" name="Slide Number Placeholder 9"/>
          <p:cNvSpPr>
            <a:spLocks noGrp="1"/>
          </p:cNvSpPr>
          <p:nvPr>
            <p:ph type="sldNum" sz="quarter" idx="12"/>
          </p:nvPr>
        </p:nvSpPr>
        <p:spPr/>
        <p:txBody>
          <a:bodyPr/>
          <a:lstStyle/>
          <a:p>
            <a:r>
              <a:rPr lang="en-US" dirty="0"/>
              <a:t>7-</a:t>
            </a:r>
            <a:fld id="{957104EA-F2AF-1046-9253-EE8D978719B5}" type="slidenum">
              <a:rPr lang="en-US" smtClean="0"/>
              <a:pPr/>
              <a:t>2</a:t>
            </a:fld>
            <a:endParaRPr lang="en-US" dirty="0"/>
          </a:p>
        </p:txBody>
      </p:sp>
    </p:spTree>
    <p:extLst>
      <p:ext uri="{BB962C8B-B14F-4D97-AF65-F5344CB8AC3E}">
        <p14:creationId xmlns:p14="http://schemas.microsoft.com/office/powerpoint/2010/main" val="2607597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0000FF"/>
                </a:solidFill>
              </a:rPr>
              <a:t>7.1 Introduction</a:t>
            </a:r>
          </a:p>
        </p:txBody>
      </p:sp>
      <p:sp>
        <p:nvSpPr>
          <p:cNvPr id="7" name="Content Placeholder 6"/>
          <p:cNvSpPr>
            <a:spLocks noGrp="1"/>
          </p:cNvSpPr>
          <p:nvPr>
            <p:ph sz="quarter" idx="12"/>
          </p:nvPr>
        </p:nvSpPr>
        <p:spPr/>
        <p:txBody>
          <a:bodyPr/>
          <a:lstStyle/>
          <a:p>
            <a:r>
              <a:rPr lang="en-US" dirty="0"/>
              <a:t>Most large organizations have </a:t>
            </a:r>
            <a:r>
              <a:rPr lang="en-US" dirty="0">
                <a:solidFill>
                  <a:srgbClr val="FF0000"/>
                </a:solidFill>
              </a:rPr>
              <a:t>numerous wired and wireless LANs </a:t>
            </a:r>
            <a:r>
              <a:rPr lang="en-US" dirty="0"/>
              <a:t>connected by backbone networks.</a:t>
            </a:r>
          </a:p>
          <a:p>
            <a:r>
              <a:rPr lang="en-US" dirty="0"/>
              <a:t>We discuss the fundamental components of a LAN, along with two technologies commonly used in </a:t>
            </a:r>
            <a:r>
              <a:rPr lang="en-US" dirty="0">
                <a:solidFill>
                  <a:srgbClr val="FF0000"/>
                </a:solidFill>
              </a:rPr>
              <a:t>LANs: traditional wired and wireless Ethernet.</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3</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060189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0000FF"/>
                </a:solidFill>
              </a:rPr>
              <a:t>7.2 LAN Components</a:t>
            </a:r>
          </a:p>
        </p:txBody>
      </p:sp>
      <p:sp>
        <p:nvSpPr>
          <p:cNvPr id="7" name="Content Placeholder 6"/>
          <p:cNvSpPr>
            <a:spLocks noGrp="1"/>
          </p:cNvSpPr>
          <p:nvPr>
            <p:ph sz="quarter" idx="14"/>
          </p:nvPr>
        </p:nvSpPr>
        <p:spPr>
          <a:xfrm>
            <a:off x="228600" y="1752600"/>
            <a:ext cx="5181600" cy="3383410"/>
          </a:xfrm>
        </p:spPr>
        <p:txBody>
          <a:bodyPr>
            <a:normAutofit/>
          </a:bodyPr>
          <a:lstStyle/>
          <a:p>
            <a:pPr marL="514350" indent="-514350">
              <a:buFont typeface="+mj-lt"/>
              <a:buAutoNum type="arabicPeriod"/>
            </a:pPr>
            <a:r>
              <a:rPr lang="en-US" dirty="0"/>
              <a:t>Client computer (Chapter 2)</a:t>
            </a:r>
          </a:p>
          <a:p>
            <a:pPr marL="514350" indent="-514350">
              <a:buFont typeface="+mj-lt"/>
              <a:buAutoNum type="arabicPeriod"/>
            </a:pPr>
            <a:r>
              <a:rPr lang="en-US" dirty="0"/>
              <a:t>Server (Chapter2)</a:t>
            </a:r>
          </a:p>
          <a:p>
            <a:pPr marL="514350" indent="-514350">
              <a:buFont typeface="+mj-lt"/>
              <a:buAutoNum type="arabicPeriod"/>
            </a:pPr>
            <a:r>
              <a:rPr lang="en-US" dirty="0">
                <a:solidFill>
                  <a:srgbClr val="FF0000"/>
                </a:solidFill>
              </a:rPr>
              <a:t>Network interface cards </a:t>
            </a:r>
            <a:r>
              <a:rPr lang="en-US" dirty="0"/>
              <a:t>(NICs)</a:t>
            </a:r>
          </a:p>
          <a:p>
            <a:pPr marL="514350" indent="-514350">
              <a:buFont typeface="+mj-lt"/>
              <a:buAutoNum type="arabicPeriod"/>
            </a:pPr>
            <a:r>
              <a:rPr lang="en-US" dirty="0"/>
              <a:t>Network circuits</a:t>
            </a:r>
          </a:p>
          <a:p>
            <a:pPr marL="514350" indent="-514350">
              <a:buFont typeface="+mj-lt"/>
              <a:buAutoNum type="arabicPeriod"/>
            </a:pPr>
            <a:r>
              <a:rPr lang="en-US" dirty="0"/>
              <a:t>Hubs/</a:t>
            </a:r>
            <a:r>
              <a:rPr lang="en-US" dirty="0">
                <a:solidFill>
                  <a:srgbClr val="FF0000"/>
                </a:solidFill>
              </a:rPr>
              <a:t>switches/access points</a:t>
            </a:r>
          </a:p>
          <a:p>
            <a:pPr marL="514350" indent="-514350">
              <a:buFont typeface="+mj-lt"/>
              <a:buAutoNum type="arabicPeriod"/>
            </a:pPr>
            <a:r>
              <a:rPr lang="en-US" dirty="0"/>
              <a:t>The </a:t>
            </a:r>
            <a:r>
              <a:rPr lang="en-US" dirty="0">
                <a:solidFill>
                  <a:srgbClr val="FF0000"/>
                </a:solidFill>
              </a:rPr>
              <a:t>network operating system</a:t>
            </a:r>
          </a:p>
        </p:txBody>
      </p:sp>
      <p:pic>
        <p:nvPicPr>
          <p:cNvPr id="9" name="Content Placeholder 8"/>
          <p:cNvPicPr>
            <a:picLocks noGrp="1" noChangeAspect="1"/>
          </p:cNvPicPr>
          <p:nvPr>
            <p:ph sz="quarter" idx="15"/>
          </p:nvPr>
        </p:nvPicPr>
        <p:blipFill>
          <a:blip r:embed="rId2"/>
          <a:stretch>
            <a:fillRect/>
          </a:stretch>
        </p:blipFill>
        <p:spPr>
          <a:xfrm>
            <a:off x="5517773" y="1752598"/>
            <a:ext cx="6642853" cy="2895602"/>
          </a:xfrm>
          <a:prstGeom prst="rect">
            <a:avLst/>
          </a:prstGeom>
        </p:spPr>
      </p:pic>
      <p:sp>
        <p:nvSpPr>
          <p:cNvPr id="4" name="Slide Number Placeholder 3"/>
          <p:cNvSpPr>
            <a:spLocks noGrp="1"/>
          </p:cNvSpPr>
          <p:nvPr>
            <p:ph type="sldNum" sz="quarter" idx="10"/>
          </p:nvPr>
        </p:nvSpPr>
        <p:spPr/>
        <p:txBody>
          <a:bodyPr/>
          <a:lstStyle/>
          <a:p>
            <a:r>
              <a:rPr lang="en-US" dirty="0"/>
              <a:t>7-</a:t>
            </a:r>
            <a:fld id="{67B19427-F580-D146-B60E-4CADEE75497F}" type="slidenum">
              <a:rPr lang="en-US" smtClean="0"/>
              <a:pPr/>
              <a:t>4</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1407949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28600" y="624840"/>
            <a:ext cx="5715000" cy="975360"/>
          </a:xfrm>
        </p:spPr>
        <p:txBody>
          <a:bodyPr/>
          <a:lstStyle/>
          <a:p>
            <a:r>
              <a:rPr lang="en-US" dirty="0">
                <a:solidFill>
                  <a:srgbClr val="0000FF"/>
                </a:solidFill>
              </a:rPr>
              <a:t>Network Interface Cards</a:t>
            </a:r>
          </a:p>
        </p:txBody>
      </p:sp>
      <p:sp>
        <p:nvSpPr>
          <p:cNvPr id="8" name="Content Placeholder 7"/>
          <p:cNvSpPr>
            <a:spLocks noGrp="1"/>
          </p:cNvSpPr>
          <p:nvPr>
            <p:ph sz="quarter" idx="12"/>
          </p:nvPr>
        </p:nvSpPr>
        <p:spPr>
          <a:xfrm>
            <a:off x="406400" y="1752600"/>
            <a:ext cx="11023600" cy="3505200"/>
          </a:xfrm>
        </p:spPr>
        <p:txBody>
          <a:bodyPr/>
          <a:lstStyle/>
          <a:p>
            <a:r>
              <a:rPr lang="en-US" dirty="0"/>
              <a:t>The </a:t>
            </a:r>
            <a:r>
              <a:rPr lang="en-US" b="1" i="1" dirty="0"/>
              <a:t>network interface card </a:t>
            </a:r>
            <a:r>
              <a:rPr lang="en-US" dirty="0"/>
              <a:t>(NIC) is used to </a:t>
            </a:r>
            <a:r>
              <a:rPr lang="en-US" dirty="0">
                <a:solidFill>
                  <a:srgbClr val="FF0000"/>
                </a:solidFill>
              </a:rPr>
              <a:t>connect the computer to the network cable in a wired network.</a:t>
            </a:r>
          </a:p>
          <a:p>
            <a:r>
              <a:rPr lang="en-US" dirty="0"/>
              <a:t>In a </a:t>
            </a:r>
            <a:r>
              <a:rPr lang="en-US" dirty="0">
                <a:solidFill>
                  <a:srgbClr val="FF0000"/>
                </a:solidFill>
              </a:rPr>
              <a:t>wireless network</a:t>
            </a:r>
            <a:r>
              <a:rPr lang="en-US" dirty="0"/>
              <a:t>, the NIC is a radio </a:t>
            </a:r>
            <a:r>
              <a:rPr lang="en-US" dirty="0">
                <a:solidFill>
                  <a:srgbClr val="FF0000"/>
                </a:solidFill>
              </a:rPr>
              <a:t>transceiver</a:t>
            </a:r>
            <a:r>
              <a:rPr lang="en-US" dirty="0"/>
              <a:t> that sends and receives messages on a specific </a:t>
            </a:r>
            <a:r>
              <a:rPr lang="en-US" dirty="0">
                <a:solidFill>
                  <a:srgbClr val="FF0000"/>
                </a:solidFill>
              </a:rPr>
              <a:t>radio frequency</a:t>
            </a:r>
            <a:r>
              <a:rPr lang="en-US" dirty="0"/>
              <a:t>.</a:t>
            </a:r>
          </a:p>
          <a:p>
            <a:r>
              <a:rPr lang="en-US" dirty="0"/>
              <a:t>All desktop computers have a </a:t>
            </a:r>
            <a:r>
              <a:rPr lang="en-US" dirty="0">
                <a:solidFill>
                  <a:srgbClr val="FF0000"/>
                </a:solidFill>
              </a:rPr>
              <a:t>wired NIC </a:t>
            </a:r>
            <a:r>
              <a:rPr lang="en-US" dirty="0"/>
              <a:t>built in.</a:t>
            </a:r>
          </a:p>
          <a:p>
            <a:r>
              <a:rPr lang="en-US" dirty="0"/>
              <a:t>Virtually all </a:t>
            </a:r>
            <a:r>
              <a:rPr lang="en-US" dirty="0">
                <a:solidFill>
                  <a:srgbClr val="FF0000"/>
                </a:solidFill>
              </a:rPr>
              <a:t>laptops</a:t>
            </a:r>
            <a:r>
              <a:rPr lang="en-US" dirty="0"/>
              <a:t> have both a </a:t>
            </a:r>
            <a:r>
              <a:rPr lang="en-US" dirty="0">
                <a:solidFill>
                  <a:srgbClr val="FF0000"/>
                </a:solidFill>
              </a:rPr>
              <a:t>wired NIC </a:t>
            </a:r>
            <a:r>
              <a:rPr lang="en-US" dirty="0"/>
              <a:t>and a</a:t>
            </a:r>
            <a:r>
              <a:rPr lang="en-US" dirty="0">
                <a:solidFill>
                  <a:srgbClr val="FF0000"/>
                </a:solidFill>
              </a:rPr>
              <a:t> wireless NIC.</a:t>
            </a:r>
          </a:p>
        </p:txBody>
      </p:sp>
      <p:sp>
        <p:nvSpPr>
          <p:cNvPr id="5" name="Slide Number Placeholder 4"/>
          <p:cNvSpPr>
            <a:spLocks noGrp="1"/>
          </p:cNvSpPr>
          <p:nvPr>
            <p:ph type="sldNum" sz="quarter" idx="11"/>
          </p:nvPr>
        </p:nvSpPr>
        <p:spPr/>
        <p:txBody>
          <a:bodyPr/>
          <a:lstStyle/>
          <a:p>
            <a:r>
              <a:rPr lang="en-US" dirty="0"/>
              <a:t>7-</a:t>
            </a:r>
            <a:fld id="{67B19427-F580-D146-B60E-4CADEE75497F}" type="slidenum">
              <a:rPr lang="en-US" smtClean="0"/>
              <a:pPr/>
              <a:t>5</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756858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8300" y="688339"/>
            <a:ext cx="11379200" cy="835661"/>
          </a:xfrm>
        </p:spPr>
        <p:txBody>
          <a:bodyPr/>
          <a:lstStyle/>
          <a:p>
            <a:r>
              <a:rPr lang="en-US" dirty="0">
                <a:solidFill>
                  <a:srgbClr val="0000FF"/>
                </a:solidFill>
              </a:rPr>
              <a:t>Network Circuits</a:t>
            </a:r>
          </a:p>
        </p:txBody>
      </p:sp>
      <p:sp>
        <p:nvSpPr>
          <p:cNvPr id="3" name="Content Placeholder 2"/>
          <p:cNvSpPr>
            <a:spLocks noGrp="1"/>
          </p:cNvSpPr>
          <p:nvPr>
            <p:ph sz="quarter" idx="12"/>
          </p:nvPr>
        </p:nvSpPr>
        <p:spPr>
          <a:xfrm>
            <a:off x="406400" y="1752600"/>
            <a:ext cx="11176000" cy="4495800"/>
          </a:xfrm>
        </p:spPr>
        <p:txBody>
          <a:bodyPr/>
          <a:lstStyle/>
          <a:p>
            <a:r>
              <a:rPr lang="en-US" dirty="0"/>
              <a:t>Most LANs are built with unshielded twisted-pair (UTP) cable, shielded twisted-pair (STP) cable, or fiber-optic cable.</a:t>
            </a:r>
          </a:p>
          <a:p>
            <a:r>
              <a:rPr lang="en-US" dirty="0"/>
              <a:t>Many </a:t>
            </a:r>
            <a:r>
              <a:rPr lang="en-US" dirty="0">
                <a:solidFill>
                  <a:srgbClr val="FF0000"/>
                </a:solidFill>
              </a:rPr>
              <a:t>LANs use UTP cable</a:t>
            </a:r>
            <a:r>
              <a:rPr lang="en-US" dirty="0"/>
              <a:t>.</a:t>
            </a:r>
          </a:p>
          <a:p>
            <a:r>
              <a:rPr lang="en-US" dirty="0"/>
              <a:t>STP is only used in special areas that produce electrical interference.</a:t>
            </a:r>
          </a:p>
          <a:p>
            <a:r>
              <a:rPr lang="en-US" dirty="0"/>
              <a:t>Fiber-optic cable </a:t>
            </a:r>
            <a:r>
              <a:rPr lang="en-US" dirty="0">
                <a:solidFill>
                  <a:srgbClr val="FF0000"/>
                </a:solidFill>
              </a:rPr>
              <a:t>is even thinner than UTP </a:t>
            </a:r>
            <a:r>
              <a:rPr lang="en-US" dirty="0"/>
              <a:t>wire and therefore takes far less space when cabled throughout a building.</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6</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315813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08805"/>
            <a:ext cx="8346015" cy="615432"/>
          </a:xfrm>
        </p:spPr>
        <p:txBody>
          <a:bodyPr>
            <a:normAutofit fontScale="90000"/>
          </a:bodyPr>
          <a:lstStyle/>
          <a:p>
            <a:r>
              <a:rPr lang="en-US" dirty="0">
                <a:solidFill>
                  <a:srgbClr val="0000FF"/>
                </a:solidFill>
              </a:rPr>
              <a:t>Commonly Used Network Cable Standards</a:t>
            </a:r>
          </a:p>
        </p:txBody>
      </p:sp>
      <p:pic>
        <p:nvPicPr>
          <p:cNvPr id="8" name="Content Placeholder 7"/>
          <p:cNvPicPr>
            <a:picLocks noGrp="1" noChangeAspect="1"/>
          </p:cNvPicPr>
          <p:nvPr>
            <p:ph sz="quarter" idx="14"/>
          </p:nvPr>
        </p:nvPicPr>
        <p:blipFill>
          <a:blip r:embed="rId2"/>
          <a:stretch>
            <a:fillRect/>
          </a:stretch>
        </p:blipFill>
        <p:spPr>
          <a:xfrm>
            <a:off x="495300" y="1066800"/>
            <a:ext cx="9410700" cy="2921303"/>
          </a:xfrm>
          <a:prstGeom prst="rect">
            <a:avLst/>
          </a:prstGeom>
        </p:spPr>
      </p:pic>
      <p:pic>
        <p:nvPicPr>
          <p:cNvPr id="9" name="Content Placeholder 8"/>
          <p:cNvPicPr>
            <a:picLocks noGrp="1" noChangeAspect="1"/>
          </p:cNvPicPr>
          <p:nvPr>
            <p:ph sz="quarter" idx="15"/>
          </p:nvPr>
        </p:nvPicPr>
        <p:blipFill>
          <a:blip r:embed="rId3"/>
          <a:stretch>
            <a:fillRect/>
          </a:stretch>
        </p:blipFill>
        <p:spPr>
          <a:xfrm>
            <a:off x="895350" y="4114800"/>
            <a:ext cx="9086850" cy="2066509"/>
          </a:xfrm>
          <a:prstGeom prst="rect">
            <a:avLst/>
          </a:prstGeom>
        </p:spPr>
      </p:pic>
      <p:sp>
        <p:nvSpPr>
          <p:cNvPr id="4" name="Slide Number Placeholder 3"/>
          <p:cNvSpPr>
            <a:spLocks noGrp="1"/>
          </p:cNvSpPr>
          <p:nvPr>
            <p:ph type="sldNum" sz="quarter" idx="10"/>
          </p:nvPr>
        </p:nvSpPr>
        <p:spPr/>
        <p:txBody>
          <a:bodyPr/>
          <a:lstStyle/>
          <a:p>
            <a:r>
              <a:rPr lang="en-US" dirty="0"/>
              <a:t>7-</a:t>
            </a:r>
            <a:fld id="{67B19427-F580-D146-B60E-4CADEE75497F}" type="slidenum">
              <a:rPr lang="en-US" smtClean="0"/>
              <a:pPr/>
              <a:t>7</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1252565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52400" y="581025"/>
            <a:ext cx="5943600" cy="975360"/>
          </a:xfrm>
        </p:spPr>
        <p:txBody>
          <a:bodyPr/>
          <a:lstStyle/>
          <a:p>
            <a:r>
              <a:rPr lang="en-US" dirty="0">
                <a:solidFill>
                  <a:srgbClr val="0000FF"/>
                </a:solidFill>
              </a:rPr>
              <a:t>Wireless LANs (WLANs)</a:t>
            </a:r>
          </a:p>
        </p:txBody>
      </p:sp>
      <p:sp>
        <p:nvSpPr>
          <p:cNvPr id="8" name="Content Placeholder 7"/>
          <p:cNvSpPr>
            <a:spLocks noGrp="1"/>
          </p:cNvSpPr>
          <p:nvPr>
            <p:ph sz="quarter" idx="12"/>
          </p:nvPr>
        </p:nvSpPr>
        <p:spPr>
          <a:xfrm>
            <a:off x="304800" y="1371600"/>
            <a:ext cx="11379200" cy="4495800"/>
          </a:xfrm>
        </p:spPr>
        <p:txBody>
          <a:bodyPr>
            <a:normAutofit lnSpcReduction="10000"/>
          </a:bodyPr>
          <a:lstStyle/>
          <a:p>
            <a:r>
              <a:rPr lang="en-US" b="1" i="1" dirty="0">
                <a:solidFill>
                  <a:srgbClr val="FF0000"/>
                </a:solidFill>
              </a:rPr>
              <a:t>Wireless LANs </a:t>
            </a:r>
            <a:r>
              <a:rPr lang="en-US" dirty="0">
                <a:solidFill>
                  <a:srgbClr val="FF0000"/>
                </a:solidFill>
              </a:rPr>
              <a:t>(WLANs) use radio transmissions </a:t>
            </a:r>
            <a:r>
              <a:rPr lang="en-US" dirty="0"/>
              <a:t>to send data between the NIC and the access point (AP).</a:t>
            </a:r>
          </a:p>
          <a:p>
            <a:r>
              <a:rPr lang="en-US" dirty="0"/>
              <a:t>Most countries (but not all) permit WLANs to operate in two frequency ranges</a:t>
            </a:r>
            <a:r>
              <a:rPr lang="en-US" dirty="0">
                <a:solidFill>
                  <a:srgbClr val="FF0000"/>
                </a:solidFill>
              </a:rPr>
              <a:t>: the 2.4- and 5 GHz range</a:t>
            </a:r>
            <a:r>
              <a:rPr lang="en-US" dirty="0"/>
              <a:t>.</a:t>
            </a:r>
          </a:p>
          <a:p>
            <a:pPr lvl="1"/>
            <a:r>
              <a:rPr lang="en-US" dirty="0"/>
              <a:t>May interfere with cordless phones and baby monitors.</a:t>
            </a:r>
          </a:p>
          <a:p>
            <a:r>
              <a:rPr lang="en-US" dirty="0"/>
              <a:t>Under ideal conditions, the radio transmitters in the NICs and APs can </a:t>
            </a:r>
            <a:r>
              <a:rPr lang="en-US" dirty="0">
                <a:solidFill>
                  <a:srgbClr val="FF0000"/>
                </a:solidFill>
              </a:rPr>
              <a:t>transmit 100–150 meters</a:t>
            </a:r>
            <a:r>
              <a:rPr lang="en-US" dirty="0"/>
              <a:t>.</a:t>
            </a:r>
          </a:p>
          <a:p>
            <a:r>
              <a:rPr lang="en-US" dirty="0"/>
              <a:t>As the distance from the AP increases, </a:t>
            </a:r>
            <a:r>
              <a:rPr lang="en-US" dirty="0">
                <a:solidFill>
                  <a:srgbClr val="FF0000"/>
                </a:solidFill>
              </a:rPr>
              <a:t>the maximum speed drops.</a:t>
            </a:r>
          </a:p>
          <a:p>
            <a:r>
              <a:rPr lang="en-US" dirty="0"/>
              <a:t>When we design a WLAN, it is important to ensure that the </a:t>
            </a:r>
            <a:r>
              <a:rPr lang="en-US" dirty="0">
                <a:solidFill>
                  <a:srgbClr val="FF0000"/>
                </a:solidFill>
              </a:rPr>
              <a:t>APs don’t interfere with each other.</a:t>
            </a:r>
          </a:p>
          <a:p>
            <a:pPr lvl="1"/>
            <a:r>
              <a:rPr lang="en-US" dirty="0"/>
              <a:t>Therefore, each AP is set to transmit on a different channel.</a:t>
            </a:r>
          </a:p>
        </p:txBody>
      </p:sp>
      <p:sp>
        <p:nvSpPr>
          <p:cNvPr id="5" name="Slide Number Placeholder 4"/>
          <p:cNvSpPr>
            <a:spLocks noGrp="1"/>
          </p:cNvSpPr>
          <p:nvPr>
            <p:ph type="sldNum" sz="quarter" idx="11"/>
          </p:nvPr>
        </p:nvSpPr>
        <p:spPr/>
        <p:txBody>
          <a:bodyPr/>
          <a:lstStyle/>
          <a:p>
            <a:r>
              <a:rPr lang="en-US" dirty="0"/>
              <a:t>7-</a:t>
            </a:r>
            <a:fld id="{67B19427-F580-D146-B60E-4CADEE75497F}" type="slidenum">
              <a:rPr lang="en-US" smtClean="0"/>
              <a:pPr/>
              <a:t>8</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036389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594996"/>
            <a:ext cx="9423400" cy="791208"/>
          </a:xfrm>
        </p:spPr>
        <p:txBody>
          <a:bodyPr/>
          <a:lstStyle/>
          <a:p>
            <a:r>
              <a:rPr lang="en-US" dirty="0">
                <a:solidFill>
                  <a:srgbClr val="0000FF"/>
                </a:solidFill>
              </a:rPr>
              <a:t>Network Hubs, Switches, and Access Points</a:t>
            </a:r>
          </a:p>
        </p:txBody>
      </p:sp>
      <p:sp>
        <p:nvSpPr>
          <p:cNvPr id="6" name="Content Placeholder 5"/>
          <p:cNvSpPr>
            <a:spLocks noGrp="1"/>
          </p:cNvSpPr>
          <p:nvPr>
            <p:ph sz="quarter" idx="14"/>
          </p:nvPr>
        </p:nvSpPr>
        <p:spPr>
          <a:xfrm>
            <a:off x="457200" y="1524000"/>
            <a:ext cx="5715000" cy="4495800"/>
          </a:xfrm>
        </p:spPr>
        <p:txBody>
          <a:bodyPr>
            <a:normAutofit fontScale="92500"/>
          </a:bodyPr>
          <a:lstStyle/>
          <a:p>
            <a:r>
              <a:rPr lang="en-US" dirty="0"/>
              <a:t>Network hubs and switches serve two purposes</a:t>
            </a:r>
          </a:p>
          <a:p>
            <a:pPr marL="914400" lvl="1" indent="-457200">
              <a:buFont typeface="+mj-lt"/>
              <a:buAutoNum type="arabicPeriod"/>
            </a:pPr>
            <a:r>
              <a:rPr lang="en-US" dirty="0"/>
              <a:t>They provide an </a:t>
            </a:r>
            <a:r>
              <a:rPr lang="en-US" dirty="0">
                <a:solidFill>
                  <a:srgbClr val="FF0000"/>
                </a:solidFill>
              </a:rPr>
              <a:t>easy way to connect network cables.</a:t>
            </a:r>
          </a:p>
          <a:p>
            <a:pPr marL="914400" lvl="1" indent="-457200">
              <a:buFont typeface="+mj-lt"/>
              <a:buAutoNum type="arabicPeriod"/>
            </a:pPr>
            <a:r>
              <a:rPr lang="en-US" dirty="0"/>
              <a:t>They act as </a:t>
            </a:r>
            <a:r>
              <a:rPr lang="en-US" dirty="0">
                <a:solidFill>
                  <a:srgbClr val="FF0000"/>
                </a:solidFill>
              </a:rPr>
              <a:t>repeaters</a:t>
            </a:r>
          </a:p>
          <a:p>
            <a:r>
              <a:rPr lang="en-US" dirty="0"/>
              <a:t>They can be thought of as a junction box, permitting new computers to be connected to the network.</a:t>
            </a:r>
          </a:p>
          <a:p>
            <a:r>
              <a:rPr lang="en-US" dirty="0"/>
              <a:t>Each connection point where a cable can be plugged in is </a:t>
            </a:r>
            <a:r>
              <a:rPr lang="en-US" dirty="0">
                <a:solidFill>
                  <a:srgbClr val="FF0000"/>
                </a:solidFill>
              </a:rPr>
              <a:t>called a </a:t>
            </a:r>
            <a:r>
              <a:rPr lang="en-US" b="1" i="1" dirty="0">
                <a:solidFill>
                  <a:srgbClr val="FF0000"/>
                </a:solidFill>
              </a:rPr>
              <a:t>port</a:t>
            </a:r>
          </a:p>
          <a:p>
            <a:pPr lvl="1"/>
            <a:r>
              <a:rPr lang="en-US" dirty="0"/>
              <a:t>Each port has a unique number</a:t>
            </a:r>
          </a:p>
        </p:txBody>
      </p:sp>
      <p:pic>
        <p:nvPicPr>
          <p:cNvPr id="8" name="Content Placeholder 7"/>
          <p:cNvPicPr>
            <a:picLocks noGrp="1" noChangeAspect="1"/>
          </p:cNvPicPr>
          <p:nvPr>
            <p:ph sz="quarter" idx="15"/>
          </p:nvPr>
        </p:nvPicPr>
        <p:blipFill>
          <a:blip r:embed="rId2"/>
          <a:stretch>
            <a:fillRect/>
          </a:stretch>
        </p:blipFill>
        <p:spPr>
          <a:xfrm>
            <a:off x="6620809" y="1524000"/>
            <a:ext cx="5535706" cy="4343400"/>
          </a:xfrm>
          <a:prstGeom prst="rect">
            <a:avLst/>
          </a:prstGeom>
        </p:spPr>
      </p:pic>
      <p:sp>
        <p:nvSpPr>
          <p:cNvPr id="4" name="Slide Number Placeholder 3"/>
          <p:cNvSpPr>
            <a:spLocks noGrp="1"/>
          </p:cNvSpPr>
          <p:nvPr>
            <p:ph type="sldNum" sz="quarter" idx="10"/>
          </p:nvPr>
        </p:nvSpPr>
        <p:spPr/>
        <p:txBody>
          <a:bodyPr/>
          <a:lstStyle/>
          <a:p>
            <a:r>
              <a:rPr lang="en-US" dirty="0"/>
              <a:t>7-</a:t>
            </a:r>
            <a:fld id="{67B19427-F580-D146-B60E-4CADEE75497F}" type="slidenum">
              <a:rPr lang="en-US" smtClean="0"/>
              <a:pPr/>
              <a:t>9</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4203794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38175"/>
            <a:ext cx="11379200" cy="975360"/>
          </a:xfrm>
        </p:spPr>
        <p:txBody>
          <a:bodyPr/>
          <a:lstStyle/>
          <a:p>
            <a:r>
              <a:rPr lang="en-US" dirty="0">
                <a:solidFill>
                  <a:srgbClr val="0000FF"/>
                </a:solidFill>
              </a:rPr>
              <a:t>Network Hubs, Switches, and Access Points </a:t>
            </a:r>
            <a:r>
              <a:rPr lang="en-US" sz="2000" dirty="0">
                <a:solidFill>
                  <a:srgbClr val="0000FF"/>
                </a:solidFill>
              </a:rPr>
              <a:t>Continued</a:t>
            </a:r>
          </a:p>
        </p:txBody>
      </p:sp>
      <p:sp>
        <p:nvSpPr>
          <p:cNvPr id="3" name="Content Placeholder 2"/>
          <p:cNvSpPr>
            <a:spLocks noGrp="1"/>
          </p:cNvSpPr>
          <p:nvPr>
            <p:ph sz="quarter" idx="14"/>
          </p:nvPr>
        </p:nvSpPr>
        <p:spPr>
          <a:xfrm>
            <a:off x="304800" y="1584960"/>
            <a:ext cx="5384800" cy="4419600"/>
          </a:xfrm>
        </p:spPr>
        <p:txBody>
          <a:bodyPr>
            <a:normAutofit lnSpcReduction="10000"/>
          </a:bodyPr>
          <a:lstStyle/>
          <a:p>
            <a:r>
              <a:rPr lang="en-US" dirty="0"/>
              <a:t>Signals can travel only so far in a network cable before they attenuate.</a:t>
            </a:r>
          </a:p>
          <a:p>
            <a:pPr lvl="1"/>
            <a:r>
              <a:rPr lang="en-US" dirty="0">
                <a:solidFill>
                  <a:srgbClr val="FF0000"/>
                </a:solidFill>
              </a:rPr>
              <a:t>Hubs and switches act as repeaters</a:t>
            </a:r>
          </a:p>
          <a:p>
            <a:r>
              <a:rPr lang="en-US" dirty="0"/>
              <a:t>A wireless </a:t>
            </a:r>
            <a:r>
              <a:rPr lang="en-US" b="1" i="1" dirty="0">
                <a:solidFill>
                  <a:srgbClr val="FF0000"/>
                </a:solidFill>
              </a:rPr>
              <a:t>access point </a:t>
            </a:r>
            <a:r>
              <a:rPr lang="en-US" dirty="0">
                <a:solidFill>
                  <a:srgbClr val="FF0000"/>
                </a:solidFill>
              </a:rPr>
              <a:t>(AP) is a radio transceiver</a:t>
            </a:r>
            <a:r>
              <a:rPr lang="en-US" dirty="0"/>
              <a:t> that plays the same role as a </a:t>
            </a:r>
            <a:r>
              <a:rPr lang="en-US" dirty="0">
                <a:solidFill>
                  <a:srgbClr val="FF0000"/>
                </a:solidFill>
              </a:rPr>
              <a:t>hub or switch </a:t>
            </a:r>
            <a:r>
              <a:rPr lang="en-US" dirty="0"/>
              <a:t>in wired Ethernet LANs.</a:t>
            </a:r>
          </a:p>
          <a:p>
            <a:r>
              <a:rPr lang="en-US" dirty="0"/>
              <a:t>Most WLANs are installed using APs that have </a:t>
            </a:r>
            <a:r>
              <a:rPr lang="en-US" b="1" i="1" dirty="0">
                <a:solidFill>
                  <a:srgbClr val="FF0000"/>
                </a:solidFill>
              </a:rPr>
              <a:t>omnidirectional antennas.</a:t>
            </a:r>
          </a:p>
        </p:txBody>
      </p:sp>
      <p:pic>
        <p:nvPicPr>
          <p:cNvPr id="7" name="Content Placeholder 6"/>
          <p:cNvPicPr>
            <a:picLocks noGrp="1" noChangeAspect="1"/>
          </p:cNvPicPr>
          <p:nvPr>
            <p:ph sz="quarter" idx="15"/>
          </p:nvPr>
        </p:nvPicPr>
        <p:blipFill>
          <a:blip r:embed="rId2"/>
          <a:stretch>
            <a:fillRect/>
          </a:stretch>
        </p:blipFill>
        <p:spPr>
          <a:xfrm>
            <a:off x="6858273" y="1642800"/>
            <a:ext cx="4610013" cy="4419600"/>
          </a:xfrm>
          <a:prstGeom prst="rect">
            <a:avLst/>
          </a:prstGeom>
        </p:spPr>
      </p:pic>
      <p:sp>
        <p:nvSpPr>
          <p:cNvPr id="5" name="Slide Number Placeholder 4"/>
          <p:cNvSpPr>
            <a:spLocks noGrp="1"/>
          </p:cNvSpPr>
          <p:nvPr>
            <p:ph type="sldNum" sz="quarter" idx="10"/>
          </p:nvPr>
        </p:nvSpPr>
        <p:spPr/>
        <p:txBody>
          <a:bodyPr/>
          <a:lstStyle/>
          <a:p>
            <a:r>
              <a:rPr lang="en-US" dirty="0"/>
              <a:t>7-</a:t>
            </a:r>
            <a:fld id="{67B19427-F580-D146-B60E-4CADEE75497F}" type="slidenum">
              <a:rPr lang="en-US" smtClean="0"/>
              <a:pPr/>
              <a:t>10</a:t>
            </a:fld>
            <a:endParaRPr lang="en-US" dirty="0"/>
          </a:p>
        </p:txBody>
      </p:sp>
      <p:sp>
        <p:nvSpPr>
          <p:cNvPr id="6" name="Footer Placeholder 5"/>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399891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2452-06EF-FDE1-C524-A6985C036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A351F-ADF1-BA62-E0D7-A11B5F334F22}"/>
              </a:ext>
            </a:extLst>
          </p:cNvPr>
          <p:cNvSpPr>
            <a:spLocks noGrp="1"/>
          </p:cNvSpPr>
          <p:nvPr>
            <p:ph type="title"/>
          </p:nvPr>
        </p:nvSpPr>
        <p:spPr>
          <a:xfrm>
            <a:off x="228600" y="548640"/>
            <a:ext cx="2413000" cy="975360"/>
          </a:xfrm>
        </p:spPr>
        <p:txBody>
          <a:bodyPr>
            <a:normAutofit/>
          </a:bodyPr>
          <a:lstStyle/>
          <a:p>
            <a:r>
              <a:rPr lang="en-US" sz="4400" dirty="0">
                <a:solidFill>
                  <a:srgbClr val="0000FF"/>
                </a:solidFill>
              </a:rPr>
              <a:t>QUIZ 1</a:t>
            </a:r>
          </a:p>
        </p:txBody>
      </p:sp>
      <p:sp>
        <p:nvSpPr>
          <p:cNvPr id="3" name="Content Placeholder 2">
            <a:extLst>
              <a:ext uri="{FF2B5EF4-FFF2-40B4-BE49-F238E27FC236}">
                <a16:creationId xmlns:a16="http://schemas.microsoft.com/office/drawing/2014/main" id="{E8FE4192-2823-4A53-04F8-2787A041DFC0}"/>
              </a:ext>
            </a:extLst>
          </p:cNvPr>
          <p:cNvSpPr>
            <a:spLocks noGrp="1"/>
          </p:cNvSpPr>
          <p:nvPr>
            <p:ph sz="quarter" idx="12"/>
          </p:nvPr>
        </p:nvSpPr>
        <p:spPr>
          <a:xfrm>
            <a:off x="381000" y="1549400"/>
            <a:ext cx="10439400" cy="1498600"/>
          </a:xfrm>
        </p:spPr>
        <p:txBody>
          <a:bodyPr>
            <a:normAutofit/>
          </a:bodyPr>
          <a:lstStyle/>
          <a:p>
            <a:pPr marL="342900" lvl="0" indent="-342900">
              <a:buFont typeface="+mj-lt"/>
              <a:buAutoNum type="arabicPeriod"/>
            </a:pPr>
            <a:r>
              <a:rPr lang="en-NZ" sz="2400" dirty="0">
                <a:latin typeface="Times New Roman" panose="02020603050405020304" pitchFamily="18" charset="0"/>
                <a:ea typeface="Times New Roman" panose="02020603050405020304" pitchFamily="18" charset="0"/>
              </a:rPr>
              <a:t>The Network Interface Card (NIC) permits a computer to be physically connected to a network’s cable. (TRUE/FALSE)?.</a:t>
            </a:r>
          </a:p>
        </p:txBody>
      </p:sp>
      <p:sp>
        <p:nvSpPr>
          <p:cNvPr id="4" name="Slide Number Placeholder 3">
            <a:extLst>
              <a:ext uri="{FF2B5EF4-FFF2-40B4-BE49-F238E27FC236}">
                <a16:creationId xmlns:a16="http://schemas.microsoft.com/office/drawing/2014/main" id="{FD8E5887-63D1-0515-B079-5A600EAD046F}"/>
              </a:ext>
            </a:extLst>
          </p:cNvPr>
          <p:cNvSpPr>
            <a:spLocks noGrp="1"/>
          </p:cNvSpPr>
          <p:nvPr>
            <p:ph type="sldNum" sz="quarter" idx="11"/>
          </p:nvPr>
        </p:nvSpPr>
        <p:spPr/>
        <p:txBody>
          <a:bodyPr/>
          <a:lstStyle/>
          <a:p>
            <a:r>
              <a:rPr lang="en-US" dirty="0"/>
              <a:t>3-</a:t>
            </a:r>
            <a:fld id="{67B19427-F580-D146-B60E-4CADEE75497F}" type="slidenum">
              <a:rPr lang="en-US" smtClean="0"/>
              <a:pPr/>
              <a:t>11</a:t>
            </a:fld>
            <a:endParaRPr lang="en-US" dirty="0"/>
          </a:p>
        </p:txBody>
      </p:sp>
      <p:sp>
        <p:nvSpPr>
          <p:cNvPr id="5" name="Footer Placeholder 4">
            <a:extLst>
              <a:ext uri="{FF2B5EF4-FFF2-40B4-BE49-F238E27FC236}">
                <a16:creationId xmlns:a16="http://schemas.microsoft.com/office/drawing/2014/main" id="{3C4DA500-E190-6D23-8657-33AEAA8CD2B6}"/>
              </a:ext>
            </a:extLst>
          </p:cNvPr>
          <p:cNvSpPr>
            <a:spLocks noGrp="1"/>
          </p:cNvSpPr>
          <p:nvPr>
            <p:ph type="ftr" sz="quarter" idx="10"/>
          </p:nvPr>
        </p:nvSpPr>
        <p:spPr/>
        <p:txBody>
          <a:bodyPr/>
          <a:lstStyle/>
          <a:p>
            <a:r>
              <a:rPr lang="en-US" dirty="0"/>
              <a:t>Copyright ©2021 John Wiley &amp; Sons, Inc. </a:t>
            </a:r>
          </a:p>
        </p:txBody>
      </p:sp>
      <p:sp>
        <p:nvSpPr>
          <p:cNvPr id="7" name="TextBox 6">
            <a:extLst>
              <a:ext uri="{FF2B5EF4-FFF2-40B4-BE49-F238E27FC236}">
                <a16:creationId xmlns:a16="http://schemas.microsoft.com/office/drawing/2014/main" id="{FA675855-37F8-C760-BF9A-87BD359B9C9C}"/>
              </a:ext>
            </a:extLst>
          </p:cNvPr>
          <p:cNvSpPr txBox="1"/>
          <p:nvPr/>
        </p:nvSpPr>
        <p:spPr>
          <a:xfrm>
            <a:off x="2209800" y="5334000"/>
            <a:ext cx="7086600" cy="523220"/>
          </a:xfrm>
          <a:prstGeom prst="rect">
            <a:avLst/>
          </a:prstGeom>
          <a:noFill/>
        </p:spPr>
        <p:txBody>
          <a:bodyPr wrap="square">
            <a:spAutoFit/>
          </a:bodyPr>
          <a:lstStyle/>
          <a:p>
            <a:pPr marL="457200" indent="-228600"/>
            <a:r>
              <a:rPr lang="en-US" sz="2800" dirty="0">
                <a:solidFill>
                  <a:srgbClr val="FF0000"/>
                </a:solidFill>
                <a:effectLst/>
                <a:latin typeface="Times New Roman" panose="02020603050405020304" pitchFamily="18" charset="0"/>
                <a:ea typeface="Times New Roman" panose="02020603050405020304" pitchFamily="18" charset="0"/>
              </a:rPr>
              <a:t>Ans</a:t>
            </a:r>
            <a:r>
              <a:rPr lang="en-US" sz="2800">
                <a:solidFill>
                  <a:srgbClr val="FF0000"/>
                </a:solidFill>
                <a:effectLst/>
                <a:latin typeface="Times New Roman" panose="02020603050405020304" pitchFamily="18" charset="0"/>
                <a:ea typeface="Times New Roman" panose="02020603050405020304" pitchFamily="18" charset="0"/>
              </a:rPr>
              <a:t>: </a:t>
            </a:r>
            <a:r>
              <a:rPr lang="en-US" sz="2800">
                <a:effectLst/>
                <a:latin typeface="Times New Roman" panose="02020603050405020304" pitchFamily="18" charset="0"/>
                <a:ea typeface="Times New Roman" panose="02020603050405020304" pitchFamily="18" charset="0"/>
              </a:rPr>
              <a:t>TRUE</a:t>
            </a:r>
            <a:endParaRPr lang="en-NZ"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29202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2452-06EF-FDE1-C524-A6985C036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A351F-ADF1-BA62-E0D7-A11B5F334F22}"/>
              </a:ext>
            </a:extLst>
          </p:cNvPr>
          <p:cNvSpPr>
            <a:spLocks noGrp="1"/>
          </p:cNvSpPr>
          <p:nvPr>
            <p:ph type="title"/>
          </p:nvPr>
        </p:nvSpPr>
        <p:spPr>
          <a:xfrm>
            <a:off x="228600" y="548640"/>
            <a:ext cx="2413000" cy="975360"/>
          </a:xfrm>
        </p:spPr>
        <p:txBody>
          <a:bodyPr>
            <a:normAutofit/>
          </a:bodyPr>
          <a:lstStyle/>
          <a:p>
            <a:r>
              <a:rPr lang="en-US" sz="4400" dirty="0">
                <a:solidFill>
                  <a:srgbClr val="0000FF"/>
                </a:solidFill>
              </a:rPr>
              <a:t>QUIZ 2</a:t>
            </a:r>
          </a:p>
        </p:txBody>
      </p:sp>
      <p:sp>
        <p:nvSpPr>
          <p:cNvPr id="3" name="Content Placeholder 2">
            <a:extLst>
              <a:ext uri="{FF2B5EF4-FFF2-40B4-BE49-F238E27FC236}">
                <a16:creationId xmlns:a16="http://schemas.microsoft.com/office/drawing/2014/main" id="{E8FE4192-2823-4A53-04F8-2787A041DFC0}"/>
              </a:ext>
            </a:extLst>
          </p:cNvPr>
          <p:cNvSpPr>
            <a:spLocks noGrp="1"/>
          </p:cNvSpPr>
          <p:nvPr>
            <p:ph sz="quarter" idx="12"/>
          </p:nvPr>
        </p:nvSpPr>
        <p:spPr>
          <a:xfrm>
            <a:off x="381000" y="1549400"/>
            <a:ext cx="10439400" cy="2413000"/>
          </a:xfrm>
        </p:spPr>
        <p:txBody>
          <a:bodyPr>
            <a:normAutofit/>
          </a:bodyPr>
          <a:lstStyle/>
          <a:p>
            <a:pPr marL="0" lvl="0" indent="0">
              <a:buNone/>
            </a:pPr>
            <a:r>
              <a:rPr lang="en-NZ" sz="2400" dirty="0">
                <a:latin typeface="Times New Roman" panose="02020603050405020304" pitchFamily="18" charset="0"/>
                <a:ea typeface="Times New Roman" panose="02020603050405020304" pitchFamily="18" charset="0"/>
              </a:rPr>
              <a:t>Many network hubs and switches incorporate repeaters to regenerate signals so that attenuation of the signal does not occur. (TRUE/FALSE)?														</a:t>
            </a:r>
          </a:p>
        </p:txBody>
      </p:sp>
      <p:sp>
        <p:nvSpPr>
          <p:cNvPr id="4" name="Slide Number Placeholder 3">
            <a:extLst>
              <a:ext uri="{FF2B5EF4-FFF2-40B4-BE49-F238E27FC236}">
                <a16:creationId xmlns:a16="http://schemas.microsoft.com/office/drawing/2014/main" id="{FD8E5887-63D1-0515-B079-5A600EAD046F}"/>
              </a:ext>
            </a:extLst>
          </p:cNvPr>
          <p:cNvSpPr>
            <a:spLocks noGrp="1"/>
          </p:cNvSpPr>
          <p:nvPr>
            <p:ph type="sldNum" sz="quarter" idx="11"/>
          </p:nvPr>
        </p:nvSpPr>
        <p:spPr/>
        <p:txBody>
          <a:bodyPr/>
          <a:lstStyle/>
          <a:p>
            <a:r>
              <a:rPr lang="en-US" dirty="0"/>
              <a:t>3-</a:t>
            </a:r>
            <a:fld id="{67B19427-F580-D146-B60E-4CADEE75497F}" type="slidenum">
              <a:rPr lang="en-US" smtClean="0"/>
              <a:pPr/>
              <a:t>12</a:t>
            </a:fld>
            <a:endParaRPr lang="en-US" dirty="0"/>
          </a:p>
        </p:txBody>
      </p:sp>
      <p:sp>
        <p:nvSpPr>
          <p:cNvPr id="5" name="Footer Placeholder 4">
            <a:extLst>
              <a:ext uri="{FF2B5EF4-FFF2-40B4-BE49-F238E27FC236}">
                <a16:creationId xmlns:a16="http://schemas.microsoft.com/office/drawing/2014/main" id="{3C4DA500-E190-6D23-8657-33AEAA8CD2B6}"/>
              </a:ext>
            </a:extLst>
          </p:cNvPr>
          <p:cNvSpPr>
            <a:spLocks noGrp="1"/>
          </p:cNvSpPr>
          <p:nvPr>
            <p:ph type="ftr" sz="quarter" idx="10"/>
          </p:nvPr>
        </p:nvSpPr>
        <p:spPr/>
        <p:txBody>
          <a:bodyPr/>
          <a:lstStyle/>
          <a:p>
            <a:r>
              <a:rPr lang="en-US" dirty="0"/>
              <a:t>Copyright ©2021 John Wiley &amp; Sons, Inc. </a:t>
            </a:r>
          </a:p>
        </p:txBody>
      </p:sp>
      <p:sp>
        <p:nvSpPr>
          <p:cNvPr id="7" name="TextBox 6">
            <a:extLst>
              <a:ext uri="{FF2B5EF4-FFF2-40B4-BE49-F238E27FC236}">
                <a16:creationId xmlns:a16="http://schemas.microsoft.com/office/drawing/2014/main" id="{FA675855-37F8-C760-BF9A-87BD359B9C9C}"/>
              </a:ext>
            </a:extLst>
          </p:cNvPr>
          <p:cNvSpPr txBox="1"/>
          <p:nvPr/>
        </p:nvSpPr>
        <p:spPr>
          <a:xfrm>
            <a:off x="2209800" y="5334000"/>
            <a:ext cx="7086600" cy="523220"/>
          </a:xfrm>
          <a:prstGeom prst="rect">
            <a:avLst/>
          </a:prstGeom>
          <a:noFill/>
        </p:spPr>
        <p:txBody>
          <a:bodyPr wrap="square">
            <a:spAutoFit/>
          </a:bodyPr>
          <a:lstStyle/>
          <a:p>
            <a:pPr marL="457200" indent="-228600"/>
            <a:r>
              <a:rPr lang="en-US" sz="2800" dirty="0">
                <a:solidFill>
                  <a:srgbClr val="FF0000"/>
                </a:solidFill>
                <a:effectLst/>
                <a:latin typeface="Times New Roman" panose="02020603050405020304" pitchFamily="18" charset="0"/>
                <a:ea typeface="Times New Roman" panose="02020603050405020304" pitchFamily="18" charset="0"/>
              </a:rPr>
              <a:t>Ans: </a:t>
            </a:r>
            <a:r>
              <a:rPr lang="en-US" sz="2800" dirty="0">
                <a:latin typeface="Times New Roman" panose="02020603050405020304" pitchFamily="18" charset="0"/>
                <a:ea typeface="Times New Roman" panose="02020603050405020304" pitchFamily="18" charset="0"/>
              </a:rPr>
              <a:t>TRUE</a:t>
            </a:r>
            <a:endParaRPr lang="en-NZ"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23569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11379200" cy="975360"/>
          </a:xfrm>
        </p:spPr>
        <p:txBody>
          <a:bodyPr/>
          <a:lstStyle/>
          <a:p>
            <a:r>
              <a:rPr lang="en-US" dirty="0">
                <a:solidFill>
                  <a:srgbClr val="0000FF"/>
                </a:solidFill>
              </a:rPr>
              <a:t>Network Operating Systems</a:t>
            </a:r>
          </a:p>
        </p:txBody>
      </p:sp>
      <p:sp>
        <p:nvSpPr>
          <p:cNvPr id="7" name="Content Placeholder 6"/>
          <p:cNvSpPr>
            <a:spLocks noGrp="1"/>
          </p:cNvSpPr>
          <p:nvPr>
            <p:ph sz="quarter" idx="12"/>
          </p:nvPr>
        </p:nvSpPr>
        <p:spPr>
          <a:xfrm>
            <a:off x="228600" y="1722755"/>
            <a:ext cx="11379200" cy="4495800"/>
          </a:xfrm>
        </p:spPr>
        <p:txBody>
          <a:bodyPr>
            <a:normAutofit fontScale="92500"/>
          </a:bodyPr>
          <a:lstStyle/>
          <a:p>
            <a:r>
              <a:rPr lang="en-US" dirty="0"/>
              <a:t>The </a:t>
            </a:r>
            <a:r>
              <a:rPr lang="en-US" b="1" i="1" dirty="0"/>
              <a:t>network operating system </a:t>
            </a:r>
            <a:r>
              <a:rPr lang="en-US" dirty="0"/>
              <a:t>(NOS) is the </a:t>
            </a:r>
            <a:r>
              <a:rPr lang="en-US" dirty="0">
                <a:solidFill>
                  <a:srgbClr val="FF0000"/>
                </a:solidFill>
              </a:rPr>
              <a:t>software that controls the network</a:t>
            </a:r>
          </a:p>
          <a:p>
            <a:r>
              <a:rPr lang="en-US" dirty="0"/>
              <a:t>Every NOS provides two sets of software</a:t>
            </a:r>
          </a:p>
          <a:p>
            <a:pPr marL="758952" lvl="1" indent="-457200">
              <a:buFont typeface="+mj-lt"/>
              <a:buAutoNum type="arabicPeriod"/>
            </a:pPr>
            <a:r>
              <a:rPr lang="en-US" dirty="0"/>
              <a:t>One that runs </a:t>
            </a:r>
            <a:r>
              <a:rPr lang="en-US" dirty="0">
                <a:solidFill>
                  <a:srgbClr val="FF0000"/>
                </a:solidFill>
              </a:rPr>
              <a:t>on the network server(s)</a:t>
            </a:r>
          </a:p>
          <a:p>
            <a:pPr marL="758952" lvl="1" indent="-457200">
              <a:buFont typeface="+mj-lt"/>
              <a:buAutoNum type="arabicPeriod"/>
            </a:pPr>
            <a:r>
              <a:rPr lang="en-US" dirty="0"/>
              <a:t>One that runs on the </a:t>
            </a:r>
            <a:r>
              <a:rPr lang="en-US" dirty="0">
                <a:solidFill>
                  <a:srgbClr val="FF0000"/>
                </a:solidFill>
              </a:rPr>
              <a:t>network client(s)</a:t>
            </a:r>
          </a:p>
          <a:p>
            <a:r>
              <a:rPr lang="en-US" dirty="0"/>
              <a:t>The server version of the NOS provides the software that performs the functions associated with the </a:t>
            </a:r>
            <a:r>
              <a:rPr lang="en-US" dirty="0">
                <a:solidFill>
                  <a:srgbClr val="FF0000"/>
                </a:solidFill>
              </a:rPr>
              <a:t>data link, network, and application layers and usually the computer’s own operating system.</a:t>
            </a:r>
          </a:p>
          <a:p>
            <a:r>
              <a:rPr lang="en-US" dirty="0"/>
              <a:t>The client version of the NOS provides the software that performs the functions associated with the </a:t>
            </a:r>
            <a:r>
              <a:rPr lang="en-US" dirty="0">
                <a:solidFill>
                  <a:srgbClr val="FF0000"/>
                </a:solidFill>
              </a:rPr>
              <a:t>data link and the network layers </a:t>
            </a:r>
            <a:r>
              <a:rPr lang="en-US" dirty="0"/>
              <a:t>and must interact with the application software and the computer’s own operating system.</a:t>
            </a:r>
          </a:p>
        </p:txBody>
      </p:sp>
      <p:sp>
        <p:nvSpPr>
          <p:cNvPr id="5" name="Slide Number Placeholder 4"/>
          <p:cNvSpPr>
            <a:spLocks noGrp="1"/>
          </p:cNvSpPr>
          <p:nvPr>
            <p:ph type="sldNum" sz="quarter" idx="11"/>
          </p:nvPr>
        </p:nvSpPr>
        <p:spPr/>
        <p:txBody>
          <a:bodyPr/>
          <a:lstStyle/>
          <a:p>
            <a:r>
              <a:rPr lang="en-US" dirty="0"/>
              <a:t>7-</a:t>
            </a:r>
            <a:fld id="{67B19427-F580-D146-B60E-4CADEE75497F}" type="slidenum">
              <a:rPr lang="en-US" smtClean="0"/>
              <a:pPr/>
              <a:t>13</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706909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33400"/>
            <a:ext cx="11379200" cy="975360"/>
          </a:xfrm>
        </p:spPr>
        <p:txBody>
          <a:bodyPr/>
          <a:lstStyle/>
          <a:p>
            <a:r>
              <a:rPr lang="en-US" dirty="0">
                <a:solidFill>
                  <a:srgbClr val="0000FF"/>
                </a:solidFill>
              </a:rPr>
              <a:t>NOS Server Software</a:t>
            </a:r>
          </a:p>
        </p:txBody>
      </p:sp>
      <p:sp>
        <p:nvSpPr>
          <p:cNvPr id="3" name="Content Placeholder 2"/>
          <p:cNvSpPr>
            <a:spLocks noGrp="1"/>
          </p:cNvSpPr>
          <p:nvPr>
            <p:ph sz="quarter" idx="12"/>
          </p:nvPr>
        </p:nvSpPr>
        <p:spPr>
          <a:xfrm>
            <a:off x="406400" y="1752600"/>
            <a:ext cx="11379200" cy="3810000"/>
          </a:xfrm>
        </p:spPr>
        <p:txBody>
          <a:bodyPr/>
          <a:lstStyle/>
          <a:p>
            <a:r>
              <a:rPr lang="en-US" dirty="0"/>
              <a:t>The NOS </a:t>
            </a:r>
            <a:r>
              <a:rPr lang="en-US" dirty="0">
                <a:solidFill>
                  <a:srgbClr val="FF0000"/>
                </a:solidFill>
              </a:rPr>
              <a:t>server software enables the file server, print server, or database server to operate.</a:t>
            </a:r>
          </a:p>
          <a:p>
            <a:r>
              <a:rPr lang="en-US" dirty="0"/>
              <a:t>It acts as the </a:t>
            </a:r>
            <a:r>
              <a:rPr lang="en-US" dirty="0">
                <a:solidFill>
                  <a:srgbClr val="FF0000"/>
                </a:solidFill>
              </a:rPr>
              <a:t>application software by executing the requests sent to it by the clients.</a:t>
            </a:r>
          </a:p>
          <a:p>
            <a:r>
              <a:rPr lang="en-US" dirty="0"/>
              <a:t>NOS server software </a:t>
            </a:r>
            <a:r>
              <a:rPr lang="en-US" dirty="0">
                <a:solidFill>
                  <a:srgbClr val="FF0000"/>
                </a:solidFill>
              </a:rPr>
              <a:t>replaces the normal operating </a:t>
            </a:r>
            <a:r>
              <a:rPr lang="en-US" dirty="0"/>
              <a:t>system on the server.</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14</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986266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NOS Client Software</a:t>
            </a:r>
          </a:p>
        </p:txBody>
      </p:sp>
      <p:sp>
        <p:nvSpPr>
          <p:cNvPr id="3" name="Content Placeholder 2"/>
          <p:cNvSpPr>
            <a:spLocks noGrp="1"/>
          </p:cNvSpPr>
          <p:nvPr>
            <p:ph sz="quarter" idx="12"/>
          </p:nvPr>
        </p:nvSpPr>
        <p:spPr/>
        <p:txBody>
          <a:bodyPr/>
          <a:lstStyle/>
          <a:p>
            <a:r>
              <a:rPr lang="en-US" dirty="0"/>
              <a:t>The NOS software running at the client computers provides </a:t>
            </a:r>
            <a:r>
              <a:rPr lang="en-US" dirty="0">
                <a:solidFill>
                  <a:srgbClr val="FF0000"/>
                </a:solidFill>
              </a:rPr>
              <a:t>the data link layer and network layer.</a:t>
            </a:r>
          </a:p>
          <a:p>
            <a:r>
              <a:rPr lang="en-US" dirty="0"/>
              <a:t>Windows provides built-in software that will enable it to act as a client computer with a Windows Server.</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15</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269852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Network Operating Systems </a:t>
            </a:r>
            <a:r>
              <a:rPr lang="en-US" sz="2000" dirty="0"/>
              <a:t>Continued</a:t>
            </a:r>
          </a:p>
        </p:txBody>
      </p:sp>
      <p:sp>
        <p:nvSpPr>
          <p:cNvPr id="3" name="Content Placeholder 2"/>
          <p:cNvSpPr>
            <a:spLocks noGrp="1"/>
          </p:cNvSpPr>
          <p:nvPr>
            <p:ph sz="quarter" idx="12"/>
          </p:nvPr>
        </p:nvSpPr>
        <p:spPr/>
        <p:txBody>
          <a:bodyPr/>
          <a:lstStyle/>
          <a:p>
            <a:r>
              <a:rPr lang="en-US" dirty="0"/>
              <a:t>One of the most important </a:t>
            </a:r>
            <a:r>
              <a:rPr lang="en-US" dirty="0">
                <a:solidFill>
                  <a:srgbClr val="FF0000"/>
                </a:solidFill>
              </a:rPr>
              <a:t>functions of a NOS </a:t>
            </a:r>
            <a:r>
              <a:rPr lang="en-US" dirty="0"/>
              <a:t>is </a:t>
            </a:r>
            <a:r>
              <a:rPr lang="en-US" dirty="0">
                <a:solidFill>
                  <a:srgbClr val="FF0000"/>
                </a:solidFill>
              </a:rPr>
              <a:t>a </a:t>
            </a:r>
            <a:r>
              <a:rPr lang="en-US" b="1" i="1" dirty="0">
                <a:solidFill>
                  <a:srgbClr val="FF0000"/>
                </a:solidFill>
              </a:rPr>
              <a:t>directory service</a:t>
            </a:r>
          </a:p>
          <a:p>
            <a:pPr lvl="1"/>
            <a:r>
              <a:rPr lang="en-US" dirty="0"/>
              <a:t>They provide </a:t>
            </a:r>
            <a:r>
              <a:rPr lang="en-US" dirty="0">
                <a:solidFill>
                  <a:srgbClr val="FF0000"/>
                </a:solidFill>
              </a:rPr>
              <a:t>information about resources on the network that are available to the users.</a:t>
            </a:r>
          </a:p>
          <a:p>
            <a:r>
              <a:rPr lang="en-US" dirty="0"/>
              <a:t>A common example of directory services is </a:t>
            </a:r>
            <a:r>
              <a:rPr lang="en-US" b="1" i="1" dirty="0">
                <a:solidFill>
                  <a:srgbClr val="FF0000"/>
                </a:solidFill>
              </a:rPr>
              <a:t>Microsoft’s Active Directory Service</a:t>
            </a:r>
            <a:r>
              <a:rPr lang="en-US" dirty="0">
                <a:solidFill>
                  <a:srgbClr val="FF0000"/>
                </a:solidFill>
              </a:rPr>
              <a:t> (ADS).</a:t>
            </a:r>
          </a:p>
          <a:p>
            <a:r>
              <a:rPr lang="en-US" dirty="0"/>
              <a:t>ADS works in much the same manner as </a:t>
            </a:r>
            <a:r>
              <a:rPr lang="en-US" dirty="0">
                <a:solidFill>
                  <a:srgbClr val="FF0000"/>
                </a:solidFill>
              </a:rPr>
              <a:t>TCP/IP’s DNS service.</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16</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978629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Network Profiles</a:t>
            </a:r>
          </a:p>
        </p:txBody>
      </p:sp>
      <p:sp>
        <p:nvSpPr>
          <p:cNvPr id="3" name="Content Placeholder 2"/>
          <p:cNvSpPr>
            <a:spLocks noGrp="1"/>
          </p:cNvSpPr>
          <p:nvPr>
            <p:ph sz="quarter" idx="12"/>
          </p:nvPr>
        </p:nvSpPr>
        <p:spPr/>
        <p:txBody>
          <a:bodyPr/>
          <a:lstStyle/>
          <a:p>
            <a:r>
              <a:rPr lang="en-US" dirty="0"/>
              <a:t>A </a:t>
            </a:r>
            <a:r>
              <a:rPr lang="en-US" b="1" i="1" dirty="0"/>
              <a:t>network profile </a:t>
            </a:r>
            <a:r>
              <a:rPr lang="en-US" dirty="0"/>
              <a:t>specifies what </a:t>
            </a:r>
            <a:r>
              <a:rPr lang="en-US" dirty="0">
                <a:solidFill>
                  <a:srgbClr val="FF0000"/>
                </a:solidFill>
              </a:rPr>
              <a:t>resources on each server are available </a:t>
            </a:r>
            <a:r>
              <a:rPr lang="en-US" dirty="0"/>
              <a:t>on the network for use by other computers and which devices or people are allowed what access to the network.</a:t>
            </a:r>
          </a:p>
          <a:p>
            <a:r>
              <a:rPr lang="en-US" dirty="0"/>
              <a:t>It is normally configured when the network is established and remains in place until someone makes a change.</a:t>
            </a:r>
          </a:p>
          <a:p>
            <a:r>
              <a:rPr lang="en-US" dirty="0"/>
              <a:t>There must also be a </a:t>
            </a:r>
            <a:r>
              <a:rPr lang="en-US" dirty="0">
                <a:solidFill>
                  <a:srgbClr val="FF0000"/>
                </a:solidFill>
              </a:rPr>
              <a:t>user profile for each person </a:t>
            </a:r>
            <a:r>
              <a:rPr lang="en-US" dirty="0"/>
              <a:t>who uses the LAN.</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17</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957542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2452-06EF-FDE1-C524-A6985C036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A351F-ADF1-BA62-E0D7-A11B5F334F22}"/>
              </a:ext>
            </a:extLst>
          </p:cNvPr>
          <p:cNvSpPr>
            <a:spLocks noGrp="1"/>
          </p:cNvSpPr>
          <p:nvPr>
            <p:ph type="title"/>
          </p:nvPr>
        </p:nvSpPr>
        <p:spPr>
          <a:xfrm>
            <a:off x="228600" y="548640"/>
            <a:ext cx="2413000" cy="975360"/>
          </a:xfrm>
        </p:spPr>
        <p:txBody>
          <a:bodyPr>
            <a:normAutofit/>
          </a:bodyPr>
          <a:lstStyle/>
          <a:p>
            <a:r>
              <a:rPr lang="en-US" sz="4400" dirty="0">
                <a:solidFill>
                  <a:srgbClr val="0000FF"/>
                </a:solidFill>
              </a:rPr>
              <a:t>QUIZ 3</a:t>
            </a:r>
          </a:p>
        </p:txBody>
      </p:sp>
      <p:sp>
        <p:nvSpPr>
          <p:cNvPr id="3" name="Content Placeholder 2">
            <a:extLst>
              <a:ext uri="{FF2B5EF4-FFF2-40B4-BE49-F238E27FC236}">
                <a16:creationId xmlns:a16="http://schemas.microsoft.com/office/drawing/2014/main" id="{E8FE4192-2823-4A53-04F8-2787A041DFC0}"/>
              </a:ext>
            </a:extLst>
          </p:cNvPr>
          <p:cNvSpPr>
            <a:spLocks noGrp="1"/>
          </p:cNvSpPr>
          <p:nvPr>
            <p:ph sz="quarter" idx="12"/>
          </p:nvPr>
        </p:nvSpPr>
        <p:spPr>
          <a:xfrm>
            <a:off x="381000" y="1549400"/>
            <a:ext cx="10439400" cy="2413000"/>
          </a:xfrm>
        </p:spPr>
        <p:txBody>
          <a:bodyPr>
            <a:normAutofit/>
          </a:bodyPr>
          <a:lstStyle/>
          <a:p>
            <a:pPr marL="0" lvl="0" indent="0">
              <a:buNone/>
            </a:pPr>
            <a:r>
              <a:rPr lang="en-NZ" sz="2400" dirty="0">
                <a:latin typeface="Times New Roman" panose="02020603050405020304" pitchFamily="18" charset="0"/>
                <a:ea typeface="Times New Roman" panose="02020603050405020304" pitchFamily="18" charset="0"/>
              </a:rPr>
              <a:t>The NOS software for the server computer provides the physical, data link, and network layer functions. (TRUE/FALSE)?.</a:t>
            </a:r>
          </a:p>
        </p:txBody>
      </p:sp>
      <p:sp>
        <p:nvSpPr>
          <p:cNvPr id="4" name="Slide Number Placeholder 3">
            <a:extLst>
              <a:ext uri="{FF2B5EF4-FFF2-40B4-BE49-F238E27FC236}">
                <a16:creationId xmlns:a16="http://schemas.microsoft.com/office/drawing/2014/main" id="{FD8E5887-63D1-0515-B079-5A600EAD046F}"/>
              </a:ext>
            </a:extLst>
          </p:cNvPr>
          <p:cNvSpPr>
            <a:spLocks noGrp="1"/>
          </p:cNvSpPr>
          <p:nvPr>
            <p:ph type="sldNum" sz="quarter" idx="11"/>
          </p:nvPr>
        </p:nvSpPr>
        <p:spPr/>
        <p:txBody>
          <a:bodyPr/>
          <a:lstStyle/>
          <a:p>
            <a:r>
              <a:rPr lang="en-US" dirty="0"/>
              <a:t>3-</a:t>
            </a:r>
            <a:fld id="{67B19427-F580-D146-B60E-4CADEE75497F}" type="slidenum">
              <a:rPr lang="en-US" smtClean="0"/>
              <a:pPr/>
              <a:t>18</a:t>
            </a:fld>
            <a:endParaRPr lang="en-US" dirty="0"/>
          </a:p>
        </p:txBody>
      </p:sp>
      <p:sp>
        <p:nvSpPr>
          <p:cNvPr id="5" name="Footer Placeholder 4">
            <a:extLst>
              <a:ext uri="{FF2B5EF4-FFF2-40B4-BE49-F238E27FC236}">
                <a16:creationId xmlns:a16="http://schemas.microsoft.com/office/drawing/2014/main" id="{3C4DA500-E190-6D23-8657-33AEAA8CD2B6}"/>
              </a:ext>
            </a:extLst>
          </p:cNvPr>
          <p:cNvSpPr>
            <a:spLocks noGrp="1"/>
          </p:cNvSpPr>
          <p:nvPr>
            <p:ph type="ftr" sz="quarter" idx="10"/>
          </p:nvPr>
        </p:nvSpPr>
        <p:spPr/>
        <p:txBody>
          <a:bodyPr/>
          <a:lstStyle/>
          <a:p>
            <a:r>
              <a:rPr lang="en-US" dirty="0"/>
              <a:t>Copyright ©2021 John Wiley &amp; Sons, Inc. </a:t>
            </a:r>
          </a:p>
        </p:txBody>
      </p:sp>
      <p:sp>
        <p:nvSpPr>
          <p:cNvPr id="7" name="TextBox 6">
            <a:extLst>
              <a:ext uri="{FF2B5EF4-FFF2-40B4-BE49-F238E27FC236}">
                <a16:creationId xmlns:a16="http://schemas.microsoft.com/office/drawing/2014/main" id="{FA675855-37F8-C760-BF9A-87BD359B9C9C}"/>
              </a:ext>
            </a:extLst>
          </p:cNvPr>
          <p:cNvSpPr txBox="1"/>
          <p:nvPr/>
        </p:nvSpPr>
        <p:spPr>
          <a:xfrm>
            <a:off x="2209800" y="5334000"/>
            <a:ext cx="7086600" cy="523220"/>
          </a:xfrm>
          <a:prstGeom prst="rect">
            <a:avLst/>
          </a:prstGeom>
          <a:noFill/>
        </p:spPr>
        <p:txBody>
          <a:bodyPr wrap="square">
            <a:spAutoFit/>
          </a:bodyPr>
          <a:lstStyle/>
          <a:p>
            <a:pPr marL="457200" indent="-228600"/>
            <a:r>
              <a:rPr lang="en-US" sz="2800" dirty="0">
                <a:solidFill>
                  <a:srgbClr val="FF0000"/>
                </a:solidFill>
                <a:effectLst/>
                <a:latin typeface="Times New Roman" panose="02020603050405020304" pitchFamily="18" charset="0"/>
                <a:ea typeface="Times New Roman" panose="02020603050405020304" pitchFamily="18" charset="0"/>
              </a:rPr>
              <a:t>Ans: </a:t>
            </a:r>
            <a:r>
              <a:rPr lang="en-US" sz="2800" dirty="0">
                <a:effectLst/>
                <a:latin typeface="Times New Roman" panose="02020603050405020304" pitchFamily="18" charset="0"/>
                <a:ea typeface="Times New Roman" panose="02020603050405020304" pitchFamily="18" charset="0"/>
              </a:rPr>
              <a:t>FALSE</a:t>
            </a:r>
            <a:endParaRPr lang="en-NZ"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1139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2452-06EF-FDE1-C524-A6985C036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A351F-ADF1-BA62-E0D7-A11B5F334F22}"/>
              </a:ext>
            </a:extLst>
          </p:cNvPr>
          <p:cNvSpPr>
            <a:spLocks noGrp="1"/>
          </p:cNvSpPr>
          <p:nvPr>
            <p:ph type="title"/>
          </p:nvPr>
        </p:nvSpPr>
        <p:spPr>
          <a:xfrm>
            <a:off x="228600" y="548640"/>
            <a:ext cx="2413000" cy="975360"/>
          </a:xfrm>
        </p:spPr>
        <p:txBody>
          <a:bodyPr>
            <a:normAutofit/>
          </a:bodyPr>
          <a:lstStyle/>
          <a:p>
            <a:r>
              <a:rPr lang="en-US" sz="4400" dirty="0">
                <a:solidFill>
                  <a:srgbClr val="0000FF"/>
                </a:solidFill>
              </a:rPr>
              <a:t>QUIZ 4</a:t>
            </a:r>
          </a:p>
        </p:txBody>
      </p:sp>
      <p:sp>
        <p:nvSpPr>
          <p:cNvPr id="3" name="Content Placeholder 2">
            <a:extLst>
              <a:ext uri="{FF2B5EF4-FFF2-40B4-BE49-F238E27FC236}">
                <a16:creationId xmlns:a16="http://schemas.microsoft.com/office/drawing/2014/main" id="{E8FE4192-2823-4A53-04F8-2787A041DFC0}"/>
              </a:ext>
            </a:extLst>
          </p:cNvPr>
          <p:cNvSpPr>
            <a:spLocks noGrp="1"/>
          </p:cNvSpPr>
          <p:nvPr>
            <p:ph sz="quarter" idx="12"/>
          </p:nvPr>
        </p:nvSpPr>
        <p:spPr>
          <a:xfrm>
            <a:off x="381000" y="1549400"/>
            <a:ext cx="10744200" cy="2413000"/>
          </a:xfrm>
        </p:spPr>
        <p:txBody>
          <a:bodyPr>
            <a:normAutofit/>
          </a:bodyPr>
          <a:lstStyle/>
          <a:p>
            <a:pPr marL="0" lvl="0" indent="0">
              <a:buNone/>
            </a:pPr>
            <a:r>
              <a:rPr lang="en-NZ" sz="2400" dirty="0">
                <a:latin typeface="Times New Roman" panose="02020603050405020304" pitchFamily="18" charset="0"/>
                <a:ea typeface="Times New Roman" panose="02020603050405020304" pitchFamily="18" charset="0"/>
              </a:rPr>
              <a:t>Network profile refers to what resources on each server are available on the network for use by other computers and which devices or people are allowed access on the network. (TRUE/FALSE)?														</a:t>
            </a:r>
          </a:p>
        </p:txBody>
      </p:sp>
      <p:sp>
        <p:nvSpPr>
          <p:cNvPr id="4" name="Slide Number Placeholder 3">
            <a:extLst>
              <a:ext uri="{FF2B5EF4-FFF2-40B4-BE49-F238E27FC236}">
                <a16:creationId xmlns:a16="http://schemas.microsoft.com/office/drawing/2014/main" id="{FD8E5887-63D1-0515-B079-5A600EAD046F}"/>
              </a:ext>
            </a:extLst>
          </p:cNvPr>
          <p:cNvSpPr>
            <a:spLocks noGrp="1"/>
          </p:cNvSpPr>
          <p:nvPr>
            <p:ph type="sldNum" sz="quarter" idx="11"/>
          </p:nvPr>
        </p:nvSpPr>
        <p:spPr/>
        <p:txBody>
          <a:bodyPr/>
          <a:lstStyle/>
          <a:p>
            <a:r>
              <a:rPr lang="en-US" dirty="0"/>
              <a:t>3-</a:t>
            </a:r>
            <a:fld id="{67B19427-F580-D146-B60E-4CADEE75497F}" type="slidenum">
              <a:rPr lang="en-US" smtClean="0"/>
              <a:pPr/>
              <a:t>19</a:t>
            </a:fld>
            <a:endParaRPr lang="en-US" dirty="0"/>
          </a:p>
        </p:txBody>
      </p:sp>
      <p:sp>
        <p:nvSpPr>
          <p:cNvPr id="5" name="Footer Placeholder 4">
            <a:extLst>
              <a:ext uri="{FF2B5EF4-FFF2-40B4-BE49-F238E27FC236}">
                <a16:creationId xmlns:a16="http://schemas.microsoft.com/office/drawing/2014/main" id="{3C4DA500-E190-6D23-8657-33AEAA8CD2B6}"/>
              </a:ext>
            </a:extLst>
          </p:cNvPr>
          <p:cNvSpPr>
            <a:spLocks noGrp="1"/>
          </p:cNvSpPr>
          <p:nvPr>
            <p:ph type="ftr" sz="quarter" idx="10"/>
          </p:nvPr>
        </p:nvSpPr>
        <p:spPr/>
        <p:txBody>
          <a:bodyPr/>
          <a:lstStyle/>
          <a:p>
            <a:r>
              <a:rPr lang="en-US" dirty="0"/>
              <a:t>Copyright ©2021 John Wiley &amp; Sons, Inc. </a:t>
            </a:r>
          </a:p>
        </p:txBody>
      </p:sp>
      <p:sp>
        <p:nvSpPr>
          <p:cNvPr id="7" name="TextBox 6">
            <a:extLst>
              <a:ext uri="{FF2B5EF4-FFF2-40B4-BE49-F238E27FC236}">
                <a16:creationId xmlns:a16="http://schemas.microsoft.com/office/drawing/2014/main" id="{FA675855-37F8-C760-BF9A-87BD359B9C9C}"/>
              </a:ext>
            </a:extLst>
          </p:cNvPr>
          <p:cNvSpPr txBox="1"/>
          <p:nvPr/>
        </p:nvSpPr>
        <p:spPr>
          <a:xfrm>
            <a:off x="2209800" y="5334000"/>
            <a:ext cx="7086600" cy="523220"/>
          </a:xfrm>
          <a:prstGeom prst="rect">
            <a:avLst/>
          </a:prstGeom>
          <a:noFill/>
        </p:spPr>
        <p:txBody>
          <a:bodyPr wrap="square">
            <a:spAutoFit/>
          </a:bodyPr>
          <a:lstStyle/>
          <a:p>
            <a:pPr marL="457200" indent="-228600"/>
            <a:r>
              <a:rPr lang="en-US" sz="2800" dirty="0">
                <a:solidFill>
                  <a:srgbClr val="FF0000"/>
                </a:solidFill>
                <a:effectLst/>
                <a:latin typeface="Times New Roman" panose="02020603050405020304" pitchFamily="18" charset="0"/>
                <a:ea typeface="Times New Roman" panose="02020603050405020304" pitchFamily="18" charset="0"/>
              </a:rPr>
              <a:t>Ans: </a:t>
            </a:r>
            <a:r>
              <a:rPr lang="en-US" sz="2800" dirty="0">
                <a:latin typeface="Times New Roman" panose="02020603050405020304" pitchFamily="18" charset="0"/>
                <a:ea typeface="Times New Roman" panose="02020603050405020304" pitchFamily="18" charset="0"/>
              </a:rPr>
              <a:t>TRUE</a:t>
            </a:r>
            <a:endParaRPr lang="en-NZ"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1571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7.3 Wired Ethernet</a:t>
            </a:r>
          </a:p>
        </p:txBody>
      </p:sp>
      <p:sp>
        <p:nvSpPr>
          <p:cNvPr id="3" name="Content Placeholder 2"/>
          <p:cNvSpPr>
            <a:spLocks noGrp="1"/>
          </p:cNvSpPr>
          <p:nvPr>
            <p:ph sz="quarter" idx="12"/>
          </p:nvPr>
        </p:nvSpPr>
        <p:spPr/>
        <p:txBody>
          <a:bodyPr/>
          <a:lstStyle/>
          <a:p>
            <a:r>
              <a:rPr lang="en-US" dirty="0"/>
              <a:t>Almost all LANs installed today use some form of Ethernet</a:t>
            </a:r>
          </a:p>
          <a:p>
            <a:r>
              <a:rPr lang="en-US" dirty="0"/>
              <a:t>It is a standard formalized by the </a:t>
            </a:r>
            <a:r>
              <a:rPr lang="en-US" dirty="0">
                <a:solidFill>
                  <a:srgbClr val="FF0000"/>
                </a:solidFill>
              </a:rPr>
              <a:t>IEEE as </a:t>
            </a:r>
            <a:r>
              <a:rPr lang="en-US" b="1" i="1" dirty="0">
                <a:solidFill>
                  <a:srgbClr val="FF0000"/>
                </a:solidFill>
              </a:rPr>
              <a:t>IEEE 802.3</a:t>
            </a:r>
          </a:p>
          <a:p>
            <a:r>
              <a:rPr lang="en-US" dirty="0"/>
              <a:t>Ethernet is a </a:t>
            </a:r>
            <a:r>
              <a:rPr lang="en-US" dirty="0">
                <a:solidFill>
                  <a:srgbClr val="FF0000"/>
                </a:solidFill>
              </a:rPr>
              <a:t>layer 2 protocol</a:t>
            </a:r>
          </a:p>
          <a:p>
            <a:pPr lvl="1"/>
            <a:r>
              <a:rPr lang="en-US" dirty="0"/>
              <a:t>Operates at the </a:t>
            </a:r>
            <a:r>
              <a:rPr lang="en-US" dirty="0">
                <a:solidFill>
                  <a:srgbClr val="FF0000"/>
                </a:solidFill>
              </a:rPr>
              <a:t>data link layer.</a:t>
            </a:r>
          </a:p>
          <a:p>
            <a:r>
              <a:rPr lang="en-US" dirty="0"/>
              <a:t>Every Ethernet </a:t>
            </a:r>
            <a:r>
              <a:rPr lang="en-US" dirty="0">
                <a:solidFill>
                  <a:srgbClr val="FF0000"/>
                </a:solidFill>
              </a:rPr>
              <a:t>LAN needs hardware at layer 1</a:t>
            </a:r>
            <a:r>
              <a:rPr lang="en-US" dirty="0"/>
              <a:t>.</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20</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339945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Topology</a:t>
            </a:r>
          </a:p>
        </p:txBody>
      </p:sp>
      <p:sp>
        <p:nvSpPr>
          <p:cNvPr id="3" name="Content Placeholder 2"/>
          <p:cNvSpPr>
            <a:spLocks noGrp="1"/>
          </p:cNvSpPr>
          <p:nvPr>
            <p:ph sz="quarter" idx="12"/>
          </p:nvPr>
        </p:nvSpPr>
        <p:spPr/>
        <p:txBody>
          <a:bodyPr/>
          <a:lstStyle/>
          <a:p>
            <a:r>
              <a:rPr lang="en-US" b="1" i="1" dirty="0"/>
              <a:t>Topology</a:t>
            </a:r>
            <a:r>
              <a:rPr lang="en-US" dirty="0"/>
              <a:t> is the basic geometric layout of the network</a:t>
            </a:r>
          </a:p>
          <a:p>
            <a:r>
              <a:rPr lang="en-US" dirty="0"/>
              <a:t>A </a:t>
            </a:r>
            <a:r>
              <a:rPr lang="en-US" b="1" i="1" dirty="0"/>
              <a:t>logical topology </a:t>
            </a:r>
            <a:r>
              <a:rPr lang="en-US" dirty="0"/>
              <a:t>is how the </a:t>
            </a:r>
            <a:r>
              <a:rPr lang="en-US" dirty="0">
                <a:solidFill>
                  <a:srgbClr val="FF0000"/>
                </a:solidFill>
              </a:rPr>
              <a:t>network works conceptually</a:t>
            </a:r>
          </a:p>
          <a:p>
            <a:r>
              <a:rPr lang="en-US" dirty="0"/>
              <a:t>A </a:t>
            </a:r>
            <a:r>
              <a:rPr lang="en-US" b="1" i="1" dirty="0"/>
              <a:t>physical topology </a:t>
            </a:r>
            <a:r>
              <a:rPr lang="en-US" dirty="0"/>
              <a:t>is how .the </a:t>
            </a:r>
            <a:r>
              <a:rPr lang="en-US" dirty="0">
                <a:solidFill>
                  <a:srgbClr val="FF0000"/>
                </a:solidFill>
              </a:rPr>
              <a:t>network is physically installed.</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21</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378340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Hub-Based Ethernet</a:t>
            </a:r>
          </a:p>
        </p:txBody>
      </p:sp>
      <p:sp>
        <p:nvSpPr>
          <p:cNvPr id="11" name="Content Placeholder 10"/>
          <p:cNvSpPr>
            <a:spLocks noGrp="1"/>
          </p:cNvSpPr>
          <p:nvPr>
            <p:ph sz="quarter" idx="14"/>
          </p:nvPr>
        </p:nvSpPr>
        <p:spPr>
          <a:xfrm>
            <a:off x="228600" y="1733550"/>
            <a:ext cx="5384800" cy="4419600"/>
          </a:xfrm>
        </p:spPr>
        <p:txBody>
          <a:bodyPr>
            <a:normAutofit fontScale="92500" lnSpcReduction="10000"/>
          </a:bodyPr>
          <a:lstStyle/>
          <a:p>
            <a:r>
              <a:rPr lang="en-US" dirty="0"/>
              <a:t>Hub-based </a:t>
            </a:r>
            <a:r>
              <a:rPr lang="en-US" dirty="0">
                <a:solidFill>
                  <a:srgbClr val="FF0000"/>
                </a:solidFill>
              </a:rPr>
              <a:t>Ethernet is seldom used by companies today</a:t>
            </a:r>
          </a:p>
          <a:p>
            <a:pPr lvl="1"/>
            <a:r>
              <a:rPr lang="en-US" dirty="0"/>
              <a:t>Cheap consumer-grade hubs are still available</a:t>
            </a:r>
          </a:p>
          <a:p>
            <a:r>
              <a:rPr lang="en-US" dirty="0"/>
              <a:t>When we use hubs, Ethernet’s </a:t>
            </a:r>
            <a:r>
              <a:rPr lang="en-US" dirty="0">
                <a:solidFill>
                  <a:srgbClr val="FF0000"/>
                </a:solidFill>
              </a:rPr>
              <a:t>logical topology is a </a:t>
            </a:r>
            <a:r>
              <a:rPr lang="en-US" b="1" i="1" dirty="0">
                <a:solidFill>
                  <a:srgbClr val="FF0000"/>
                </a:solidFill>
              </a:rPr>
              <a:t>bus topology</a:t>
            </a:r>
          </a:p>
          <a:p>
            <a:r>
              <a:rPr lang="en-US" dirty="0"/>
              <a:t>All frames from any computer flow to all computers on the LAN</a:t>
            </a:r>
          </a:p>
          <a:p>
            <a:pPr lvl="1"/>
            <a:r>
              <a:rPr lang="en-US" dirty="0"/>
              <a:t>Each computer only processes those frames addressed to it</a:t>
            </a:r>
          </a:p>
          <a:p>
            <a:r>
              <a:rPr lang="en-US" dirty="0"/>
              <a:t>This shared </a:t>
            </a:r>
            <a:r>
              <a:rPr lang="en-US" dirty="0">
                <a:solidFill>
                  <a:srgbClr val="FF0000"/>
                </a:solidFill>
              </a:rPr>
              <a:t>multipoint circuit is often called a </a:t>
            </a:r>
            <a:r>
              <a:rPr lang="en-US" b="1" i="1" dirty="0">
                <a:solidFill>
                  <a:srgbClr val="FF0000"/>
                </a:solidFill>
              </a:rPr>
              <a:t>collision domain</a:t>
            </a:r>
          </a:p>
        </p:txBody>
      </p:sp>
      <p:pic>
        <p:nvPicPr>
          <p:cNvPr id="7" name="Content Placeholder 6"/>
          <p:cNvPicPr>
            <a:picLocks noGrp="1" noChangeAspect="1"/>
          </p:cNvPicPr>
          <p:nvPr>
            <p:ph sz="quarter" idx="15"/>
          </p:nvPr>
        </p:nvPicPr>
        <p:blipFill>
          <a:blip r:embed="rId2"/>
          <a:stretch>
            <a:fillRect/>
          </a:stretch>
        </p:blipFill>
        <p:spPr>
          <a:xfrm>
            <a:off x="6400800" y="1752600"/>
            <a:ext cx="5384800" cy="3684336"/>
          </a:xfrm>
        </p:spPr>
      </p:pic>
      <p:sp>
        <p:nvSpPr>
          <p:cNvPr id="4" name="Slide Number Placeholder 3"/>
          <p:cNvSpPr>
            <a:spLocks noGrp="1"/>
          </p:cNvSpPr>
          <p:nvPr>
            <p:ph type="sldNum" sz="quarter" idx="10"/>
          </p:nvPr>
        </p:nvSpPr>
        <p:spPr/>
        <p:txBody>
          <a:bodyPr/>
          <a:lstStyle/>
          <a:p>
            <a:r>
              <a:rPr lang="en-US" dirty="0"/>
              <a:t>7-</a:t>
            </a:r>
            <a:fld id="{67B19427-F580-D146-B60E-4CADEE75497F}" type="slidenum">
              <a:rPr lang="en-US" smtClean="0"/>
              <a:pPr/>
              <a:t>22</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25895632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93089"/>
            <a:ext cx="11379200" cy="975360"/>
          </a:xfrm>
        </p:spPr>
        <p:txBody>
          <a:bodyPr/>
          <a:lstStyle/>
          <a:p>
            <a:r>
              <a:rPr lang="en-US" dirty="0">
                <a:solidFill>
                  <a:srgbClr val="0000FF"/>
                </a:solidFill>
              </a:rPr>
              <a:t>Switch-Based Ethernet</a:t>
            </a:r>
          </a:p>
        </p:txBody>
      </p:sp>
      <p:sp>
        <p:nvSpPr>
          <p:cNvPr id="3" name="Content Placeholder 2"/>
          <p:cNvSpPr>
            <a:spLocks noGrp="1"/>
          </p:cNvSpPr>
          <p:nvPr>
            <p:ph sz="quarter" idx="14"/>
          </p:nvPr>
        </p:nvSpPr>
        <p:spPr>
          <a:xfrm>
            <a:off x="257176" y="1568449"/>
            <a:ext cx="5384800" cy="4419600"/>
          </a:xfrm>
        </p:spPr>
        <p:txBody>
          <a:bodyPr>
            <a:normAutofit fontScale="92500"/>
          </a:bodyPr>
          <a:lstStyle/>
          <a:p>
            <a:r>
              <a:rPr lang="en-US" dirty="0"/>
              <a:t>Almost all corporate installations of Ethernet today </a:t>
            </a:r>
            <a:r>
              <a:rPr lang="en-US" dirty="0">
                <a:solidFill>
                  <a:srgbClr val="FF0000"/>
                </a:solidFill>
              </a:rPr>
              <a:t>use switches</a:t>
            </a:r>
          </a:p>
          <a:p>
            <a:r>
              <a:rPr lang="en-US" dirty="0"/>
              <a:t>Used this way, Ethernet’s topology is a </a:t>
            </a:r>
            <a:r>
              <a:rPr lang="en-US" dirty="0">
                <a:solidFill>
                  <a:srgbClr val="FF0000"/>
                </a:solidFill>
              </a:rPr>
              <a:t>logical star and a physical star.</a:t>
            </a:r>
          </a:p>
          <a:p>
            <a:r>
              <a:rPr lang="en-US" dirty="0"/>
              <a:t>Each circuit connected to a switch </a:t>
            </a:r>
            <a:r>
              <a:rPr lang="en-US" dirty="0">
                <a:solidFill>
                  <a:srgbClr val="FF0000"/>
                </a:solidFill>
              </a:rPr>
              <a:t>is not shared with any other devices.</a:t>
            </a:r>
          </a:p>
          <a:p>
            <a:r>
              <a:rPr lang="en-US" dirty="0"/>
              <a:t>When a switch receives a frame, it </a:t>
            </a:r>
            <a:r>
              <a:rPr lang="en-US" dirty="0">
                <a:solidFill>
                  <a:srgbClr val="FF0000"/>
                </a:solidFill>
              </a:rPr>
              <a:t>looks at the address and retransmits the frame only </a:t>
            </a:r>
            <a:r>
              <a:rPr lang="en-US" dirty="0"/>
              <a:t>on the circuit connected to that computer.</a:t>
            </a:r>
          </a:p>
        </p:txBody>
      </p:sp>
      <p:pic>
        <p:nvPicPr>
          <p:cNvPr id="7" name="Content Placeholder 6"/>
          <p:cNvPicPr>
            <a:picLocks noGrp="1" noChangeAspect="1"/>
          </p:cNvPicPr>
          <p:nvPr>
            <p:ph sz="quarter" idx="15"/>
          </p:nvPr>
        </p:nvPicPr>
        <p:blipFill>
          <a:blip r:embed="rId2"/>
          <a:stretch>
            <a:fillRect/>
          </a:stretch>
        </p:blipFill>
        <p:spPr>
          <a:xfrm>
            <a:off x="6400800" y="1548651"/>
            <a:ext cx="5384800" cy="3760698"/>
          </a:xfrm>
          <a:prstGeom prst="rect">
            <a:avLst/>
          </a:prstGeom>
        </p:spPr>
      </p:pic>
      <p:sp>
        <p:nvSpPr>
          <p:cNvPr id="5" name="Slide Number Placeholder 4"/>
          <p:cNvSpPr>
            <a:spLocks noGrp="1"/>
          </p:cNvSpPr>
          <p:nvPr>
            <p:ph type="sldNum" sz="quarter" idx="10"/>
          </p:nvPr>
        </p:nvSpPr>
        <p:spPr/>
        <p:txBody>
          <a:bodyPr/>
          <a:lstStyle/>
          <a:p>
            <a:r>
              <a:rPr lang="en-US" dirty="0"/>
              <a:t>7-</a:t>
            </a:r>
            <a:fld id="{67B19427-F580-D146-B60E-4CADEE75497F}" type="slidenum">
              <a:rPr lang="en-US" smtClean="0"/>
              <a:pPr/>
              <a:t>23</a:t>
            </a:fld>
            <a:endParaRPr lang="en-US" dirty="0"/>
          </a:p>
        </p:txBody>
      </p:sp>
      <p:sp>
        <p:nvSpPr>
          <p:cNvPr id="6" name="Footer Placeholder 5"/>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21019355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Switch-Based Ethernet </a:t>
            </a:r>
            <a:r>
              <a:rPr lang="en-US" sz="2400" dirty="0">
                <a:solidFill>
                  <a:srgbClr val="0000FF"/>
                </a:solidFill>
              </a:rPr>
              <a:t>Continued</a:t>
            </a:r>
          </a:p>
        </p:txBody>
      </p:sp>
      <p:sp>
        <p:nvSpPr>
          <p:cNvPr id="3" name="Content Placeholder 2"/>
          <p:cNvSpPr>
            <a:spLocks noGrp="1"/>
          </p:cNvSpPr>
          <p:nvPr>
            <p:ph sz="quarter" idx="14"/>
          </p:nvPr>
        </p:nvSpPr>
        <p:spPr>
          <a:xfrm>
            <a:off x="304800" y="1661159"/>
            <a:ext cx="5384800" cy="4419600"/>
          </a:xfrm>
        </p:spPr>
        <p:txBody>
          <a:bodyPr>
            <a:normAutofit fontScale="92500" lnSpcReduction="10000"/>
          </a:bodyPr>
          <a:lstStyle/>
          <a:p>
            <a:r>
              <a:rPr lang="en-US" dirty="0"/>
              <a:t>To know which circuit to use, the switch uses a </a:t>
            </a:r>
            <a:r>
              <a:rPr lang="en-US" b="1" i="1" dirty="0">
                <a:solidFill>
                  <a:srgbClr val="FF0000"/>
                </a:solidFill>
              </a:rPr>
              <a:t>forwarding table </a:t>
            </a:r>
            <a:r>
              <a:rPr lang="en-US" dirty="0"/>
              <a:t>that is very similar a routing table</a:t>
            </a:r>
          </a:p>
          <a:p>
            <a:pPr lvl="1"/>
            <a:r>
              <a:rPr lang="en-US" dirty="0"/>
              <a:t>Called </a:t>
            </a:r>
            <a:r>
              <a:rPr lang="en-US" dirty="0">
                <a:solidFill>
                  <a:srgbClr val="FF0000"/>
                </a:solidFill>
              </a:rPr>
              <a:t>a </a:t>
            </a:r>
            <a:r>
              <a:rPr lang="en-US" b="1" i="1" dirty="0">
                <a:solidFill>
                  <a:srgbClr val="FF0000"/>
                </a:solidFill>
              </a:rPr>
              <a:t>layer 2 switch</a:t>
            </a:r>
          </a:p>
          <a:p>
            <a:r>
              <a:rPr lang="en-US" dirty="0">
                <a:solidFill>
                  <a:srgbClr val="FF0000"/>
                </a:solidFill>
              </a:rPr>
              <a:t>Switches learn addresses to build the forwarding table.</a:t>
            </a:r>
          </a:p>
          <a:p>
            <a:r>
              <a:rPr lang="en-US" dirty="0"/>
              <a:t>If a switch receives a frame with a destination address that is not in the forwarding table, must send to all ports</a:t>
            </a:r>
          </a:p>
          <a:p>
            <a:pPr lvl="1"/>
            <a:r>
              <a:rPr lang="en-US" dirty="0"/>
              <a:t>When the correct </a:t>
            </a:r>
            <a:r>
              <a:rPr lang="en-US" dirty="0">
                <a:solidFill>
                  <a:srgbClr val="FF0000"/>
                </a:solidFill>
              </a:rPr>
              <a:t>computer responds, it is added to the forwarding table.</a:t>
            </a:r>
          </a:p>
        </p:txBody>
      </p:sp>
      <p:sp>
        <p:nvSpPr>
          <p:cNvPr id="5" name="Slide Number Placeholder 4"/>
          <p:cNvSpPr>
            <a:spLocks noGrp="1"/>
          </p:cNvSpPr>
          <p:nvPr>
            <p:ph type="sldNum" sz="quarter" idx="10"/>
          </p:nvPr>
        </p:nvSpPr>
        <p:spPr/>
        <p:txBody>
          <a:bodyPr/>
          <a:lstStyle/>
          <a:p>
            <a:r>
              <a:rPr lang="en-US" dirty="0"/>
              <a:t>7-</a:t>
            </a:r>
            <a:fld id="{67B19427-F580-D146-B60E-4CADEE75497F}" type="slidenum">
              <a:rPr lang="en-US" smtClean="0"/>
              <a:pPr/>
              <a:t>24</a:t>
            </a:fld>
            <a:endParaRPr lang="en-US" dirty="0"/>
          </a:p>
        </p:txBody>
      </p:sp>
      <p:sp>
        <p:nvSpPr>
          <p:cNvPr id="6" name="Footer Placeholder 5"/>
          <p:cNvSpPr>
            <a:spLocks noGrp="1"/>
          </p:cNvSpPr>
          <p:nvPr>
            <p:ph type="ftr" sz="quarter" idx="11"/>
          </p:nvPr>
        </p:nvSpPr>
        <p:spPr/>
        <p:txBody>
          <a:bodyPr/>
          <a:lstStyle/>
          <a:p>
            <a:r>
              <a:rPr lang="en-US" dirty="0"/>
              <a:t>Copyright ©2021 John Wiley &amp; Sons, Inc. </a:t>
            </a:r>
          </a:p>
        </p:txBody>
      </p:sp>
      <p:pic>
        <p:nvPicPr>
          <p:cNvPr id="16" name="Picture 15">
            <a:extLst>
              <a:ext uri="{FF2B5EF4-FFF2-40B4-BE49-F238E27FC236}">
                <a16:creationId xmlns:a16="http://schemas.microsoft.com/office/drawing/2014/main" id="{57EC0EF1-CC21-4F09-4C2E-B03D45E41E85}"/>
              </a:ext>
            </a:extLst>
          </p:cNvPr>
          <p:cNvPicPr>
            <a:picLocks noChangeAspect="1"/>
          </p:cNvPicPr>
          <p:nvPr/>
        </p:nvPicPr>
        <p:blipFill>
          <a:blip r:embed="rId2"/>
          <a:stretch>
            <a:fillRect/>
          </a:stretch>
        </p:blipFill>
        <p:spPr>
          <a:xfrm>
            <a:off x="6324600" y="2028192"/>
            <a:ext cx="5488964" cy="3534407"/>
          </a:xfrm>
          <a:prstGeom prst="rect">
            <a:avLst/>
          </a:prstGeom>
        </p:spPr>
      </p:pic>
    </p:spTree>
    <p:extLst>
      <p:ext uri="{BB962C8B-B14F-4D97-AF65-F5344CB8AC3E}">
        <p14:creationId xmlns:p14="http://schemas.microsoft.com/office/powerpoint/2010/main" val="26171033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669289"/>
            <a:ext cx="11379200" cy="975360"/>
          </a:xfrm>
        </p:spPr>
        <p:txBody>
          <a:bodyPr/>
          <a:lstStyle/>
          <a:p>
            <a:r>
              <a:rPr lang="en-US" dirty="0">
                <a:solidFill>
                  <a:srgbClr val="0000FF"/>
                </a:solidFill>
              </a:rPr>
              <a:t>Media Access Control(MAC)</a:t>
            </a:r>
          </a:p>
        </p:txBody>
      </p:sp>
      <p:sp>
        <p:nvSpPr>
          <p:cNvPr id="3" name="Content Placeholder 2"/>
          <p:cNvSpPr>
            <a:spLocks noGrp="1"/>
          </p:cNvSpPr>
          <p:nvPr>
            <p:ph sz="quarter" idx="12"/>
          </p:nvPr>
        </p:nvSpPr>
        <p:spPr>
          <a:xfrm>
            <a:off x="228600" y="1600200"/>
            <a:ext cx="11379200" cy="4495800"/>
          </a:xfrm>
        </p:spPr>
        <p:txBody>
          <a:bodyPr/>
          <a:lstStyle/>
          <a:p>
            <a:r>
              <a:rPr lang="en-US" dirty="0"/>
              <a:t>When several computers share the same collision domain it is important to control their access to the media.</a:t>
            </a:r>
          </a:p>
          <a:p>
            <a:r>
              <a:rPr lang="en-US" dirty="0"/>
              <a:t>Collisions must be prevented or recovered from</a:t>
            </a:r>
          </a:p>
          <a:p>
            <a:pPr lvl="1"/>
            <a:r>
              <a:rPr lang="en-US" dirty="0"/>
              <a:t>This is called </a:t>
            </a:r>
            <a:r>
              <a:rPr lang="en-US" b="1" i="1" dirty="0">
                <a:solidFill>
                  <a:srgbClr val="FF0000"/>
                </a:solidFill>
              </a:rPr>
              <a:t>media access control</a:t>
            </a:r>
          </a:p>
          <a:p>
            <a:r>
              <a:rPr lang="en-US" dirty="0"/>
              <a:t>Ethernet uses a </a:t>
            </a:r>
            <a:r>
              <a:rPr lang="en-US" dirty="0">
                <a:solidFill>
                  <a:srgbClr val="FF0000"/>
                </a:solidFill>
              </a:rPr>
              <a:t>contention-based media access control technique </a:t>
            </a:r>
            <a:r>
              <a:rPr lang="en-US" dirty="0"/>
              <a:t>called </a:t>
            </a:r>
            <a:r>
              <a:rPr lang="en-US" b="1" i="1" dirty="0"/>
              <a:t>Carrier Sense Multiple Access with Collision Detection </a:t>
            </a:r>
            <a:r>
              <a:rPr lang="en-US" dirty="0"/>
              <a:t>(CSMA/CD)</a:t>
            </a:r>
          </a:p>
          <a:p>
            <a:pPr lvl="1"/>
            <a:r>
              <a:rPr lang="en-US" dirty="0">
                <a:solidFill>
                  <a:srgbClr val="FF0000"/>
                </a:solidFill>
              </a:rPr>
              <a:t>Wait until the circuit is free and then transmit</a:t>
            </a:r>
          </a:p>
          <a:p>
            <a:r>
              <a:rPr lang="en-US" dirty="0"/>
              <a:t>The </a:t>
            </a:r>
            <a:r>
              <a:rPr lang="en-US" dirty="0">
                <a:solidFill>
                  <a:srgbClr val="FF0000"/>
                </a:solidFill>
              </a:rPr>
              <a:t>solution to collisions </a:t>
            </a:r>
            <a:r>
              <a:rPr lang="en-US" dirty="0"/>
              <a:t>is to this is to </a:t>
            </a:r>
            <a:r>
              <a:rPr lang="en-US" dirty="0">
                <a:solidFill>
                  <a:srgbClr val="FF0000"/>
                </a:solidFill>
              </a:rPr>
              <a:t>listen while transmitting</a:t>
            </a:r>
            <a:r>
              <a:rPr lang="en-US" dirty="0"/>
              <a:t>, better known as </a:t>
            </a:r>
            <a:r>
              <a:rPr lang="en-US" b="1" i="1" dirty="0"/>
              <a:t>collision detection </a:t>
            </a:r>
            <a:r>
              <a:rPr lang="en-US" dirty="0"/>
              <a:t>(CD).</a:t>
            </a:r>
          </a:p>
          <a:p>
            <a:r>
              <a:rPr lang="en-US" dirty="0"/>
              <a:t>If the NIC detects a signal, it sends a jamming signal.</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25</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78652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Types of Ethernet</a:t>
            </a:r>
          </a:p>
        </p:txBody>
      </p:sp>
      <p:pic>
        <p:nvPicPr>
          <p:cNvPr id="6" name="Content Placeholder 5"/>
          <p:cNvPicPr>
            <a:picLocks noGrp="1" noChangeAspect="1"/>
          </p:cNvPicPr>
          <p:nvPr>
            <p:ph sz="quarter" idx="12"/>
          </p:nvPr>
        </p:nvPicPr>
        <p:blipFill>
          <a:blip r:embed="rId2"/>
          <a:stretch>
            <a:fillRect/>
          </a:stretch>
        </p:blipFill>
        <p:spPr>
          <a:xfrm>
            <a:off x="5791200" y="777241"/>
            <a:ext cx="4009705" cy="5172370"/>
          </a:xfrm>
          <a:prstGeom prst="rect">
            <a:avLst/>
          </a:prstGeom>
        </p:spPr>
      </p:pic>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26</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4032921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2452-06EF-FDE1-C524-A6985C036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A351F-ADF1-BA62-E0D7-A11B5F334F22}"/>
              </a:ext>
            </a:extLst>
          </p:cNvPr>
          <p:cNvSpPr>
            <a:spLocks noGrp="1"/>
          </p:cNvSpPr>
          <p:nvPr>
            <p:ph type="title"/>
          </p:nvPr>
        </p:nvSpPr>
        <p:spPr>
          <a:xfrm>
            <a:off x="228600" y="548640"/>
            <a:ext cx="2413000" cy="975360"/>
          </a:xfrm>
        </p:spPr>
        <p:txBody>
          <a:bodyPr>
            <a:normAutofit/>
          </a:bodyPr>
          <a:lstStyle/>
          <a:p>
            <a:r>
              <a:rPr lang="en-US" sz="4400" dirty="0">
                <a:solidFill>
                  <a:srgbClr val="0000FF"/>
                </a:solidFill>
              </a:rPr>
              <a:t>QUIZ 5</a:t>
            </a:r>
          </a:p>
        </p:txBody>
      </p:sp>
      <p:sp>
        <p:nvSpPr>
          <p:cNvPr id="3" name="Content Placeholder 2">
            <a:extLst>
              <a:ext uri="{FF2B5EF4-FFF2-40B4-BE49-F238E27FC236}">
                <a16:creationId xmlns:a16="http://schemas.microsoft.com/office/drawing/2014/main" id="{E8FE4192-2823-4A53-04F8-2787A041DFC0}"/>
              </a:ext>
            </a:extLst>
          </p:cNvPr>
          <p:cNvSpPr>
            <a:spLocks noGrp="1"/>
          </p:cNvSpPr>
          <p:nvPr>
            <p:ph sz="quarter" idx="12"/>
          </p:nvPr>
        </p:nvSpPr>
        <p:spPr>
          <a:xfrm>
            <a:off x="381000" y="1549400"/>
            <a:ext cx="10439400" cy="2413000"/>
          </a:xfrm>
        </p:spPr>
        <p:txBody>
          <a:bodyPr>
            <a:normAutofit/>
          </a:bodyPr>
          <a:lstStyle/>
          <a:p>
            <a:pPr marL="0" lvl="0" indent="0">
              <a:buNone/>
            </a:pPr>
            <a:r>
              <a:rPr lang="en-NZ" sz="2400" dirty="0">
                <a:latin typeface="Times New Roman" panose="02020603050405020304" pitchFamily="18" charset="0"/>
                <a:ea typeface="Times New Roman" panose="02020603050405020304" pitchFamily="18" charset="0"/>
              </a:rPr>
              <a:t>A switch always broadcasts all the packets it receives to all the computers that are connected to the switch. (TRUE/FALSE)?.</a:t>
            </a:r>
          </a:p>
        </p:txBody>
      </p:sp>
      <p:sp>
        <p:nvSpPr>
          <p:cNvPr id="4" name="Slide Number Placeholder 3">
            <a:extLst>
              <a:ext uri="{FF2B5EF4-FFF2-40B4-BE49-F238E27FC236}">
                <a16:creationId xmlns:a16="http://schemas.microsoft.com/office/drawing/2014/main" id="{FD8E5887-63D1-0515-B079-5A600EAD046F}"/>
              </a:ext>
            </a:extLst>
          </p:cNvPr>
          <p:cNvSpPr>
            <a:spLocks noGrp="1"/>
          </p:cNvSpPr>
          <p:nvPr>
            <p:ph type="sldNum" sz="quarter" idx="11"/>
          </p:nvPr>
        </p:nvSpPr>
        <p:spPr/>
        <p:txBody>
          <a:bodyPr/>
          <a:lstStyle/>
          <a:p>
            <a:r>
              <a:rPr lang="en-US" dirty="0"/>
              <a:t>3-</a:t>
            </a:r>
            <a:fld id="{67B19427-F580-D146-B60E-4CADEE75497F}" type="slidenum">
              <a:rPr lang="en-US" smtClean="0"/>
              <a:pPr/>
              <a:t>27</a:t>
            </a:fld>
            <a:endParaRPr lang="en-US" dirty="0"/>
          </a:p>
        </p:txBody>
      </p:sp>
      <p:sp>
        <p:nvSpPr>
          <p:cNvPr id="5" name="Footer Placeholder 4">
            <a:extLst>
              <a:ext uri="{FF2B5EF4-FFF2-40B4-BE49-F238E27FC236}">
                <a16:creationId xmlns:a16="http://schemas.microsoft.com/office/drawing/2014/main" id="{3C4DA500-E190-6D23-8657-33AEAA8CD2B6}"/>
              </a:ext>
            </a:extLst>
          </p:cNvPr>
          <p:cNvSpPr>
            <a:spLocks noGrp="1"/>
          </p:cNvSpPr>
          <p:nvPr>
            <p:ph type="ftr" sz="quarter" idx="10"/>
          </p:nvPr>
        </p:nvSpPr>
        <p:spPr/>
        <p:txBody>
          <a:bodyPr/>
          <a:lstStyle/>
          <a:p>
            <a:r>
              <a:rPr lang="en-US" dirty="0"/>
              <a:t>Copyright ©2021 John Wiley &amp; Sons, Inc. </a:t>
            </a:r>
          </a:p>
        </p:txBody>
      </p:sp>
      <p:sp>
        <p:nvSpPr>
          <p:cNvPr id="7" name="TextBox 6">
            <a:extLst>
              <a:ext uri="{FF2B5EF4-FFF2-40B4-BE49-F238E27FC236}">
                <a16:creationId xmlns:a16="http://schemas.microsoft.com/office/drawing/2014/main" id="{FA675855-37F8-C760-BF9A-87BD359B9C9C}"/>
              </a:ext>
            </a:extLst>
          </p:cNvPr>
          <p:cNvSpPr txBox="1"/>
          <p:nvPr/>
        </p:nvSpPr>
        <p:spPr>
          <a:xfrm>
            <a:off x="2209800" y="5334000"/>
            <a:ext cx="7086600" cy="523220"/>
          </a:xfrm>
          <a:prstGeom prst="rect">
            <a:avLst/>
          </a:prstGeom>
          <a:noFill/>
        </p:spPr>
        <p:txBody>
          <a:bodyPr wrap="square">
            <a:spAutoFit/>
          </a:bodyPr>
          <a:lstStyle/>
          <a:p>
            <a:pPr marL="457200" indent="-228600"/>
            <a:r>
              <a:rPr lang="en-US" sz="2800" dirty="0">
                <a:solidFill>
                  <a:srgbClr val="FF0000"/>
                </a:solidFill>
                <a:effectLst/>
                <a:latin typeface="Times New Roman" panose="02020603050405020304" pitchFamily="18" charset="0"/>
                <a:ea typeface="Times New Roman" panose="02020603050405020304" pitchFamily="18" charset="0"/>
              </a:rPr>
              <a:t>Ans: </a:t>
            </a:r>
            <a:r>
              <a:rPr lang="en-US" sz="2800" dirty="0">
                <a:effectLst/>
                <a:latin typeface="Times New Roman" panose="02020603050405020304" pitchFamily="18" charset="0"/>
                <a:ea typeface="Times New Roman" panose="02020603050405020304" pitchFamily="18" charset="0"/>
              </a:rPr>
              <a:t>FALSE</a:t>
            </a:r>
            <a:endParaRPr lang="en-NZ"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1296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2452-06EF-FDE1-C524-A6985C036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A351F-ADF1-BA62-E0D7-A11B5F334F22}"/>
              </a:ext>
            </a:extLst>
          </p:cNvPr>
          <p:cNvSpPr>
            <a:spLocks noGrp="1"/>
          </p:cNvSpPr>
          <p:nvPr>
            <p:ph type="title"/>
          </p:nvPr>
        </p:nvSpPr>
        <p:spPr>
          <a:xfrm>
            <a:off x="228600" y="548640"/>
            <a:ext cx="2413000" cy="975360"/>
          </a:xfrm>
        </p:spPr>
        <p:txBody>
          <a:bodyPr>
            <a:normAutofit/>
          </a:bodyPr>
          <a:lstStyle/>
          <a:p>
            <a:r>
              <a:rPr lang="en-US" sz="4400" dirty="0">
                <a:solidFill>
                  <a:srgbClr val="0000FF"/>
                </a:solidFill>
              </a:rPr>
              <a:t>QUIZ 6</a:t>
            </a:r>
          </a:p>
        </p:txBody>
      </p:sp>
      <p:sp>
        <p:nvSpPr>
          <p:cNvPr id="3" name="Content Placeholder 2">
            <a:extLst>
              <a:ext uri="{FF2B5EF4-FFF2-40B4-BE49-F238E27FC236}">
                <a16:creationId xmlns:a16="http://schemas.microsoft.com/office/drawing/2014/main" id="{E8FE4192-2823-4A53-04F8-2787A041DFC0}"/>
              </a:ext>
            </a:extLst>
          </p:cNvPr>
          <p:cNvSpPr>
            <a:spLocks noGrp="1"/>
          </p:cNvSpPr>
          <p:nvPr>
            <p:ph sz="quarter" idx="12"/>
          </p:nvPr>
        </p:nvSpPr>
        <p:spPr>
          <a:xfrm>
            <a:off x="381000" y="1549400"/>
            <a:ext cx="10744200" cy="2413000"/>
          </a:xfrm>
        </p:spPr>
        <p:txBody>
          <a:bodyPr>
            <a:normAutofit/>
          </a:bodyPr>
          <a:lstStyle/>
          <a:p>
            <a:pPr marL="0" lvl="0" indent="0">
              <a:buNone/>
            </a:pPr>
            <a:r>
              <a:rPr lang="en-NZ" sz="2400" dirty="0">
                <a:latin typeface="Times New Roman" panose="02020603050405020304" pitchFamily="18" charset="0"/>
                <a:ea typeface="Times New Roman" panose="02020603050405020304" pitchFamily="18" charset="0"/>
              </a:rPr>
              <a:t>A forwarding table tells a switch which port it should send out a packet to get to the </a:t>
            </a:r>
            <a:r>
              <a:rPr lang="en-NZ" sz="2400">
                <a:latin typeface="Times New Roman" panose="02020603050405020304" pitchFamily="18" charset="0"/>
                <a:ea typeface="Times New Roman" panose="02020603050405020304" pitchFamily="18" charset="0"/>
              </a:rPr>
              <a:t>destination computer. </a:t>
            </a:r>
            <a:r>
              <a:rPr lang="en-NZ" sz="2400" dirty="0">
                <a:latin typeface="Times New Roman" panose="02020603050405020304" pitchFamily="18" charset="0"/>
                <a:ea typeface="Times New Roman" panose="02020603050405020304" pitchFamily="18" charset="0"/>
              </a:rPr>
              <a:t>(TRUE/FALSE)?														</a:t>
            </a:r>
          </a:p>
        </p:txBody>
      </p:sp>
      <p:sp>
        <p:nvSpPr>
          <p:cNvPr id="4" name="Slide Number Placeholder 3">
            <a:extLst>
              <a:ext uri="{FF2B5EF4-FFF2-40B4-BE49-F238E27FC236}">
                <a16:creationId xmlns:a16="http://schemas.microsoft.com/office/drawing/2014/main" id="{FD8E5887-63D1-0515-B079-5A600EAD046F}"/>
              </a:ext>
            </a:extLst>
          </p:cNvPr>
          <p:cNvSpPr>
            <a:spLocks noGrp="1"/>
          </p:cNvSpPr>
          <p:nvPr>
            <p:ph type="sldNum" sz="quarter" idx="11"/>
          </p:nvPr>
        </p:nvSpPr>
        <p:spPr/>
        <p:txBody>
          <a:bodyPr/>
          <a:lstStyle/>
          <a:p>
            <a:r>
              <a:rPr lang="en-US" dirty="0"/>
              <a:t>3-</a:t>
            </a:r>
            <a:fld id="{67B19427-F580-D146-B60E-4CADEE75497F}" type="slidenum">
              <a:rPr lang="en-US" smtClean="0"/>
              <a:pPr/>
              <a:t>28</a:t>
            </a:fld>
            <a:endParaRPr lang="en-US" dirty="0"/>
          </a:p>
        </p:txBody>
      </p:sp>
      <p:sp>
        <p:nvSpPr>
          <p:cNvPr id="5" name="Footer Placeholder 4">
            <a:extLst>
              <a:ext uri="{FF2B5EF4-FFF2-40B4-BE49-F238E27FC236}">
                <a16:creationId xmlns:a16="http://schemas.microsoft.com/office/drawing/2014/main" id="{3C4DA500-E190-6D23-8657-33AEAA8CD2B6}"/>
              </a:ext>
            </a:extLst>
          </p:cNvPr>
          <p:cNvSpPr>
            <a:spLocks noGrp="1"/>
          </p:cNvSpPr>
          <p:nvPr>
            <p:ph type="ftr" sz="quarter" idx="10"/>
          </p:nvPr>
        </p:nvSpPr>
        <p:spPr/>
        <p:txBody>
          <a:bodyPr/>
          <a:lstStyle/>
          <a:p>
            <a:r>
              <a:rPr lang="en-US" dirty="0"/>
              <a:t>Copyright ©2021 John Wiley &amp; Sons, Inc. </a:t>
            </a:r>
          </a:p>
        </p:txBody>
      </p:sp>
      <p:sp>
        <p:nvSpPr>
          <p:cNvPr id="7" name="TextBox 6">
            <a:extLst>
              <a:ext uri="{FF2B5EF4-FFF2-40B4-BE49-F238E27FC236}">
                <a16:creationId xmlns:a16="http://schemas.microsoft.com/office/drawing/2014/main" id="{FA675855-37F8-C760-BF9A-87BD359B9C9C}"/>
              </a:ext>
            </a:extLst>
          </p:cNvPr>
          <p:cNvSpPr txBox="1"/>
          <p:nvPr/>
        </p:nvSpPr>
        <p:spPr>
          <a:xfrm>
            <a:off x="2209800" y="5334000"/>
            <a:ext cx="7086600" cy="523220"/>
          </a:xfrm>
          <a:prstGeom prst="rect">
            <a:avLst/>
          </a:prstGeom>
          <a:noFill/>
        </p:spPr>
        <p:txBody>
          <a:bodyPr wrap="square">
            <a:spAutoFit/>
          </a:bodyPr>
          <a:lstStyle/>
          <a:p>
            <a:pPr marL="457200" indent="-228600"/>
            <a:r>
              <a:rPr lang="en-US" sz="2800" dirty="0">
                <a:solidFill>
                  <a:srgbClr val="FF0000"/>
                </a:solidFill>
                <a:effectLst/>
                <a:latin typeface="Times New Roman" panose="02020603050405020304" pitchFamily="18" charset="0"/>
                <a:ea typeface="Times New Roman" panose="02020603050405020304" pitchFamily="18" charset="0"/>
              </a:rPr>
              <a:t>Ans: </a:t>
            </a:r>
            <a:r>
              <a:rPr lang="en-US" sz="2800" dirty="0">
                <a:latin typeface="Times New Roman" panose="02020603050405020304" pitchFamily="18" charset="0"/>
                <a:ea typeface="Times New Roman" panose="02020603050405020304" pitchFamily="18" charset="0"/>
              </a:rPr>
              <a:t>TRUE</a:t>
            </a:r>
            <a:endParaRPr lang="en-NZ"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88136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7.4 Wireless Ethernet</a:t>
            </a:r>
          </a:p>
        </p:txBody>
      </p:sp>
      <p:sp>
        <p:nvSpPr>
          <p:cNvPr id="3" name="Content Placeholder 2"/>
          <p:cNvSpPr>
            <a:spLocks noGrp="1"/>
          </p:cNvSpPr>
          <p:nvPr>
            <p:ph sz="quarter" idx="12"/>
          </p:nvPr>
        </p:nvSpPr>
        <p:spPr/>
        <p:txBody>
          <a:bodyPr/>
          <a:lstStyle/>
          <a:p>
            <a:r>
              <a:rPr lang="en-US" b="1" i="1" dirty="0"/>
              <a:t>Wireless Ethernet </a:t>
            </a:r>
            <a:r>
              <a:rPr lang="en-US" dirty="0"/>
              <a:t>is the commercial name for a </a:t>
            </a:r>
            <a:r>
              <a:rPr lang="en-US" dirty="0">
                <a:solidFill>
                  <a:srgbClr val="FF0000"/>
                </a:solidFill>
              </a:rPr>
              <a:t>set of standards developed by the IEEE 802.11 standards group</a:t>
            </a:r>
          </a:p>
          <a:p>
            <a:pPr lvl="1"/>
            <a:r>
              <a:rPr lang="en-US" dirty="0"/>
              <a:t>commonly called </a:t>
            </a:r>
            <a:r>
              <a:rPr lang="en-US" b="1" i="1" dirty="0"/>
              <a:t>Wi-Fi</a:t>
            </a:r>
          </a:p>
          <a:p>
            <a:r>
              <a:rPr lang="en-US" dirty="0"/>
              <a:t>The 802.11 family of technologies is much like the </a:t>
            </a:r>
            <a:r>
              <a:rPr lang="en-US" dirty="0">
                <a:solidFill>
                  <a:srgbClr val="FF0000"/>
                </a:solidFill>
              </a:rPr>
              <a:t>Ethernet family</a:t>
            </a:r>
          </a:p>
          <a:p>
            <a:r>
              <a:rPr lang="en-US" dirty="0"/>
              <a:t>The logical and physical topologies of Wi-Fi are the same as those of hub-based Ethernet: a physical star and a logical bus.</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29</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7603625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00FF"/>
                </a:solidFill>
              </a:rPr>
              <a:t>Wireless Media </a:t>
            </a:r>
            <a:r>
              <a:rPr lang="en-US" dirty="0">
                <a:solidFill>
                  <a:srgbClr val="0000FF"/>
                </a:solidFill>
              </a:rPr>
              <a:t>Access Control</a:t>
            </a:r>
          </a:p>
        </p:txBody>
      </p:sp>
      <p:sp>
        <p:nvSpPr>
          <p:cNvPr id="3" name="Content Placeholder 2"/>
          <p:cNvSpPr>
            <a:spLocks noGrp="1"/>
          </p:cNvSpPr>
          <p:nvPr>
            <p:ph sz="quarter" idx="12"/>
          </p:nvPr>
        </p:nvSpPr>
        <p:spPr/>
        <p:txBody>
          <a:bodyPr/>
          <a:lstStyle/>
          <a:p>
            <a:r>
              <a:rPr lang="en-US" dirty="0"/>
              <a:t>Media access control in Wi-Fi is </a:t>
            </a:r>
            <a:r>
              <a:rPr lang="en-US" b="1" i="1" dirty="0"/>
              <a:t>Carrier Sense Multiple Access with Collision Avoidance </a:t>
            </a:r>
            <a:r>
              <a:rPr lang="en-US" dirty="0">
                <a:solidFill>
                  <a:srgbClr val="FF0000"/>
                </a:solidFill>
              </a:rPr>
              <a:t>(CSMA/CA)</a:t>
            </a:r>
          </a:p>
          <a:p>
            <a:pPr lvl="1"/>
            <a:r>
              <a:rPr lang="en-US" dirty="0"/>
              <a:t>Similar to Ethernet</a:t>
            </a:r>
          </a:p>
          <a:p>
            <a:r>
              <a:rPr lang="en-US" dirty="0">
                <a:solidFill>
                  <a:srgbClr val="FF0000"/>
                </a:solidFill>
              </a:rPr>
              <a:t>Detecting collisions is more difficult</a:t>
            </a:r>
            <a:r>
              <a:rPr lang="en-US" dirty="0"/>
              <a:t> in radio transmission so Wi-Fi attempts to avoid collisions to a greater extent than traditional Ethernet.</a:t>
            </a:r>
          </a:p>
          <a:p>
            <a:r>
              <a:rPr lang="en-US" dirty="0"/>
              <a:t>Before a computer can transmit in a WLAN, it must first establish an association with a specific AP.</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30</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5958027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Associating with an AP</a:t>
            </a:r>
          </a:p>
        </p:txBody>
      </p:sp>
      <p:sp>
        <p:nvSpPr>
          <p:cNvPr id="3" name="Content Placeholder 2"/>
          <p:cNvSpPr>
            <a:spLocks noGrp="1"/>
          </p:cNvSpPr>
          <p:nvPr>
            <p:ph sz="quarter" idx="12"/>
          </p:nvPr>
        </p:nvSpPr>
        <p:spPr/>
        <p:txBody>
          <a:bodyPr/>
          <a:lstStyle/>
          <a:p>
            <a:r>
              <a:rPr lang="en-US" dirty="0"/>
              <a:t>Searching for an </a:t>
            </a:r>
            <a:r>
              <a:rPr lang="en-US" dirty="0">
                <a:solidFill>
                  <a:srgbClr val="FF0000"/>
                </a:solidFill>
              </a:rPr>
              <a:t>available AP is called scanning.</a:t>
            </a:r>
          </a:p>
          <a:p>
            <a:r>
              <a:rPr lang="en-US" dirty="0"/>
              <a:t>An NIC can engage in either </a:t>
            </a:r>
            <a:r>
              <a:rPr lang="en-US" dirty="0">
                <a:solidFill>
                  <a:srgbClr val="FF0000"/>
                </a:solidFill>
              </a:rPr>
              <a:t>active or passive scanning.</a:t>
            </a:r>
          </a:p>
          <a:p>
            <a:r>
              <a:rPr lang="en-US" dirty="0"/>
              <a:t>During </a:t>
            </a:r>
            <a:r>
              <a:rPr lang="en-US" b="1" i="1" dirty="0">
                <a:solidFill>
                  <a:srgbClr val="FF0000"/>
                </a:solidFill>
              </a:rPr>
              <a:t>active scanning</a:t>
            </a:r>
            <a:r>
              <a:rPr lang="en-US" dirty="0"/>
              <a:t>, a NIC transmits a special frame called </a:t>
            </a:r>
            <a:r>
              <a:rPr lang="en-US" dirty="0">
                <a:solidFill>
                  <a:srgbClr val="FF0000"/>
                </a:solidFill>
              </a:rPr>
              <a:t>probe frame </a:t>
            </a:r>
            <a:r>
              <a:rPr lang="en-US" dirty="0"/>
              <a:t>on all active channels on its frequency range.</a:t>
            </a:r>
          </a:p>
          <a:p>
            <a:r>
              <a:rPr lang="en-US" dirty="0"/>
              <a:t>During </a:t>
            </a:r>
            <a:r>
              <a:rPr lang="en-US" b="1" i="1" dirty="0"/>
              <a:t>passive scanning</a:t>
            </a:r>
            <a:r>
              <a:rPr lang="en-US" dirty="0"/>
              <a:t>, the NIC listens on all channels for a special frame called a </a:t>
            </a:r>
            <a:r>
              <a:rPr lang="en-US" b="1" i="1" dirty="0">
                <a:solidFill>
                  <a:srgbClr val="FF0000"/>
                </a:solidFill>
              </a:rPr>
              <a:t>beacon frame </a:t>
            </a:r>
            <a:r>
              <a:rPr lang="en-US" dirty="0">
                <a:solidFill>
                  <a:srgbClr val="FF0000"/>
                </a:solidFill>
              </a:rPr>
              <a:t>that is sent out by an AP.</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31</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4206930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Distributed Coordination Function</a:t>
            </a:r>
          </a:p>
        </p:txBody>
      </p:sp>
      <p:sp>
        <p:nvSpPr>
          <p:cNvPr id="3" name="Content Placeholder 2"/>
          <p:cNvSpPr>
            <a:spLocks noGrp="1"/>
          </p:cNvSpPr>
          <p:nvPr>
            <p:ph sz="quarter" idx="12"/>
          </p:nvPr>
        </p:nvSpPr>
        <p:spPr/>
        <p:txBody>
          <a:bodyPr/>
          <a:lstStyle/>
          <a:p>
            <a:r>
              <a:rPr lang="en-US" dirty="0"/>
              <a:t>The first media access control method is the </a:t>
            </a:r>
            <a:r>
              <a:rPr lang="en-US" b="1" i="1" dirty="0"/>
              <a:t>distributed coordination function</a:t>
            </a:r>
            <a:r>
              <a:rPr lang="en-US" dirty="0"/>
              <a:t> (DCF)</a:t>
            </a:r>
          </a:p>
          <a:p>
            <a:pPr lvl="1"/>
            <a:r>
              <a:rPr lang="en-US" dirty="0"/>
              <a:t>Also called </a:t>
            </a:r>
            <a:r>
              <a:rPr lang="en-US" b="1" i="1" dirty="0">
                <a:solidFill>
                  <a:srgbClr val="FF0000"/>
                </a:solidFill>
              </a:rPr>
              <a:t>physical carrier sense method</a:t>
            </a:r>
          </a:p>
          <a:p>
            <a:r>
              <a:rPr lang="en-US" dirty="0"/>
              <a:t>With DCF, each frame in CSMA/CA is sent using </a:t>
            </a:r>
            <a:r>
              <a:rPr lang="en-US" dirty="0">
                <a:solidFill>
                  <a:srgbClr val="FF0000"/>
                </a:solidFill>
              </a:rPr>
              <a:t>stop-and-wait ARQ</a:t>
            </a:r>
          </a:p>
          <a:p>
            <a:r>
              <a:rPr lang="en-US" dirty="0"/>
              <a:t>After the sender transmits one frame, </a:t>
            </a:r>
            <a:r>
              <a:rPr lang="en-US" dirty="0">
                <a:solidFill>
                  <a:srgbClr val="FF0000"/>
                </a:solidFill>
              </a:rPr>
              <a:t>it immediately stops and waits for an ACK from the receiver before attempting to send another frame.</a:t>
            </a:r>
          </a:p>
          <a:p>
            <a:r>
              <a:rPr lang="en-US" dirty="0"/>
              <a:t>The time interval between a frame and the matching ACK is so short that no other computer has the opportunity to begin transmitting.</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32</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40711522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Point Coordination Function</a:t>
            </a:r>
          </a:p>
        </p:txBody>
      </p:sp>
      <p:sp>
        <p:nvSpPr>
          <p:cNvPr id="3" name="Content Placeholder 2"/>
          <p:cNvSpPr>
            <a:spLocks noGrp="1"/>
          </p:cNvSpPr>
          <p:nvPr>
            <p:ph sz="quarter" idx="12"/>
          </p:nvPr>
        </p:nvSpPr>
        <p:spPr/>
        <p:txBody>
          <a:bodyPr/>
          <a:lstStyle/>
          <a:p>
            <a:r>
              <a:rPr lang="en-US" dirty="0"/>
              <a:t>The second media access control technique is called the </a:t>
            </a:r>
            <a:r>
              <a:rPr lang="en-US" b="1" i="1" dirty="0"/>
              <a:t>point coordination function</a:t>
            </a:r>
            <a:r>
              <a:rPr lang="en-US" dirty="0"/>
              <a:t> (PCF)</a:t>
            </a:r>
          </a:p>
          <a:p>
            <a:pPr lvl="1"/>
            <a:r>
              <a:rPr lang="en-US" dirty="0"/>
              <a:t>Also called the </a:t>
            </a:r>
            <a:r>
              <a:rPr lang="en-US" b="1" i="1" dirty="0">
                <a:solidFill>
                  <a:srgbClr val="FF0000"/>
                </a:solidFill>
              </a:rPr>
              <a:t>virtual carrier sense method</a:t>
            </a:r>
          </a:p>
          <a:p>
            <a:r>
              <a:rPr lang="en-US" dirty="0"/>
              <a:t>Computers far away may t sense the other transmission and transmit at the same time causing a collision at the AP.</a:t>
            </a:r>
          </a:p>
          <a:p>
            <a:pPr lvl="1"/>
            <a:r>
              <a:rPr lang="en-US" dirty="0"/>
              <a:t>This is called the </a:t>
            </a:r>
            <a:r>
              <a:rPr lang="en-US" b="1" i="1" dirty="0"/>
              <a:t>hidden node problem</a:t>
            </a:r>
          </a:p>
          <a:p>
            <a:r>
              <a:rPr lang="en-US" dirty="0"/>
              <a:t>In this case, the AP is the only device guaranteed to be able to communicate with all computers on the WLAN.</a:t>
            </a:r>
          </a:p>
          <a:p>
            <a:r>
              <a:rPr lang="en-US" dirty="0"/>
              <a:t>Therefore, </a:t>
            </a:r>
            <a:r>
              <a:rPr lang="en-US" dirty="0">
                <a:solidFill>
                  <a:srgbClr val="FF0000"/>
                </a:solidFill>
              </a:rPr>
              <a:t>the AP must manage the shared circuit using a controlled-access technique,</a:t>
            </a:r>
            <a:r>
              <a:rPr lang="en-US" dirty="0"/>
              <a:t> not the contention-based approach of traditional Ethernet.</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33</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265460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Point Coordination Function </a:t>
            </a:r>
            <a:r>
              <a:rPr lang="en-US" sz="2000" dirty="0">
                <a:solidFill>
                  <a:srgbClr val="0000FF"/>
                </a:solidFill>
              </a:rPr>
              <a:t>Continued</a:t>
            </a:r>
          </a:p>
        </p:txBody>
      </p:sp>
      <p:sp>
        <p:nvSpPr>
          <p:cNvPr id="3" name="Content Placeholder 2"/>
          <p:cNvSpPr>
            <a:spLocks noGrp="1"/>
          </p:cNvSpPr>
          <p:nvPr>
            <p:ph sz="quarter" idx="12"/>
          </p:nvPr>
        </p:nvSpPr>
        <p:spPr/>
        <p:txBody>
          <a:bodyPr/>
          <a:lstStyle/>
          <a:p>
            <a:r>
              <a:rPr lang="en-US" dirty="0"/>
              <a:t>Any computer wishing to transmit first sends a </a:t>
            </a:r>
            <a:r>
              <a:rPr lang="en-US" b="1" i="1" dirty="0">
                <a:solidFill>
                  <a:srgbClr val="FF0000"/>
                </a:solidFill>
              </a:rPr>
              <a:t>request to send </a:t>
            </a:r>
            <a:r>
              <a:rPr lang="en-US" dirty="0">
                <a:solidFill>
                  <a:srgbClr val="FF0000"/>
                </a:solidFill>
              </a:rPr>
              <a:t>(RTS) </a:t>
            </a:r>
            <a:r>
              <a:rPr lang="en-US" dirty="0"/>
              <a:t>to the AP.</a:t>
            </a:r>
          </a:p>
          <a:p>
            <a:r>
              <a:rPr lang="en-US" dirty="0"/>
              <a:t>If no other computer is transmitting, the AP responds with a </a:t>
            </a:r>
            <a:r>
              <a:rPr lang="en-US" b="1" i="1" dirty="0">
                <a:solidFill>
                  <a:srgbClr val="FF0000"/>
                </a:solidFill>
              </a:rPr>
              <a:t>clear to send </a:t>
            </a:r>
            <a:r>
              <a:rPr lang="en-US" dirty="0">
                <a:solidFill>
                  <a:srgbClr val="FF0000"/>
                </a:solidFill>
              </a:rPr>
              <a:t>(CTS), </a:t>
            </a:r>
            <a:r>
              <a:rPr lang="en-US" dirty="0"/>
              <a:t>specifying the amount of time for which the circuit is reserved for the requesting computer.</a:t>
            </a:r>
          </a:p>
          <a:p>
            <a:r>
              <a:rPr lang="en-US" dirty="0">
                <a:solidFill>
                  <a:srgbClr val="FF0000"/>
                </a:solidFill>
              </a:rPr>
              <a:t>Controlled-access methods provide poorer performance in low-traffic networks.</a:t>
            </a:r>
          </a:p>
          <a:p>
            <a:r>
              <a:rPr lang="en-US" dirty="0"/>
              <a:t>Controlled-access techniques work better in </a:t>
            </a:r>
            <a:r>
              <a:rPr lang="en-US" dirty="0">
                <a:solidFill>
                  <a:srgbClr val="FF0000"/>
                </a:solidFill>
              </a:rPr>
              <a:t>high-traffic WLANs.</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34</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094934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609600"/>
            <a:ext cx="9220200" cy="975360"/>
          </a:xfrm>
        </p:spPr>
        <p:txBody>
          <a:bodyPr>
            <a:noAutofit/>
          </a:bodyPr>
          <a:lstStyle/>
          <a:p>
            <a:r>
              <a:rPr lang="en-US" sz="4400" dirty="0">
                <a:solidFill>
                  <a:srgbClr val="0000FF"/>
                </a:solidFill>
              </a:rPr>
              <a:t>Wireless Ethernet Frame Layout</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35</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pic>
        <p:nvPicPr>
          <p:cNvPr id="9" name="Content Placeholder 8"/>
          <p:cNvPicPr>
            <a:picLocks noGrp="1" noChangeAspect="1"/>
          </p:cNvPicPr>
          <p:nvPr>
            <p:ph sz="quarter" idx="12"/>
          </p:nvPr>
        </p:nvPicPr>
        <p:blipFill>
          <a:blip r:embed="rId2"/>
          <a:stretch>
            <a:fillRect/>
          </a:stretch>
        </p:blipFill>
        <p:spPr>
          <a:xfrm>
            <a:off x="0" y="2286000"/>
            <a:ext cx="12025982" cy="975360"/>
          </a:xfrm>
          <a:prstGeom prst="rect">
            <a:avLst/>
          </a:prstGeom>
        </p:spPr>
      </p:pic>
    </p:spTree>
    <p:extLst>
      <p:ext uri="{BB962C8B-B14F-4D97-AF65-F5344CB8AC3E}">
        <p14:creationId xmlns:p14="http://schemas.microsoft.com/office/powerpoint/2010/main" val="13311806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777241"/>
            <a:ext cx="11379200" cy="746759"/>
          </a:xfrm>
        </p:spPr>
        <p:txBody>
          <a:bodyPr>
            <a:normAutofit/>
          </a:bodyPr>
          <a:lstStyle/>
          <a:p>
            <a:r>
              <a:rPr lang="en-US" sz="4400" dirty="0">
                <a:solidFill>
                  <a:srgbClr val="0000FF"/>
                </a:solidFill>
              </a:rPr>
              <a:t>Types of Wireless Ethernet</a:t>
            </a:r>
          </a:p>
        </p:txBody>
      </p:sp>
      <p:sp>
        <p:nvSpPr>
          <p:cNvPr id="3" name="Content Placeholder 2"/>
          <p:cNvSpPr>
            <a:spLocks noGrp="1"/>
          </p:cNvSpPr>
          <p:nvPr>
            <p:ph sz="quarter" idx="12"/>
          </p:nvPr>
        </p:nvSpPr>
        <p:spPr/>
        <p:txBody>
          <a:bodyPr>
            <a:normAutofit fontScale="92500" lnSpcReduction="10000"/>
          </a:bodyPr>
          <a:lstStyle/>
          <a:p>
            <a:r>
              <a:rPr lang="en-US" b="1" i="1" dirty="0"/>
              <a:t>802.11n</a:t>
            </a:r>
            <a:r>
              <a:rPr lang="en-US" dirty="0"/>
              <a:t> is an obsolete version, but many organizations continue to use it because it is cheap</a:t>
            </a:r>
          </a:p>
          <a:p>
            <a:pPr lvl="1"/>
            <a:r>
              <a:rPr lang="en-US" dirty="0"/>
              <a:t>Under perfect conditions, it provides three channels of 450 Mbps each with a maximum range of 100 meters</a:t>
            </a:r>
          </a:p>
          <a:p>
            <a:r>
              <a:rPr lang="en-US" b="1" i="1" dirty="0"/>
              <a:t>802.11ac</a:t>
            </a:r>
            <a:r>
              <a:rPr lang="en-US" dirty="0"/>
              <a:t> is the current version</a:t>
            </a:r>
          </a:p>
          <a:p>
            <a:pPr lvl="1"/>
            <a:r>
              <a:rPr lang="en-US" dirty="0"/>
              <a:t>Runs in two frequency spectrums simultaneously to provide high speed data rates</a:t>
            </a:r>
          </a:p>
          <a:p>
            <a:pPr lvl="1"/>
            <a:r>
              <a:rPr lang="en-US" dirty="0"/>
              <a:t>There are several different versions of the standard, and vendors can choose what aspects to implement</a:t>
            </a:r>
          </a:p>
          <a:p>
            <a:pPr lvl="1"/>
            <a:r>
              <a:rPr lang="en-US" dirty="0"/>
              <a:t>One important innovation is that the RTS/CTS media access control is sent on a separate frequency range, so that it does not interfere with data transmission</a:t>
            </a:r>
          </a:p>
          <a:p>
            <a:r>
              <a:rPr lang="en-US" b="1" i="1" dirty="0">
                <a:solidFill>
                  <a:srgbClr val="0000FF"/>
                </a:solidFill>
              </a:rPr>
              <a:t>802.11ax</a:t>
            </a:r>
            <a:r>
              <a:rPr lang="en-US" dirty="0">
                <a:solidFill>
                  <a:srgbClr val="0000FF"/>
                </a:solidFill>
              </a:rPr>
              <a:t> </a:t>
            </a:r>
            <a:r>
              <a:rPr lang="en-US" dirty="0"/>
              <a:t>is the newest version (called </a:t>
            </a:r>
            <a:r>
              <a:rPr lang="en-US" b="1" i="1" dirty="0"/>
              <a:t>Wi-Fi 6</a:t>
            </a:r>
            <a:r>
              <a:rPr lang="en-US" dirty="0"/>
              <a:t>)</a:t>
            </a:r>
          </a:p>
          <a:p>
            <a:pPr lvl="1"/>
            <a:r>
              <a:rPr lang="en-US" dirty="0"/>
              <a:t>Runs in three different frequency spectrums to provide very high-speed data rates.</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36</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376516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581025"/>
            <a:ext cx="3403600" cy="975360"/>
          </a:xfrm>
        </p:spPr>
        <p:txBody>
          <a:bodyPr>
            <a:normAutofit/>
          </a:bodyPr>
          <a:lstStyle/>
          <a:p>
            <a:r>
              <a:rPr lang="en-US" sz="4400" dirty="0">
                <a:solidFill>
                  <a:srgbClr val="0000FF"/>
                </a:solidFill>
              </a:rPr>
              <a:t>Security</a:t>
            </a:r>
          </a:p>
        </p:txBody>
      </p:sp>
      <p:sp>
        <p:nvSpPr>
          <p:cNvPr id="3" name="Content Placeholder 2"/>
          <p:cNvSpPr>
            <a:spLocks noGrp="1"/>
          </p:cNvSpPr>
          <p:nvPr>
            <p:ph sz="quarter" idx="12"/>
          </p:nvPr>
        </p:nvSpPr>
        <p:spPr/>
        <p:txBody>
          <a:bodyPr/>
          <a:lstStyle/>
          <a:p>
            <a:r>
              <a:rPr lang="en-US" dirty="0"/>
              <a:t>Security it is especially important for </a:t>
            </a:r>
            <a:r>
              <a:rPr lang="en-US" dirty="0">
                <a:solidFill>
                  <a:srgbClr val="FF0000"/>
                </a:solidFill>
              </a:rPr>
              <a:t>wireless networks.</a:t>
            </a:r>
          </a:p>
          <a:p>
            <a:r>
              <a:rPr lang="en-US" dirty="0"/>
              <a:t>With a WLAN, anyone walking or driving within the range of an AP can begin to use the network.</a:t>
            </a:r>
          </a:p>
          <a:p>
            <a:r>
              <a:rPr lang="en-US" dirty="0"/>
              <a:t>One older wireless security technique is </a:t>
            </a:r>
            <a:r>
              <a:rPr lang="en-US" b="1" i="1" dirty="0">
                <a:solidFill>
                  <a:srgbClr val="FF0000"/>
                </a:solidFill>
              </a:rPr>
              <a:t>Wired Equivalent Privacy </a:t>
            </a:r>
            <a:r>
              <a:rPr lang="en-US" dirty="0"/>
              <a:t>(WEP)</a:t>
            </a:r>
          </a:p>
          <a:p>
            <a:pPr lvl="1"/>
            <a:r>
              <a:rPr lang="en-US" dirty="0"/>
              <a:t>The AP requires the user to have a </a:t>
            </a:r>
            <a:r>
              <a:rPr lang="en-US" b="1" i="1" dirty="0"/>
              <a:t>key</a:t>
            </a:r>
            <a:r>
              <a:rPr lang="en-US" dirty="0"/>
              <a:t> to communicate with it</a:t>
            </a:r>
          </a:p>
          <a:p>
            <a:pPr lvl="1"/>
            <a:r>
              <a:rPr lang="en-US" dirty="0"/>
              <a:t>The WEP keys are produced dynamically.</a:t>
            </a:r>
          </a:p>
          <a:p>
            <a:pPr lvl="1"/>
            <a:r>
              <a:rPr lang="en-US" dirty="0"/>
              <a:t>New users must log in to receive a key.</a:t>
            </a:r>
          </a:p>
          <a:p>
            <a:pPr lvl="1"/>
            <a:r>
              <a:rPr lang="en-US" dirty="0"/>
              <a:t>WEP has a number of serious weaknesses.</a:t>
            </a:r>
          </a:p>
          <a:p>
            <a:pPr lvl="1"/>
            <a:r>
              <a:rPr lang="en-US" dirty="0"/>
              <a:t>Most experts agree that a determined hacker can break into a WLAN that uses only WEP security.</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37</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6805250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Security </a:t>
            </a:r>
            <a:r>
              <a:rPr lang="en-US" sz="2000" dirty="0">
                <a:solidFill>
                  <a:srgbClr val="0000FF"/>
                </a:solidFill>
              </a:rPr>
              <a:t>Continued</a:t>
            </a:r>
          </a:p>
        </p:txBody>
      </p:sp>
      <p:sp>
        <p:nvSpPr>
          <p:cNvPr id="3" name="Content Placeholder 2"/>
          <p:cNvSpPr>
            <a:spLocks noGrp="1"/>
          </p:cNvSpPr>
          <p:nvPr>
            <p:ph sz="quarter" idx="12"/>
          </p:nvPr>
        </p:nvSpPr>
        <p:spPr/>
        <p:txBody>
          <a:bodyPr>
            <a:normAutofit fontScale="92500" lnSpcReduction="10000"/>
          </a:bodyPr>
          <a:lstStyle/>
          <a:p>
            <a:r>
              <a:rPr lang="en-US" b="1" i="1" dirty="0">
                <a:solidFill>
                  <a:srgbClr val="FF0000"/>
                </a:solidFill>
              </a:rPr>
              <a:t>Wi-Fi Protected Access</a:t>
            </a:r>
            <a:r>
              <a:rPr lang="en-US" dirty="0">
                <a:solidFill>
                  <a:srgbClr val="FF0000"/>
                </a:solidFill>
              </a:rPr>
              <a:t> (WPA)</a:t>
            </a:r>
          </a:p>
          <a:p>
            <a:pPr lvl="1"/>
            <a:r>
              <a:rPr lang="en-US" dirty="0"/>
              <a:t>WPA is a newer, more secure type of security</a:t>
            </a:r>
          </a:p>
          <a:p>
            <a:pPr lvl="1"/>
            <a:r>
              <a:rPr lang="en-US" dirty="0"/>
              <a:t>WPA works in ways similar to WEP</a:t>
            </a:r>
          </a:p>
          <a:p>
            <a:pPr lvl="1"/>
            <a:r>
              <a:rPr lang="en-US" dirty="0"/>
              <a:t>The difference is that the WPA key is longer than the WEP key</a:t>
            </a:r>
          </a:p>
          <a:p>
            <a:pPr lvl="1"/>
            <a:r>
              <a:rPr lang="en-US" dirty="0"/>
              <a:t>More importantly, </a:t>
            </a:r>
            <a:r>
              <a:rPr lang="en-US" dirty="0">
                <a:solidFill>
                  <a:srgbClr val="FF0000"/>
                </a:solidFill>
              </a:rPr>
              <a:t>the key is changed for every frame that is transmitted to the client</a:t>
            </a:r>
          </a:p>
          <a:p>
            <a:r>
              <a:rPr lang="en-US" b="1" i="1" dirty="0"/>
              <a:t>802.11i</a:t>
            </a:r>
            <a:r>
              <a:rPr lang="en-US" dirty="0"/>
              <a:t> (also called WPA2)</a:t>
            </a:r>
          </a:p>
          <a:p>
            <a:pPr lvl="1"/>
            <a:r>
              <a:rPr lang="en-US" dirty="0"/>
              <a:t>The newest, most secure type of WLAN security</a:t>
            </a:r>
          </a:p>
          <a:p>
            <a:pPr lvl="1"/>
            <a:r>
              <a:rPr lang="en-US" dirty="0"/>
              <a:t>The user logs in to a </a:t>
            </a:r>
            <a:r>
              <a:rPr lang="en-US" dirty="0">
                <a:solidFill>
                  <a:srgbClr val="FF0000"/>
                </a:solidFill>
              </a:rPr>
              <a:t>login server to obtain the master key</a:t>
            </a:r>
          </a:p>
          <a:p>
            <a:pPr lvl="1"/>
            <a:r>
              <a:rPr lang="en-US" dirty="0"/>
              <a:t>Uses the Advanced Encryption Standard (AES)</a:t>
            </a:r>
          </a:p>
          <a:p>
            <a:r>
              <a:rPr lang="en-US" b="1" i="1" dirty="0">
                <a:solidFill>
                  <a:srgbClr val="FF0000"/>
                </a:solidFill>
              </a:rPr>
              <a:t>MAC address filtering</a:t>
            </a:r>
          </a:p>
          <a:p>
            <a:pPr lvl="1"/>
            <a:r>
              <a:rPr lang="en-US" dirty="0"/>
              <a:t>The AP only processes frames sent by computers whose MAC address is in the address list</a:t>
            </a:r>
          </a:p>
          <a:p>
            <a:pPr lvl="1"/>
            <a:r>
              <a:rPr lang="en-US" dirty="0"/>
              <a:t>This provides no security against a determined hacker.</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38</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5633369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7.5 The Best Practice LAN Design</a:t>
            </a:r>
          </a:p>
        </p:txBody>
      </p:sp>
      <p:sp>
        <p:nvSpPr>
          <p:cNvPr id="3" name="Content Placeholder 2"/>
          <p:cNvSpPr>
            <a:spLocks noGrp="1"/>
          </p:cNvSpPr>
          <p:nvPr>
            <p:ph sz="quarter" idx="12"/>
          </p:nvPr>
        </p:nvSpPr>
        <p:spPr/>
        <p:txBody>
          <a:bodyPr/>
          <a:lstStyle/>
          <a:p>
            <a:r>
              <a:rPr lang="en-US" dirty="0"/>
              <a:t>Wi-Fi is considerably cheaper than wired Ethernet.</a:t>
            </a:r>
          </a:p>
          <a:p>
            <a:r>
              <a:rPr lang="en-US" dirty="0"/>
              <a:t>The largest cost of LANs is paying someone to </a:t>
            </a:r>
            <a:r>
              <a:rPr lang="en-US" dirty="0">
                <a:solidFill>
                  <a:srgbClr val="FF0000"/>
                </a:solidFill>
              </a:rPr>
              <a:t>install the cables.</a:t>
            </a:r>
          </a:p>
          <a:p>
            <a:r>
              <a:rPr lang="en-US" dirty="0"/>
              <a:t>Most organizations today install wired Ethernet to provide access for desktop users and install Wi-Fi as </a:t>
            </a:r>
            <a:r>
              <a:rPr lang="en-US" b="1" i="1" dirty="0"/>
              <a:t>overlay networks.</a:t>
            </a:r>
          </a:p>
          <a:p>
            <a:r>
              <a:rPr lang="en-US" dirty="0"/>
              <a:t>They build the usual </a:t>
            </a:r>
            <a:r>
              <a:rPr lang="en-US" b="1" i="1" dirty="0"/>
              <a:t>switched Ethernet </a:t>
            </a:r>
            <a:r>
              <a:rPr lang="en-US" dirty="0"/>
              <a:t>networks as the primary LAN, but they also </a:t>
            </a:r>
            <a:r>
              <a:rPr lang="en-US" dirty="0">
                <a:solidFill>
                  <a:srgbClr val="FF0000"/>
                </a:solidFill>
              </a:rPr>
              <a:t>install Wi-Fi for laptops and mobile devices.</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39</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4142146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06400" y="777241"/>
            <a:ext cx="4927600" cy="867408"/>
          </a:xfrm>
        </p:spPr>
        <p:txBody>
          <a:bodyPr>
            <a:normAutofit/>
          </a:bodyPr>
          <a:lstStyle/>
          <a:p>
            <a:r>
              <a:rPr lang="en-US" sz="4400" dirty="0">
                <a:solidFill>
                  <a:srgbClr val="0000FF"/>
                </a:solidFill>
              </a:rPr>
              <a:t>Managed APs</a:t>
            </a:r>
          </a:p>
        </p:txBody>
      </p:sp>
      <p:sp>
        <p:nvSpPr>
          <p:cNvPr id="8" name="Content Placeholder 7"/>
          <p:cNvSpPr>
            <a:spLocks noGrp="1"/>
          </p:cNvSpPr>
          <p:nvPr>
            <p:ph sz="quarter" idx="12"/>
          </p:nvPr>
        </p:nvSpPr>
        <p:spPr>
          <a:xfrm>
            <a:off x="390525" y="1752600"/>
            <a:ext cx="11379200" cy="4495800"/>
          </a:xfrm>
        </p:spPr>
        <p:txBody>
          <a:bodyPr/>
          <a:lstStyle/>
          <a:p>
            <a:r>
              <a:rPr lang="en-US" dirty="0"/>
              <a:t>Most large companies install </a:t>
            </a:r>
            <a:r>
              <a:rPr lang="en-US" b="1" i="1" dirty="0"/>
              <a:t>managed APs.</a:t>
            </a:r>
          </a:p>
          <a:p>
            <a:r>
              <a:rPr lang="en-US" dirty="0"/>
              <a:t>Managed APs are wired into a </a:t>
            </a:r>
            <a:r>
              <a:rPr lang="en-US" b="1" i="1" dirty="0"/>
              <a:t>Wi-Fi Controller</a:t>
            </a:r>
          </a:p>
          <a:p>
            <a:r>
              <a:rPr lang="en-US" dirty="0"/>
              <a:t>They report what devices are attached to them and how busy they are to the controller.</a:t>
            </a:r>
          </a:p>
          <a:p>
            <a:r>
              <a:rPr lang="en-US" dirty="0"/>
              <a:t>If a laptop connects to a very busy AP when there are less busy APs nearby, the controller </a:t>
            </a:r>
            <a:r>
              <a:rPr lang="en-US" dirty="0">
                <a:solidFill>
                  <a:srgbClr val="FF0000"/>
                </a:solidFill>
              </a:rPr>
              <a:t>will instruct the AP to deny access to the laptop</a:t>
            </a:r>
            <a:r>
              <a:rPr lang="en-US" dirty="0"/>
              <a:t> and the laptop will automatically try to connect to the </a:t>
            </a:r>
            <a:r>
              <a:rPr lang="en-US" dirty="0">
                <a:solidFill>
                  <a:srgbClr val="FF0000"/>
                </a:solidFill>
              </a:rPr>
              <a:t>next AP it sees.</a:t>
            </a:r>
          </a:p>
        </p:txBody>
      </p:sp>
      <p:sp>
        <p:nvSpPr>
          <p:cNvPr id="5" name="Slide Number Placeholder 4"/>
          <p:cNvSpPr>
            <a:spLocks noGrp="1"/>
          </p:cNvSpPr>
          <p:nvPr>
            <p:ph type="sldNum" sz="quarter" idx="11"/>
          </p:nvPr>
        </p:nvSpPr>
        <p:spPr/>
        <p:txBody>
          <a:bodyPr/>
          <a:lstStyle/>
          <a:p>
            <a:r>
              <a:rPr lang="en-US" dirty="0"/>
              <a:t>7-</a:t>
            </a:r>
            <a:fld id="{67B19427-F580-D146-B60E-4CADEE75497F}" type="slidenum">
              <a:rPr lang="en-US" smtClean="0"/>
              <a:pPr/>
              <a:t>40</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3241509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Designing the Data Center</a:t>
            </a:r>
          </a:p>
        </p:txBody>
      </p:sp>
      <p:sp>
        <p:nvSpPr>
          <p:cNvPr id="3" name="Content Placeholder 2"/>
          <p:cNvSpPr>
            <a:spLocks noGrp="1"/>
          </p:cNvSpPr>
          <p:nvPr>
            <p:ph sz="quarter" idx="12"/>
          </p:nvPr>
        </p:nvSpPr>
        <p:spPr/>
        <p:txBody>
          <a:bodyPr/>
          <a:lstStyle/>
          <a:p>
            <a:r>
              <a:rPr lang="en-US" dirty="0"/>
              <a:t>The data center is where the organization houses its </a:t>
            </a:r>
            <a:r>
              <a:rPr lang="en-US" dirty="0">
                <a:solidFill>
                  <a:srgbClr val="FF0000"/>
                </a:solidFill>
              </a:rPr>
              <a:t>primary servers</a:t>
            </a:r>
          </a:p>
          <a:p>
            <a:r>
              <a:rPr lang="en-US" dirty="0"/>
              <a:t>In most large organizations, the data center is huge.</a:t>
            </a:r>
          </a:p>
          <a:p>
            <a:r>
              <a:rPr lang="en-US" dirty="0"/>
              <a:t>Designing the data center requires considerable expertise</a:t>
            </a:r>
          </a:p>
          <a:p>
            <a:r>
              <a:rPr lang="en-US" dirty="0"/>
              <a:t>Servers are placed together in server farms or clusters.</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41</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4660701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Designing the Data Center </a:t>
            </a:r>
            <a:r>
              <a:rPr lang="en-US" sz="2000" dirty="0">
                <a:solidFill>
                  <a:srgbClr val="0000FF"/>
                </a:solidFill>
              </a:rPr>
              <a:t>Continued</a:t>
            </a:r>
          </a:p>
        </p:txBody>
      </p:sp>
      <p:sp>
        <p:nvSpPr>
          <p:cNvPr id="6" name="Content Placeholder 5"/>
          <p:cNvSpPr>
            <a:spLocks noGrp="1"/>
          </p:cNvSpPr>
          <p:nvPr>
            <p:ph sz="quarter" idx="14"/>
          </p:nvPr>
        </p:nvSpPr>
        <p:spPr/>
        <p:txBody>
          <a:bodyPr>
            <a:normAutofit lnSpcReduction="10000"/>
          </a:bodyPr>
          <a:lstStyle/>
          <a:p>
            <a:r>
              <a:rPr lang="en-US" dirty="0"/>
              <a:t>A special device called a </a:t>
            </a:r>
            <a:r>
              <a:rPr lang="en-US" b="1" i="1" dirty="0">
                <a:solidFill>
                  <a:srgbClr val="FF0000"/>
                </a:solidFill>
              </a:rPr>
              <a:t>load balancer </a:t>
            </a:r>
            <a:r>
              <a:rPr lang="en-US" dirty="0">
                <a:solidFill>
                  <a:srgbClr val="FF0000"/>
                </a:solidFill>
              </a:rPr>
              <a:t>or </a:t>
            </a:r>
            <a:r>
              <a:rPr lang="en-US" b="1" i="1" dirty="0">
                <a:solidFill>
                  <a:srgbClr val="FF0000"/>
                </a:solidFill>
              </a:rPr>
              <a:t>load balancing </a:t>
            </a:r>
            <a:r>
              <a:rPr lang="en-US" b="1" i="1" dirty="0"/>
              <a:t>switch </a:t>
            </a:r>
            <a:r>
              <a:rPr lang="en-US" dirty="0"/>
              <a:t>acts as a router at the front of the server farm.</a:t>
            </a:r>
          </a:p>
          <a:p>
            <a:r>
              <a:rPr lang="en-US" dirty="0"/>
              <a:t>When a request hits the load balancer, it forwards it to one specific server.</a:t>
            </a:r>
          </a:p>
          <a:p>
            <a:r>
              <a:rPr lang="en-US" dirty="0"/>
              <a:t>If a server crashes, the load balancer stops sending requests to it, and the network continues to operate.</a:t>
            </a:r>
          </a:p>
        </p:txBody>
      </p:sp>
      <p:pic>
        <p:nvPicPr>
          <p:cNvPr id="8" name="Content Placeholder 7"/>
          <p:cNvPicPr>
            <a:picLocks noGrp="1" noChangeAspect="1"/>
          </p:cNvPicPr>
          <p:nvPr>
            <p:ph sz="quarter" idx="15"/>
          </p:nvPr>
        </p:nvPicPr>
        <p:blipFill>
          <a:blip r:embed="rId2"/>
          <a:stretch>
            <a:fillRect/>
          </a:stretch>
        </p:blipFill>
        <p:spPr>
          <a:xfrm>
            <a:off x="5791200" y="1627534"/>
            <a:ext cx="5949950" cy="4264657"/>
          </a:xfrm>
          <a:prstGeom prst="rect">
            <a:avLst/>
          </a:prstGeom>
        </p:spPr>
      </p:pic>
      <p:sp>
        <p:nvSpPr>
          <p:cNvPr id="4" name="Slide Number Placeholder 3"/>
          <p:cNvSpPr>
            <a:spLocks noGrp="1"/>
          </p:cNvSpPr>
          <p:nvPr>
            <p:ph type="sldNum" sz="quarter" idx="10"/>
          </p:nvPr>
        </p:nvSpPr>
        <p:spPr/>
        <p:txBody>
          <a:bodyPr/>
          <a:lstStyle/>
          <a:p>
            <a:r>
              <a:rPr lang="en-US" dirty="0"/>
              <a:t>7-</a:t>
            </a:r>
            <a:fld id="{67B19427-F580-D146-B60E-4CADEE75497F}" type="slidenum">
              <a:rPr lang="en-US" smtClean="0"/>
              <a:pPr/>
              <a:t>42</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29061624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solidFill>
                  <a:srgbClr val="0000FF"/>
                </a:solidFill>
              </a:rPr>
              <a:t>7.6 Improving LAN Performance</a:t>
            </a:r>
          </a:p>
        </p:txBody>
      </p:sp>
      <p:sp>
        <p:nvSpPr>
          <p:cNvPr id="3" name="Content Placeholder 2"/>
          <p:cNvSpPr>
            <a:spLocks noGrp="1"/>
          </p:cNvSpPr>
          <p:nvPr>
            <p:ph sz="quarter" idx="12"/>
          </p:nvPr>
        </p:nvSpPr>
        <p:spPr/>
        <p:txBody>
          <a:bodyPr/>
          <a:lstStyle/>
          <a:p>
            <a:r>
              <a:rPr lang="en-US" dirty="0"/>
              <a:t>To improve performance, you must locate the </a:t>
            </a:r>
            <a:r>
              <a:rPr lang="en-US" b="1" i="1" dirty="0"/>
              <a:t>bottleneck</a:t>
            </a:r>
            <a:r>
              <a:rPr lang="en-US" dirty="0"/>
              <a:t>, the part of the network that is restricting the data flow</a:t>
            </a:r>
          </a:p>
          <a:p>
            <a:pPr lvl="1"/>
            <a:r>
              <a:rPr lang="en-US" dirty="0"/>
              <a:t>Generally, either the network server or a network circuit</a:t>
            </a:r>
          </a:p>
          <a:p>
            <a:r>
              <a:rPr lang="en-US" dirty="0"/>
              <a:t>The first step in improving performance, therefore, is to identify whether the bottleneck lies in a circuit or the server.</a:t>
            </a:r>
          </a:p>
          <a:p>
            <a:r>
              <a:rPr lang="en-US" dirty="0"/>
              <a:t>Most organizations focus on ways to improve the server and the circuits to remove bottle-necks.</a:t>
            </a:r>
          </a:p>
          <a:p>
            <a:r>
              <a:rPr lang="en-US" dirty="0"/>
              <a:t>Can also reduce demand.</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43</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439727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5600" y="609600"/>
            <a:ext cx="7366000" cy="762000"/>
          </a:xfrm>
        </p:spPr>
        <p:txBody>
          <a:bodyPr>
            <a:normAutofit/>
          </a:bodyPr>
          <a:lstStyle/>
          <a:p>
            <a:r>
              <a:rPr lang="en-US" sz="4400" dirty="0">
                <a:solidFill>
                  <a:srgbClr val="0000FF"/>
                </a:solidFill>
              </a:rPr>
              <a:t>Improving Server Performance</a:t>
            </a:r>
          </a:p>
        </p:txBody>
      </p:sp>
      <p:sp>
        <p:nvSpPr>
          <p:cNvPr id="3" name="Content Placeholder 2"/>
          <p:cNvSpPr>
            <a:spLocks noGrp="1"/>
          </p:cNvSpPr>
          <p:nvPr>
            <p:ph sz="quarter" idx="12"/>
          </p:nvPr>
        </p:nvSpPr>
        <p:spPr/>
        <p:txBody>
          <a:bodyPr/>
          <a:lstStyle/>
          <a:p>
            <a:r>
              <a:rPr lang="en-US" dirty="0">
                <a:solidFill>
                  <a:srgbClr val="FF0000"/>
                </a:solidFill>
              </a:rPr>
              <a:t>Software</a:t>
            </a:r>
          </a:p>
          <a:p>
            <a:pPr lvl="1"/>
            <a:r>
              <a:rPr lang="en-US" dirty="0"/>
              <a:t>Replacing the NOS with a faster one will improve performance.</a:t>
            </a:r>
          </a:p>
          <a:p>
            <a:pPr lvl="1"/>
            <a:r>
              <a:rPr lang="en-US" dirty="0"/>
              <a:t>Each NOS provides a number of software settings to fine-tune network performance</a:t>
            </a:r>
          </a:p>
          <a:p>
            <a:r>
              <a:rPr lang="en-US" dirty="0">
                <a:solidFill>
                  <a:srgbClr val="FF0000"/>
                </a:solidFill>
              </a:rPr>
              <a:t>Hardware</a:t>
            </a:r>
          </a:p>
          <a:p>
            <a:pPr lvl="1"/>
            <a:r>
              <a:rPr lang="en-US" dirty="0"/>
              <a:t>One obvious solution if your network server is overloaded is to buy a second server</a:t>
            </a:r>
          </a:p>
          <a:p>
            <a:pPr lvl="1"/>
            <a:r>
              <a:rPr lang="en-US" dirty="0"/>
              <a:t>Upgrade the server, especially when most of the demand on the server is produced by one application that cannot be split across several servers</a:t>
            </a:r>
          </a:p>
          <a:p>
            <a:pPr lvl="1"/>
            <a:r>
              <a:rPr lang="en-US" dirty="0"/>
              <a:t>Increase the memory in the server</a:t>
            </a:r>
          </a:p>
          <a:p>
            <a:pPr lvl="1"/>
            <a:r>
              <a:rPr lang="en-US" dirty="0"/>
              <a:t>Add more hard drives</a:t>
            </a:r>
          </a:p>
          <a:p>
            <a:pPr lvl="1"/>
            <a:r>
              <a:rPr lang="en-US" dirty="0"/>
              <a:t>Add a special type of disk drive called </a:t>
            </a:r>
            <a:r>
              <a:rPr lang="en-US" b="1" i="1" dirty="0"/>
              <a:t>RAID</a:t>
            </a:r>
            <a:r>
              <a:rPr lang="en-US" dirty="0"/>
              <a:t> (redundant array of inexpensive disks)</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44</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7179150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7.7 Implications For Cyber Security</a:t>
            </a:r>
          </a:p>
        </p:txBody>
      </p:sp>
      <p:sp>
        <p:nvSpPr>
          <p:cNvPr id="3" name="Content Placeholder 2"/>
          <p:cNvSpPr>
            <a:spLocks noGrp="1"/>
          </p:cNvSpPr>
          <p:nvPr>
            <p:ph sz="quarter" idx="12"/>
          </p:nvPr>
        </p:nvSpPr>
        <p:spPr/>
        <p:txBody>
          <a:bodyPr>
            <a:normAutofit lnSpcReduction="10000"/>
          </a:bodyPr>
          <a:lstStyle/>
          <a:p>
            <a:r>
              <a:rPr lang="en-US" dirty="0"/>
              <a:t>Most attacks from external hackers come over the Internet</a:t>
            </a:r>
          </a:p>
          <a:p>
            <a:r>
              <a:rPr lang="en-US" dirty="0"/>
              <a:t>However, it is still important to secure the LAN from unauthorized users</a:t>
            </a:r>
          </a:p>
          <a:p>
            <a:r>
              <a:rPr lang="en-US" dirty="0"/>
              <a:t>For wired LANs, this means securing network devices, such as switches and Aps</a:t>
            </a:r>
          </a:p>
          <a:p>
            <a:r>
              <a:rPr lang="en-US" dirty="0"/>
              <a:t>For WLANs, this means using encryption and secured access that requires users to login before they can use the Wi-Fi</a:t>
            </a:r>
          </a:p>
          <a:p>
            <a:r>
              <a:rPr lang="en-US" dirty="0"/>
              <a:t>A very useful way to protect both the LAN and WLAN is to do MAC address filtering</a:t>
            </a:r>
          </a:p>
          <a:p>
            <a:r>
              <a:rPr lang="en-US" dirty="0"/>
              <a:t>Organizations protect their internal network through network segmentation.</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45</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2886528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5487F494-15E0-EABB-7556-3DC4FE06B0FC}"/>
              </a:ext>
            </a:extLst>
          </p:cNvPr>
          <p:cNvSpPr>
            <a:spLocks noGrp="1" noChangeArrowheads="1"/>
          </p:cNvSpPr>
          <p:nvPr>
            <p:ph type="title"/>
          </p:nvPr>
        </p:nvSpPr>
        <p:spPr>
          <a:xfrm>
            <a:off x="1703389" y="2492375"/>
            <a:ext cx="8497887" cy="719138"/>
          </a:xfrm>
          <a:noFill/>
        </p:spPr>
        <p:txBody>
          <a:bodyPr/>
          <a:lstStyle/>
          <a:p>
            <a:pPr algn="ctr"/>
            <a:r>
              <a:rPr lang="en-NZ" altLang="en-US" b="1">
                <a:solidFill>
                  <a:srgbClr val="FF0000"/>
                </a:solidFill>
              </a:rPr>
              <a:t>Optional (Extra material)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11379200" cy="975360"/>
          </a:xfrm>
        </p:spPr>
        <p:txBody>
          <a:bodyPr/>
          <a:lstStyle/>
          <a:p>
            <a:r>
              <a:rPr lang="en-US" dirty="0">
                <a:solidFill>
                  <a:srgbClr val="0000FF"/>
                </a:solidFill>
              </a:rPr>
              <a:t>Domains</a:t>
            </a:r>
          </a:p>
        </p:txBody>
      </p:sp>
      <p:sp>
        <p:nvSpPr>
          <p:cNvPr id="3" name="Content Placeholder 2"/>
          <p:cNvSpPr>
            <a:spLocks noGrp="1"/>
          </p:cNvSpPr>
          <p:nvPr>
            <p:ph sz="quarter" idx="12"/>
          </p:nvPr>
        </p:nvSpPr>
        <p:spPr/>
        <p:txBody>
          <a:bodyPr/>
          <a:lstStyle/>
          <a:p>
            <a:r>
              <a:rPr lang="en-US" dirty="0"/>
              <a:t>Each branch on the tree contains a domain, a group of related resources</a:t>
            </a:r>
          </a:p>
          <a:p>
            <a:r>
              <a:rPr lang="en-US" dirty="0"/>
              <a:t>Domains can contain other domains.</a:t>
            </a:r>
          </a:p>
          <a:p>
            <a:r>
              <a:rPr lang="en-US" dirty="0"/>
              <a:t>The hierarchical tree of domains within one organization can be linked to trees in other organizations to create a forest of shared network resources</a:t>
            </a:r>
          </a:p>
          <a:p>
            <a:r>
              <a:rPr lang="en-US" dirty="0"/>
              <a:t>Within each domain, there is a server (the domain controller) that is responsible for resolving address information.</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47</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3232211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52400" y="609600"/>
            <a:ext cx="11379200" cy="975360"/>
          </a:xfrm>
        </p:spPr>
        <p:txBody>
          <a:bodyPr/>
          <a:lstStyle/>
          <a:p>
            <a:r>
              <a:rPr lang="en-US" dirty="0">
                <a:solidFill>
                  <a:srgbClr val="0000FF"/>
                </a:solidFill>
              </a:rPr>
              <a:t>Three Modes in Which Switches can Operate</a:t>
            </a:r>
          </a:p>
        </p:txBody>
      </p:sp>
      <p:sp>
        <p:nvSpPr>
          <p:cNvPr id="9" name="Content Placeholder 8"/>
          <p:cNvSpPr>
            <a:spLocks noGrp="1"/>
          </p:cNvSpPr>
          <p:nvPr>
            <p:ph sz="quarter" idx="12"/>
          </p:nvPr>
        </p:nvSpPr>
        <p:spPr>
          <a:xfrm>
            <a:off x="304800" y="1584960"/>
            <a:ext cx="11379200" cy="4495800"/>
          </a:xfrm>
        </p:spPr>
        <p:txBody>
          <a:bodyPr>
            <a:normAutofit fontScale="92500" lnSpcReduction="10000"/>
          </a:bodyPr>
          <a:lstStyle/>
          <a:p>
            <a:pPr marL="514350" indent="-514350">
              <a:buFont typeface="+mj-lt"/>
              <a:buAutoNum type="arabicPeriod"/>
            </a:pPr>
            <a:r>
              <a:rPr lang="en-US" dirty="0"/>
              <a:t>Cut-through switching</a:t>
            </a:r>
          </a:p>
          <a:p>
            <a:pPr marL="843534" lvl="1" indent="-514350"/>
            <a:r>
              <a:rPr lang="en-US" dirty="0"/>
              <a:t>The switch begins to transmit the incoming packet on the proper outgoing circuit as soon as it has </a:t>
            </a:r>
            <a:r>
              <a:rPr lang="en-US" dirty="0">
                <a:solidFill>
                  <a:srgbClr val="FF0000"/>
                </a:solidFill>
              </a:rPr>
              <a:t>read the destination address in the frame</a:t>
            </a:r>
          </a:p>
          <a:p>
            <a:pPr marL="843534" lvl="1" indent="-514350"/>
            <a:r>
              <a:rPr lang="en-US" dirty="0"/>
              <a:t>Low </a:t>
            </a:r>
            <a:r>
              <a:rPr lang="en-US" b="1" i="1" dirty="0"/>
              <a:t>latency</a:t>
            </a:r>
          </a:p>
          <a:p>
            <a:pPr marL="514350" indent="-514350">
              <a:buFont typeface="+mj-lt"/>
              <a:buAutoNum type="arabicPeriod"/>
            </a:pPr>
            <a:r>
              <a:rPr lang="en-US" dirty="0"/>
              <a:t>Store-and-forward switching</a:t>
            </a:r>
          </a:p>
          <a:p>
            <a:pPr marL="843534" lvl="1" indent="-514350"/>
            <a:r>
              <a:rPr lang="en-US" dirty="0"/>
              <a:t>The switch does not begin transmitting the outgoing frame until it has </a:t>
            </a:r>
            <a:r>
              <a:rPr lang="en-US" dirty="0">
                <a:solidFill>
                  <a:srgbClr val="FF0000"/>
                </a:solidFill>
              </a:rPr>
              <a:t>received the entire incoming frame and has checked to make sure it contains no errors.</a:t>
            </a:r>
          </a:p>
          <a:p>
            <a:pPr marL="843534" lvl="1" indent="-514350"/>
            <a:r>
              <a:rPr lang="en-US" dirty="0"/>
              <a:t>Prevents an invalid frame from consuming network capacity, but provides higher latency</a:t>
            </a:r>
          </a:p>
          <a:p>
            <a:pPr marL="514350" indent="-514350">
              <a:buFont typeface="+mj-lt"/>
              <a:buAutoNum type="arabicPeriod"/>
            </a:pPr>
            <a:r>
              <a:rPr lang="en-US" dirty="0"/>
              <a:t>Fragment-free switching</a:t>
            </a:r>
          </a:p>
          <a:p>
            <a:pPr marL="843534" lvl="1" indent="-514350"/>
            <a:r>
              <a:rPr lang="en-US" dirty="0"/>
              <a:t>The first 64 bytes of the frame are read and stored and checked</a:t>
            </a:r>
          </a:p>
          <a:p>
            <a:pPr marL="843534" lvl="1" indent="-514350"/>
            <a:r>
              <a:rPr lang="en-US" dirty="0"/>
              <a:t>If all the header data appear correct, </a:t>
            </a:r>
            <a:r>
              <a:rPr lang="en-US" dirty="0">
                <a:solidFill>
                  <a:srgbClr val="FF0000"/>
                </a:solidFill>
              </a:rPr>
              <a:t>the switch presumes that the rest of the frame is error free and begins transmitting.</a:t>
            </a:r>
          </a:p>
        </p:txBody>
      </p:sp>
      <p:sp>
        <p:nvSpPr>
          <p:cNvPr id="5" name="Slide Number Placeholder 4"/>
          <p:cNvSpPr>
            <a:spLocks noGrp="1"/>
          </p:cNvSpPr>
          <p:nvPr>
            <p:ph type="sldNum" sz="quarter" idx="11"/>
          </p:nvPr>
        </p:nvSpPr>
        <p:spPr/>
        <p:txBody>
          <a:bodyPr/>
          <a:lstStyle/>
          <a:p>
            <a:r>
              <a:rPr lang="en-US" dirty="0"/>
              <a:t>7-</a:t>
            </a:r>
            <a:fld id="{67B19427-F580-D146-B60E-4CADEE75497F}" type="slidenum">
              <a:rPr lang="en-US" smtClean="0"/>
              <a:pPr/>
              <a:t>48</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6844194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Designing User Access with Wired Ethernet</a:t>
            </a:r>
          </a:p>
        </p:txBody>
      </p:sp>
      <p:sp>
        <p:nvSpPr>
          <p:cNvPr id="3" name="Content Placeholder 2"/>
          <p:cNvSpPr>
            <a:spLocks noGrp="1"/>
          </p:cNvSpPr>
          <p:nvPr>
            <p:ph sz="quarter" idx="12"/>
          </p:nvPr>
        </p:nvSpPr>
        <p:spPr/>
        <p:txBody>
          <a:bodyPr/>
          <a:lstStyle/>
          <a:p>
            <a:r>
              <a:rPr lang="en-US" dirty="0"/>
              <a:t>Many organizations today install switched 100Base-T or 1000Base-T over category 5e wiring for their wired LANs</a:t>
            </a:r>
          </a:p>
          <a:p>
            <a:r>
              <a:rPr lang="en-US" dirty="0"/>
              <a:t>The cheapest point at which to install network cable is during the construction of the building.</a:t>
            </a:r>
          </a:p>
          <a:p>
            <a:r>
              <a:rPr lang="en-US" dirty="0"/>
              <a:t>Adding cable to an existing building can cost significantly more</a:t>
            </a:r>
          </a:p>
          <a:p>
            <a:r>
              <a:rPr lang="en-US" dirty="0"/>
              <a:t>Most buildings under construction today have a separate LAN cable plan, as they have plans for electrical cables.</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49</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9198147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Designing User Access with Wireless Ethernet</a:t>
            </a:r>
          </a:p>
        </p:txBody>
      </p:sp>
      <p:sp>
        <p:nvSpPr>
          <p:cNvPr id="3" name="Content Placeholder 2"/>
          <p:cNvSpPr>
            <a:spLocks noGrp="1"/>
          </p:cNvSpPr>
          <p:nvPr>
            <p:ph sz="quarter" idx="12"/>
          </p:nvPr>
        </p:nvSpPr>
        <p:spPr/>
        <p:txBody>
          <a:bodyPr/>
          <a:lstStyle/>
          <a:p>
            <a:r>
              <a:rPr lang="en-US" dirty="0"/>
              <a:t>Designing the physical WLAN is more challenging than designing a wired LAN.</a:t>
            </a:r>
          </a:p>
          <a:p>
            <a:r>
              <a:rPr lang="en-US" dirty="0"/>
              <a:t>The potential for </a:t>
            </a:r>
            <a:r>
              <a:rPr lang="en-US" dirty="0">
                <a:solidFill>
                  <a:srgbClr val="FF0000"/>
                </a:solidFill>
              </a:rPr>
              <a:t>radio interference </a:t>
            </a:r>
            <a:r>
              <a:rPr lang="en-US" dirty="0"/>
              <a:t>means that extra care must be taken in the placement of APs to ensure that their signals do not overlap</a:t>
            </a:r>
          </a:p>
          <a:p>
            <a:r>
              <a:rPr lang="en-US" dirty="0"/>
              <a:t>The physical WLAN design begins with a </a:t>
            </a:r>
            <a:r>
              <a:rPr lang="en-US" b="1" i="1" dirty="0">
                <a:solidFill>
                  <a:srgbClr val="FF0000"/>
                </a:solidFill>
              </a:rPr>
              <a:t>site survey.</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50</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7584787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85800"/>
            <a:ext cx="11379200" cy="975360"/>
          </a:xfrm>
        </p:spPr>
        <p:txBody>
          <a:bodyPr>
            <a:normAutofit/>
          </a:bodyPr>
          <a:lstStyle/>
          <a:p>
            <a:r>
              <a:rPr lang="en-US" dirty="0">
                <a:solidFill>
                  <a:srgbClr val="0000FF"/>
                </a:solidFill>
              </a:rPr>
              <a:t>Designing User Access with Wireless Ethernet </a:t>
            </a:r>
            <a:r>
              <a:rPr lang="en-US" sz="2000" dirty="0">
                <a:solidFill>
                  <a:srgbClr val="0000FF"/>
                </a:solidFill>
              </a:rPr>
              <a:t>Continued</a:t>
            </a:r>
          </a:p>
        </p:txBody>
      </p:sp>
      <p:sp>
        <p:nvSpPr>
          <p:cNvPr id="3" name="Content Placeholder 2"/>
          <p:cNvSpPr>
            <a:spLocks noGrp="1"/>
          </p:cNvSpPr>
          <p:nvPr>
            <p:ph sz="quarter" idx="14"/>
          </p:nvPr>
        </p:nvSpPr>
        <p:spPr/>
        <p:txBody>
          <a:bodyPr>
            <a:normAutofit lnSpcReduction="10000"/>
          </a:bodyPr>
          <a:lstStyle/>
          <a:p>
            <a:r>
              <a:rPr lang="en-US" dirty="0"/>
              <a:t>An AP with an omnidirectional antenna broadcasts in all directions</a:t>
            </a:r>
          </a:p>
          <a:p>
            <a:pPr lvl="1"/>
            <a:r>
              <a:rPr lang="en-US" dirty="0"/>
              <a:t>Typical design limit is a 50-foot-radius circle</a:t>
            </a:r>
          </a:p>
          <a:p>
            <a:r>
              <a:rPr lang="en-US" dirty="0"/>
              <a:t>Many wireless designers use a radius of 50 feet when planning traditional office environments</a:t>
            </a:r>
          </a:p>
          <a:p>
            <a:r>
              <a:rPr lang="en-US" dirty="0"/>
              <a:t>Most designers plan wireless LANs using 50- to 75-foot squares, depending on the construction of the building</a:t>
            </a:r>
          </a:p>
        </p:txBody>
      </p:sp>
      <p:sp>
        <p:nvSpPr>
          <p:cNvPr id="4" name="Slide Number Placeholder 3"/>
          <p:cNvSpPr>
            <a:spLocks noGrp="1"/>
          </p:cNvSpPr>
          <p:nvPr>
            <p:ph type="sldNum" sz="quarter" idx="10"/>
          </p:nvPr>
        </p:nvSpPr>
        <p:spPr/>
        <p:txBody>
          <a:bodyPr/>
          <a:lstStyle/>
          <a:p>
            <a:r>
              <a:rPr lang="en-US" dirty="0"/>
              <a:t>7-</a:t>
            </a:r>
            <a:fld id="{67B19427-F580-D146-B60E-4CADEE75497F}" type="slidenum">
              <a:rPr lang="en-US" smtClean="0"/>
              <a:pPr/>
              <a:t>51</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pic>
        <p:nvPicPr>
          <p:cNvPr id="9" name="Content Placeholder 8"/>
          <p:cNvPicPr>
            <a:picLocks noGrp="1" noChangeAspect="1"/>
          </p:cNvPicPr>
          <p:nvPr>
            <p:ph sz="quarter" idx="15"/>
          </p:nvPr>
        </p:nvPicPr>
        <p:blipFill>
          <a:blip r:embed="rId2"/>
          <a:stretch>
            <a:fillRect/>
          </a:stretch>
        </p:blipFill>
        <p:spPr>
          <a:xfrm>
            <a:off x="6858000" y="2348114"/>
            <a:ext cx="4028845" cy="3538286"/>
          </a:xfrm>
          <a:prstGeom prst="rect">
            <a:avLst/>
          </a:prstGeom>
        </p:spPr>
      </p:pic>
    </p:spTree>
    <p:extLst>
      <p:ext uri="{BB962C8B-B14F-4D97-AF65-F5344CB8AC3E}">
        <p14:creationId xmlns:p14="http://schemas.microsoft.com/office/powerpoint/2010/main" val="29179713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04800" y="685800"/>
            <a:ext cx="5613400" cy="791208"/>
          </a:xfrm>
        </p:spPr>
        <p:txBody>
          <a:bodyPr>
            <a:normAutofit/>
          </a:bodyPr>
          <a:lstStyle/>
          <a:p>
            <a:r>
              <a:rPr lang="en-US" sz="4400" dirty="0">
                <a:solidFill>
                  <a:srgbClr val="0000FF"/>
                </a:solidFill>
              </a:rPr>
              <a:t>Multistory Buildings</a:t>
            </a:r>
          </a:p>
        </p:txBody>
      </p:sp>
      <p:sp>
        <p:nvSpPr>
          <p:cNvPr id="7" name="Content Placeholder 6"/>
          <p:cNvSpPr>
            <a:spLocks noGrp="1"/>
          </p:cNvSpPr>
          <p:nvPr>
            <p:ph sz="quarter" idx="14"/>
          </p:nvPr>
        </p:nvSpPr>
        <p:spPr>
          <a:xfrm>
            <a:off x="201312" y="1585657"/>
            <a:ext cx="5384800" cy="4419600"/>
          </a:xfrm>
        </p:spPr>
        <p:txBody>
          <a:bodyPr>
            <a:normAutofit fontScale="92500" lnSpcReduction="10000"/>
          </a:bodyPr>
          <a:lstStyle/>
          <a:p>
            <a:r>
              <a:rPr lang="en-US" dirty="0"/>
              <a:t>Design becomes more difficult in a multistory building</a:t>
            </a:r>
          </a:p>
          <a:p>
            <a:r>
              <a:rPr lang="en-US" dirty="0"/>
              <a:t>Signals from the APs travel up and down as well as in all horizontal directions</a:t>
            </a:r>
          </a:p>
          <a:p>
            <a:r>
              <a:rPr lang="en-US" dirty="0"/>
              <a:t>The design must ensure that APs on different floors do not interfere with one another.</a:t>
            </a:r>
          </a:p>
          <a:p>
            <a:r>
              <a:rPr lang="en-US" dirty="0"/>
              <a:t>Floors are usually thicker than walls and signals travel further horizontally than vertically, making design a bit more difficult.</a:t>
            </a:r>
          </a:p>
        </p:txBody>
      </p:sp>
      <p:pic>
        <p:nvPicPr>
          <p:cNvPr id="9" name="Content Placeholder 8"/>
          <p:cNvPicPr>
            <a:picLocks noGrp="1" noChangeAspect="1"/>
          </p:cNvPicPr>
          <p:nvPr>
            <p:ph sz="quarter" idx="15"/>
          </p:nvPr>
        </p:nvPicPr>
        <p:blipFill>
          <a:blip r:embed="rId2"/>
          <a:stretch>
            <a:fillRect/>
          </a:stretch>
        </p:blipFill>
        <p:spPr>
          <a:xfrm>
            <a:off x="6634464" y="1752600"/>
            <a:ext cx="5025867" cy="4252657"/>
          </a:xfrm>
          <a:prstGeom prst="rect">
            <a:avLst/>
          </a:prstGeom>
        </p:spPr>
      </p:pic>
      <p:sp>
        <p:nvSpPr>
          <p:cNvPr id="4" name="Slide Number Placeholder 3"/>
          <p:cNvSpPr>
            <a:spLocks noGrp="1"/>
          </p:cNvSpPr>
          <p:nvPr>
            <p:ph type="sldNum" sz="quarter" idx="10"/>
          </p:nvPr>
        </p:nvSpPr>
        <p:spPr/>
        <p:txBody>
          <a:bodyPr/>
          <a:lstStyle/>
          <a:p>
            <a:r>
              <a:rPr lang="en-US" dirty="0"/>
              <a:t>7-</a:t>
            </a:r>
            <a:fld id="{67B19427-F580-D146-B60E-4CADEE75497F}" type="slidenum">
              <a:rPr lang="en-US" smtClean="0"/>
              <a:pPr/>
              <a:t>52</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14123192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solidFill>
                  <a:srgbClr val="0000FF"/>
                </a:solidFill>
              </a:rPr>
              <a:t>Guest Network</a:t>
            </a:r>
          </a:p>
        </p:txBody>
      </p:sp>
      <p:sp>
        <p:nvSpPr>
          <p:cNvPr id="8" name="Content Placeholder 7"/>
          <p:cNvSpPr>
            <a:spLocks noGrp="1"/>
          </p:cNvSpPr>
          <p:nvPr>
            <p:ph sz="quarter" idx="12"/>
          </p:nvPr>
        </p:nvSpPr>
        <p:spPr/>
        <p:txBody>
          <a:bodyPr/>
          <a:lstStyle/>
          <a:p>
            <a:r>
              <a:rPr lang="en-US" dirty="0"/>
              <a:t>Most wireless LAN APs offer the ability to provide two separate wireless networks</a:t>
            </a:r>
          </a:p>
          <a:p>
            <a:r>
              <a:rPr lang="en-US" dirty="0"/>
              <a:t>The primary network is secured by a password that is entered when you first connect to the network</a:t>
            </a:r>
          </a:p>
          <a:p>
            <a:r>
              <a:rPr lang="en-US" dirty="0"/>
              <a:t>The second network is a guest network that is secured by a separate password that is entered on a Web page when you first connect to the network</a:t>
            </a:r>
          </a:p>
          <a:p>
            <a:pPr lvl="1"/>
            <a:r>
              <a:rPr lang="en-US" dirty="0"/>
              <a:t>This network is not secure</a:t>
            </a:r>
          </a:p>
          <a:p>
            <a:pPr lvl="1"/>
            <a:r>
              <a:rPr lang="en-US" dirty="0"/>
              <a:t>This network is typically used by guests who need temporary access</a:t>
            </a:r>
          </a:p>
        </p:txBody>
      </p:sp>
      <p:sp>
        <p:nvSpPr>
          <p:cNvPr id="5" name="Slide Number Placeholder 4"/>
          <p:cNvSpPr>
            <a:spLocks noGrp="1"/>
          </p:cNvSpPr>
          <p:nvPr>
            <p:ph type="sldNum" sz="quarter" idx="11"/>
          </p:nvPr>
        </p:nvSpPr>
        <p:spPr/>
        <p:txBody>
          <a:bodyPr/>
          <a:lstStyle/>
          <a:p>
            <a:r>
              <a:rPr lang="en-US" dirty="0"/>
              <a:t>7-</a:t>
            </a:r>
            <a:fld id="{67B19427-F580-D146-B60E-4CADEE75497F}" type="slidenum">
              <a:rPr lang="en-US" smtClean="0"/>
              <a:pPr/>
              <a:t>53</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3203220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Designing the e-Commerce Edge</a:t>
            </a:r>
          </a:p>
        </p:txBody>
      </p:sp>
      <p:sp>
        <p:nvSpPr>
          <p:cNvPr id="3" name="Content Placeholder 2"/>
          <p:cNvSpPr>
            <a:spLocks noGrp="1"/>
          </p:cNvSpPr>
          <p:nvPr>
            <p:ph sz="quarter" idx="12"/>
          </p:nvPr>
        </p:nvSpPr>
        <p:spPr/>
        <p:txBody>
          <a:bodyPr/>
          <a:lstStyle/>
          <a:p>
            <a:r>
              <a:rPr lang="en-US" dirty="0"/>
              <a:t>The e-commerce edge contains the servers that are designed to serve data to customers and suppliers</a:t>
            </a:r>
          </a:p>
          <a:p>
            <a:r>
              <a:rPr lang="en-US" dirty="0"/>
              <a:t>The e-commerce edge is essentially a smaller, specialized version of the data center</a:t>
            </a:r>
          </a:p>
          <a:p>
            <a:r>
              <a:rPr lang="en-US" dirty="0"/>
              <a:t>The e-commerce edge often has different security requirements than the servers in the data center</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54</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7251298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the SOHO Environment</a:t>
            </a:r>
          </a:p>
        </p:txBody>
      </p:sp>
      <p:sp>
        <p:nvSpPr>
          <p:cNvPr id="3" name="Content Placeholder 2"/>
          <p:cNvSpPr>
            <a:spLocks noGrp="1"/>
          </p:cNvSpPr>
          <p:nvPr>
            <p:ph sz="quarter" idx="12"/>
          </p:nvPr>
        </p:nvSpPr>
        <p:spPr/>
        <p:txBody>
          <a:bodyPr/>
          <a:lstStyle/>
          <a:p>
            <a:r>
              <a:rPr lang="en-US" b="1" i="1" dirty="0"/>
              <a:t>Small-office, home-office </a:t>
            </a:r>
            <a:r>
              <a:rPr lang="en-US" dirty="0"/>
              <a:t>(SOHO) environments can be small versions of enterprise designs, or can take a very different approach</a:t>
            </a:r>
          </a:p>
          <a:p>
            <a:r>
              <a:rPr lang="en-US" dirty="0"/>
              <a:t>Installing cables for wired Ethernet is expensive, so most SOHO designs use wireless Ethernet</a:t>
            </a:r>
          </a:p>
          <a:p>
            <a:r>
              <a:rPr lang="en-US" dirty="0"/>
              <a:t>Sometimes a house is big enough that one WAP won’t cover the entire building and may use </a:t>
            </a:r>
            <a:r>
              <a:rPr lang="en-US" b="1" i="1" dirty="0"/>
              <a:t>powerline networking</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55</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6380252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800" y="609600"/>
            <a:ext cx="5918200" cy="975360"/>
          </a:xfrm>
        </p:spPr>
        <p:txBody>
          <a:bodyPr/>
          <a:lstStyle/>
          <a:p>
            <a:r>
              <a:rPr lang="en-US" dirty="0">
                <a:solidFill>
                  <a:srgbClr val="0000FF"/>
                </a:solidFill>
              </a:rPr>
              <a:t>Performance Checklist</a:t>
            </a:r>
          </a:p>
        </p:txBody>
      </p:sp>
      <p:pic>
        <p:nvPicPr>
          <p:cNvPr id="6" name="Content Placeholder 5"/>
          <p:cNvPicPr>
            <a:picLocks noGrp="1" noChangeAspect="1"/>
          </p:cNvPicPr>
          <p:nvPr>
            <p:ph sz="quarter" idx="12"/>
          </p:nvPr>
        </p:nvPicPr>
        <p:blipFill>
          <a:blip r:embed="rId2"/>
          <a:stretch>
            <a:fillRect/>
          </a:stretch>
        </p:blipFill>
        <p:spPr>
          <a:xfrm>
            <a:off x="5257800" y="607529"/>
            <a:ext cx="5334000" cy="5613846"/>
          </a:xfrm>
          <a:prstGeom prst="rect">
            <a:avLst/>
          </a:prstGeom>
        </p:spPr>
      </p:pic>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56</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5096626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685800"/>
            <a:ext cx="7137400" cy="746759"/>
          </a:xfrm>
        </p:spPr>
        <p:txBody>
          <a:bodyPr>
            <a:normAutofit/>
          </a:bodyPr>
          <a:lstStyle/>
          <a:p>
            <a:r>
              <a:rPr lang="en-US" sz="4400" dirty="0">
                <a:solidFill>
                  <a:srgbClr val="0000FF"/>
                </a:solidFill>
              </a:rPr>
              <a:t>Improving Circuit Capacity</a:t>
            </a:r>
          </a:p>
        </p:txBody>
      </p:sp>
      <p:sp>
        <p:nvSpPr>
          <p:cNvPr id="3" name="Content Placeholder 2"/>
          <p:cNvSpPr>
            <a:spLocks noGrp="1"/>
          </p:cNvSpPr>
          <p:nvPr>
            <p:ph sz="quarter" idx="12"/>
          </p:nvPr>
        </p:nvSpPr>
        <p:spPr/>
        <p:txBody>
          <a:bodyPr/>
          <a:lstStyle/>
          <a:p>
            <a:r>
              <a:rPr lang="en-US" dirty="0"/>
              <a:t>Improving the capacity of a circuit means increasing the volume of simultaneous messages the circuit can transmit.</a:t>
            </a:r>
          </a:p>
          <a:p>
            <a:r>
              <a:rPr lang="en-US" dirty="0"/>
              <a:t>One obvious approach is simply to buy a bigger circuit.</a:t>
            </a:r>
          </a:p>
          <a:p>
            <a:r>
              <a:rPr lang="en-US" dirty="0"/>
              <a:t>Another approach is to segment the network.</a:t>
            </a:r>
          </a:p>
          <a:p>
            <a:r>
              <a:rPr lang="en-US" dirty="0"/>
              <a:t>If there is more traffic on a LAN than it can handle, you can divide the LAN into several smaller segments</a:t>
            </a:r>
          </a:p>
          <a:p>
            <a:pPr lvl="1"/>
            <a:r>
              <a:rPr lang="en-US" dirty="0"/>
              <a:t>In a wired LAN, this means adding one of more new switches</a:t>
            </a:r>
          </a:p>
          <a:p>
            <a:pPr lvl="1"/>
            <a:r>
              <a:rPr lang="en-US" dirty="0"/>
              <a:t>In a wireless LAN, this means adding more APs that operate on different channels.</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57</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5512130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777241"/>
            <a:ext cx="11379200" cy="746759"/>
          </a:xfrm>
        </p:spPr>
        <p:txBody>
          <a:bodyPr/>
          <a:lstStyle/>
          <a:p>
            <a:r>
              <a:rPr lang="en-US" dirty="0">
                <a:solidFill>
                  <a:srgbClr val="0000FF"/>
                </a:solidFill>
              </a:rPr>
              <a:t>Reducing Network Demand</a:t>
            </a:r>
          </a:p>
        </p:txBody>
      </p:sp>
      <p:sp>
        <p:nvSpPr>
          <p:cNvPr id="3" name="Content Placeholder 2"/>
          <p:cNvSpPr>
            <a:spLocks noGrp="1"/>
          </p:cNvSpPr>
          <p:nvPr>
            <p:ph sz="quarter" idx="12"/>
          </p:nvPr>
        </p:nvSpPr>
        <p:spPr/>
        <p:txBody>
          <a:bodyPr/>
          <a:lstStyle/>
          <a:p>
            <a:r>
              <a:rPr lang="en-US" dirty="0"/>
              <a:t>One way to reduce network demand is to move files to client computers</a:t>
            </a:r>
          </a:p>
          <a:p>
            <a:r>
              <a:rPr lang="en-US" dirty="0"/>
              <a:t>Another way to reduce demand is to shift it from wired networks to wireless networks, or vice versa.</a:t>
            </a:r>
          </a:p>
          <a:p>
            <a:r>
              <a:rPr lang="en-US" dirty="0"/>
              <a:t>Network performance can be improved by attempting to move user demands from peak times to off-peak times</a:t>
            </a:r>
          </a:p>
          <a:p>
            <a:r>
              <a:rPr lang="en-US" dirty="0"/>
              <a:t>Finding one application that places a large demand on the network and moving it can have a significant impact.</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58</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9412076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solidFill>
                  <a:srgbClr val="0000FF"/>
                </a:solidFill>
              </a:rPr>
              <a:t>Server Virtualization</a:t>
            </a:r>
          </a:p>
        </p:txBody>
      </p:sp>
      <p:sp>
        <p:nvSpPr>
          <p:cNvPr id="8" name="Content Placeholder 7"/>
          <p:cNvSpPr>
            <a:spLocks noGrp="1"/>
          </p:cNvSpPr>
          <p:nvPr>
            <p:ph sz="quarter" idx="12"/>
          </p:nvPr>
        </p:nvSpPr>
        <p:spPr/>
        <p:txBody>
          <a:bodyPr/>
          <a:lstStyle/>
          <a:p>
            <a:r>
              <a:rPr lang="en-US" b="1" i="1" dirty="0"/>
              <a:t>Server virtualization </a:t>
            </a:r>
            <a:r>
              <a:rPr lang="en-US" dirty="0"/>
              <a:t>is the process of creating </a:t>
            </a:r>
            <a:r>
              <a:rPr lang="en-US" dirty="0">
                <a:solidFill>
                  <a:srgbClr val="FF0000"/>
                </a:solidFill>
              </a:rPr>
              <a:t>several logically separate servers</a:t>
            </a:r>
            <a:r>
              <a:rPr lang="en-US" dirty="0"/>
              <a:t> on the same physical computer.</a:t>
            </a:r>
          </a:p>
          <a:p>
            <a:r>
              <a:rPr lang="en-US" dirty="0"/>
              <a:t>The virtual servers run on the same physical computer but appear completely separate to the network.</a:t>
            </a:r>
          </a:p>
          <a:p>
            <a:r>
              <a:rPr lang="en-US" dirty="0"/>
              <a:t>Server virtualization enables firms to save </a:t>
            </a:r>
            <a:r>
              <a:rPr lang="en-US" dirty="0">
                <a:solidFill>
                  <a:srgbClr val="FF0000"/>
                </a:solidFill>
              </a:rPr>
              <a:t>money by reducing the number of physical servers</a:t>
            </a:r>
            <a:r>
              <a:rPr lang="en-US" dirty="0"/>
              <a:t> they buy and operate, while still providing all the benefits of having logically separate devices and operating systems.</a:t>
            </a:r>
          </a:p>
          <a:p>
            <a:r>
              <a:rPr lang="en-US" dirty="0"/>
              <a:t>Some operating systems enable virtualization natively.</a:t>
            </a:r>
          </a:p>
          <a:p>
            <a:r>
              <a:rPr lang="en-US" dirty="0"/>
              <a:t>In other cases, special-purpose virtualization software is installed.</a:t>
            </a:r>
          </a:p>
        </p:txBody>
      </p:sp>
      <p:sp>
        <p:nvSpPr>
          <p:cNvPr id="5" name="Slide Number Placeholder 4"/>
          <p:cNvSpPr>
            <a:spLocks noGrp="1"/>
          </p:cNvSpPr>
          <p:nvPr>
            <p:ph type="sldNum" sz="quarter" idx="11"/>
          </p:nvPr>
        </p:nvSpPr>
        <p:spPr/>
        <p:txBody>
          <a:bodyPr/>
          <a:lstStyle/>
          <a:p>
            <a:r>
              <a:rPr lang="en-US" dirty="0"/>
              <a:t>7-</a:t>
            </a:r>
            <a:fld id="{67B19427-F580-D146-B60E-4CADEE75497F}" type="slidenum">
              <a:rPr lang="en-US" smtClean="0"/>
              <a:pPr/>
              <a:t>59</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9952605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Storage Area Network</a:t>
            </a:r>
          </a:p>
        </p:txBody>
      </p:sp>
      <p:sp>
        <p:nvSpPr>
          <p:cNvPr id="3" name="Content Placeholder 2"/>
          <p:cNvSpPr>
            <a:spLocks noGrp="1"/>
          </p:cNvSpPr>
          <p:nvPr>
            <p:ph sz="quarter" idx="12"/>
          </p:nvPr>
        </p:nvSpPr>
        <p:spPr/>
        <p:txBody>
          <a:bodyPr/>
          <a:lstStyle/>
          <a:p>
            <a:r>
              <a:rPr lang="en-US" dirty="0"/>
              <a:t>A </a:t>
            </a:r>
            <a:r>
              <a:rPr lang="en-US" b="1" i="1" dirty="0"/>
              <a:t>storage area network </a:t>
            </a:r>
            <a:r>
              <a:rPr lang="en-US" dirty="0"/>
              <a:t>(SAN) is a LAN devoted solely to data storage</a:t>
            </a:r>
          </a:p>
          <a:p>
            <a:r>
              <a:rPr lang="en-US" dirty="0"/>
              <a:t>When the amount of data to be stored exceeds the practical limits of servers, the SAN plays a critical role.</a:t>
            </a:r>
          </a:p>
          <a:p>
            <a:r>
              <a:rPr lang="en-US" dirty="0"/>
              <a:t>The SAN has a set of high-speed storage devices and servers that are networked together using a very high-speed network.</a:t>
            </a:r>
          </a:p>
          <a:p>
            <a:r>
              <a:rPr lang="en-US" dirty="0"/>
              <a:t>The devices may be </a:t>
            </a:r>
            <a:r>
              <a:rPr lang="en-US" b="1" i="1" dirty="0"/>
              <a:t>network-attached storage </a:t>
            </a:r>
            <a:r>
              <a:rPr lang="en-US" dirty="0"/>
              <a:t>(NAS) devices</a:t>
            </a:r>
          </a:p>
          <a:p>
            <a:r>
              <a:rPr lang="en-US" dirty="0"/>
              <a:t>A NAS is not a general-purpose computer</a:t>
            </a:r>
          </a:p>
          <a:p>
            <a:r>
              <a:rPr lang="en-US" dirty="0"/>
              <a:t>It has a small processor and a large amount of disk storage and is designed solely to respond to requests for files and data</a:t>
            </a:r>
          </a:p>
        </p:txBody>
      </p:sp>
      <p:sp>
        <p:nvSpPr>
          <p:cNvPr id="4" name="Slide Number Placeholder 3"/>
          <p:cNvSpPr>
            <a:spLocks noGrp="1"/>
          </p:cNvSpPr>
          <p:nvPr>
            <p:ph type="sldNum" sz="quarter" idx="11"/>
          </p:nvPr>
        </p:nvSpPr>
        <p:spPr/>
        <p:txBody>
          <a:bodyPr/>
          <a:lstStyle/>
          <a:p>
            <a:r>
              <a:rPr lang="en-US" dirty="0"/>
              <a:t>7-</a:t>
            </a:r>
            <a:fld id="{67B19427-F580-D146-B60E-4CADEE75497F}" type="slidenum">
              <a:rPr lang="en-US" smtClean="0"/>
              <a:pPr/>
              <a:t>60</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801355899"/>
      </p:ext>
    </p:extLst>
  </p:cSld>
  <p:clrMapOvr>
    <a:masterClrMapping/>
  </p:clrMapOvr>
</p:sld>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ADB653A1-22A9-4BD0-B2B5-00B2E53CA889}"/>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25467C8E-E53C-4AD9-A914-F685BED9852C}"/>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C895C9AC-D919-427F-9B86-94C36E44A5AC}"/>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CDF06AF5-28F1-4349-ABBF-0F854C7FF2AB}"/>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DCC268CD-8C3E-414C-B079-8C7CF40029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1E4FF330-8D2F-4F8D-BD47-17DD76922698}"/>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9997BA5C-0A08-467C-973F-4C065CD0136E}"/>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FFC5FF765D7D64998B8A00072F6BAD5" ma:contentTypeVersion="15" ma:contentTypeDescription="Create a new document." ma:contentTypeScope="" ma:versionID="7dc141ca22241caa5807500f3576adfb">
  <xsd:schema xmlns:xsd="http://www.w3.org/2001/XMLSchema" xmlns:xs="http://www.w3.org/2001/XMLSchema" xmlns:p="http://schemas.microsoft.com/office/2006/metadata/properties" xmlns:ns1="http://schemas.microsoft.com/sharepoint/v3" xmlns:ns3="3acb1e6a-c770-49d5-a476-585c8d9f4762" xmlns:ns4="2849ce5b-a999-43ca-9b4e-9342bc28e78e" targetNamespace="http://schemas.microsoft.com/office/2006/metadata/properties" ma:root="true" ma:fieldsID="8f0ef06240b3429aa59a01c4d08c16e4" ns1:_="" ns3:_="" ns4:_="">
    <xsd:import namespace="http://schemas.microsoft.com/sharepoint/v3"/>
    <xsd:import namespace="3acb1e6a-c770-49d5-a476-585c8d9f4762"/>
    <xsd:import namespace="2849ce5b-a999-43ca-9b4e-9342bc28e78e"/>
    <xsd:element name="properties">
      <xsd:complexType>
        <xsd:sequence>
          <xsd:element name="documentManagement">
            <xsd:complexType>
              <xsd:all>
                <xsd:element ref="ns1:_ip_UnifiedCompliancePolicyProperties" minOccurs="0"/>
                <xsd:element ref="ns1:_ip_UnifiedCompliancePolicyUIAction" minOccurs="0"/>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Location"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8" nillable="true" ma:displayName="Unified Compliance Policy Properties" ma:hidden="true" ma:internalName="_ip_UnifiedCompliancePolicyProperties">
      <xsd:simpleType>
        <xsd:restriction base="dms:Note"/>
      </xsd:simpleType>
    </xsd:element>
    <xsd:element name="_ip_UnifiedCompliancePolicyUIAction" ma:index="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acb1e6a-c770-49d5-a476-585c8d9f476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849ce5b-a999-43ca-9b4e-9342bc28e78e"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3acb1e6a-c770-49d5-a476-585c8d9f4762">
      <UserInfo>
        <DisplayName>McGinniss, Allison</DisplayName>
        <AccountId>4797</AccountId>
        <AccountType/>
      </UserInfo>
      <UserInfo>
        <DisplayName>Boylan, Jon</DisplayName>
        <AccountId>3791</AccountId>
        <AccountType/>
      </UserInfo>
      <UserInfo>
        <DisplayName>Swinford, Christin - Indianapolis</DisplayName>
        <AccountId>2742</AccountId>
        <AccountType/>
      </UserInfo>
      <UserInfo>
        <DisplayName>Davis, Kathy</DisplayName>
        <AccountId>3885</AccountId>
        <AccountType/>
      </UserInfo>
      <UserInfo>
        <DisplayName>Trent, Michael</DisplayName>
        <AccountId>3890</AccountId>
        <AccountType/>
      </UserInfo>
    </SharedWithUsers>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4E8EDE-B712-4183-997A-9529F0F6D8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acb1e6a-c770-49d5-a476-585c8d9f4762"/>
    <ds:schemaRef ds:uri="2849ce5b-a999-43ca-9b4e-9342bc28e7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EFD79E-06AF-4973-A733-BC27ECAABB1B}">
  <ds:schemaRefs>
    <ds:schemaRef ds:uri="http://schemas.microsoft.com/office/2006/documentManagement/types"/>
    <ds:schemaRef ds:uri="http://schemas.microsoft.com/sharepoint/v3"/>
    <ds:schemaRef ds:uri="http://purl.org/dc/elements/1.1/"/>
    <ds:schemaRef ds:uri="http://schemas.microsoft.com/office/2006/metadata/properties"/>
    <ds:schemaRef ds:uri="3acb1e6a-c770-49d5-a476-585c8d9f4762"/>
    <ds:schemaRef ds:uri="http://schemas.microsoft.com/office/infopath/2007/PartnerControls"/>
    <ds:schemaRef ds:uri="http://schemas.openxmlformats.org/package/2006/metadata/core-properties"/>
    <ds:schemaRef ds:uri="http://purl.org/dc/terms/"/>
    <ds:schemaRef ds:uri="2849ce5b-a999-43ca-9b4e-9342bc28e78e"/>
    <ds:schemaRef ds:uri="http://www.w3.org/XML/1998/namespace"/>
    <ds:schemaRef ds:uri="http://purl.org/dc/dcmitype/"/>
  </ds:schemaRefs>
</ds:datastoreItem>
</file>

<file path=customXml/itemProps3.xml><?xml version="1.0" encoding="utf-8"?>
<ds:datastoreItem xmlns:ds="http://schemas.openxmlformats.org/officeDocument/2006/customXml" ds:itemID="{8DECD1DE-F5AD-4A6B-99F8-E38245CC2D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McDaniel Template</Template>
  <TotalTime>2784</TotalTime>
  <Words>4394</Words>
  <Application>Microsoft Office PowerPoint</Application>
  <PresentationFormat>Widescreen</PresentationFormat>
  <Paragraphs>429</Paragraphs>
  <Slides>60</Slides>
  <Notes>1</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60</vt:i4>
      </vt:variant>
    </vt:vector>
  </HeadingPairs>
  <TitlesOfParts>
    <vt:vector size="73" baseType="lpstr">
      <vt:lpstr>Arial</vt:lpstr>
      <vt:lpstr>Calibri</vt:lpstr>
      <vt:lpstr>Calibri Light</vt:lpstr>
      <vt:lpstr>Courier New</vt:lpstr>
      <vt:lpstr>Source Sans Pro</vt:lpstr>
      <vt:lpstr>Times New Roman</vt:lpstr>
      <vt:lpstr>Opener</vt:lpstr>
      <vt:lpstr>Chapter Outline</vt:lpstr>
      <vt:lpstr>Learning Objectives</vt:lpstr>
      <vt:lpstr>Concept Check Question</vt:lpstr>
      <vt:lpstr>Key Term</vt:lpstr>
      <vt:lpstr>Section</vt:lpstr>
      <vt:lpstr>Image Slide Master</vt:lpstr>
      <vt:lpstr>Business Data Communications</vt:lpstr>
      <vt:lpstr>Learning Objectives</vt:lpstr>
      <vt:lpstr>7.1 Introduction</vt:lpstr>
      <vt:lpstr>7.2 LAN Components</vt:lpstr>
      <vt:lpstr>Network Interface Cards</vt:lpstr>
      <vt:lpstr>Network Circuits</vt:lpstr>
      <vt:lpstr>Commonly Used Network Cable Standards</vt:lpstr>
      <vt:lpstr>Wireless LANs (WLANs)</vt:lpstr>
      <vt:lpstr>Network Hubs, Switches, and Access Points</vt:lpstr>
      <vt:lpstr>Network Hubs, Switches, and Access Points Continued</vt:lpstr>
      <vt:lpstr>QUIZ 1</vt:lpstr>
      <vt:lpstr>QUIZ 2</vt:lpstr>
      <vt:lpstr>Network Operating Systems</vt:lpstr>
      <vt:lpstr>NOS Server Software</vt:lpstr>
      <vt:lpstr>NOS Client Software</vt:lpstr>
      <vt:lpstr>Network Operating Systems Continued</vt:lpstr>
      <vt:lpstr>Network Profiles</vt:lpstr>
      <vt:lpstr>QUIZ 3</vt:lpstr>
      <vt:lpstr>QUIZ 4</vt:lpstr>
      <vt:lpstr>7.3 Wired Ethernet</vt:lpstr>
      <vt:lpstr>Topology</vt:lpstr>
      <vt:lpstr>Hub-Based Ethernet</vt:lpstr>
      <vt:lpstr>Switch-Based Ethernet</vt:lpstr>
      <vt:lpstr>Switch-Based Ethernet Continued</vt:lpstr>
      <vt:lpstr>Media Access Control(MAC)</vt:lpstr>
      <vt:lpstr>Types of Ethernet</vt:lpstr>
      <vt:lpstr>QUIZ 5</vt:lpstr>
      <vt:lpstr>QUIZ 6</vt:lpstr>
      <vt:lpstr>7.4 Wireless Ethernet</vt:lpstr>
      <vt:lpstr>Wireless Media Access Control</vt:lpstr>
      <vt:lpstr>Associating with an AP</vt:lpstr>
      <vt:lpstr>Distributed Coordination Function</vt:lpstr>
      <vt:lpstr>Point Coordination Function</vt:lpstr>
      <vt:lpstr>Point Coordination Function Continued</vt:lpstr>
      <vt:lpstr>Wireless Ethernet Frame Layout</vt:lpstr>
      <vt:lpstr>Types of Wireless Ethernet</vt:lpstr>
      <vt:lpstr>Security</vt:lpstr>
      <vt:lpstr>Security Continued</vt:lpstr>
      <vt:lpstr>7.5 The Best Practice LAN Design</vt:lpstr>
      <vt:lpstr>Managed APs</vt:lpstr>
      <vt:lpstr>Designing the Data Center</vt:lpstr>
      <vt:lpstr>Designing the Data Center Continued</vt:lpstr>
      <vt:lpstr>7.6 Improving LAN Performance</vt:lpstr>
      <vt:lpstr>Improving Server Performance</vt:lpstr>
      <vt:lpstr>7.7 Implications For Cyber Security</vt:lpstr>
      <vt:lpstr>Optional (Extra material)</vt:lpstr>
      <vt:lpstr>Domains</vt:lpstr>
      <vt:lpstr>Three Modes in Which Switches can Operate</vt:lpstr>
      <vt:lpstr>Designing User Access with Wired Ethernet</vt:lpstr>
      <vt:lpstr>Designing User Access with Wireless Ethernet</vt:lpstr>
      <vt:lpstr>Designing User Access with Wireless Ethernet Continued</vt:lpstr>
      <vt:lpstr>Multistory Buildings</vt:lpstr>
      <vt:lpstr>Guest Network</vt:lpstr>
      <vt:lpstr>Designing the e-Commerce Edge</vt:lpstr>
      <vt:lpstr>Designing the SOHO Environment</vt:lpstr>
      <vt:lpstr>Performance Checklist</vt:lpstr>
      <vt:lpstr>Improving Circuit Capacity</vt:lpstr>
      <vt:lpstr>Reducing Network Demand</vt:lpstr>
      <vt:lpstr>Server Virtualization</vt:lpstr>
      <vt:lpstr>Storage Area Network</vt:lpstr>
    </vt:vector>
  </TitlesOfParts>
  <Manager>Judy Howarth</Manager>
  <Company>John Wiley and Sons,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Wired and Wireless Local Area Networks</dc:title>
  <dc:subject>Business Data Communications 14e</dc:subject>
  <dc:creator>Ronny Richardson</dc:creator>
  <cp:keywords>Business</cp:keywords>
  <dc:description>This file was created by:_x000d_
_x000d_
Dr. Ronny Richardson_x000d_
Professor of Operations Management_x000d_
Coles College of Business_x000d_
Kennesaw State University_x000d_
_x000d_
DrRonnyRichardson@gmail.com</dc:description>
  <cp:lastModifiedBy>Duaa Zuhair Al-Hamid</cp:lastModifiedBy>
  <cp:revision>50</cp:revision>
  <cp:lastPrinted>2024-04-08T04:23:15Z</cp:lastPrinted>
  <dcterms:created xsi:type="dcterms:W3CDTF">2021-04-29T19:32:45Z</dcterms:created>
  <dcterms:modified xsi:type="dcterms:W3CDTF">2025-06-06T03:05:12Z</dcterms:modified>
  <cp:category>PowerPoint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0x0101006FFC5FF765D7D64998B8A00072F6BAD5</vt:lpwstr>
  </property>
</Properties>
</file>