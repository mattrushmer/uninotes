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16"/>
  </p:notesMasterIdLst>
  <p:sldIdLst>
    <p:sldId id="942" r:id="rId2"/>
    <p:sldId id="957" r:id="rId3"/>
    <p:sldId id="1126" r:id="rId4"/>
    <p:sldId id="1078" r:id="rId5"/>
    <p:sldId id="1079" r:id="rId6"/>
    <p:sldId id="1081" r:id="rId7"/>
    <p:sldId id="952" r:id="rId8"/>
    <p:sldId id="966" r:id="rId9"/>
    <p:sldId id="1082" r:id="rId10"/>
    <p:sldId id="1083" r:id="rId11"/>
    <p:sldId id="1127" r:id="rId12"/>
    <p:sldId id="1087" r:id="rId13"/>
    <p:sldId id="1130" r:id="rId14"/>
    <p:sldId id="1121" r:id="rId15"/>
  </p:sldIdLst>
  <p:sldSz cx="9144000" cy="5143500" type="screen16x9"/>
  <p:notesSz cx="6858000" cy="9144000"/>
  <p:custDataLst>
    <p:tags r:id="rId17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13" autoAdjust="0"/>
    <p:restoredTop sz="93672" autoAdjust="0"/>
  </p:normalViewPr>
  <p:slideViewPr>
    <p:cSldViewPr snapToGrid="0" showGuides="1">
      <p:cViewPr varScale="1">
        <p:scale>
          <a:sx n="118" d="100"/>
          <a:sy n="118" d="100"/>
        </p:scale>
        <p:origin x="797" y="86"/>
      </p:cViewPr>
      <p:guideLst>
        <p:guide orient="horz" pos="1620"/>
        <p:guide pos="3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81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r>
              <a:rPr lang="en-US" dirty="0"/>
              <a:t>8.4.1</a:t>
            </a:r>
            <a:r>
              <a:rPr lang="en-US" baseline="0" dirty="0"/>
              <a:t> – </a:t>
            </a:r>
            <a:r>
              <a:rPr lang="en-US" altLang="en-US" dirty="0"/>
              <a:t>Host Forwarding Decision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r>
              <a:rPr lang="en-US" dirty="0"/>
              <a:t>8.4.1</a:t>
            </a:r>
            <a:r>
              <a:rPr lang="en-US" baseline="0" dirty="0"/>
              <a:t> – </a:t>
            </a:r>
            <a:r>
              <a:rPr lang="en-US" altLang="en-US" dirty="0"/>
              <a:t>Host Forwarding Decision (Cont.)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r>
              <a:rPr lang="en-US" dirty="0"/>
              <a:t>8.4.2</a:t>
            </a:r>
            <a:r>
              <a:rPr lang="en-US" baseline="0" dirty="0"/>
              <a:t> – </a:t>
            </a:r>
            <a:r>
              <a:rPr lang="en-US" altLang="en-US" dirty="0"/>
              <a:t>Default Gateway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r>
              <a:rPr lang="en-US" dirty="0"/>
              <a:t>8.4.3</a:t>
            </a:r>
            <a:r>
              <a:rPr lang="en-US" baseline="0" dirty="0"/>
              <a:t> – </a:t>
            </a:r>
            <a:r>
              <a:rPr lang="en-US" altLang="en-US" dirty="0"/>
              <a:t>A Host Routes to the Default Gateway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r>
              <a:rPr lang="en-US" dirty="0"/>
              <a:t>8.4.4</a:t>
            </a:r>
            <a:r>
              <a:rPr lang="en-US" baseline="0" dirty="0"/>
              <a:t> – </a:t>
            </a:r>
            <a:r>
              <a:rPr lang="en-US" altLang="en-US" dirty="0"/>
              <a:t>Host Routing Tables</a:t>
            </a:r>
          </a:p>
          <a:p>
            <a:pPr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8.4.5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dirty="0">
                <a:effectLst/>
              </a:rPr>
              <a:t>– Check Your Understanding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813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8.5.1 – </a:t>
            </a:r>
            <a:r>
              <a:rPr lang="en-US" altLang="en-US" dirty="0"/>
              <a:t>Router Packet Forwarding Decision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8.5.2 – </a:t>
            </a:r>
            <a:r>
              <a:rPr lang="en-US" altLang="en-US" dirty="0"/>
              <a:t>IP Router Routing 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8.5.3 – </a:t>
            </a:r>
            <a:r>
              <a:rPr lang="en-US" altLang="en-US" sz="1200" dirty="0"/>
              <a:t>Static Routing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8.5.4 – </a:t>
            </a:r>
            <a:r>
              <a:rPr lang="en-US" altLang="en-US" sz="1200" dirty="0"/>
              <a:t>Dynamic Routing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8.5.6 – </a:t>
            </a:r>
            <a:r>
              <a:rPr lang="en-US" altLang="en-US" dirty="0"/>
              <a:t>Introduction to an IPv4 Routing Table</a:t>
            </a:r>
            <a:endParaRPr lang="en-US" dirty="0">
              <a:latin typeface="Arial" charset="0"/>
            </a:endParaRPr>
          </a:p>
          <a:p>
            <a:pPr marL="0" marR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charset="0"/>
              </a:rPr>
              <a:t>8.5.7 – </a:t>
            </a:r>
            <a:r>
              <a:rPr lang="en-US" sz="1200" dirty="0">
                <a:effectLst/>
              </a:rPr>
              <a:t>Check Your Understanding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/>
              <a:pPr/>
              <a:t>13</a:t>
            </a:fld>
            <a:endParaRPr lang="en-US" sz="800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New Terms and Commands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533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 dirty="0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dirty="0">
                <a:sym typeface="Arial" pitchFamily="34" charset="0"/>
              </a:rPr>
              <a:t>Second level</a:t>
            </a:r>
          </a:p>
          <a:p>
            <a:pPr lvl="2"/>
            <a:r>
              <a:rPr lang="en-US" dirty="0">
                <a:sym typeface="Arial" pitchFamily="34" charset="0"/>
              </a:rPr>
              <a:t>Third level</a:t>
            </a:r>
          </a:p>
          <a:p>
            <a:pPr lvl="3"/>
            <a:r>
              <a:rPr lang="en-US" dirty="0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 dirty="0">
                <a:sym typeface="Arial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ea typeface="ＭＳ Ｐゴシック"/>
              </a:rPr>
              <a:t>How a Host Routes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9772822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4000" cy="685800"/>
          </a:xfrm>
        </p:spPr>
        <p:txBody>
          <a:bodyPr/>
          <a:lstStyle/>
          <a:p>
            <a:r>
              <a:rPr lang="en-US" altLang="en-US" sz="1600" dirty="0"/>
              <a:t>How a Host Routes</a:t>
            </a:r>
            <a:br>
              <a:rPr lang="en-US" altLang="en-US" sz="1600" dirty="0"/>
            </a:br>
            <a:r>
              <a:rPr lang="en-US" altLang="en-US" dirty="0"/>
              <a:t>Host Forwarding Decision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728" y="711504"/>
            <a:ext cx="8516566" cy="225082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Packets are always created at the source.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Each host devices creates their own routing table.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 host can send packets to the following:</a:t>
            </a:r>
          </a:p>
          <a:p>
            <a:pPr lvl="1"/>
            <a:r>
              <a:rPr lang="en-US" sz="1700" dirty="0"/>
              <a:t>Itself – 127.0.0.1 (IPv4), ::1 (IPv6)</a:t>
            </a:r>
          </a:p>
          <a:p>
            <a:pPr lvl="1"/>
            <a:r>
              <a:rPr lang="en-US" sz="1700" dirty="0"/>
              <a:t>Local Hosts – destination is on the same LAN</a:t>
            </a:r>
          </a:p>
          <a:p>
            <a:pPr lvl="1"/>
            <a:r>
              <a:rPr lang="en-US" sz="1700" dirty="0"/>
              <a:t>Remote Hosts – devices are not on the same LAN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070" y="3072057"/>
            <a:ext cx="4799457" cy="1922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0830764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4000" cy="685800"/>
          </a:xfrm>
        </p:spPr>
        <p:txBody>
          <a:bodyPr/>
          <a:lstStyle/>
          <a:p>
            <a:r>
              <a:rPr lang="en-US" altLang="en-US" sz="1600" dirty="0"/>
              <a:t>How a Host Routes</a:t>
            </a:r>
            <a:br>
              <a:rPr lang="en-US" altLang="en-US" sz="1600" dirty="0"/>
            </a:br>
            <a:r>
              <a:rPr lang="en-US" altLang="en-US" dirty="0"/>
              <a:t>Host Forwarding Decision (Cont.)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728" y="711504"/>
            <a:ext cx="8915400" cy="25304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The Source device determines whether the destination is local or remote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Method of determination: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IPv4 – Source uses its own IP address and Subnet mask, along with the destination IP address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IPv6 – Source uses the network address and prefix advertised by the local router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Local traffic is dumped out the host interface to be handled by an intermediary device.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Remote traffic is forwarded directly to the default gateway on the LAN.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003" y="3329608"/>
            <a:ext cx="4296537" cy="154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0649388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r>
              <a:rPr lang="en-US" altLang="en-US" sz="1600" dirty="0"/>
              <a:t>How a Host Routes</a:t>
            </a:r>
            <a:br>
              <a:rPr lang="en-US" altLang="en-US" sz="1600" dirty="0"/>
            </a:br>
            <a:r>
              <a:rPr lang="en-US" altLang="en-US" dirty="0"/>
              <a:t>Default Gateway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5760" y="821052"/>
            <a:ext cx="8535435" cy="3376044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A router or layer 3 switch can be a default-gateway.</a:t>
            </a:r>
          </a:p>
          <a:p>
            <a:pPr marL="0" indent="0">
              <a:buNone/>
            </a:pPr>
            <a:r>
              <a:rPr lang="en-US" sz="1800" dirty="0"/>
              <a:t>Features of a default gateway (DGW):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It must have an IP address in the same range as the rest of the LAN.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It can accept data from the LAN and is capable of forwarding traffic off of the LAN.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It can route to other networks.</a:t>
            </a:r>
          </a:p>
          <a:p>
            <a:pPr marL="0" indent="0">
              <a:buNone/>
            </a:pPr>
            <a:r>
              <a:rPr lang="en-US" sz="1800" dirty="0"/>
              <a:t>If a device has no default gateway or a bad default gateway, its traffic will not be able to leave the LAN.</a:t>
            </a:r>
          </a:p>
          <a:p>
            <a:pPr lvl="1"/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121643246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r>
              <a:rPr lang="en-US" altLang="en-US" sz="1600" dirty="0"/>
              <a:t>How a Host Routes</a:t>
            </a:r>
            <a:br>
              <a:rPr lang="en-US" altLang="en-US" sz="1600" dirty="0"/>
            </a:br>
            <a:r>
              <a:rPr lang="en-US" altLang="en-US" dirty="0"/>
              <a:t>A Host Routes to the Default Gateway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115" y="821051"/>
            <a:ext cx="4115747" cy="379449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The host will know the default gateway (DGW) either statically or through DHCP in IPv4.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IPv6 sends the DGW through a router solicitation (RS) or can be configured manually.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 A DGW is static route which will be a last resort route in the routing table.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All device on the LAN will need the DGW of the router if they intend to send traffic remotely.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870" y="1501170"/>
            <a:ext cx="4765834" cy="2229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5191498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r>
              <a:rPr lang="en-US" altLang="en-US" sz="1600" dirty="0"/>
              <a:t>How a Host Routes </a:t>
            </a:r>
            <a:br>
              <a:rPr lang="en-US" altLang="en-US" sz="1600" dirty="0"/>
            </a:br>
            <a:r>
              <a:rPr lang="en-US" altLang="en-US" dirty="0"/>
              <a:t>Host Routing Tables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115" y="821051"/>
            <a:ext cx="2819110" cy="379449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On Windows, route print or </a:t>
            </a:r>
            <a:r>
              <a:rPr lang="en-US" sz="1700" dirty="0" err="1"/>
              <a:t>netstat</a:t>
            </a:r>
            <a:r>
              <a:rPr lang="en-US" sz="1700" dirty="0"/>
              <a:t>  -r to display the PC routing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Three sections displayed by these two commands:</a:t>
            </a:r>
          </a:p>
          <a:p>
            <a:pPr lvl="1"/>
            <a:r>
              <a:rPr lang="en-US" sz="1600" dirty="0"/>
              <a:t>Interface List – all potential interfaces and MAC addressing</a:t>
            </a:r>
          </a:p>
          <a:p>
            <a:pPr lvl="1"/>
            <a:r>
              <a:rPr lang="en-US" sz="1600" dirty="0"/>
              <a:t>IPv4 Routing Table</a:t>
            </a:r>
          </a:p>
          <a:p>
            <a:pPr lvl="1"/>
            <a:r>
              <a:rPr lang="en-US" sz="1600" dirty="0"/>
              <a:t>IPv6 Routing Table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864" y="932688"/>
            <a:ext cx="5485829" cy="3738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8614824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ea typeface="ＭＳ Ｐゴシック"/>
              </a:rPr>
              <a:t>Introduction to Routing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0016951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Introduction to Routing</a:t>
            </a:r>
            <a:br>
              <a:rPr lang="en-US" altLang="en-US" dirty="0"/>
            </a:br>
            <a:r>
              <a:rPr lang="en-US" altLang="en-US" dirty="0"/>
              <a:t>Router Packet Forwarding Decision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73255" y="822098"/>
            <a:ext cx="8807116" cy="53896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happens when the router receives the frame from the host device?</a:t>
            </a:r>
            <a:endParaRPr lang="en-CA" altLang="en-US" dirty="0"/>
          </a:p>
          <a:p>
            <a:pPr lvl="1"/>
            <a:endParaRPr lang="en-CA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55" y="1361067"/>
            <a:ext cx="5439072" cy="3316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1411" y="2162150"/>
            <a:ext cx="2983832" cy="1877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840856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Introduction to Routing</a:t>
            </a:r>
            <a:br>
              <a:rPr lang="en-US" altLang="en-US" dirty="0"/>
            </a:br>
            <a:r>
              <a:rPr lang="en-US" altLang="en-US" dirty="0"/>
              <a:t>IP Router Routing Table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90286" y="798943"/>
            <a:ext cx="8853715" cy="242294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There three types of routes in a router’s routing table: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b="1" dirty="0"/>
              <a:t>Directly Connected </a:t>
            </a:r>
            <a:r>
              <a:rPr lang="en-US" altLang="en-US" dirty="0"/>
              <a:t>– These routes are automatically added by the router, provided the interface is active and has addressing.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b="1" dirty="0"/>
              <a:t>Remote</a:t>
            </a:r>
            <a:r>
              <a:rPr lang="en-US" altLang="en-US" dirty="0"/>
              <a:t> – These are the routes the router does not have a direct connection and may be learned: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Manually – with a static route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Dynamically – by using a routing protocol to have the routers share their information with each other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b="1" dirty="0"/>
              <a:t>Default Route </a:t>
            </a:r>
            <a:r>
              <a:rPr lang="en-US" altLang="en-US" dirty="0"/>
              <a:t>– this forwards all traffic to a specific direction when there is not a match in the routing table </a:t>
            </a:r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8543" y="3221887"/>
            <a:ext cx="5351646" cy="152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1866069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3080083" cy="757551"/>
          </a:xfrm>
        </p:spPr>
        <p:txBody>
          <a:bodyPr/>
          <a:lstStyle/>
          <a:p>
            <a:r>
              <a:rPr lang="en-US" altLang="en-US" sz="1600" dirty="0"/>
              <a:t>Introduction to Routing</a:t>
            </a:r>
            <a:br>
              <a:rPr lang="en-US" altLang="en-US" dirty="0"/>
            </a:br>
            <a:r>
              <a:rPr lang="en-US" altLang="en-US" sz="2400" dirty="0"/>
              <a:t>Static Routing</a:t>
            </a:r>
            <a:endParaRPr lang="en-CA" alt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5" y="798945"/>
            <a:ext cx="3846044" cy="3066474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Static Route Characteristics: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Must be configured manually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Must be adjusted manually by the administrator when there is a change in the topology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Good for small non-redundant networks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Often used in conjunction with a dynamic routing protocol for configuring a default route</a:t>
            </a: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9" y="228982"/>
            <a:ext cx="5007756" cy="238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9" y="2687848"/>
            <a:ext cx="5007757" cy="2117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5251992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3080083" cy="757551"/>
          </a:xfrm>
        </p:spPr>
        <p:txBody>
          <a:bodyPr/>
          <a:lstStyle/>
          <a:p>
            <a:r>
              <a:rPr lang="en-US" altLang="en-US" sz="1600" dirty="0"/>
              <a:t>Introduction to Routing</a:t>
            </a:r>
            <a:br>
              <a:rPr lang="en-US" altLang="en-US" sz="1600" dirty="0"/>
            </a:br>
            <a:r>
              <a:rPr lang="en-US" altLang="en-US" dirty="0"/>
              <a:t>Dynamic Routing</a:t>
            </a:r>
            <a:endParaRPr lang="en-CA" alt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5" y="798945"/>
            <a:ext cx="3846044" cy="2962564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Dynamic Routes Automatically: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Discover remote networks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Maintain up-to-date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Choose the best path to the destination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Find new best paths when there is a topology change</a:t>
            </a:r>
          </a:p>
          <a:p>
            <a:pPr marL="0" indent="0">
              <a:buNone/>
            </a:pPr>
            <a:r>
              <a:rPr lang="en-US" sz="1600" dirty="0"/>
              <a:t>Dynamic routing can also share static default routes with the other routers.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9" y="358055"/>
            <a:ext cx="5007757" cy="1928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9" y="2312213"/>
            <a:ext cx="4644736" cy="2470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7906835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Introduction to Routing</a:t>
            </a:r>
            <a:br>
              <a:rPr lang="en-US" altLang="en-US" dirty="0"/>
            </a:br>
            <a:r>
              <a:rPr lang="en-US" altLang="en-US" dirty="0"/>
              <a:t>Introduction to an IPv4 Routing Table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35082" y="817311"/>
            <a:ext cx="3979718" cy="3723515"/>
          </a:xfrm>
        </p:spPr>
        <p:txBody>
          <a:bodyPr/>
          <a:lstStyle/>
          <a:p>
            <a:pPr marL="0" indent="0">
              <a:buNone/>
            </a:pPr>
            <a:r>
              <a:rPr lang="en-CA" altLang="en-US" dirty="0"/>
              <a:t>The </a:t>
            </a:r>
            <a:r>
              <a:rPr lang="en-US" b="1" dirty="0"/>
              <a:t>show ip route </a:t>
            </a:r>
            <a:r>
              <a:rPr lang="en-US" dirty="0"/>
              <a:t>command shows the following route sources:</a:t>
            </a:r>
          </a:p>
          <a:p>
            <a:pPr lvl="1"/>
            <a:r>
              <a:rPr lang="en-US" b="1" dirty="0"/>
              <a:t>L</a:t>
            </a:r>
            <a:r>
              <a:rPr lang="en-US" dirty="0"/>
              <a:t> - Directly connected local interface IP address</a:t>
            </a:r>
          </a:p>
          <a:p>
            <a:pPr lvl="1"/>
            <a:r>
              <a:rPr lang="en-US" b="1" dirty="0"/>
              <a:t>C</a:t>
            </a:r>
            <a:r>
              <a:rPr lang="en-US" dirty="0"/>
              <a:t> – Directly connected network</a:t>
            </a:r>
          </a:p>
          <a:p>
            <a:pPr lvl="1"/>
            <a:r>
              <a:rPr lang="en-US" b="1" dirty="0"/>
              <a:t>S</a:t>
            </a:r>
            <a:r>
              <a:rPr lang="en-US" dirty="0"/>
              <a:t> – Static route was manually configured by an administrator</a:t>
            </a:r>
          </a:p>
          <a:p>
            <a:pPr lvl="1"/>
            <a:r>
              <a:rPr lang="en-US" b="1" dirty="0"/>
              <a:t>O</a:t>
            </a:r>
            <a:r>
              <a:rPr lang="en-US" dirty="0"/>
              <a:t> –  OSPF</a:t>
            </a:r>
          </a:p>
          <a:p>
            <a:pPr lvl="1"/>
            <a:r>
              <a:rPr lang="en-US" b="1" dirty="0"/>
              <a:t>D</a:t>
            </a:r>
            <a:r>
              <a:rPr lang="en-US" dirty="0"/>
              <a:t> – EIGRP</a:t>
            </a:r>
          </a:p>
          <a:p>
            <a:pPr marL="0" indent="0">
              <a:buNone/>
            </a:pPr>
            <a:r>
              <a:rPr lang="en-CA" altLang="en-US" dirty="0"/>
              <a:t>This command shows types of routes:</a:t>
            </a:r>
          </a:p>
          <a:p>
            <a:pPr lvl="1"/>
            <a:r>
              <a:rPr lang="en-CA" altLang="en-US" dirty="0"/>
              <a:t>Directly Connected – C and L</a:t>
            </a:r>
          </a:p>
          <a:p>
            <a:pPr lvl="1"/>
            <a:r>
              <a:rPr lang="en-CA" altLang="en-US" dirty="0"/>
              <a:t>Remote Routes – O, D, etc.</a:t>
            </a:r>
          </a:p>
          <a:p>
            <a:pPr lvl="1"/>
            <a:r>
              <a:rPr lang="en-CA" altLang="en-US" dirty="0"/>
              <a:t>Default Routes – S* 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9491" y="817312"/>
            <a:ext cx="4904509" cy="3900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3737095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Network Layer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New Terms and Commands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>
          <a:xfrm>
            <a:off x="276908" y="1019059"/>
            <a:ext cx="2721476" cy="3709769"/>
          </a:xfrm>
          <a:ln>
            <a:solidFill>
              <a:srgbClr val="000000"/>
            </a:solidFill>
          </a:ln>
        </p:spPr>
        <p:txBody>
          <a:bodyPr/>
          <a:lstStyle/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 err="1"/>
              <a:t>netstat</a:t>
            </a:r>
            <a:r>
              <a:rPr lang="en-US" sz="1600" dirty="0"/>
              <a:t> –r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route print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interface list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IPv4 Route Table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IPv6 Route Table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directly-connected routes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remote routes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default route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show </a:t>
            </a:r>
            <a:r>
              <a:rPr lang="en-US" sz="1600" b="1" dirty="0" err="1"/>
              <a:t>ip</a:t>
            </a:r>
            <a:r>
              <a:rPr lang="en-US" sz="1600" b="1" dirty="0"/>
              <a:t> route</a:t>
            </a:r>
            <a:endParaRPr lang="en-US" sz="1600" dirty="0"/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route source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destination network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outgoing interface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administrative distance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metric</a:t>
            </a:r>
          </a:p>
        </p:txBody>
      </p:sp>
      <p:sp>
        <p:nvSpPr>
          <p:cNvPr id="6" name="Content Placeholder 1"/>
          <p:cNvSpPr txBox="1">
            <a:spLocks/>
          </p:cNvSpPr>
          <p:nvPr/>
        </p:nvSpPr>
        <p:spPr bwMode="auto">
          <a:xfrm>
            <a:off x="3005998" y="1019058"/>
            <a:ext cx="2850381" cy="370976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next-hop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route timestamp</a:t>
            </a:r>
          </a:p>
        </p:txBody>
      </p:sp>
    </p:spTree>
    <p:extLst>
      <p:ext uri="{BB962C8B-B14F-4D97-AF65-F5344CB8AC3E}">
        <p14:creationId xmlns:p14="http://schemas.microsoft.com/office/powerpoint/2010/main" val="1301599263"/>
      </p:ext>
    </p:extLst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918512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7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efault Theme" id="{A3178FD6-045E-43BB-9FF9-79BDC55288A1}" vid="{B3635A64-254C-4D4D-B1C2-6197525273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32992</TotalTime>
  <Words>926</Words>
  <Application>Microsoft Office PowerPoint</Application>
  <PresentationFormat>On-screen Show (16:9)</PresentationFormat>
  <Paragraphs>134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ＭＳ Ｐゴシック</vt:lpstr>
      <vt:lpstr>Arial</vt:lpstr>
      <vt:lpstr>Calibri</vt:lpstr>
      <vt:lpstr>CiscoSans ExtraLight</vt:lpstr>
      <vt:lpstr>Wingdings</vt:lpstr>
      <vt:lpstr>Default Theme</vt:lpstr>
      <vt:lpstr>How a Host Routes</vt:lpstr>
      <vt:lpstr>How a Host Routes Host Forwarding Decision</vt:lpstr>
      <vt:lpstr>How a Host Routes Host Forwarding Decision (Cont.)</vt:lpstr>
      <vt:lpstr>How a Host Routes Default Gateway</vt:lpstr>
      <vt:lpstr>How a Host Routes A Host Routes to the Default Gateway</vt:lpstr>
      <vt:lpstr>How a Host Routes  Host Routing Tables</vt:lpstr>
      <vt:lpstr>Introduction to Routing</vt:lpstr>
      <vt:lpstr>Introduction to Routing Router Packet Forwarding Decision</vt:lpstr>
      <vt:lpstr>Introduction to Routing IP Router Routing Table</vt:lpstr>
      <vt:lpstr>Introduction to Routing Static Routing</vt:lpstr>
      <vt:lpstr>Introduction to Routing Dynamic Routing</vt:lpstr>
      <vt:lpstr>Introduction to Routing Introduction to an IPv4 Routing Table</vt:lpstr>
      <vt:lpstr>Network Layer New Terms and Commands</vt:lpstr>
      <vt:lpstr>PowerPoint Presentation</vt:lpstr>
    </vt:vector>
  </TitlesOfParts>
  <Company>Cisco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bvachon@cisco.com</dc:creator>
  <cp:lastModifiedBy>Duaa Zuhair Al-Hamid</cp:lastModifiedBy>
  <cp:revision>1050</cp:revision>
  <dcterms:created xsi:type="dcterms:W3CDTF">2016-08-22T22:27:36Z</dcterms:created>
  <dcterms:modified xsi:type="dcterms:W3CDTF">2025-05-07T03:24:45Z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