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9" r:id="rId4"/>
    <p:sldMasterId id="2147483936" r:id="rId5"/>
    <p:sldMasterId id="2147483943" r:id="rId6"/>
    <p:sldMasterId id="2147483965" r:id="rId7"/>
    <p:sldMasterId id="2147483968" r:id="rId8"/>
    <p:sldMasterId id="2147483971" r:id="rId9"/>
    <p:sldMasterId id="2147483976" r:id="rId10"/>
  </p:sldMasterIdLst>
  <p:notesMasterIdLst>
    <p:notesMasterId r:id="rId70"/>
  </p:notesMasterIdLst>
  <p:sldIdLst>
    <p:sldId id="256" r:id="rId11"/>
    <p:sldId id="257" r:id="rId12"/>
    <p:sldId id="259" r:id="rId13"/>
    <p:sldId id="937" r:id="rId14"/>
    <p:sldId id="938" r:id="rId15"/>
    <p:sldId id="281" r:id="rId16"/>
    <p:sldId id="282" r:id="rId17"/>
    <p:sldId id="939" r:id="rId18"/>
    <p:sldId id="283" r:id="rId19"/>
    <p:sldId id="284" r:id="rId20"/>
    <p:sldId id="319" r:id="rId21"/>
    <p:sldId id="285" r:id="rId22"/>
    <p:sldId id="286" r:id="rId23"/>
    <p:sldId id="287" r:id="rId24"/>
    <p:sldId id="288" r:id="rId25"/>
    <p:sldId id="941" r:id="rId26"/>
    <p:sldId id="289" r:id="rId27"/>
    <p:sldId id="290" r:id="rId28"/>
    <p:sldId id="291" r:id="rId29"/>
    <p:sldId id="934" r:id="rId30"/>
    <p:sldId id="935" r:id="rId31"/>
    <p:sldId id="942" r:id="rId32"/>
    <p:sldId id="943" r:id="rId33"/>
    <p:sldId id="944" r:id="rId34"/>
    <p:sldId id="1100" r:id="rId35"/>
    <p:sldId id="1105" r:id="rId36"/>
    <p:sldId id="321" r:id="rId37"/>
    <p:sldId id="292" r:id="rId38"/>
    <p:sldId id="293" r:id="rId39"/>
    <p:sldId id="294" r:id="rId40"/>
    <p:sldId id="295" r:id="rId41"/>
    <p:sldId id="296" r:id="rId42"/>
    <p:sldId id="940" r:id="rId43"/>
    <p:sldId id="936" r:id="rId44"/>
    <p:sldId id="320" r:id="rId45"/>
    <p:sldId id="325" r:id="rId46"/>
    <p:sldId id="322" r:id="rId47"/>
    <p:sldId id="297" r:id="rId48"/>
    <p:sldId id="298" r:id="rId49"/>
    <p:sldId id="299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7" r:id="rId60"/>
    <p:sldId id="933" r:id="rId61"/>
    <p:sldId id="313" r:id="rId62"/>
    <p:sldId id="314" r:id="rId63"/>
    <p:sldId id="315" r:id="rId64"/>
    <p:sldId id="300" r:id="rId65"/>
    <p:sldId id="301" r:id="rId66"/>
    <p:sldId id="302" r:id="rId67"/>
    <p:sldId id="303" r:id="rId68"/>
    <p:sldId id="316" r:id="rId69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arvin, Megan - Hoboken" initials="MG" lastIdx="38" clrIdx="0"/>
  <p:cmAuthor id="1" name="Michael, Leah - Indianapolis" initials="LM" lastIdx="9" clrIdx="1"/>
  <p:cmAuthor id="2" name="Heaney, Barbara - Hoboken" initials="BH" lastIdx="3" clrIdx="2"/>
  <p:cmAuthor id="3" name="Perry, Nancy - Hoboken" initials="NP" lastIdx="2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AEAE9"/>
    <a:srgbClr val="E4E5E3"/>
    <a:srgbClr val="F2F2F1"/>
    <a:srgbClr val="EB9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C32457-EDC5-4D00-B6D0-056BED519193}" v="23" dt="2024-08-13T19:37:12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9051" autoAdjust="0"/>
  </p:normalViewPr>
  <p:slideViewPr>
    <p:cSldViewPr>
      <p:cViewPr varScale="1">
        <p:scale>
          <a:sx n="95" d="100"/>
          <a:sy n="95" d="100"/>
        </p:scale>
        <p:origin x="16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026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70" d="100"/>
        <a:sy n="70" d="100"/>
      </p:scale>
      <p:origin x="0" y="6254"/>
    </p:cViewPr>
  </p:sorterViewPr>
  <p:notesViewPr>
    <p:cSldViewPr>
      <p:cViewPr varScale="1">
        <p:scale>
          <a:sx n="134" d="100"/>
          <a:sy n="134" d="100"/>
        </p:scale>
        <p:origin x="3184" y="200"/>
      </p:cViewPr>
      <p:guideLst>
        <p:guide orient="horz" pos="3131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66" Type="http://schemas.openxmlformats.org/officeDocument/2006/relationships/slide" Target="slides/slide56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1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1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microsoft.com/office/2015/10/relationships/revisionInfo" Target="revisionInfo.xml"/><Relationship Id="rId7" Type="http://schemas.openxmlformats.org/officeDocument/2006/relationships/slideMaster" Target="slideMasters/slideMaster4.xml"/><Relationship Id="rId7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194C1A8-DC4B-4329-AF88-FD913597DE85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6125"/>
            <a:ext cx="66262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8073E54-D085-4E2E-B9A5-A53D7E519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907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3.7.7 – </a:t>
            </a:r>
            <a:r>
              <a:rPr lang="en-US" altLang="en-US" dirty="0"/>
              <a:t>Role of the Data Link Layer Addresses: Different IP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976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3.7.7 – </a:t>
            </a:r>
            <a:r>
              <a:rPr lang="en-US" altLang="en-US" dirty="0"/>
              <a:t>Role of the Data Link Layer Addresses: Different IP Networks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976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6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Book Title</a:t>
            </a:r>
          </a:p>
        </p:txBody>
      </p:sp>
      <p:sp>
        <p:nvSpPr>
          <p:cNvPr id="2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1752600"/>
            <a:ext cx="11785600" cy="609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Edition</a:t>
            </a:r>
          </a:p>
        </p:txBody>
      </p:sp>
      <p:sp>
        <p:nvSpPr>
          <p:cNvPr id="27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2362200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267200"/>
            <a:ext cx="11785600" cy="2438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82637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2286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14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762000"/>
            <a:ext cx="11785600" cy="228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505200"/>
            <a:ext cx="11785600" cy="1524000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1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5029200"/>
            <a:ext cx="11785600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900" b="1" i="0" dirty="0">
                <a:latin typeface="Source Sans Pro" charset="0"/>
                <a:ea typeface="Source Sans Pro" charset="0"/>
                <a:cs typeface="Source Sans Pro" charset="0"/>
              </a:rPr>
              <a:t>Third Edition</a:t>
            </a:r>
            <a:endParaRPr lang="en-US" dirty="0"/>
          </a:p>
        </p:txBody>
      </p:sp>
      <p:sp>
        <p:nvSpPr>
          <p:cNvPr id="16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60960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b="0" i="0" dirty="0">
                <a:latin typeface="Source Sans Pro" charset="0"/>
                <a:ea typeface="Source Sans Pro" charset="0"/>
                <a:cs typeface="Source Sans Pro" charset="0"/>
              </a:rPr>
              <a:t>David Klein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3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699" y="777241"/>
            <a:ext cx="11391901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3" name="COBBL"/>
          <p:cNvSpPr>
            <a:spLocks noGrp="1"/>
          </p:cNvSpPr>
          <p:nvPr>
            <p:ph sz="quarter" idx="10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5275" indent="-295275">
              <a:buClr>
                <a:schemeClr val="accent2"/>
              </a:buClr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6693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BL 2-co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 numCol="2" spcCol="548640"/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Two-Column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r>
              <a:rPr lang="en-US" dirty="0"/>
              <a:t>This is Another Heading</a:t>
            </a:r>
          </a:p>
          <a:p>
            <a:pPr lvl="0"/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9360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Numbered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78642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0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0"/>
            <a:r>
              <a:rPr lang="en-US" dirty="0"/>
              <a:t>1.2	It is One-column Only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10.6	Outline Items Usually Have No Ending Punctuation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123572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8" name="COBB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621792" marR="0" indent="-32004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ourier New" charset="0"/>
              <a:buChar char="o"/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>
              <a:defRPr sz="20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1-Column </a:t>
            </a:r>
          </a:p>
          <a:p>
            <a:pPr lvl="1"/>
            <a:r>
              <a:rPr lang="en-US" dirty="0"/>
              <a:t>It Has H2s</a:t>
            </a:r>
          </a:p>
          <a:p>
            <a:pPr lvl="0"/>
            <a:r>
              <a:rPr lang="en-US" dirty="0"/>
              <a:t>It Is One-column Only</a:t>
            </a:r>
          </a:p>
          <a:p>
            <a:pPr lvl="1"/>
            <a:r>
              <a:rPr lang="en-US" dirty="0"/>
              <a:t>It Will Probably Not Have Art</a:t>
            </a:r>
          </a:p>
          <a:p>
            <a:pPr lvl="0"/>
            <a:r>
              <a:rPr lang="en-US" dirty="0"/>
              <a:t>This Is a Bulleted List</a:t>
            </a:r>
          </a:p>
          <a:p>
            <a:pPr lvl="1"/>
            <a:r>
              <a:rPr lang="en-US" dirty="0"/>
              <a:t>Make Sure That Any Links Included Here, for Any Reason, Have Descriptive Hyperlinks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1"/>
            <a:r>
              <a:rPr lang="en-US" dirty="0"/>
              <a:t>There is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37909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465138" indent="-465138">
              <a:buClr>
                <a:schemeClr val="accent2"/>
              </a:buClr>
              <a:buFont typeface="+mj-lt"/>
              <a:buAutoNum type="arabicPeriod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buClr>
                <a:schemeClr val="accent2"/>
              </a:buClr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for One-Column and single number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343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3434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1143000" indent="-292608">
              <a:buClr>
                <a:schemeClr val="accent2"/>
              </a:buClr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1143000" marR="0" indent="-29260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</a:t>
            </a:r>
          </a:p>
          <a:p>
            <a:pPr lvl="0"/>
            <a:r>
              <a:rPr lang="en-US" dirty="0"/>
              <a:t>10.2	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lvl="2"/>
            <a:r>
              <a:rPr lang="en-US" dirty="0"/>
              <a:t>Special Feature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426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with No Numbers and One-column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4037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 numCol="2" spcCol="548640"/>
          <a:lstStyle>
            <a:lvl1pPr marL="803275" marR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Two-Column and Double-numbered</a:t>
            </a:r>
          </a:p>
          <a:p>
            <a:pPr lvl="0"/>
            <a:r>
              <a:rPr lang="en-US" dirty="0"/>
              <a:t>1.2	It is Two-column 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1.6	Outline Items Usually Have No Ending Punctuation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1.7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1.8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1.10	Another Heading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051878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1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5384800" cy="4419600"/>
          </a:xfrm>
          <a:prstGeom prst="rect">
            <a:avLst/>
          </a:prstGeom>
        </p:spPr>
        <p:txBody>
          <a:bodyPr numCol="1" spcCol="54864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This Is a Sample Outline for Two-Column (2 Boxes) and Double-numbered</a:t>
            </a:r>
          </a:p>
          <a:p>
            <a:pPr lvl="0"/>
            <a:r>
              <a:rPr lang="en-US" dirty="0"/>
              <a:t>It is Two-column 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Double-numbered</a:t>
            </a:r>
          </a:p>
        </p:txBody>
      </p:sp>
      <p:sp>
        <p:nvSpPr>
          <p:cNvPr id="7" name="COBNL2"/>
          <p:cNvSpPr>
            <a:spLocks noGrp="1"/>
          </p:cNvSpPr>
          <p:nvPr>
            <p:ph sz="quarter" idx="15" hasCustomPrompt="1"/>
          </p:nvPr>
        </p:nvSpPr>
        <p:spPr>
          <a:xfrm>
            <a:off x="6356349" y="1752600"/>
            <a:ext cx="5384800" cy="4419600"/>
          </a:xfrm>
          <a:prstGeom prst="rect">
            <a:avLst/>
          </a:prstGeom>
        </p:spPr>
        <p:txBody>
          <a:bodyPr numCol="1" spcCol="548640"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410060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/>
            </a:lvl1pPr>
            <a:lvl2pPr marL="457200" indent="-446088">
              <a:spcBef>
                <a:spcPts val="2000"/>
              </a:spcBef>
              <a:buFont typeface="+mj-lt"/>
              <a:buNone/>
              <a:tabLst/>
              <a:defRPr sz="2800">
                <a:solidFill>
                  <a:schemeClr val="accent2"/>
                </a:solidFill>
              </a:defRPr>
            </a:lvl2pPr>
            <a:lvl3pPr marL="688975" indent="-400050">
              <a:spcBef>
                <a:spcPts val="1000"/>
              </a:spcBef>
              <a:buClr>
                <a:schemeClr val="accent2"/>
              </a:buClr>
              <a:buFont typeface="+mj-lt"/>
              <a:buAutoNum type="arabicPeriod"/>
              <a:tabLst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This Is a Sample Outline with No Numbers</a:t>
            </a:r>
          </a:p>
          <a:p>
            <a:pPr lvl="1"/>
            <a:r>
              <a:rPr lang="en-US" dirty="0"/>
              <a:t>Learning Objective</a:t>
            </a:r>
          </a:p>
          <a:p>
            <a:pPr lvl="2"/>
            <a:r>
              <a:rPr lang="en-US" dirty="0"/>
              <a:t>Describe what racial &amp; ethnic group make up Latin America.</a:t>
            </a:r>
          </a:p>
          <a:p>
            <a:pPr lvl="2"/>
            <a:r>
              <a:rPr lang="en-US" dirty="0"/>
              <a:t>Explain Latin American agricultural systems.</a:t>
            </a:r>
          </a:p>
          <a:p>
            <a:pPr lvl="2"/>
            <a:r>
              <a:rPr lang="en-US" dirty="0"/>
              <a:t>Critically evaluate models of biodiversity conservation in the Latin American context.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©2017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9563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Outline: Version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8" name="COBB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621792" marR="0" indent="-32004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ourier New" charset="0"/>
              <a:buChar char="o"/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>
              <a:defRPr sz="20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1-Column </a:t>
            </a:r>
          </a:p>
          <a:p>
            <a:pPr lvl="1"/>
            <a:r>
              <a:rPr lang="en-US" dirty="0"/>
              <a:t>It Has H2s</a:t>
            </a:r>
          </a:p>
          <a:p>
            <a:pPr lvl="0"/>
            <a:r>
              <a:rPr lang="en-US" dirty="0"/>
              <a:t>It Is One-column Only</a:t>
            </a:r>
          </a:p>
          <a:p>
            <a:pPr lvl="1"/>
            <a:r>
              <a:rPr lang="en-US" dirty="0"/>
              <a:t>It Will Probably Not Have Art</a:t>
            </a:r>
          </a:p>
          <a:p>
            <a:pPr lvl="0"/>
            <a:r>
              <a:rPr lang="en-US" dirty="0"/>
              <a:t>This Is a Bulleted List</a:t>
            </a:r>
          </a:p>
          <a:p>
            <a:pPr lvl="1"/>
            <a:r>
              <a:rPr lang="en-US" dirty="0"/>
              <a:t>Make Sure That Any Links Included Here, for Any Reason, Have Descriptive Hyperlinks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1"/>
            <a:r>
              <a:rPr lang="en-US" dirty="0"/>
              <a:t>There is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216648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20941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9" name="LON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957104EA-F2AF-1046-9253-EE8D978719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82321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7" name="LOB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2608" indent="-292608">
              <a:buClr>
                <a:schemeClr val="accent2"/>
              </a:buClr>
              <a:buFont typeface="Arial" charset="0"/>
              <a:buChar char="•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77182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8" name="COBB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621792" marR="0" indent="-32004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ourier New" charset="0"/>
              <a:buChar char="o"/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>
              <a:defRPr sz="20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1-Column </a:t>
            </a:r>
          </a:p>
          <a:p>
            <a:pPr lvl="1"/>
            <a:r>
              <a:rPr lang="en-US" dirty="0"/>
              <a:t>It Has H2s</a:t>
            </a:r>
          </a:p>
          <a:p>
            <a:pPr lvl="0"/>
            <a:r>
              <a:rPr lang="en-US" dirty="0"/>
              <a:t>It Is One-column Only</a:t>
            </a:r>
          </a:p>
          <a:p>
            <a:pPr lvl="1"/>
            <a:r>
              <a:rPr lang="en-US" dirty="0"/>
              <a:t>It Will Probably Not Have Art</a:t>
            </a:r>
          </a:p>
          <a:p>
            <a:pPr lvl="0"/>
            <a:r>
              <a:rPr lang="en-US" dirty="0"/>
              <a:t>This Is a Bulleted List</a:t>
            </a:r>
          </a:p>
          <a:p>
            <a:pPr lvl="1"/>
            <a:r>
              <a:rPr lang="en-US" dirty="0"/>
              <a:t>Make Sure That Any Links Included Here, for Any Reason, Have Descriptive Hyperlinks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1"/>
            <a:r>
              <a:rPr lang="en-US" dirty="0"/>
              <a:t>There is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910422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1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 Periodicity Assumption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2800" baseline="0"/>
            </a:lvl1pPr>
            <a:lvl2pPr marL="809625" indent="-460375">
              <a:spcBef>
                <a:spcPts val="1000"/>
              </a:spcBef>
              <a:buClr>
                <a:schemeClr val="accent2"/>
              </a:buClr>
              <a:buFont typeface="+mj-lt"/>
              <a:buAutoNum type="alphaLcPeriod"/>
              <a:tabLst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Companies record events that change their financial statements in the period in which events occur, even if cash was not exchanged.</a:t>
            </a:r>
          </a:p>
          <a:p>
            <a:pPr lvl="1"/>
            <a:r>
              <a:rPr lang="en-US" dirty="0"/>
              <a:t>Companies recognize revenue in the period in which the performance obligation is satisfied.</a:t>
            </a:r>
          </a:p>
          <a:p>
            <a:pPr lvl="1"/>
            <a:r>
              <a:rPr lang="en-US" dirty="0"/>
              <a:t>This basis is accord with generally accepted accounting principles.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24381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2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1.1 Periodicity Assumption</a:t>
            </a:r>
          </a:p>
        </p:txBody>
      </p:sp>
      <p:sp>
        <p:nvSpPr>
          <p:cNvPr id="12" name="Question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12700" indent="0">
              <a:spcBef>
                <a:spcPts val="1000"/>
              </a:spcBef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03275" indent="-790575">
              <a:buNone/>
              <a:tabLst/>
              <a:defRPr sz="2800" b="0" i="0"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a.	Companies record events that change their financial statements in the period in which events occur, even if cash was not exchanged.</a:t>
            </a:r>
          </a:p>
          <a:p>
            <a:pPr lvl="2"/>
            <a:r>
              <a:rPr lang="en-US" dirty="0"/>
              <a:t>✔️b.	Companies recognize revenue in the period in which the performance obligation is satisfied.</a:t>
            </a:r>
          </a:p>
          <a:p>
            <a:pPr lvl="1"/>
            <a:r>
              <a:rPr lang="en-US" dirty="0"/>
              <a:t>c.	This basis is accord with generally accepted accounting principles.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523935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8351"/>
            <a:ext cx="11379200" cy="990599"/>
          </a:xfrm>
        </p:spPr>
        <p:txBody>
          <a:bodyPr/>
          <a:lstStyle/>
          <a:p>
            <a:r>
              <a:rPr lang="en-US"/>
              <a:t>Language</a:t>
            </a:r>
            <a:endParaRPr lang="en-US" dirty="0"/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Form of communication using sounds and symbols combined according to specified rules</a:t>
            </a:r>
          </a:p>
        </p:txBody>
      </p:sp>
      <p:sp>
        <p:nvSpPr>
          <p:cNvPr id="9" name="Media LInk"/>
          <p:cNvSpPr>
            <a:spLocks noGrp="1"/>
          </p:cNvSpPr>
          <p:nvPr>
            <p:ph sz="quarter" idx="16" hasCustomPrompt="1"/>
          </p:nvPr>
        </p:nvSpPr>
        <p:spPr>
          <a:xfrm>
            <a:off x="406400" y="5867400"/>
            <a:ext cx="11379200" cy="6096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200" b="0" i="0" baseline="0">
                <a:latin typeface="Calibri" charset="0"/>
                <a:ea typeface="Calibri" charset="0"/>
                <a:cs typeface="Calibri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Media link placeholder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700609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914402"/>
            <a:ext cx="11379200" cy="9905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Anatomy and Physiology Defined</a:t>
            </a:r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905000"/>
            <a:ext cx="11379200" cy="39624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Clr>
                <a:schemeClr val="accent2"/>
              </a:buClr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Anatomy is the science of structure and the relationships among structures.</a:t>
            </a:r>
          </a:p>
          <a:p>
            <a:pPr lvl="0"/>
            <a:r>
              <a:rPr lang="en-US" dirty="0"/>
              <a:t>Physiology is the science of body functions, that is, how the body parts work.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62271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Figure caption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771030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539791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4760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4724401"/>
            <a:ext cx="6096000" cy="148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132984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5350051"/>
            <a:ext cx="11379200" cy="30997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9"/>
            <a:ext cx="11379200" cy="4452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06400" y="5780676"/>
            <a:ext cx="11379200" cy="46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4.5 Figure title placeholder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6737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06400" y="5920581"/>
            <a:ext cx="11379200" cy="435770"/>
          </a:xfrm>
          <a:prstGeom prst="rect">
            <a:avLst/>
          </a:prstGeom>
        </p:spPr>
        <p:txBody>
          <a:bodyPr/>
          <a:lstStyle>
            <a:lvl1pPr algn="ctr"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Image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8"/>
            <a:ext cx="11379200" cy="49704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04800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9388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93699" y="777242"/>
            <a:ext cx="11391901" cy="975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61158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42" r:id="rId2"/>
    <p:sldLayoutId id="2147483956" r:id="rId3"/>
    <p:sldLayoutId id="2147483955" r:id="rId4"/>
    <p:sldLayoutId id="2147483957" r:id="rId5"/>
    <p:sldLayoutId id="2147483959" r:id="rId6"/>
    <p:sldLayoutId id="2147483958" r:id="rId7"/>
    <p:sldLayoutId id="2147483960" r:id="rId8"/>
    <p:sldLayoutId id="2147483961" r:id="rId9"/>
    <p:sldLayoutId id="2147483962" r:id="rId10"/>
    <p:sldLayoutId id="2147483963" r:id="rId11"/>
    <p:sldLayoutId id="2147483981" r:id="rId12"/>
    <p:sldLayoutId id="2147483982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43714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1193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64" r:id="rId2"/>
    <p:sldLayoutId id="2147483980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8272" y="762002"/>
            <a:ext cx="11387328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3219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61695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2016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026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008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29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5-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1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Data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Fourteenth Edition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Jerry FitzGerald, Alan Dennis, and Alexandra Durcikova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Chapter 5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dirty="0"/>
              <a:t>Network and Transport Layers </a:t>
            </a:r>
            <a:r>
              <a:rPr lang="en-US" dirty="0">
                <a:highlight>
                  <a:srgbClr val="FFFF00"/>
                </a:highlight>
              </a:rPr>
              <a:t>(Part 2)</a:t>
            </a:r>
          </a:p>
        </p:txBody>
      </p:sp>
    </p:spTree>
    <p:extLst>
      <p:ext uri="{BB962C8B-B14F-4D97-AF65-F5344CB8AC3E}">
        <p14:creationId xmlns:p14="http://schemas.microsoft.com/office/powerpoint/2010/main" val="66050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9118600" cy="26670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Discuss </a:t>
            </a:r>
            <a:r>
              <a:rPr lang="en-US" dirty="0">
                <a:solidFill>
                  <a:srgbClr val="FF0000"/>
                </a:solidFill>
              </a:rPr>
              <a:t>network addressing techniques.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Discuss </a:t>
            </a:r>
            <a:r>
              <a:rPr lang="en-US" dirty="0">
                <a:solidFill>
                  <a:srgbClr val="FF0000"/>
                </a:solidFill>
              </a:rPr>
              <a:t>network routing protocols.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Discuss the address resolution mechanisms.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Explain how TCP/IP works.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5-</a:t>
            </a:r>
            <a:fld id="{957104EA-F2AF-1046-9253-EE8D978719B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9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76200" y="414840"/>
            <a:ext cx="4419600" cy="110916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Message Transmission 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using Layers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783435" y="533399"/>
            <a:ext cx="7135447" cy="582295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676725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7892-1B14-9C90-DB06-6E0B6A0E0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192F11-7337-627B-2BBE-D211369E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414840"/>
            <a:ext cx="4419600" cy="6519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The Network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3E9C8-AECF-E1B5-BD4C-583D9CFDA2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CEBF8-E7E5-3FE9-1B42-37E9166432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841778-7CB3-25F7-500C-B30E30FFB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609600"/>
            <a:ext cx="3746495" cy="24630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05486D-AF4A-8EEF-0625-DC3B05549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116" y="3217842"/>
            <a:ext cx="3946261" cy="30024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B2A3B6-6329-FC27-22DE-E16894E54B37}"/>
              </a:ext>
            </a:extLst>
          </p:cNvPr>
          <p:cNvSpPr txBox="1"/>
          <p:nvPr/>
        </p:nvSpPr>
        <p:spPr>
          <a:xfrm>
            <a:off x="152400" y="1066800"/>
            <a:ext cx="62484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Provides services to allow end devices to exchange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IP version 4 (IPv4) and IP version 6 (IPv6) are </a:t>
            </a:r>
            <a:r>
              <a:rPr lang="en-US" sz="2800">
                <a:latin typeface="Calibri" charset="0"/>
                <a:ea typeface="Calibri" charset="0"/>
                <a:cs typeface="Calibri" charset="0"/>
              </a:rPr>
              <a:t>the main </a:t>
            </a: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network layer communication protocols.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The network layer performs four basic operations: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Addressing end devices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Encapsulation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Routing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De-encapsulation</a:t>
            </a:r>
          </a:p>
        </p:txBody>
      </p:sp>
    </p:spTree>
    <p:extLst>
      <p:ext uri="{BB962C8B-B14F-4D97-AF65-F5344CB8AC3E}">
        <p14:creationId xmlns:p14="http://schemas.microsoft.com/office/powerpoint/2010/main" val="677883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389F-B481-21F8-FD82-3F316A2D8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D4F740-FBF9-03A8-92F4-B17FDD23F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414840"/>
            <a:ext cx="4419600" cy="6519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IP Encapsulation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91DDF-3DCE-2AD2-6888-959D65646F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AE82E-743E-9052-3CE6-339E15CA50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EDA851-ED13-B34D-67FA-8C12756738D8}"/>
              </a:ext>
            </a:extLst>
          </p:cNvPr>
          <p:cNvSpPr txBox="1"/>
          <p:nvPr/>
        </p:nvSpPr>
        <p:spPr>
          <a:xfrm>
            <a:off x="152400" y="1066800"/>
            <a:ext cx="6477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IP encapsulates the transport layer segment.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IP can use either an IPv4 or IPv6 packet and not impact the layer 4 segment.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IP packet will be examined by all layer 3 devices as it traverses the network.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IP addressing does not change from source to destination.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E31428-6990-69E1-9895-D8999FE6B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76400"/>
            <a:ext cx="5410200" cy="306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7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521039"/>
            <a:ext cx="35814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5.4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28600" y="1447800"/>
            <a:ext cx="4572000" cy="4419600"/>
          </a:xfrm>
        </p:spPr>
        <p:txBody>
          <a:bodyPr/>
          <a:lstStyle/>
          <a:p>
            <a:r>
              <a:rPr lang="en-US" dirty="0"/>
              <a:t>Before you can send a message, you must know the </a:t>
            </a:r>
            <a:r>
              <a:rPr lang="en-US" dirty="0">
                <a:solidFill>
                  <a:srgbClr val="FF0000"/>
                </a:solidFill>
              </a:rPr>
              <a:t>destination address.</a:t>
            </a:r>
          </a:p>
          <a:p>
            <a:r>
              <a:rPr lang="en-US" dirty="0"/>
              <a:t>Each computer has </a:t>
            </a:r>
            <a:r>
              <a:rPr lang="en-US" dirty="0">
                <a:solidFill>
                  <a:srgbClr val="FF0000"/>
                </a:solidFill>
              </a:rPr>
              <a:t>several addresses, each used by a different layer.</a:t>
            </a:r>
          </a:p>
          <a:p>
            <a:r>
              <a:rPr lang="en-US" dirty="0"/>
              <a:t>Application software uses the </a:t>
            </a:r>
            <a:r>
              <a:rPr lang="en-US" b="1" i="1" dirty="0"/>
              <a:t>application layer address</a:t>
            </a:r>
          </a:p>
          <a:p>
            <a:pPr lvl="1"/>
            <a:r>
              <a:rPr lang="en-US" dirty="0"/>
              <a:t>Server name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257800" y="1400724"/>
            <a:ext cx="6705600" cy="206714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958358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562314"/>
            <a:ext cx="5949950" cy="7912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5.4 Addressing </a:t>
            </a:r>
            <a:r>
              <a:rPr lang="en-US" sz="28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-76200" y="1615248"/>
            <a:ext cx="4851400" cy="4419600"/>
          </a:xfrm>
        </p:spPr>
        <p:txBody>
          <a:bodyPr/>
          <a:lstStyle/>
          <a:p>
            <a:r>
              <a:rPr lang="en-US" dirty="0"/>
              <a:t>The network layer software uses a </a:t>
            </a:r>
            <a:r>
              <a:rPr lang="en-US" b="1" i="1" dirty="0">
                <a:solidFill>
                  <a:srgbClr val="FF0000"/>
                </a:solidFill>
              </a:rPr>
              <a:t>network layer address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network layer protocol </a:t>
            </a:r>
            <a:r>
              <a:rPr lang="en-US" dirty="0"/>
              <a:t>used on the Internet is IP.</a:t>
            </a:r>
          </a:p>
          <a:p>
            <a:r>
              <a:rPr lang="en-US" dirty="0"/>
              <a:t>The network layer identifies the </a:t>
            </a:r>
            <a:r>
              <a:rPr lang="en-US" b="1" i="1" dirty="0">
                <a:solidFill>
                  <a:srgbClr val="FF0000"/>
                </a:solidFill>
              </a:rPr>
              <a:t>data link layer address </a:t>
            </a:r>
            <a:r>
              <a:rPr lang="en-US" dirty="0">
                <a:solidFill>
                  <a:srgbClr val="FF0000"/>
                </a:solidFill>
              </a:rPr>
              <a:t>of the next computer </a:t>
            </a:r>
            <a:r>
              <a:rPr lang="en-US" dirty="0"/>
              <a:t>to which the message should be sent.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4829717" y="1675025"/>
            <a:ext cx="7209884" cy="222259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711069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E4CAA-0879-BCE1-0369-8C546E53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4CFB0-224B-4425-0DE3-1675C581F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562314"/>
            <a:ext cx="5949950" cy="7912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5.4 Addressing </a:t>
            </a:r>
            <a:r>
              <a:rPr lang="en-US" sz="28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09485-513D-3FC7-382C-15EF6CDBFA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EA72D-603F-0769-E848-5E156E406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722BF8-9444-12CF-9011-234FF298345B}"/>
              </a:ext>
            </a:extLst>
          </p:cNvPr>
          <p:cNvSpPr txBox="1">
            <a:spLocks/>
          </p:cNvSpPr>
          <p:nvPr/>
        </p:nvSpPr>
        <p:spPr>
          <a:xfrm>
            <a:off x="155575" y="1447800"/>
            <a:ext cx="11503025" cy="22420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alibri" charset="0"/>
                <a:ea typeface="Calibri" charset="0"/>
                <a:cs typeface="Calibri" charset="0"/>
              </a:rPr>
              <a:t>Both the data link and network layers use addressing to deliver data from source to destination.</a:t>
            </a:r>
          </a:p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FF0000"/>
                </a:solidFill>
              </a:rPr>
              <a:t>Network layer source and destination addresses </a:t>
            </a:r>
            <a:r>
              <a:rPr lang="en-US" sz="2400" dirty="0"/>
              <a:t>- 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Responsible for delivering the IP packet from original source to the final destination. </a:t>
            </a:r>
          </a:p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FF0000"/>
                </a:solidFill>
              </a:rPr>
              <a:t>Data link layer source and destination addresses </a:t>
            </a:r>
            <a:r>
              <a:rPr lang="en-US" sz="2400" dirty="0"/>
              <a:t>-</a:t>
            </a:r>
            <a:r>
              <a:rPr lang="en-US" sz="1600" dirty="0"/>
              <a:t> 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Responsible for delivering the data link frame from one network interface card (NIC) to another NIC on the same network.</a:t>
            </a:r>
          </a:p>
          <a:p>
            <a:pPr marL="0" indent="0">
              <a:buFont typeface="Arial"/>
              <a:buNone/>
            </a:pPr>
            <a:endParaRPr lang="en-CA" altLang="en-US" dirty="0"/>
          </a:p>
          <a:p>
            <a:endParaRPr lang="en-CA" alt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F44E899-1E25-ADDC-4901-DAEE6CAE3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7" y="4343400"/>
            <a:ext cx="6829425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5659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" y="600075"/>
            <a:ext cx="4343400" cy="771525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Assigning Addresses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406400" y="1524000"/>
            <a:ext cx="11557000" cy="4648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data link layer address </a:t>
            </a:r>
            <a:r>
              <a:rPr lang="en-US" dirty="0"/>
              <a:t>is permanently encoded in each </a:t>
            </a:r>
            <a:r>
              <a:rPr lang="en-US" dirty="0">
                <a:solidFill>
                  <a:srgbClr val="FF0000"/>
                </a:solidFill>
              </a:rPr>
              <a:t>network card</a:t>
            </a:r>
          </a:p>
          <a:p>
            <a:pPr lvl="1"/>
            <a:r>
              <a:rPr lang="en-US" b="1" i="1" dirty="0"/>
              <a:t>Media access control </a:t>
            </a:r>
            <a:r>
              <a:rPr lang="en-US" dirty="0">
                <a:solidFill>
                  <a:srgbClr val="FF0000"/>
                </a:solidFill>
              </a:rPr>
              <a:t>(MAC) address (e.g., MAC Address)</a:t>
            </a:r>
          </a:p>
          <a:p>
            <a:pPr lvl="1"/>
            <a:r>
              <a:rPr lang="en-US" dirty="0"/>
              <a:t>This address is part of the hardware.</a:t>
            </a:r>
          </a:p>
          <a:p>
            <a:r>
              <a:rPr lang="en-US" dirty="0"/>
              <a:t>Network layer addresses are assigned </a:t>
            </a:r>
            <a:r>
              <a:rPr lang="en-US" dirty="0">
                <a:solidFill>
                  <a:srgbClr val="FF0000"/>
                </a:solidFill>
              </a:rPr>
              <a:t>by software</a:t>
            </a:r>
          </a:p>
          <a:p>
            <a:pPr lvl="1"/>
            <a:r>
              <a:rPr lang="en-US" dirty="0"/>
              <a:t>Network managers can assign any network layer addresses they want</a:t>
            </a:r>
          </a:p>
          <a:p>
            <a:pPr lvl="1"/>
            <a:r>
              <a:rPr lang="en-US" dirty="0"/>
              <a:t>It is important to ensure that every computer on the same network has a unique </a:t>
            </a:r>
            <a:r>
              <a:rPr lang="en-US" dirty="0">
                <a:solidFill>
                  <a:srgbClr val="FF0000"/>
                </a:solidFill>
              </a:rPr>
              <a:t>network layer address (e.g.,  IP Address).</a:t>
            </a:r>
          </a:p>
          <a:p>
            <a:r>
              <a:rPr lang="en-US" dirty="0">
                <a:solidFill>
                  <a:srgbClr val="FF0000"/>
                </a:solidFill>
              </a:rPr>
              <a:t>Application layer addresses </a:t>
            </a:r>
            <a:r>
              <a:rPr lang="en-US" dirty="0"/>
              <a:t>are also assigned by a software configuration file.</a:t>
            </a:r>
          </a:p>
          <a:p>
            <a:r>
              <a:rPr lang="en-US" dirty="0"/>
              <a:t>Virtually </a:t>
            </a:r>
            <a:r>
              <a:rPr lang="en-US" dirty="0">
                <a:solidFill>
                  <a:srgbClr val="FF0000"/>
                </a:solidFill>
              </a:rPr>
              <a:t>all servers have an application layer address</a:t>
            </a:r>
            <a:r>
              <a:rPr lang="en-US" dirty="0"/>
              <a:t>, but most client computers do not.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22412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581025"/>
            <a:ext cx="4495800" cy="790575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Internet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304800" y="1556385"/>
            <a:ext cx="11379200" cy="4495800"/>
          </a:xfrm>
        </p:spPr>
        <p:txBody>
          <a:bodyPr/>
          <a:lstStyle/>
          <a:p>
            <a:r>
              <a:rPr lang="en-US" dirty="0"/>
              <a:t>No one is permitted to operate a computer on </a:t>
            </a:r>
            <a:r>
              <a:rPr lang="en-US" dirty="0">
                <a:solidFill>
                  <a:srgbClr val="FF0000"/>
                </a:solidFill>
              </a:rPr>
              <a:t>the Internet unless they use approved addresses.</a:t>
            </a:r>
          </a:p>
          <a:p>
            <a:r>
              <a:rPr lang="en-US" b="1" i="1" dirty="0"/>
              <a:t>ICANN</a:t>
            </a:r>
            <a:r>
              <a:rPr lang="en-US" dirty="0"/>
              <a:t> (Internet Corporation for Assigned Names and Numbers) is </a:t>
            </a:r>
            <a:r>
              <a:rPr lang="en-US" dirty="0">
                <a:solidFill>
                  <a:srgbClr val="FF0000"/>
                </a:solidFill>
              </a:rPr>
              <a:t>responsible for managing the assignment of network layer addresses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application layer addresses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Also, ICANN </a:t>
            </a:r>
            <a:r>
              <a:rPr lang="en-US" dirty="0">
                <a:solidFill>
                  <a:srgbClr val="FF0000"/>
                </a:solidFill>
              </a:rPr>
              <a:t>sets the rules </a:t>
            </a:r>
            <a:r>
              <a:rPr lang="en-US" dirty="0"/>
              <a:t>by which new </a:t>
            </a:r>
            <a:r>
              <a:rPr lang="en-US" dirty="0">
                <a:solidFill>
                  <a:srgbClr val="FF0000"/>
                </a:solidFill>
              </a:rPr>
              <a:t>domain names are created and IP address numbers are assigned to users.</a:t>
            </a:r>
          </a:p>
          <a:p>
            <a:pPr lvl="1"/>
            <a:r>
              <a:rPr lang="en-US" dirty="0"/>
              <a:t>ICANN also directly manages a set of </a:t>
            </a:r>
            <a:r>
              <a:rPr lang="en-US" dirty="0">
                <a:solidFill>
                  <a:srgbClr val="FF0000"/>
                </a:solidFill>
              </a:rPr>
              <a:t>Internet domains and authorizes private </a:t>
            </a:r>
            <a:r>
              <a:rPr lang="en-US" dirty="0"/>
              <a:t>companies to become </a:t>
            </a:r>
            <a:r>
              <a:rPr lang="en-US" dirty="0">
                <a:solidFill>
                  <a:srgbClr val="FF0000"/>
                </a:solidFill>
              </a:rPr>
              <a:t>domain name registrars </a:t>
            </a:r>
            <a:r>
              <a:rPr lang="en-US" dirty="0"/>
              <a:t>for those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036568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E734-77F9-E3B8-C34E-017725319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60606"/>
            <a:ext cx="11379200" cy="975360"/>
          </a:xfrm>
        </p:spPr>
        <p:txBody>
          <a:bodyPr>
            <a:normAutofit/>
          </a:bodyPr>
          <a:lstStyle/>
          <a:p>
            <a:r>
              <a:rPr lang="en-NZ" sz="4400" dirty="0">
                <a:solidFill>
                  <a:srgbClr val="0000FF"/>
                </a:solidFill>
              </a:rPr>
              <a:t>IPV4: Network and Host Portions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6C890-1986-4714-A013-9940F01A1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5-</a:t>
            </a:r>
            <a:fld id="{67B19427-F580-D146-B60E-4CADEE75497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FB54B-DCF4-BC92-F631-31867011D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03BDA0-6F0F-F979-0674-AC72EB505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05000"/>
            <a:ext cx="10281921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76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28600" y="457200"/>
            <a:ext cx="60198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IPv4 Public Address Space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171770" y="1334428"/>
            <a:ext cx="11201400" cy="219902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IPv4 uses 32 bits </a:t>
            </a:r>
            <a:r>
              <a:rPr lang="en-US" dirty="0"/>
              <a:t>(4 bytes) to define an address.</a:t>
            </a:r>
          </a:p>
          <a:p>
            <a:r>
              <a:rPr lang="en-US" dirty="0"/>
              <a:t>Therefore, the number of available addresses is 2</a:t>
            </a:r>
            <a:r>
              <a:rPr lang="en-US" baseline="30000" dirty="0"/>
              <a:t>32</a:t>
            </a:r>
            <a:r>
              <a:rPr lang="en-US" dirty="0"/>
              <a:t> = 4,294, 967,296 or approximately </a:t>
            </a:r>
            <a:r>
              <a:rPr lang="en-US" dirty="0">
                <a:solidFill>
                  <a:srgbClr val="FF0000"/>
                </a:solidFill>
              </a:rPr>
              <a:t>4.3 billion</a:t>
            </a:r>
            <a:r>
              <a:rPr lang="en-US" dirty="0"/>
              <a:t>.</a:t>
            </a:r>
          </a:p>
          <a:p>
            <a:r>
              <a:rPr lang="en-US" dirty="0"/>
              <a:t>These addresses in the IPv4 address space are divided into Internet </a:t>
            </a:r>
            <a:r>
              <a:rPr lang="en-US" dirty="0">
                <a:solidFill>
                  <a:srgbClr val="FF0000"/>
                </a:solidFill>
              </a:rPr>
              <a:t>address classes.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62218" y="3533449"/>
            <a:ext cx="11067651" cy="248635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043064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600" y="574038"/>
            <a:ext cx="11379200" cy="568962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IPv4 Public Address Space </a:t>
            </a:r>
            <a:r>
              <a:rPr lang="en-US" sz="2000" dirty="0"/>
              <a:t>Continued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203200" y="1447800"/>
            <a:ext cx="11379200" cy="2438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There are three classes of addresses that can be assigned: Class A</a:t>
            </a:r>
            <a:r>
              <a:rPr lang="en-US" dirty="0">
                <a:solidFill>
                  <a:srgbClr val="FF0000"/>
                </a:solidFill>
              </a:rPr>
              <a:t>, Class B, and Class C.</a:t>
            </a:r>
          </a:p>
          <a:p>
            <a:r>
              <a:rPr lang="en-US" dirty="0"/>
              <a:t>Addresses are assigned into a particular class by the value of the first byte.</a:t>
            </a:r>
          </a:p>
          <a:p>
            <a:r>
              <a:rPr lang="en-US" dirty="0"/>
              <a:t>The first byte can be any number from 0 to 255.</a:t>
            </a:r>
          </a:p>
          <a:p>
            <a:pPr lvl="1"/>
            <a:r>
              <a:rPr lang="en-US" dirty="0"/>
              <a:t>There are some numbers in the first byte range </a:t>
            </a:r>
            <a:r>
              <a:rPr lang="en-US" dirty="0">
                <a:solidFill>
                  <a:srgbClr val="FF0000"/>
                </a:solidFill>
              </a:rPr>
              <a:t>that are not assigned to any address range.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895339" y="3886200"/>
            <a:ext cx="10673308" cy="239776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537574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608965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IPv4 Public Address Space </a:t>
            </a:r>
            <a:r>
              <a:rPr lang="en-US" sz="2000" dirty="0"/>
              <a:t>Continued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152400" y="1524000"/>
            <a:ext cx="11557000" cy="2133600"/>
          </a:xfrm>
        </p:spPr>
        <p:txBody>
          <a:bodyPr>
            <a:normAutofit/>
          </a:bodyPr>
          <a:lstStyle/>
          <a:p>
            <a:r>
              <a:rPr lang="en-US" dirty="0"/>
              <a:t>An address starting with 0 is not allowed.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127 Address range </a:t>
            </a:r>
            <a:r>
              <a:rPr lang="en-US" dirty="0"/>
              <a:t>is reserved for a computer to communicate with itself (</a:t>
            </a:r>
            <a:r>
              <a:rPr lang="en-US" b="1" i="1" dirty="0"/>
              <a:t>loopback</a:t>
            </a:r>
            <a:r>
              <a:rPr lang="en-US" dirty="0"/>
              <a:t>).</a:t>
            </a:r>
          </a:p>
          <a:p>
            <a:r>
              <a:rPr lang="en-US" dirty="0"/>
              <a:t>Addresses starting from 224 are </a:t>
            </a:r>
            <a:r>
              <a:rPr lang="en-US" b="1" i="1" dirty="0">
                <a:solidFill>
                  <a:srgbClr val="FF0000"/>
                </a:solidFill>
              </a:rPr>
              <a:t>reserved addresses.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762000" y="3657600"/>
            <a:ext cx="10515010" cy="2362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233148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619125"/>
            <a:ext cx="11379200" cy="5943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IPv4 Public Address Space </a:t>
            </a:r>
            <a:r>
              <a:rPr lang="en-US" sz="2000" dirty="0"/>
              <a:t>Continued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228600" y="1346201"/>
            <a:ext cx="11430000" cy="2997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Addresses from </a:t>
            </a:r>
            <a:r>
              <a:rPr lang="en-US" dirty="0">
                <a:solidFill>
                  <a:srgbClr val="FF0000"/>
                </a:solidFill>
              </a:rPr>
              <a:t>224 to 239 belong to Class D </a:t>
            </a:r>
            <a:r>
              <a:rPr lang="en-US" dirty="0"/>
              <a:t>and are reserved for </a:t>
            </a:r>
            <a:r>
              <a:rPr lang="en-US" b="1" i="1" dirty="0">
                <a:solidFill>
                  <a:srgbClr val="FF0000"/>
                </a:solidFill>
              </a:rPr>
              <a:t>multicasting.</a:t>
            </a:r>
          </a:p>
          <a:p>
            <a:r>
              <a:rPr lang="en-US" dirty="0"/>
              <a:t>Addresses from </a:t>
            </a:r>
            <a:r>
              <a:rPr lang="en-US" dirty="0">
                <a:solidFill>
                  <a:srgbClr val="FF0000"/>
                </a:solidFill>
              </a:rPr>
              <a:t>240 to 254 belong to Class E and are reserved for experimental use.</a:t>
            </a:r>
          </a:p>
          <a:p>
            <a:r>
              <a:rPr lang="en-US" dirty="0"/>
              <a:t>Addresses starting with </a:t>
            </a:r>
            <a:r>
              <a:rPr lang="en-US" dirty="0">
                <a:solidFill>
                  <a:srgbClr val="FF0000"/>
                </a:solidFill>
              </a:rPr>
              <a:t>255 are reserved for broadcast messages</a:t>
            </a:r>
            <a:r>
              <a:rPr lang="en-US" dirty="0"/>
              <a:t>.</a:t>
            </a:r>
          </a:p>
          <a:p>
            <a:r>
              <a:rPr lang="en-US" dirty="0"/>
              <a:t>Within each class, there is a set of addresses that are labeled as </a:t>
            </a:r>
            <a:r>
              <a:rPr lang="en-US" b="1" i="1" dirty="0"/>
              <a:t>private IPv4 address space.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981200" y="4338638"/>
            <a:ext cx="9002775" cy="202247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698899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E2975-FD78-25DF-3BD0-D89E89A72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BD9E89-67B9-48AF-E264-EE73BAFD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19125"/>
            <a:ext cx="11379200" cy="5943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Layer 3 Logical Address</a:t>
            </a:r>
            <a:endParaRPr lang="en-US" sz="2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80AFF2-C323-95B9-63D4-55FD147F1C6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8599" y="1346201"/>
            <a:ext cx="5608959" cy="467359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dirty="0"/>
              <a:t>An IP address contains two parts: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FF0000"/>
                </a:solidFill>
              </a:rPr>
              <a:t>Network portion (IPv4) or Prefix (IPv6)  </a:t>
            </a:r>
          </a:p>
          <a:p>
            <a:pPr lvl="1"/>
            <a:r>
              <a:rPr lang="en-US" sz="4400" dirty="0">
                <a:latin typeface="Calibri" charset="0"/>
                <a:ea typeface="Calibri" charset="0"/>
                <a:cs typeface="Calibri" charset="0"/>
              </a:rPr>
              <a:t>The left-most part of the address indicates the network group which the IP address is a member.</a:t>
            </a:r>
          </a:p>
          <a:p>
            <a:pPr lvl="1"/>
            <a:r>
              <a:rPr lang="en-US" sz="4400" dirty="0">
                <a:latin typeface="Calibri" charset="0"/>
                <a:ea typeface="Calibri" charset="0"/>
                <a:cs typeface="Calibri" charset="0"/>
              </a:rPr>
              <a:t>Each LAN or WAN will have the same network portion.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FF0000"/>
                </a:solidFill>
              </a:rPr>
              <a:t>Host portion (IPv4) or Interface ID (IPv6) </a:t>
            </a:r>
          </a:p>
          <a:p>
            <a:pPr lvl="1"/>
            <a:r>
              <a:rPr lang="en-US" sz="4500" dirty="0">
                <a:latin typeface="Calibri" charset="0"/>
                <a:ea typeface="Calibri" charset="0"/>
                <a:cs typeface="Calibri" charset="0"/>
              </a:rPr>
              <a:t>The remaining part of the address identifies a specific device within the group. </a:t>
            </a:r>
          </a:p>
          <a:p>
            <a:pPr lvl="1"/>
            <a:r>
              <a:rPr lang="en-US" sz="4500" dirty="0">
                <a:latin typeface="Calibri" charset="0"/>
                <a:ea typeface="Calibri" charset="0"/>
                <a:cs typeface="Calibri" charset="0"/>
              </a:rPr>
              <a:t>This portion is unique for each device on the network.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CD505-BA7D-4A45-6B69-402E53DAD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AF345-4ABE-DBED-9967-E5720FDC4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63BB2593-564E-D21D-C7D2-A3203B075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76400"/>
            <a:ext cx="5608959" cy="3226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4227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457200"/>
            <a:ext cx="11379200" cy="594359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Subnets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>
          <a:xfrm>
            <a:off x="228600" y="1371600"/>
            <a:ext cx="10896600" cy="4495800"/>
          </a:xfrm>
        </p:spPr>
        <p:txBody>
          <a:bodyPr/>
          <a:lstStyle/>
          <a:p>
            <a:r>
              <a:rPr lang="en-US" dirty="0"/>
              <a:t>Each organization must assign the IP addresses it has received to specific computers on its networks.</a:t>
            </a:r>
          </a:p>
          <a:p>
            <a:r>
              <a:rPr lang="en-US" dirty="0"/>
              <a:t>This is done using an </a:t>
            </a:r>
            <a:r>
              <a:rPr lang="en-US" dirty="0">
                <a:solidFill>
                  <a:srgbClr val="FF0000"/>
                </a:solidFill>
              </a:rPr>
              <a:t>addressing hierarchy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first part of the address defines the network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second part defines a particular </a:t>
            </a:r>
            <a:r>
              <a:rPr lang="en-US" dirty="0">
                <a:solidFill>
                  <a:srgbClr val="FF0000"/>
                </a:solidFill>
              </a:rPr>
              <a:t>computer or host on the network.</a:t>
            </a:r>
          </a:p>
          <a:p>
            <a:r>
              <a:rPr lang="en-US" dirty="0"/>
              <a:t>It is not efficient to assign every computer to the same network.</a:t>
            </a:r>
          </a:p>
          <a:p>
            <a:r>
              <a:rPr lang="en-US" dirty="0"/>
              <a:t>Rather, subnetworks or </a:t>
            </a:r>
            <a:r>
              <a:rPr lang="en-US" b="1" i="1" dirty="0">
                <a:solidFill>
                  <a:srgbClr val="FF0000"/>
                </a:solidFill>
              </a:rPr>
              <a:t>subnets</a:t>
            </a:r>
            <a:r>
              <a:rPr lang="en-US" dirty="0">
                <a:solidFill>
                  <a:srgbClr val="FF0000"/>
                </a:solidFill>
              </a:rPr>
              <a:t> are designed </a:t>
            </a:r>
            <a:r>
              <a:rPr lang="en-US" dirty="0"/>
              <a:t>on the network that subdivide the network into logical pieces.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785411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42875" y="537844"/>
            <a:ext cx="4541393" cy="645161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Address Subnets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152400" y="1219200"/>
            <a:ext cx="56388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It is customary to assign all the computers in the same LAN numbers that </a:t>
            </a:r>
            <a:r>
              <a:rPr lang="en-US" dirty="0">
                <a:solidFill>
                  <a:srgbClr val="FF0000"/>
                </a:solidFill>
              </a:rPr>
              <a:t>start with the same first three digits.</a:t>
            </a:r>
          </a:p>
          <a:p>
            <a:r>
              <a:rPr lang="en-US" dirty="0">
                <a:solidFill>
                  <a:srgbClr val="FF0000"/>
                </a:solidFill>
              </a:rPr>
              <a:t>Two addresses on this subnet </a:t>
            </a:r>
            <a:r>
              <a:rPr lang="en-US" dirty="0"/>
              <a:t>cannot be assigned as IP address to any computer.</a:t>
            </a:r>
          </a:p>
          <a:p>
            <a:pPr lvl="1"/>
            <a:r>
              <a:rPr lang="en-US" dirty="0"/>
              <a:t>The first address </a:t>
            </a:r>
            <a:r>
              <a:rPr lang="en-US" dirty="0">
                <a:solidFill>
                  <a:srgbClr val="FF0000"/>
                </a:solidFill>
              </a:rPr>
              <a:t>is 128.192.56.0</a:t>
            </a:r>
            <a:r>
              <a:rPr lang="en-US" dirty="0"/>
              <a:t>, and this is the network address.</a:t>
            </a:r>
          </a:p>
          <a:p>
            <a:pPr lvl="1"/>
            <a:r>
              <a:rPr lang="en-US" dirty="0"/>
              <a:t>The second address is </a:t>
            </a:r>
            <a:r>
              <a:rPr lang="en-US" dirty="0">
                <a:solidFill>
                  <a:srgbClr val="FF0000"/>
                </a:solidFill>
              </a:rPr>
              <a:t>128.192.56.255,</a:t>
            </a:r>
            <a:r>
              <a:rPr lang="en-US" dirty="0"/>
              <a:t> which is the broadcast address.</a:t>
            </a:r>
          </a:p>
          <a:p>
            <a:r>
              <a:rPr lang="en-US" dirty="0"/>
              <a:t>Routers connect two or more subnets so they have a </a:t>
            </a:r>
            <a:r>
              <a:rPr lang="en-US" dirty="0">
                <a:solidFill>
                  <a:srgbClr val="FF0000"/>
                </a:solidFill>
              </a:rPr>
              <a:t>separate address on each subnet.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39903" y="495280"/>
            <a:ext cx="4709097" cy="597721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165427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09600"/>
            <a:ext cx="11887200" cy="12954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Subnet mask – Examples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sz="3100" dirty="0">
                <a:solidFill>
                  <a:schemeClr val="tx1"/>
                </a:solidFill>
              </a:rPr>
              <a:t>&gt;&gt; is used to determine whether a host is on the local subnet or on a remote network.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>
          <a:xfrm>
            <a:off x="304800" y="2286000"/>
            <a:ext cx="11379200" cy="3780154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A subnet mask of 255.255.255.0 </a:t>
            </a:r>
          </a:p>
          <a:p>
            <a:pPr lvl="2"/>
            <a:r>
              <a:rPr lang="en-US" sz="2800" dirty="0">
                <a:solidFill>
                  <a:srgbClr val="FF0000"/>
                </a:solidFill>
              </a:rPr>
              <a:t>1</a:t>
            </a:r>
            <a:r>
              <a:rPr lang="en-US" sz="2800" baseline="30000" dirty="0">
                <a:solidFill>
                  <a:srgbClr val="FF0000"/>
                </a:solidFill>
              </a:rPr>
              <a:t>st</a:t>
            </a:r>
            <a:r>
              <a:rPr lang="en-US" sz="2800" dirty="0">
                <a:solidFill>
                  <a:srgbClr val="FF0000"/>
                </a:solidFill>
              </a:rPr>
              <a:t> 3-byte indicate the same subnet</a:t>
            </a:r>
          </a:p>
          <a:p>
            <a:pPr marL="914400" lvl="2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sz="3200" dirty="0"/>
              <a:t>A subnet mask of 255.255.0.0 </a:t>
            </a:r>
          </a:p>
          <a:p>
            <a:pPr lvl="2"/>
            <a:r>
              <a:rPr lang="en-US" sz="2800" dirty="0">
                <a:solidFill>
                  <a:srgbClr val="FF0000"/>
                </a:solidFill>
              </a:rPr>
              <a:t>1</a:t>
            </a:r>
            <a:r>
              <a:rPr lang="en-US" sz="2800" baseline="30000" dirty="0">
                <a:solidFill>
                  <a:srgbClr val="FF0000"/>
                </a:solidFill>
              </a:rPr>
              <a:t>st</a:t>
            </a:r>
            <a:r>
              <a:rPr lang="en-US" sz="2800" dirty="0">
                <a:solidFill>
                  <a:srgbClr val="FF0000"/>
                </a:solidFill>
              </a:rPr>
              <a:t> 2-byte indicate the same subnet</a:t>
            </a:r>
          </a:p>
          <a:p>
            <a:endParaRPr lang="en-US" dirty="0"/>
          </a:p>
          <a:p>
            <a:r>
              <a:rPr lang="en-US" sz="3200" dirty="0"/>
              <a:t>Subnet mask of 255.255.255.128</a:t>
            </a:r>
          </a:p>
          <a:p>
            <a:pPr lvl="3"/>
            <a:r>
              <a:rPr lang="en-US" sz="3200" dirty="0"/>
              <a:t>11111111.11111111.11111111.10000000</a:t>
            </a:r>
          </a:p>
          <a:p>
            <a:pPr marL="914400" lvl="2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1</a:t>
            </a:r>
            <a:r>
              <a:rPr lang="en-US" sz="2800" baseline="30000" dirty="0">
                <a:solidFill>
                  <a:srgbClr val="FF0000"/>
                </a:solidFill>
              </a:rPr>
              <a:t>st</a:t>
            </a:r>
            <a:r>
              <a:rPr lang="en-US" sz="2800" dirty="0">
                <a:solidFill>
                  <a:srgbClr val="FF0000"/>
                </a:solidFill>
              </a:rPr>
              <a:t> 3-byte plus the first bit in the fourth byte indicate the subnet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106527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B8FE1A-C053-5905-7F15-128D17FB45CD}"/>
              </a:ext>
            </a:extLst>
          </p:cNvPr>
          <p:cNvSpPr/>
          <p:nvPr/>
        </p:nvSpPr>
        <p:spPr>
          <a:xfrm>
            <a:off x="1066800" y="5388710"/>
            <a:ext cx="10754852" cy="9676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17247-77ED-319D-BFF0-6090368A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57200"/>
            <a:ext cx="9347200" cy="822959"/>
          </a:xfrm>
        </p:spPr>
        <p:txBody>
          <a:bodyPr>
            <a:normAutofit/>
          </a:bodyPr>
          <a:lstStyle/>
          <a:p>
            <a:r>
              <a:rPr lang="en-NZ" sz="4400" dirty="0">
                <a:solidFill>
                  <a:srgbClr val="0000FF"/>
                </a:solidFill>
              </a:rPr>
              <a:t>Determining the Network: Logical AND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C8F11F-F497-8885-8829-999460D87173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3352800" y="1280159"/>
            <a:ext cx="8468852" cy="370216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B01AA-8118-B1A7-34D6-6EEE675EB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5-</a:t>
            </a:r>
            <a:fld id="{67B19427-F580-D146-B60E-4CADEE75497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2C01D-B57B-6986-6B5E-2722C8944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E891F-7969-8B35-BF9B-E72B4FB2F882}"/>
              </a:ext>
            </a:extLst>
          </p:cNvPr>
          <p:cNvSpPr txBox="1"/>
          <p:nvPr/>
        </p:nvSpPr>
        <p:spPr>
          <a:xfrm>
            <a:off x="983226" y="5380672"/>
            <a:ext cx="10802374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NZ" sz="2400" dirty="0"/>
              <a:t>To identify the network address, the host IPv4 address is logically ANDed, bit by bit, with the subnet mask to identify the network address.</a:t>
            </a:r>
          </a:p>
        </p:txBody>
      </p:sp>
    </p:spTree>
    <p:extLst>
      <p:ext uri="{BB962C8B-B14F-4D97-AF65-F5344CB8AC3E}">
        <p14:creationId xmlns:p14="http://schemas.microsoft.com/office/powerpoint/2010/main" val="2145889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CB1665-3DE3-99BB-CA95-B8F5EE4EC964}"/>
              </a:ext>
            </a:extLst>
          </p:cNvPr>
          <p:cNvSpPr/>
          <p:nvPr/>
        </p:nvSpPr>
        <p:spPr>
          <a:xfrm>
            <a:off x="184586" y="2047113"/>
            <a:ext cx="4800600" cy="3200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EC509-F0B5-3F46-C24D-B5CDCD7CA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77582"/>
            <a:ext cx="11379200" cy="670559"/>
          </a:xfrm>
        </p:spPr>
        <p:txBody>
          <a:bodyPr>
            <a:normAutofit fontScale="90000"/>
          </a:bodyPr>
          <a:lstStyle/>
          <a:p>
            <a:r>
              <a:rPr lang="en-NZ" sz="4400" b="0" i="0" u="none" strike="noStrike" baseline="0" dirty="0">
                <a:solidFill>
                  <a:srgbClr val="0000FF"/>
                </a:solidFill>
                <a:latin typeface="LiberationSans"/>
              </a:rPr>
              <a:t>The Prefix Length</a:t>
            </a:r>
            <a:endParaRPr lang="en-NZ" sz="4400" dirty="0">
              <a:solidFill>
                <a:srgbClr val="0000FF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C97ADD8-5D88-313E-EEBC-761E87EA590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4864973" y="944324"/>
            <a:ext cx="6920627" cy="4953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327F6-B3D2-DC1B-ADCE-79E4E1429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5-</a:t>
            </a:r>
            <a:fld id="{67B19427-F580-D146-B60E-4CADEE75497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960B-8AEF-6F18-5854-6E7301B2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1A0C2-A58D-AB0C-248C-53C76BB827B4}"/>
              </a:ext>
            </a:extLst>
          </p:cNvPr>
          <p:cNvSpPr txBox="1"/>
          <p:nvPr/>
        </p:nvSpPr>
        <p:spPr>
          <a:xfrm>
            <a:off x="304800" y="2308485"/>
            <a:ext cx="456017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NZ" sz="2400" b="0" i="0" u="none" strike="noStrike" baseline="0" dirty="0">
                <a:latin typeface="LiberationSans"/>
              </a:rPr>
              <a:t>The prefix length is the number</a:t>
            </a:r>
          </a:p>
          <a:p>
            <a:pPr algn="l"/>
            <a:r>
              <a:rPr lang="en-NZ" sz="2400" b="0" i="0" u="none" strike="noStrike" baseline="0" dirty="0">
                <a:latin typeface="LiberationSans"/>
              </a:rPr>
              <a:t>of bits set to 1 in the subnet</a:t>
            </a:r>
          </a:p>
          <a:p>
            <a:pPr algn="l"/>
            <a:r>
              <a:rPr lang="en-NZ" sz="2400" b="0" i="0" u="none" strike="noStrike" baseline="0" dirty="0">
                <a:latin typeface="LiberationSans"/>
              </a:rPr>
              <a:t>mask.</a:t>
            </a:r>
          </a:p>
          <a:p>
            <a:pPr algn="l"/>
            <a:r>
              <a:rPr lang="en-NZ" sz="2400" b="0" i="0" u="none" strike="noStrike" baseline="0" dirty="0">
                <a:latin typeface="LiberationSans"/>
              </a:rPr>
              <a:t>• It is written in “slash notation”</a:t>
            </a:r>
          </a:p>
          <a:p>
            <a:pPr algn="l"/>
            <a:r>
              <a:rPr lang="en-NZ" sz="2400" b="0" i="0" u="none" strike="noStrike" baseline="0" dirty="0">
                <a:latin typeface="LiberationSans"/>
              </a:rPr>
              <a:t>therefore, count the number of</a:t>
            </a:r>
          </a:p>
          <a:p>
            <a:pPr algn="l"/>
            <a:r>
              <a:rPr lang="en-NZ" sz="2400" b="0" i="0" u="none" strike="noStrike" baseline="0" dirty="0">
                <a:latin typeface="LiberationSans"/>
              </a:rPr>
              <a:t>bits in the subnet mask and</a:t>
            </a:r>
          </a:p>
          <a:p>
            <a:pPr algn="l"/>
            <a:r>
              <a:rPr lang="en-NZ" sz="2400" b="0" i="0" u="none" strike="noStrike" baseline="0" dirty="0">
                <a:latin typeface="LiberationSans"/>
              </a:rPr>
              <a:t>prepend it with a slash.</a:t>
            </a:r>
            <a:endParaRPr lang="en-NZ" sz="2400" dirty="0"/>
          </a:p>
        </p:txBody>
      </p:sp>
    </p:spTree>
    <p:extLst>
      <p:ext uri="{BB962C8B-B14F-4D97-AF65-F5344CB8AC3E}">
        <p14:creationId xmlns:p14="http://schemas.microsoft.com/office/powerpoint/2010/main" val="160860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0AD0A-0402-4CAB-36CB-356AA6EF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6A7F70-F4CE-CA06-C0E9-3454A581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3400"/>
            <a:ext cx="9296400" cy="762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Data Access: Devices on the same network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0012-9FB9-09BD-E275-18F53ABA4C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B4074-72D0-AB3E-7D0B-017B4BFD90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D861A0-B4FA-C87D-4F65-E14A3CB97F7C}"/>
              </a:ext>
            </a:extLst>
          </p:cNvPr>
          <p:cNvSpPr txBox="1">
            <a:spLocks/>
          </p:cNvSpPr>
          <p:nvPr/>
        </p:nvSpPr>
        <p:spPr>
          <a:xfrm>
            <a:off x="152400" y="1524000"/>
            <a:ext cx="5257800" cy="34353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lang="en-US" dirty="0">
                <a:latin typeface="Calibri" charset="0"/>
                <a:ea typeface="Calibri" charset="0"/>
                <a:cs typeface="Calibri" charset="0"/>
              </a:rPr>
              <a:t>When devices are on the same network the source and destination will have the same number in network portion of the address.</a:t>
            </a:r>
          </a:p>
          <a:p>
            <a:pPr marL="0" indent="0">
              <a:buFont typeface="Arial"/>
              <a:buNone/>
            </a:pPr>
            <a:endParaRPr lang="en-US" dirty="0">
              <a:latin typeface="Calibri" charset="0"/>
              <a:ea typeface="Calibri" charset="0"/>
              <a:cs typeface="Calibri" charset="0"/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PC1 – </a:t>
            </a:r>
            <a:r>
              <a:rPr lang="en-US" u="sng" dirty="0">
                <a:solidFill>
                  <a:srgbClr val="FF0000"/>
                </a:solidFill>
              </a:rPr>
              <a:t>192.168.1</a:t>
            </a:r>
            <a:r>
              <a:rPr lang="en-US" dirty="0">
                <a:solidFill>
                  <a:srgbClr val="FF0000"/>
                </a:solidFill>
              </a:rPr>
              <a:t>.110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FTP Server – </a:t>
            </a:r>
            <a:r>
              <a:rPr lang="en-US" u="sng" dirty="0">
                <a:solidFill>
                  <a:srgbClr val="FF0000"/>
                </a:solidFill>
              </a:rPr>
              <a:t>192.168.1</a:t>
            </a:r>
            <a:r>
              <a:rPr lang="en-US" dirty="0">
                <a:solidFill>
                  <a:srgbClr val="FF0000"/>
                </a:solidFill>
              </a:rPr>
              <a:t>.9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344F716-F7EA-85C1-E63A-163E114AC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676400"/>
            <a:ext cx="5815942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0472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1A41A-4CD4-53D1-4994-91B082ED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EB7C969-45DB-B5E9-29B0-281EC14F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3400"/>
            <a:ext cx="11125200" cy="7620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0000FF"/>
                </a:solidFill>
              </a:rPr>
              <a:t>Role of the Data Link Layer Addresses: </a:t>
            </a:r>
            <a:r>
              <a:rPr lang="en-US" dirty="0">
                <a:solidFill>
                  <a:srgbClr val="0000FF"/>
                </a:solidFill>
              </a:rPr>
              <a:t>same IP network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AC0E0-1177-3311-7B4D-409A2933CD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82487-2301-950E-1F4A-6FDE0E3109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54943A2-502E-F047-4B1F-4F9BE43B609E}"/>
              </a:ext>
            </a:extLst>
          </p:cNvPr>
          <p:cNvSpPr txBox="1">
            <a:spLocks/>
          </p:cNvSpPr>
          <p:nvPr/>
        </p:nvSpPr>
        <p:spPr>
          <a:xfrm>
            <a:off x="148388" y="1287379"/>
            <a:ext cx="6862011" cy="45800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alibri" charset="0"/>
                <a:ea typeface="Calibri" charset="0"/>
                <a:cs typeface="Calibri" charset="0"/>
              </a:rPr>
              <a:t>When devices are on the same Ethernet network the data link frame will use the actual MAC address of the destination NIC.</a:t>
            </a:r>
          </a:p>
          <a:p>
            <a:pPr marL="0" indent="0">
              <a:buFont typeface="Arial"/>
              <a:buNone/>
            </a:pPr>
            <a:r>
              <a:rPr lang="en-CA" altLang="en-US" dirty="0">
                <a:latin typeface="Calibri" charset="0"/>
                <a:ea typeface="Calibri" charset="0"/>
                <a:cs typeface="Calibri" charset="0"/>
              </a:rPr>
              <a:t>MAC addresses are physically embedded into the Ethernet NIC and are local addressing.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dirty="0">
                <a:latin typeface="Calibri" charset="0"/>
                <a:ea typeface="Calibri" charset="0"/>
                <a:cs typeface="Calibri" charset="0"/>
              </a:rPr>
              <a:t>The Source MAC address will be that of the originator on the link.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dirty="0">
                <a:latin typeface="Calibri" charset="0"/>
                <a:ea typeface="Calibri" charset="0"/>
                <a:cs typeface="Calibri" charset="0"/>
              </a:rPr>
              <a:t>The Destination MAC address will always be on the same link as the source, even if the ultimate destination is remote.</a:t>
            </a:r>
          </a:p>
          <a:p>
            <a:pPr marL="0" indent="0">
              <a:buFont typeface="Arial"/>
              <a:buNone/>
            </a:pPr>
            <a:endParaRPr lang="en-CA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BB39F2-9759-9E9A-1F1F-840F14C48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676400"/>
            <a:ext cx="5109412" cy="369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59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B8C8F-329A-1B36-4B77-D5D10270E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E8BFBEF-E9CD-891A-3F3C-EFB41EABB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3400"/>
            <a:ext cx="11125200" cy="7620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0000FF"/>
                </a:solidFill>
              </a:rPr>
              <a:t>Devices on a Remote Network</a:t>
            </a:r>
            <a:endParaRPr lang="en-US" sz="3600" dirty="0">
              <a:solidFill>
                <a:srgbClr val="0000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548F8-B98B-58D6-5FCA-4E8253FD31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A85D7-0F2B-C8E9-0C52-05D8FBC8B8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9DCEBE-A275-6191-F6AE-FD36AA1BA76E}"/>
              </a:ext>
            </a:extLst>
          </p:cNvPr>
          <p:cNvSpPr txBox="1">
            <a:spLocks/>
          </p:cNvSpPr>
          <p:nvPr/>
        </p:nvSpPr>
        <p:spPr>
          <a:xfrm>
            <a:off x="104274" y="1219200"/>
            <a:ext cx="6144126" cy="35926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charset="0"/>
                <a:ea typeface="Calibri" charset="0"/>
                <a:cs typeface="Calibri" charset="0"/>
              </a:rPr>
              <a:t>What happens when the actual destination is not on the same LAN and is remote?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charset="0"/>
                <a:ea typeface="Calibri" charset="0"/>
                <a:cs typeface="Calibri" charset="0"/>
              </a:rPr>
              <a:t>What happens when PC1 tries to reach the Web Server? </a:t>
            </a: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Does this impact the network and data link layers?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When the source and destination have a different network portion, this means they are on different networks.</a:t>
            </a:r>
          </a:p>
          <a:p>
            <a:pPr marL="228600" lvl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charset="0"/>
                <a:ea typeface="Calibri" charset="0"/>
                <a:cs typeface="Calibri" charset="0"/>
              </a:rPr>
              <a:t>PC1 – 192.168.1</a:t>
            </a:r>
          </a:p>
          <a:p>
            <a:pPr marL="228600" lvl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charset="0"/>
                <a:ea typeface="Calibri" charset="0"/>
                <a:cs typeface="Calibri" charset="0"/>
              </a:rPr>
              <a:t>Web Server – 172.16.1</a:t>
            </a:r>
          </a:p>
          <a:p>
            <a:pPr>
              <a:buFont typeface="Arial" panose="020B0604020202020204" pitchFamily="34" charset="0"/>
              <a:buChar char="•"/>
            </a:pPr>
            <a:endParaRPr lang="en-CA" altLang="en-US" dirty="0">
              <a:latin typeface="Calibri" charset="0"/>
              <a:ea typeface="Calibri" charset="0"/>
              <a:cs typeface="Calibri" charset="0"/>
            </a:endParaRPr>
          </a:p>
          <a:p>
            <a:pPr marL="142875" lvl="1" indent="0">
              <a:buFont typeface="Arial"/>
              <a:buNone/>
            </a:pPr>
            <a:endParaRPr lang="en-CA" altLang="en-US" dirty="0"/>
          </a:p>
          <a:p>
            <a:pPr marL="0" indent="0">
              <a:buFont typeface="Arial"/>
              <a:buNone/>
            </a:pPr>
            <a:endParaRPr lang="en-CA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F59241-B7E8-6C4E-5640-AF745D25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587" y="1447800"/>
            <a:ext cx="5414972" cy="359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2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16307" y="46843"/>
            <a:ext cx="12192000" cy="742117"/>
          </a:xfrm>
        </p:spPr>
        <p:txBody>
          <a:bodyPr>
            <a:normAutofit fontScale="90000"/>
          </a:bodyPr>
          <a:lstStyle/>
          <a:p>
            <a:br>
              <a:rPr lang="en-US" altLang="en-US" dirty="0"/>
            </a:br>
            <a:r>
              <a:rPr lang="en-US" altLang="en-US" dirty="0">
                <a:solidFill>
                  <a:srgbClr val="0000FF"/>
                </a:solidFill>
              </a:rPr>
              <a:t>Role of the Data Link Layer Addresses: Different IP Networks</a:t>
            </a:r>
            <a:endParaRPr lang="en-CA" altLang="en-US" dirty="0">
              <a:solidFill>
                <a:srgbClr val="0000FF"/>
              </a:solidFill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2401" y="1046917"/>
            <a:ext cx="8153399" cy="39822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the final destination is remote, Layer 3 will provide Layer 2 with the local default gateway IP address, also known as the router address.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default gateway (DGW) is the router interface IP address that is part of this LAN and will be the “gateway” to all other remote locations.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devices on the LAN must be told about this address or their traffic will be confined to the LAN only.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/>
              <a:t>Once Layer 2 on PC1 forwards to the default gateway, the router then can start the routing process of getting the information to actual destination. </a:t>
            </a:r>
            <a:endParaRPr lang="en-CA" altLang="en-US" dirty="0"/>
          </a:p>
          <a:p>
            <a:pPr marL="0" indent="0">
              <a:buNone/>
            </a:pPr>
            <a:endParaRPr lang="en-CA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981200"/>
            <a:ext cx="404326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3931806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40369" y="13627"/>
            <a:ext cx="12192000" cy="1129374"/>
          </a:xfrm>
        </p:spPr>
        <p:txBody>
          <a:bodyPr>
            <a:normAutofit fontScale="90000"/>
          </a:bodyPr>
          <a:lstStyle/>
          <a:p>
            <a:br>
              <a:rPr lang="en-US" altLang="en-US" dirty="0"/>
            </a:br>
            <a:r>
              <a:rPr lang="en-US" altLang="en-US" dirty="0">
                <a:solidFill>
                  <a:srgbClr val="0000FF"/>
                </a:solidFill>
              </a:rPr>
              <a:t>Role of the Data Link Layer Addresses: Different IP Networks</a:t>
            </a:r>
            <a:endParaRPr lang="en-CA" altLang="en-US" dirty="0">
              <a:solidFill>
                <a:srgbClr val="0000FF"/>
              </a:solidFill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40369" y="1143001"/>
            <a:ext cx="6975119" cy="484360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The data link addressing is local addressing so it will have a source and destination for each link.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The MAC addressing for the first segment is:</a:t>
            </a:r>
          </a:p>
          <a:p>
            <a:pPr lvl="1"/>
            <a:r>
              <a:rPr lang="en-US" altLang="en-US" sz="2800" dirty="0"/>
              <a:t>Source –  AA-AA-AA-AA-AA-AA (PC1) Sends the frame.</a:t>
            </a:r>
          </a:p>
          <a:p>
            <a:pPr lvl="1"/>
            <a:r>
              <a:rPr lang="en-US" altLang="en-US" sz="2800" dirty="0"/>
              <a:t>Destination – 11-11-11-11-11-11 (R1- Default Gateway MAC) Receives the frame.</a:t>
            </a:r>
          </a:p>
          <a:p>
            <a:pPr marL="0" indent="0">
              <a:buNone/>
            </a:pPr>
            <a:r>
              <a:rPr lang="en-US" altLang="en-US" b="1" dirty="0"/>
              <a:t>Note: </a:t>
            </a:r>
            <a:r>
              <a:rPr lang="en-US" altLang="en-US" dirty="0"/>
              <a:t>While the L2 local addressing will change from link to link or hop to hop, the L3 addressing remains the same.</a:t>
            </a:r>
          </a:p>
          <a:p>
            <a:endParaRPr lang="en-CA" altLang="en-US" dirty="0"/>
          </a:p>
          <a:p>
            <a:pPr marL="0" indent="0">
              <a:buNone/>
            </a:pPr>
            <a:endParaRPr lang="en-CA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488" y="1329537"/>
            <a:ext cx="4710307" cy="301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6869489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09600"/>
            <a:ext cx="4572000" cy="6705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Dynamic Addressing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>
          <a:xfrm>
            <a:off x="304800" y="1570355"/>
            <a:ext cx="11379200" cy="4495800"/>
          </a:xfrm>
        </p:spPr>
        <p:txBody>
          <a:bodyPr>
            <a:normAutofit/>
          </a:bodyPr>
          <a:lstStyle/>
          <a:p>
            <a:r>
              <a:rPr lang="en-US" dirty="0"/>
              <a:t>To this point, we have said that every computer knows </a:t>
            </a:r>
            <a:r>
              <a:rPr lang="en-US" dirty="0">
                <a:solidFill>
                  <a:srgbClr val="FF0000"/>
                </a:solidFill>
              </a:rPr>
              <a:t>its network layer address from a configuration file.</a:t>
            </a:r>
          </a:p>
          <a:p>
            <a:r>
              <a:rPr lang="en-US" dirty="0"/>
              <a:t>This leads to a major network management problem.</a:t>
            </a:r>
          </a:p>
          <a:p>
            <a:r>
              <a:rPr lang="en-US" dirty="0"/>
              <a:t>Any time a </a:t>
            </a:r>
            <a:r>
              <a:rPr lang="en-US" dirty="0">
                <a:solidFill>
                  <a:srgbClr val="FF0000"/>
                </a:solidFill>
              </a:rPr>
              <a:t>computer is moved</a:t>
            </a:r>
            <a:r>
              <a:rPr lang="en-US" dirty="0"/>
              <a:t>, or its network is </a:t>
            </a:r>
            <a:r>
              <a:rPr lang="en-US" dirty="0">
                <a:solidFill>
                  <a:srgbClr val="FF0000"/>
                </a:solidFill>
              </a:rPr>
              <a:t>assigned a new address</a:t>
            </a:r>
            <a:r>
              <a:rPr lang="en-US" dirty="0"/>
              <a:t>, the software on each individual computer must be updated.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easiest way around </a:t>
            </a:r>
            <a:r>
              <a:rPr lang="en-US" dirty="0"/>
              <a:t>this is </a:t>
            </a:r>
            <a:r>
              <a:rPr lang="en-US" b="1" i="1" dirty="0">
                <a:solidFill>
                  <a:srgbClr val="FF0000"/>
                </a:solidFill>
              </a:rPr>
              <a:t>dynamic addressing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 server </a:t>
            </a:r>
            <a:r>
              <a:rPr lang="en-US" dirty="0"/>
              <a:t>is designated to supply a network layer address to a computer each time the computer connects to the network.</a:t>
            </a:r>
          </a:p>
          <a:p>
            <a:r>
              <a:rPr lang="en-US" dirty="0"/>
              <a:t>The most common standard for dynamic addressing is the </a:t>
            </a:r>
            <a:r>
              <a:rPr lang="en-US" b="1" i="1" dirty="0">
                <a:solidFill>
                  <a:srgbClr val="FF0000"/>
                </a:solidFill>
              </a:rPr>
              <a:t>Dynamic Host Configuration Protocol</a:t>
            </a:r>
            <a:r>
              <a:rPr lang="en-US" dirty="0">
                <a:solidFill>
                  <a:srgbClr val="FF0000"/>
                </a:solidFill>
              </a:rPr>
              <a:t> (DHCP).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139036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78487"/>
            <a:ext cx="4724400" cy="716914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Address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228600" y="1676400"/>
            <a:ext cx="11557000" cy="4191000"/>
          </a:xfrm>
        </p:spPr>
        <p:txBody>
          <a:bodyPr/>
          <a:lstStyle/>
          <a:p>
            <a:r>
              <a:rPr lang="en-US" dirty="0"/>
              <a:t>To send a message, the sender must be able to translate the </a:t>
            </a:r>
            <a:r>
              <a:rPr lang="en-US" dirty="0">
                <a:solidFill>
                  <a:srgbClr val="FF0000"/>
                </a:solidFill>
              </a:rPr>
              <a:t>application layer address of the destination into a network layer address </a:t>
            </a:r>
            <a:r>
              <a:rPr lang="en-US" dirty="0"/>
              <a:t>and in turn translate that into a </a:t>
            </a:r>
            <a:r>
              <a:rPr lang="en-US" dirty="0">
                <a:solidFill>
                  <a:srgbClr val="FF0000"/>
                </a:solidFill>
              </a:rPr>
              <a:t>data link layer address</a:t>
            </a:r>
            <a:r>
              <a:rPr lang="en-US" dirty="0"/>
              <a:t>.</a:t>
            </a:r>
          </a:p>
          <a:p>
            <a:r>
              <a:rPr lang="en-US" dirty="0"/>
              <a:t>This is called </a:t>
            </a:r>
            <a:r>
              <a:rPr lang="en-US" dirty="0">
                <a:solidFill>
                  <a:srgbClr val="FF0000"/>
                </a:solidFill>
              </a:rPr>
              <a:t>address resolution</a:t>
            </a:r>
          </a:p>
          <a:p>
            <a:r>
              <a:rPr lang="en-US" dirty="0">
                <a:solidFill>
                  <a:srgbClr val="FF0000"/>
                </a:solidFill>
              </a:rPr>
              <a:t>TCP/IP uses two different approaches:</a:t>
            </a:r>
          </a:p>
          <a:p>
            <a:pPr lvl="1"/>
            <a:r>
              <a:rPr lang="en-US" dirty="0"/>
              <a:t>One for resolving </a:t>
            </a:r>
            <a:r>
              <a:rPr lang="en-US" dirty="0">
                <a:solidFill>
                  <a:srgbClr val="FF0000"/>
                </a:solidFill>
              </a:rPr>
              <a:t>application layer addresses into IP addresses</a:t>
            </a:r>
          </a:p>
          <a:p>
            <a:pPr lvl="1"/>
            <a:r>
              <a:rPr lang="en-US" dirty="0"/>
              <a:t>One for resolving </a:t>
            </a:r>
            <a:r>
              <a:rPr lang="en-US" dirty="0">
                <a:solidFill>
                  <a:srgbClr val="FF0000"/>
                </a:solidFill>
              </a:rPr>
              <a:t>IP addresses into data link layer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67205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581025"/>
            <a:ext cx="5410200" cy="59435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Server Name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84150" y="1371600"/>
            <a:ext cx="11245850" cy="4495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Server name resolution is the </a:t>
            </a:r>
            <a:r>
              <a:rPr lang="en-US" dirty="0">
                <a:solidFill>
                  <a:srgbClr val="FF0000"/>
                </a:solidFill>
              </a:rPr>
              <a:t>translation </a:t>
            </a:r>
            <a:r>
              <a:rPr lang="en-US" dirty="0"/>
              <a:t>of </a:t>
            </a:r>
            <a:r>
              <a:rPr lang="en-US" dirty="0">
                <a:solidFill>
                  <a:srgbClr val="FF0000"/>
                </a:solidFill>
              </a:rPr>
              <a:t>application layer addresses into network layer addresses.</a:t>
            </a:r>
          </a:p>
          <a:p>
            <a:r>
              <a:rPr lang="en-US" dirty="0"/>
              <a:t>This is done using the </a:t>
            </a:r>
            <a:r>
              <a:rPr lang="en-US" b="1" i="1" dirty="0"/>
              <a:t>Domain Name Service </a:t>
            </a:r>
            <a:r>
              <a:rPr lang="en-US" dirty="0"/>
              <a:t>(DNS).</a:t>
            </a:r>
          </a:p>
          <a:p>
            <a:r>
              <a:rPr lang="en-US" dirty="0"/>
              <a:t>Throughout the Internet, a series of computers called </a:t>
            </a:r>
            <a:r>
              <a:rPr lang="en-US" b="1" i="1" dirty="0">
                <a:solidFill>
                  <a:srgbClr val="FF0000"/>
                </a:solidFill>
              </a:rPr>
              <a:t>name servers </a:t>
            </a:r>
            <a:r>
              <a:rPr lang="en-US" dirty="0">
                <a:solidFill>
                  <a:srgbClr val="FF0000"/>
                </a:solidFill>
              </a:rPr>
              <a:t>provide DNS services.</a:t>
            </a:r>
          </a:p>
          <a:p>
            <a:r>
              <a:rPr lang="en-US" dirty="0"/>
              <a:t>These name servers </a:t>
            </a:r>
            <a:r>
              <a:rPr lang="en-US" dirty="0">
                <a:solidFill>
                  <a:srgbClr val="FF0000"/>
                </a:solidFill>
              </a:rPr>
              <a:t>have address databases </a:t>
            </a:r>
            <a:r>
              <a:rPr lang="en-US" dirty="0"/>
              <a:t>that store thousands of </a:t>
            </a:r>
            <a:r>
              <a:rPr lang="en-US" dirty="0">
                <a:solidFill>
                  <a:srgbClr val="FF0000"/>
                </a:solidFill>
              </a:rPr>
              <a:t>Internet addresses </a:t>
            </a:r>
            <a:r>
              <a:rPr lang="en-US" dirty="0"/>
              <a:t>and their </a:t>
            </a:r>
            <a:r>
              <a:rPr lang="en-US" dirty="0">
                <a:solidFill>
                  <a:srgbClr val="FF0000"/>
                </a:solidFill>
              </a:rPr>
              <a:t>corresponding IP addresses</a:t>
            </a:r>
            <a:r>
              <a:rPr lang="en-US" dirty="0"/>
              <a:t>.</a:t>
            </a:r>
          </a:p>
          <a:p>
            <a:r>
              <a:rPr lang="en-US" dirty="0"/>
              <a:t>Every organization that has many servers also has its </a:t>
            </a:r>
            <a:r>
              <a:rPr lang="en-US" dirty="0">
                <a:solidFill>
                  <a:srgbClr val="FF0000"/>
                </a:solidFill>
              </a:rPr>
              <a:t>own DNS server.</a:t>
            </a:r>
          </a:p>
          <a:p>
            <a:r>
              <a:rPr lang="en-US" dirty="0"/>
              <a:t>Smaller organizations that have only one or two servers often use a DNS </a:t>
            </a:r>
            <a:r>
              <a:rPr lang="en-US" dirty="0">
                <a:solidFill>
                  <a:srgbClr val="FF0000"/>
                </a:solidFill>
              </a:rPr>
              <a:t>server provided by their ISP.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5851021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600" y="648586"/>
            <a:ext cx="5613400" cy="5943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How the DNS System Works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228600" y="1427096"/>
            <a:ext cx="5181600" cy="466890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When a computer needs to translate an </a:t>
            </a:r>
            <a:r>
              <a:rPr lang="en-US" dirty="0">
                <a:solidFill>
                  <a:srgbClr val="FF0000"/>
                </a:solidFill>
              </a:rPr>
              <a:t>application layer address into an IP address,</a:t>
            </a:r>
            <a:r>
              <a:rPr lang="en-US" dirty="0"/>
              <a:t> it sends a special </a:t>
            </a:r>
            <a:r>
              <a:rPr lang="en-US" dirty="0">
                <a:solidFill>
                  <a:srgbClr val="FF0000"/>
                </a:solidFill>
              </a:rPr>
              <a:t>DNS request packet </a:t>
            </a:r>
            <a:r>
              <a:rPr lang="en-US" dirty="0"/>
              <a:t>to its DNS server.</a:t>
            </a:r>
          </a:p>
          <a:p>
            <a:r>
              <a:rPr lang="en-US" dirty="0"/>
              <a:t>It asks the DNS server for the IP address that </a:t>
            </a:r>
            <a:r>
              <a:rPr lang="en-US" dirty="0">
                <a:solidFill>
                  <a:srgbClr val="FF0000"/>
                </a:solidFill>
              </a:rPr>
              <a:t>matches an Internet application layer address</a:t>
            </a:r>
            <a:r>
              <a:rPr lang="en-US" dirty="0"/>
              <a:t>.</a:t>
            </a:r>
          </a:p>
          <a:p>
            <a:r>
              <a:rPr lang="en-US" dirty="0"/>
              <a:t>If it has a matching name in its database, </a:t>
            </a:r>
            <a:r>
              <a:rPr lang="en-US" dirty="0">
                <a:solidFill>
                  <a:srgbClr val="FF0000"/>
                </a:solidFill>
              </a:rPr>
              <a:t>it sends back the IP address.</a:t>
            </a:r>
          </a:p>
          <a:p>
            <a:r>
              <a:rPr lang="en-US" dirty="0"/>
              <a:t>If it does not have that address in its database, it will issue the same request to another DNS server.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059805" y="762000"/>
            <a:ext cx="5725795" cy="5410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455894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600" y="570052"/>
            <a:ext cx="7442200" cy="649148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How the DNS System Works </a:t>
            </a:r>
            <a:r>
              <a:rPr lang="en-US" sz="2000" dirty="0"/>
              <a:t>Continued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304800" y="1403350"/>
            <a:ext cx="5486401" cy="4884597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local DNS server </a:t>
            </a:r>
            <a:r>
              <a:rPr lang="en-US" dirty="0"/>
              <a:t>is called the </a:t>
            </a:r>
            <a:r>
              <a:rPr lang="en-US" b="1" i="1" dirty="0"/>
              <a:t>resolving name server</a:t>
            </a:r>
          </a:p>
          <a:p>
            <a:r>
              <a:rPr lang="en-US" dirty="0"/>
              <a:t>When </a:t>
            </a:r>
            <a:r>
              <a:rPr lang="en-US" dirty="0">
                <a:solidFill>
                  <a:srgbClr val="FF0000"/>
                </a:solidFill>
              </a:rPr>
              <a:t>it does not know the address, it contacts a </a:t>
            </a:r>
            <a:r>
              <a:rPr lang="en-US" b="1" i="1" dirty="0">
                <a:solidFill>
                  <a:srgbClr val="FF0000"/>
                </a:solidFill>
              </a:rPr>
              <a:t>root server</a:t>
            </a:r>
          </a:p>
          <a:p>
            <a:r>
              <a:rPr lang="en-US" dirty="0"/>
              <a:t>If it does not know, it responses with the address of the </a:t>
            </a:r>
            <a:r>
              <a:rPr lang="en-US" b="1" i="1" dirty="0"/>
              <a:t>top-level domain server</a:t>
            </a:r>
            <a:r>
              <a:rPr lang="en-US" dirty="0"/>
              <a:t> for the requested website.</a:t>
            </a:r>
          </a:p>
          <a:p>
            <a:r>
              <a:rPr lang="en-US" dirty="0"/>
              <a:t>This is called the </a:t>
            </a:r>
            <a:r>
              <a:rPr lang="en-US" b="1" i="1" dirty="0">
                <a:solidFill>
                  <a:srgbClr val="FF0000"/>
                </a:solidFill>
              </a:rPr>
              <a:t>authoritative name server.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24600" y="1287603"/>
            <a:ext cx="5554977" cy="524879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665916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" y="533400"/>
            <a:ext cx="7848600" cy="762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Data Link Layer Address Resolution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304800" y="1387475"/>
            <a:ext cx="11379200" cy="4495800"/>
          </a:xfrm>
        </p:spPr>
        <p:txBody>
          <a:bodyPr/>
          <a:lstStyle/>
          <a:p>
            <a:r>
              <a:rPr lang="en-US" dirty="0"/>
              <a:t>To actually send a message, the </a:t>
            </a:r>
            <a:r>
              <a:rPr lang="en-US" dirty="0">
                <a:solidFill>
                  <a:srgbClr val="FF0000"/>
                </a:solidFill>
              </a:rPr>
              <a:t>network layer software must know the data link layer address of the receiving computer</a:t>
            </a:r>
            <a:r>
              <a:rPr lang="en-US" dirty="0"/>
              <a:t>.</a:t>
            </a:r>
          </a:p>
          <a:p>
            <a:r>
              <a:rPr lang="en-US" dirty="0"/>
              <a:t>The TCP/IP software sends a </a:t>
            </a:r>
            <a:r>
              <a:rPr lang="en-US" dirty="0">
                <a:solidFill>
                  <a:srgbClr val="FF0000"/>
                </a:solidFill>
              </a:rPr>
              <a:t>broadcast message to all computers in its subnet.</a:t>
            </a:r>
          </a:p>
          <a:p>
            <a:r>
              <a:rPr lang="en-US" dirty="0"/>
              <a:t>The message is a specially formatted request using </a:t>
            </a:r>
            <a:r>
              <a:rPr lang="en-US" b="1" i="1" dirty="0"/>
              <a:t>Address Resolution Protocol </a:t>
            </a:r>
            <a:r>
              <a:rPr lang="en-US" dirty="0"/>
              <a:t>(ARP) that says, “</a:t>
            </a:r>
            <a:r>
              <a:rPr lang="en-US" dirty="0">
                <a:solidFill>
                  <a:srgbClr val="FF0000"/>
                </a:solidFill>
              </a:rPr>
              <a:t>Whoever is IP address xxx.xxx.xxx.xxx, please send me your data link layer address”.</a:t>
            </a:r>
          </a:p>
          <a:p>
            <a:r>
              <a:rPr lang="en-US" dirty="0"/>
              <a:t>The software in the computer with that IP address then </a:t>
            </a:r>
            <a:r>
              <a:rPr lang="en-US" dirty="0">
                <a:solidFill>
                  <a:srgbClr val="FF0000"/>
                </a:solidFill>
              </a:rPr>
              <a:t>sends an ARP response with its data link layer address.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04100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3F26-E88A-53F2-D3D5-C09D92B2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B9AA09-96DA-A790-4647-8B8EC3BE3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3400"/>
            <a:ext cx="7848600" cy="762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Data Link Layer Address Resolution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AB31A0-572A-767C-8A72-DA9EFCA1624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387475"/>
            <a:ext cx="11379200" cy="4495800"/>
          </a:xfrm>
        </p:spPr>
        <p:txBody>
          <a:bodyPr/>
          <a:lstStyle/>
          <a:p>
            <a:r>
              <a:rPr lang="en-US" dirty="0"/>
              <a:t>To actually send a message, the </a:t>
            </a:r>
            <a:r>
              <a:rPr lang="en-US" dirty="0">
                <a:solidFill>
                  <a:srgbClr val="FF0000"/>
                </a:solidFill>
              </a:rPr>
              <a:t>network layer software must know the data link layer address of the receiving computer</a:t>
            </a:r>
            <a:r>
              <a:rPr lang="en-US" dirty="0"/>
              <a:t>.</a:t>
            </a:r>
          </a:p>
          <a:p>
            <a:r>
              <a:rPr lang="en-US" dirty="0"/>
              <a:t>The TCP/IP software sends a </a:t>
            </a:r>
            <a:r>
              <a:rPr lang="en-US" dirty="0">
                <a:solidFill>
                  <a:srgbClr val="FF0000"/>
                </a:solidFill>
              </a:rPr>
              <a:t>broadcast message to all computers in its subnet.</a:t>
            </a:r>
          </a:p>
          <a:p>
            <a:r>
              <a:rPr lang="en-US" dirty="0"/>
              <a:t>The message is a specially formatted request using </a:t>
            </a:r>
            <a:r>
              <a:rPr lang="en-US" b="1" i="1" dirty="0"/>
              <a:t>Address Resolution Protocol </a:t>
            </a:r>
            <a:r>
              <a:rPr lang="en-US" dirty="0"/>
              <a:t>(ARP) that says, “</a:t>
            </a:r>
            <a:r>
              <a:rPr lang="en-US" dirty="0">
                <a:solidFill>
                  <a:srgbClr val="FF0000"/>
                </a:solidFill>
              </a:rPr>
              <a:t>Whoever is IP address xxx.xxx.xxx.xxx, please send me your data link layer address”.</a:t>
            </a:r>
          </a:p>
          <a:p>
            <a:r>
              <a:rPr lang="en-US" dirty="0"/>
              <a:t>The software in the computer with that IP address then </a:t>
            </a:r>
            <a:r>
              <a:rPr lang="en-US" dirty="0">
                <a:solidFill>
                  <a:srgbClr val="FF0000"/>
                </a:solidFill>
              </a:rPr>
              <a:t>sends an ARP response with its data link layer address.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88FE7-975E-B0FA-EE6A-2C4F367FD8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C56FF-AA18-0B27-D213-7DA467D6F9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172286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24001"/>
            <a:ext cx="9829800" cy="10668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NZ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network layer provides guaranteed end-to-end delivery of the message.</a:t>
            </a:r>
          </a:p>
          <a:p>
            <a:pPr marL="0" lvl="0" indent="0">
              <a:buNone/>
            </a:pPr>
            <a:endParaRPr lang="en-NZ" sz="2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NZ" sz="2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1524000" y="43434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63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24000"/>
            <a:ext cx="9829800" cy="965200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NZ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subnet mask of 255.255.255.0 means that all computers with only the same first two bytes in their IPv4 addresses are on the same subnet (TRUE/FALSE)?</a:t>
            </a:r>
          </a:p>
          <a:p>
            <a:pPr marL="0" lvl="0" indent="0">
              <a:buNone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1524000" y="43434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43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9677400" cy="9652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subnet mask of 255.255.0.0, the first two bytes indicate the same subnet.(TRUE/FALSE)</a:t>
            </a:r>
          </a:p>
          <a:p>
            <a:pPr marL="0" lvl="0" indent="0">
              <a:buNone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1524000" y="43434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5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11023600" cy="328546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UDP is not commonly used for:</a:t>
            </a: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a.	network management control messages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b.	RIP messages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c.	DHCP addressing messages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d.	HTTP requests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e.	DNS requests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2209800" y="5334000"/>
            <a:ext cx="7086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NZ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HTTP requests</a:t>
            </a:r>
          </a:p>
          <a:p>
            <a:pPr marL="457200" indent="-228600"/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6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18435"/>
            <a:ext cx="3860800" cy="7467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5.5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33193" y="1612695"/>
            <a:ext cx="5384800" cy="4419600"/>
          </a:xfrm>
        </p:spPr>
        <p:txBody>
          <a:bodyPr/>
          <a:lstStyle/>
          <a:p>
            <a:r>
              <a:rPr lang="en-US" dirty="0"/>
              <a:t>Routing is the process of determining the </a:t>
            </a:r>
            <a:r>
              <a:rPr lang="en-US" dirty="0">
                <a:solidFill>
                  <a:srgbClr val="FF0000"/>
                </a:solidFill>
              </a:rPr>
              <a:t>route or path </a:t>
            </a:r>
            <a:r>
              <a:rPr lang="en-US" dirty="0"/>
              <a:t>through the network that a message will travel.</a:t>
            </a:r>
          </a:p>
          <a:p>
            <a:pPr lvl="1"/>
            <a:r>
              <a:rPr lang="en-US" dirty="0"/>
              <a:t>There may be many possible routes</a:t>
            </a:r>
          </a:p>
          <a:p>
            <a:r>
              <a:rPr lang="en-US" dirty="0">
                <a:solidFill>
                  <a:srgbClr val="FF0000"/>
                </a:solidFill>
              </a:rPr>
              <a:t>Routing is done by special </a:t>
            </a:r>
            <a:r>
              <a:rPr lang="en-US" dirty="0"/>
              <a:t>devices called </a:t>
            </a:r>
            <a:r>
              <a:rPr lang="en-US" b="1" i="1" dirty="0">
                <a:solidFill>
                  <a:srgbClr val="FF0000"/>
                </a:solidFill>
              </a:rPr>
              <a:t>routers.</a:t>
            </a:r>
          </a:p>
          <a:p>
            <a:r>
              <a:rPr lang="en-US" dirty="0"/>
              <a:t>Every router has a </a:t>
            </a:r>
            <a:r>
              <a:rPr lang="en-US" dirty="0">
                <a:solidFill>
                  <a:srgbClr val="FF0000"/>
                </a:solidFill>
              </a:rPr>
              <a:t>routing table that specifies how messages will travel through the network.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517993" y="1111250"/>
            <a:ext cx="6369208" cy="42989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1932983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940" y="599493"/>
            <a:ext cx="5814959" cy="6705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Sample Routing Tables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7041" y="1514187"/>
            <a:ext cx="6772413" cy="388620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6573085" y="838200"/>
            <a:ext cx="5618915" cy="3886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0353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6675" y="533400"/>
            <a:ext cx="3962400" cy="762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Types of Routing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228600" y="1252538"/>
            <a:ext cx="11734800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Centralized routing</a:t>
            </a:r>
          </a:p>
          <a:p>
            <a:pPr marL="843534" lvl="1" indent="-514350"/>
            <a:r>
              <a:rPr lang="en-US" dirty="0"/>
              <a:t>All routing decisions are made by one central computer or router.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Static routing</a:t>
            </a:r>
          </a:p>
          <a:p>
            <a:pPr marL="843534" lvl="1" indent="-514350"/>
            <a:r>
              <a:rPr lang="en-US" dirty="0"/>
              <a:t>All computers or routers in the network make their </a:t>
            </a:r>
            <a:r>
              <a:rPr lang="en-US" dirty="0">
                <a:solidFill>
                  <a:srgbClr val="FF0000"/>
                </a:solidFill>
              </a:rPr>
              <a:t>own routing decisions </a:t>
            </a:r>
            <a:r>
              <a:rPr lang="en-US" dirty="0"/>
              <a:t>following a formal routing protocol.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Dynamic routing</a:t>
            </a:r>
          </a:p>
          <a:p>
            <a:pPr marL="843534" lvl="1" indent="-514350"/>
            <a:r>
              <a:rPr lang="en-US" dirty="0"/>
              <a:t>Also called </a:t>
            </a:r>
            <a:r>
              <a:rPr lang="en-US" dirty="0">
                <a:solidFill>
                  <a:srgbClr val="FF0000"/>
                </a:solidFill>
              </a:rPr>
              <a:t>adaptive routing.</a:t>
            </a:r>
          </a:p>
          <a:p>
            <a:pPr marL="843534" lvl="1" indent="-514350"/>
            <a:r>
              <a:rPr lang="en-US" dirty="0"/>
              <a:t>Routing decisions are made in a decentralized manner by individual computers.</a:t>
            </a:r>
          </a:p>
          <a:p>
            <a:pPr marL="843534" lvl="1" indent="-514350"/>
            <a:r>
              <a:rPr lang="en-US" dirty="0"/>
              <a:t>With </a:t>
            </a:r>
            <a:r>
              <a:rPr lang="en-US" b="1" i="1" dirty="0"/>
              <a:t>distance vector dynamic routing</a:t>
            </a:r>
            <a:r>
              <a:rPr lang="en-US" dirty="0"/>
              <a:t>, routers </a:t>
            </a:r>
            <a:r>
              <a:rPr lang="en-US" dirty="0">
                <a:solidFill>
                  <a:srgbClr val="FF0000"/>
                </a:solidFill>
              </a:rPr>
              <a:t>count the number of </a:t>
            </a:r>
            <a:r>
              <a:rPr lang="en-US" b="1" i="1" dirty="0">
                <a:solidFill>
                  <a:srgbClr val="FF0000"/>
                </a:solidFill>
              </a:rPr>
              <a:t>hops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along a route.</a:t>
            </a:r>
          </a:p>
          <a:p>
            <a:pPr marL="843534" lvl="1" indent="-514350"/>
            <a:r>
              <a:rPr lang="en-US" dirty="0"/>
              <a:t>With </a:t>
            </a:r>
            <a:r>
              <a:rPr lang="en-US" b="1" i="1" dirty="0"/>
              <a:t>link state dynamic routing</a:t>
            </a:r>
            <a:r>
              <a:rPr lang="en-US" dirty="0"/>
              <a:t>, computers or routers track the number of hops in the route, the speed of the circuits in each route, and how busy each route is.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2269007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" y="609600"/>
            <a:ext cx="2971800" cy="6858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Multicasting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136525" y="1371600"/>
            <a:ext cx="11379200" cy="4495800"/>
          </a:xfrm>
        </p:spPr>
        <p:txBody>
          <a:bodyPr>
            <a:normAutofit/>
          </a:bodyPr>
          <a:lstStyle/>
          <a:p>
            <a:r>
              <a:rPr lang="en-US" dirty="0"/>
              <a:t>The most common type of message is the transmission between two computers</a:t>
            </a:r>
          </a:p>
          <a:p>
            <a:pPr lvl="1"/>
            <a:r>
              <a:rPr lang="en-US" dirty="0"/>
              <a:t>This is called a </a:t>
            </a:r>
            <a:r>
              <a:rPr lang="en-US" b="1" i="1" dirty="0">
                <a:solidFill>
                  <a:srgbClr val="FF0000"/>
                </a:solidFill>
              </a:rPr>
              <a:t>unicast message</a:t>
            </a:r>
          </a:p>
          <a:p>
            <a:r>
              <a:rPr lang="en-US" dirty="0"/>
              <a:t>A </a:t>
            </a:r>
            <a:r>
              <a:rPr lang="en-US" b="1" i="1" dirty="0">
                <a:solidFill>
                  <a:srgbClr val="FF0000"/>
                </a:solidFill>
              </a:rPr>
              <a:t>broadcast message </a:t>
            </a:r>
            <a:r>
              <a:rPr lang="en-US" dirty="0">
                <a:solidFill>
                  <a:srgbClr val="FF0000"/>
                </a:solidFill>
              </a:rPr>
              <a:t>is sent to all computers </a:t>
            </a:r>
            <a:r>
              <a:rPr lang="en-US" dirty="0"/>
              <a:t>on a </a:t>
            </a:r>
            <a:r>
              <a:rPr lang="en-US" dirty="0">
                <a:solidFill>
                  <a:srgbClr val="FF0000"/>
                </a:solidFill>
              </a:rPr>
              <a:t>specific LAN or subnet</a:t>
            </a:r>
          </a:p>
          <a:p>
            <a:r>
              <a:rPr lang="en-US" dirty="0"/>
              <a:t>A </a:t>
            </a:r>
            <a:r>
              <a:rPr lang="en-US" b="1" i="1" dirty="0">
                <a:solidFill>
                  <a:srgbClr val="FF0000"/>
                </a:solidFill>
              </a:rPr>
              <a:t>multicast message </a:t>
            </a:r>
            <a:r>
              <a:rPr lang="en-US" dirty="0"/>
              <a:t>is used to send the </a:t>
            </a:r>
            <a:r>
              <a:rPr lang="en-US" dirty="0">
                <a:solidFill>
                  <a:srgbClr val="FF0000"/>
                </a:solidFill>
              </a:rPr>
              <a:t>same message to a group of computers.</a:t>
            </a:r>
          </a:p>
          <a:p>
            <a:r>
              <a:rPr lang="en-US" dirty="0"/>
              <a:t>Computers wishing to participate in a multicast send a message to the sending computer or some other computer performing routing along the way using a special type of packet called </a:t>
            </a:r>
            <a:r>
              <a:rPr lang="en-US" b="1" i="1" dirty="0">
                <a:solidFill>
                  <a:srgbClr val="FF0000"/>
                </a:solidFill>
              </a:rPr>
              <a:t>Internet Group Management Protocol </a:t>
            </a:r>
            <a:r>
              <a:rPr lang="en-US" dirty="0">
                <a:solidFill>
                  <a:srgbClr val="FF0000"/>
                </a:solidFill>
              </a:rPr>
              <a:t>(IGMP)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2108983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600" y="624560"/>
            <a:ext cx="4622800" cy="6705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Anatomy of a Router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228600" y="1371600"/>
            <a:ext cx="5384800" cy="4419600"/>
          </a:xfrm>
        </p:spPr>
        <p:txBody>
          <a:bodyPr/>
          <a:lstStyle/>
          <a:p>
            <a:r>
              <a:rPr lang="en-US" dirty="0"/>
              <a:t>A router has three main functions: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It </a:t>
            </a:r>
            <a:r>
              <a:rPr lang="en-US" dirty="0">
                <a:solidFill>
                  <a:srgbClr val="FF0000"/>
                </a:solidFill>
              </a:rPr>
              <a:t>determines a path </a:t>
            </a:r>
            <a:r>
              <a:rPr lang="en-US" dirty="0"/>
              <a:t>for a packet to travel over.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It </a:t>
            </a:r>
            <a:r>
              <a:rPr lang="en-US" dirty="0">
                <a:solidFill>
                  <a:srgbClr val="FF0000"/>
                </a:solidFill>
              </a:rPr>
              <a:t>transmits the packet across the path.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It supports communication between a wide variety of devices and protocols.</a:t>
            </a:r>
          </a:p>
          <a:p>
            <a:r>
              <a:rPr lang="en-US" dirty="0"/>
              <a:t>Routers are essentially special-purpose computers.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705600" y="624560"/>
            <a:ext cx="4947384" cy="559435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3316044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480383"/>
            <a:ext cx="6019800" cy="738817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Anatomy of a Router </a:t>
            </a:r>
            <a:r>
              <a:rPr lang="en-US" sz="2000" dirty="0"/>
              <a:t>Continued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228600" y="1639894"/>
            <a:ext cx="5384800" cy="4419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There are three ways a network manager can connect to a router and configure and maintain it: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Console port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Network interface port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Auxiliary port</a:t>
            </a:r>
          </a:p>
          <a:p>
            <a:r>
              <a:rPr lang="en-US" dirty="0"/>
              <a:t>New routers do not have an IP address assigned</a:t>
            </a:r>
          </a:p>
          <a:p>
            <a:r>
              <a:rPr lang="en-US" dirty="0"/>
              <a:t>So, the console port, also called the </a:t>
            </a:r>
            <a:r>
              <a:rPr lang="en-US" b="1" i="1" dirty="0">
                <a:solidFill>
                  <a:srgbClr val="FF0000"/>
                </a:solidFill>
              </a:rPr>
              <a:t>management port</a:t>
            </a:r>
            <a:r>
              <a:rPr lang="en-US" dirty="0"/>
              <a:t>, is used to configure it</a:t>
            </a:r>
          </a:p>
          <a:p>
            <a:r>
              <a:rPr lang="en-US" dirty="0">
                <a:solidFill>
                  <a:srgbClr val="FF0000"/>
                </a:solidFill>
              </a:rPr>
              <a:t>Network interface port used for routine maintenance.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400800" y="829994"/>
            <a:ext cx="4724399" cy="534220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7572600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4177" y="383835"/>
            <a:ext cx="11379200" cy="682965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Anatomy of a Router </a:t>
            </a:r>
            <a:r>
              <a:rPr lang="en-US" sz="2000" dirty="0"/>
              <a:t>Continued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304800" y="1371600"/>
            <a:ext cx="5384800" cy="44196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A router must have an operating system.</a:t>
            </a:r>
          </a:p>
          <a:p>
            <a:r>
              <a:rPr lang="en-US" dirty="0"/>
              <a:t>The operating system that is used in about 90% of routers is the Cisco </a:t>
            </a:r>
            <a:r>
              <a:rPr lang="en-US" b="1" i="1" dirty="0">
                <a:solidFill>
                  <a:srgbClr val="FF0000"/>
                </a:solidFill>
              </a:rPr>
              <a:t>Internetwork Operating Systems </a:t>
            </a:r>
            <a:r>
              <a:rPr lang="en-US" dirty="0">
                <a:solidFill>
                  <a:srgbClr val="FF0000"/>
                </a:solidFill>
              </a:rPr>
              <a:t>(IOS).</a:t>
            </a:r>
          </a:p>
          <a:p>
            <a:r>
              <a:rPr lang="en-US" dirty="0"/>
              <a:t>The </a:t>
            </a:r>
            <a:r>
              <a:rPr lang="en-US" b="1" i="1" dirty="0"/>
              <a:t>Access Control List </a:t>
            </a:r>
            <a:r>
              <a:rPr lang="en-US" dirty="0"/>
              <a:t>(ACL) file defines what </a:t>
            </a:r>
            <a:r>
              <a:rPr lang="en-US" dirty="0">
                <a:solidFill>
                  <a:srgbClr val="FF0000"/>
                </a:solidFill>
              </a:rPr>
              <a:t>types of packets </a:t>
            </a:r>
            <a:r>
              <a:rPr lang="en-US" dirty="0"/>
              <a:t>should be routed and what types of </a:t>
            </a:r>
            <a:r>
              <a:rPr lang="en-US" dirty="0">
                <a:solidFill>
                  <a:srgbClr val="FF0000"/>
                </a:solidFill>
              </a:rPr>
              <a:t>packets should be discarded.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7094505" y="838200"/>
            <a:ext cx="4717142" cy="5334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899076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590549"/>
            <a:ext cx="4191000" cy="6705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5.6 TCP/IP Example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304800" y="1447800"/>
            <a:ext cx="10109200" cy="4495800"/>
          </a:xfrm>
        </p:spPr>
        <p:txBody>
          <a:bodyPr/>
          <a:lstStyle/>
          <a:p>
            <a:r>
              <a:rPr lang="en-US" dirty="0"/>
              <a:t>When a computer is installed on a TCP/IP network, it must be given </a:t>
            </a:r>
            <a:r>
              <a:rPr lang="en-US" dirty="0">
                <a:solidFill>
                  <a:srgbClr val="FF0000"/>
                </a:solidFill>
              </a:rPr>
              <a:t>four pieces of the network layer addressing and routing information.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Its IP address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A subnet mask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 IP address of a </a:t>
            </a:r>
            <a:r>
              <a:rPr lang="en-US" dirty="0">
                <a:solidFill>
                  <a:srgbClr val="FF0000"/>
                </a:solidFill>
              </a:rPr>
              <a:t>DNS server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 IP address of </a:t>
            </a:r>
            <a:r>
              <a:rPr lang="en-US" dirty="0">
                <a:solidFill>
                  <a:srgbClr val="FF0000"/>
                </a:solidFill>
              </a:rPr>
              <a:t>an IP gateway</a:t>
            </a:r>
          </a:p>
          <a:p>
            <a:r>
              <a:rPr lang="en-US" dirty="0"/>
              <a:t>A server would also need to know its application layer address.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3560634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530221"/>
            <a:ext cx="5384800" cy="6889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Example TCP/IP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139405" y="1205022"/>
            <a:ext cx="4584995" cy="4967178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FF0000"/>
                </a:solidFill>
              </a:rPr>
              <a:t>Three LANs connected </a:t>
            </a:r>
            <a:r>
              <a:rPr lang="en-US" dirty="0"/>
              <a:t>by a BN.</a:t>
            </a:r>
          </a:p>
          <a:p>
            <a:r>
              <a:rPr lang="en-US" dirty="0"/>
              <a:t>The BN also has a connection to the Internet.</a:t>
            </a:r>
          </a:p>
          <a:p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building is configured as a separate subnet</a:t>
            </a:r>
            <a:r>
              <a:rPr lang="en-US" dirty="0"/>
              <a:t>.</a:t>
            </a:r>
          </a:p>
          <a:p>
            <a:r>
              <a:rPr lang="en-US" dirty="0"/>
              <a:t>Each building is connected to </a:t>
            </a:r>
            <a:r>
              <a:rPr lang="en-US" dirty="0">
                <a:solidFill>
                  <a:srgbClr val="FF0000"/>
                </a:solidFill>
              </a:rPr>
              <a:t>the BN via a router.</a:t>
            </a:r>
          </a:p>
          <a:p>
            <a:r>
              <a:rPr lang="en-US" dirty="0"/>
              <a:t>The organization has a couple </a:t>
            </a:r>
            <a:r>
              <a:rPr lang="en-US" dirty="0">
                <a:solidFill>
                  <a:srgbClr val="FF0000"/>
                </a:solidFill>
              </a:rPr>
              <a:t>Web servers</a:t>
            </a:r>
            <a:r>
              <a:rPr lang="en-US" dirty="0"/>
              <a:t>, one </a:t>
            </a:r>
            <a:r>
              <a:rPr lang="en-US" dirty="0">
                <a:solidFill>
                  <a:srgbClr val="FF0000"/>
                </a:solidFill>
              </a:rPr>
              <a:t>DNS server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one Mail server </a:t>
            </a:r>
            <a:r>
              <a:rPr lang="en-US" dirty="0"/>
              <a:t>located in the data center.</a:t>
            </a:r>
          </a:p>
        </p:txBody>
      </p:sp>
      <p:pic>
        <p:nvPicPr>
          <p:cNvPr id="9" name="Content Placeholder 5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4878803" y="1524000"/>
            <a:ext cx="7173792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" y="533400"/>
            <a:ext cx="3556000" cy="7467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Known Address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152400" y="1447800"/>
            <a:ext cx="11379200" cy="4495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that a client computer in Building A wanted to get a Web page from a </a:t>
            </a:r>
            <a:r>
              <a:rPr lang="en-US" dirty="0">
                <a:solidFill>
                  <a:srgbClr val="FF0000"/>
                </a:solidFill>
              </a:rPr>
              <a:t>Web server 1 located in the data center.</a:t>
            </a:r>
          </a:p>
          <a:p>
            <a:pPr lvl="1"/>
            <a:r>
              <a:rPr lang="en-US" dirty="0"/>
              <a:t>We will assume that this computer knows the </a:t>
            </a:r>
            <a:r>
              <a:rPr lang="en-US" dirty="0">
                <a:solidFill>
                  <a:srgbClr val="FF0000"/>
                </a:solidFill>
              </a:rPr>
              <a:t>network layer and data link layer addresses.</a:t>
            </a:r>
          </a:p>
          <a:p>
            <a:r>
              <a:rPr lang="en-US" dirty="0"/>
              <a:t>Because the computer knows the IP address of the server, </a:t>
            </a:r>
            <a:r>
              <a:rPr lang="en-US" dirty="0">
                <a:solidFill>
                  <a:srgbClr val="FF0000"/>
                </a:solidFill>
              </a:rPr>
              <a:t>it uses its IP address, not its application layer address</a:t>
            </a:r>
            <a:r>
              <a:rPr lang="en-US" dirty="0"/>
              <a:t>.</a:t>
            </a:r>
          </a:p>
          <a:p>
            <a:r>
              <a:rPr lang="en-US" dirty="0"/>
              <a:t>The application layer software would pass an HTTP packet to the transport layer software (TCP) with the Internet address of the destination www1.anyorg.com: 128.192.50.2.</a:t>
            </a:r>
          </a:p>
          <a:p>
            <a:r>
              <a:rPr lang="en-US" dirty="0"/>
              <a:t>The transport layer software (TCP) would make sure that the request fits in one segment and </a:t>
            </a:r>
            <a:r>
              <a:rPr lang="en-US" dirty="0">
                <a:solidFill>
                  <a:srgbClr val="FF0000"/>
                </a:solidFill>
              </a:rPr>
              <a:t>hands it to the network layer.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3305823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49276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Known Address </a:t>
            </a:r>
            <a:r>
              <a:rPr lang="en-US" sz="2000" dirty="0"/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368300" y="1447800"/>
            <a:ext cx="11379200" cy="4495800"/>
          </a:xfrm>
        </p:spPr>
        <p:txBody>
          <a:bodyPr>
            <a:normAutofit/>
          </a:bodyPr>
          <a:lstStyle/>
          <a:p>
            <a:r>
              <a:rPr lang="en-US" dirty="0"/>
              <a:t>The network layer software (IP) would then </a:t>
            </a:r>
            <a:r>
              <a:rPr lang="en-US" dirty="0">
                <a:solidFill>
                  <a:srgbClr val="FF0000"/>
                </a:solidFill>
              </a:rPr>
              <a:t>check the subnet mask </a:t>
            </a:r>
            <a:r>
              <a:rPr lang="en-US" dirty="0"/>
              <a:t>and would recognize that the Web server is located </a:t>
            </a:r>
            <a:r>
              <a:rPr lang="en-US" dirty="0">
                <a:solidFill>
                  <a:srgbClr val="FF0000"/>
                </a:solidFill>
              </a:rPr>
              <a:t>outside of its subnet.</a:t>
            </a:r>
          </a:p>
          <a:p>
            <a:r>
              <a:rPr lang="en-US" dirty="0"/>
              <a:t>The network layer software would check its address table and find the </a:t>
            </a:r>
            <a:r>
              <a:rPr lang="en-US" dirty="0">
                <a:solidFill>
                  <a:srgbClr val="FF0000"/>
                </a:solidFill>
              </a:rPr>
              <a:t>Ethernet address for the router.</a:t>
            </a:r>
          </a:p>
          <a:p>
            <a:r>
              <a:rPr lang="en-US" dirty="0"/>
              <a:t>The data link layer would surround the </a:t>
            </a:r>
            <a:r>
              <a:rPr lang="en-US" dirty="0">
                <a:solidFill>
                  <a:srgbClr val="FF0000"/>
                </a:solidFill>
              </a:rPr>
              <a:t>frame with an Ethernet frame </a:t>
            </a:r>
            <a:r>
              <a:rPr lang="en-US" dirty="0"/>
              <a:t>and transmit it over the physical layer to the Web server.</a:t>
            </a:r>
          </a:p>
          <a:p>
            <a:r>
              <a:rPr lang="en-US" dirty="0"/>
              <a:t>The router would receive the message and its data link layer would perform </a:t>
            </a:r>
            <a:r>
              <a:rPr lang="en-US" dirty="0">
                <a:solidFill>
                  <a:srgbClr val="FF0000"/>
                </a:solidFill>
              </a:rPr>
              <a:t>error checking before passing the packet to the network layer software.</a:t>
            </a:r>
          </a:p>
          <a:p>
            <a:r>
              <a:rPr lang="en-US" dirty="0"/>
              <a:t>The network layer software would read the IP address to determine the final destination.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972136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71500"/>
            <a:ext cx="52324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Known Address </a:t>
            </a:r>
            <a:r>
              <a:rPr lang="en-US" sz="2000" dirty="0"/>
              <a:t>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371475" y="1447800"/>
            <a:ext cx="11379200" cy="4495800"/>
          </a:xfrm>
        </p:spPr>
        <p:txBody>
          <a:bodyPr>
            <a:normAutofit/>
          </a:bodyPr>
          <a:lstStyle/>
          <a:p>
            <a:r>
              <a:rPr lang="en-US" dirty="0"/>
              <a:t>This router in the data center </a:t>
            </a:r>
            <a:r>
              <a:rPr lang="en-US" dirty="0">
                <a:solidFill>
                  <a:srgbClr val="FF0000"/>
                </a:solidFill>
              </a:rPr>
              <a:t>would receive the message and read the IP address to determine the final destination.</a:t>
            </a:r>
          </a:p>
          <a:p>
            <a:r>
              <a:rPr lang="en-US" dirty="0"/>
              <a:t>The router would recognize that this address was inside its 128.192.50.x subnet and would search its </a:t>
            </a:r>
            <a:r>
              <a:rPr lang="en-US" dirty="0">
                <a:solidFill>
                  <a:srgbClr val="FF0000"/>
                </a:solidFill>
              </a:rPr>
              <a:t>data link layer address table for this computer</a:t>
            </a:r>
          </a:p>
          <a:p>
            <a:r>
              <a:rPr lang="en-US" dirty="0"/>
              <a:t>It would then pass the packet to the </a:t>
            </a:r>
            <a:r>
              <a:rPr lang="en-US" dirty="0">
                <a:solidFill>
                  <a:srgbClr val="FF0000"/>
                </a:solidFill>
              </a:rPr>
              <a:t>data link layer along with the Ethernet address.</a:t>
            </a:r>
          </a:p>
          <a:p>
            <a:r>
              <a:rPr lang="en-US" dirty="0"/>
              <a:t>The www1.anyorg.com Web server would receive the message and process it.</a:t>
            </a:r>
          </a:p>
          <a:p>
            <a:r>
              <a:rPr lang="en-US" dirty="0"/>
              <a:t>This process would work in the same way for </a:t>
            </a:r>
            <a:r>
              <a:rPr lang="en-US" dirty="0">
                <a:solidFill>
                  <a:srgbClr val="FF0000"/>
                </a:solidFill>
              </a:rPr>
              <a:t>Web servers located outside the organization on the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9508968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533400"/>
            <a:ext cx="11379200" cy="771525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5.7 Implications for Cyber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447800"/>
            <a:ext cx="10947400" cy="4114800"/>
          </a:xfrm>
        </p:spPr>
        <p:txBody>
          <a:bodyPr/>
          <a:lstStyle/>
          <a:p>
            <a:r>
              <a:rPr lang="en-US" dirty="0"/>
              <a:t>Security was not a major design focus for the </a:t>
            </a:r>
            <a:r>
              <a:rPr lang="en-US" dirty="0">
                <a:solidFill>
                  <a:srgbClr val="FF0000"/>
                </a:solidFill>
              </a:rPr>
              <a:t>original design of the Internet and TCP/IP.</a:t>
            </a:r>
          </a:p>
          <a:p>
            <a:r>
              <a:rPr lang="en-US" dirty="0"/>
              <a:t>One of the most exploited security flaws is the </a:t>
            </a:r>
            <a:r>
              <a:rPr lang="en-US" dirty="0">
                <a:solidFill>
                  <a:srgbClr val="FF0000"/>
                </a:solidFill>
              </a:rPr>
              <a:t>vulnerability created by </a:t>
            </a: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TCP three-way handshake </a:t>
            </a:r>
            <a:r>
              <a:rPr lang="en-US" dirty="0"/>
              <a:t>that initiates a connection between a </a:t>
            </a:r>
            <a:r>
              <a:rPr lang="en-US" dirty="0">
                <a:solidFill>
                  <a:srgbClr val="FF0000"/>
                </a:solidFill>
              </a:rPr>
              <a:t>client and a server</a:t>
            </a:r>
            <a:r>
              <a:rPr lang="en-US" dirty="0"/>
              <a:t>.</a:t>
            </a:r>
          </a:p>
          <a:p>
            <a:r>
              <a:rPr lang="en-US" dirty="0"/>
              <a:t>The most basic way somebody can identify you on the Internet is by </a:t>
            </a:r>
            <a:r>
              <a:rPr lang="en-US" dirty="0">
                <a:solidFill>
                  <a:srgbClr val="FF0000"/>
                </a:solidFill>
              </a:rPr>
              <a:t>your IP address.</a:t>
            </a:r>
          </a:p>
          <a:p>
            <a:r>
              <a:rPr lang="en-US" dirty="0"/>
              <a:t>Most websites can </a:t>
            </a:r>
            <a:r>
              <a:rPr lang="en-US" dirty="0">
                <a:solidFill>
                  <a:srgbClr val="FF0000"/>
                </a:solidFill>
              </a:rPr>
              <a:t>track your operating system, browser version, time zone,</a:t>
            </a:r>
            <a:r>
              <a:rPr lang="en-US" dirty="0"/>
              <a:t> and may other information in addition to your IP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1572576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A56F349F-FEDA-7C24-6A7C-3F7A6B9C0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5188" y="2924175"/>
            <a:ext cx="7200900" cy="719138"/>
          </a:xfrm>
          <a:noFill/>
        </p:spPr>
        <p:txBody>
          <a:bodyPr/>
          <a:lstStyle/>
          <a:p>
            <a:pPr algn="ctr"/>
            <a:r>
              <a:rPr lang="en-NZ" altLang="en-US" b="1">
                <a:solidFill>
                  <a:srgbClr val="0000FF"/>
                </a:solidFill>
              </a:rPr>
              <a:t>Optional (Extra material)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590550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Unknown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304800" y="1371600"/>
            <a:ext cx="11379200" cy="4495800"/>
          </a:xfrm>
        </p:spPr>
        <p:txBody>
          <a:bodyPr>
            <a:normAutofit/>
          </a:bodyPr>
          <a:lstStyle/>
          <a:p>
            <a:r>
              <a:rPr lang="en-US" dirty="0"/>
              <a:t>Suppose that the client computer </a:t>
            </a:r>
            <a:r>
              <a:rPr lang="en-US" dirty="0">
                <a:solidFill>
                  <a:srgbClr val="FF0000"/>
                </a:solidFill>
              </a:rPr>
              <a:t>in Building A wants to retrieve a Web page from the www1.anyorg.comWeb server </a:t>
            </a:r>
            <a:r>
              <a:rPr lang="en-US" dirty="0"/>
              <a:t>but does not know the IP address.</a:t>
            </a:r>
          </a:p>
          <a:p>
            <a:r>
              <a:rPr lang="en-US" dirty="0"/>
              <a:t>We will assume that the </a:t>
            </a:r>
            <a:r>
              <a:rPr lang="en-US" dirty="0">
                <a:solidFill>
                  <a:srgbClr val="FF0000"/>
                </a:solidFill>
              </a:rPr>
              <a:t>client knows the data link layer address of its subnet router.</a:t>
            </a:r>
          </a:p>
          <a:p>
            <a:r>
              <a:rPr lang="en-US" dirty="0"/>
              <a:t>The Web browser realizes that it does not know the IP address after searching its IP address table.</a:t>
            </a:r>
          </a:p>
          <a:p>
            <a:r>
              <a:rPr lang="en-US" dirty="0"/>
              <a:t>It issues a </a:t>
            </a:r>
            <a:r>
              <a:rPr lang="en-US" dirty="0">
                <a:solidFill>
                  <a:srgbClr val="FF0000"/>
                </a:solidFill>
              </a:rPr>
              <a:t>DNS request to the name server.</a:t>
            </a:r>
          </a:p>
          <a:p>
            <a:r>
              <a:rPr lang="en-US" dirty="0"/>
              <a:t>The DNS request is passed to the transport layer (TCP), which attaches a UDP datagram and hands the message to the network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5777563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09600"/>
            <a:ext cx="11379200" cy="5943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Unknown Addresses </a:t>
            </a:r>
            <a:r>
              <a:rPr lang="en-US" sz="2000" dirty="0"/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228600" y="1371600"/>
            <a:ext cx="11379200" cy="4495800"/>
          </a:xfrm>
        </p:spPr>
        <p:txBody>
          <a:bodyPr>
            <a:normAutofit/>
          </a:bodyPr>
          <a:lstStyle/>
          <a:p>
            <a:r>
              <a:rPr lang="en-US" dirty="0"/>
              <a:t>Using its </a:t>
            </a:r>
            <a:r>
              <a:rPr lang="en-US" dirty="0">
                <a:solidFill>
                  <a:srgbClr val="FF0000"/>
                </a:solidFill>
              </a:rPr>
              <a:t>subnet mask</a:t>
            </a:r>
            <a:r>
              <a:rPr lang="en-US" dirty="0"/>
              <a:t>, the network layer (IP) will recognize that the DNS server is </a:t>
            </a:r>
            <a:r>
              <a:rPr lang="en-US" dirty="0">
                <a:solidFill>
                  <a:srgbClr val="FF0000"/>
                </a:solidFill>
              </a:rPr>
              <a:t>outside of its subnet</a:t>
            </a:r>
            <a:r>
              <a:rPr lang="en-US" dirty="0"/>
              <a:t>.</a:t>
            </a:r>
          </a:p>
          <a:p>
            <a:r>
              <a:rPr lang="en-US" dirty="0"/>
              <a:t>It will attach an IP packet and </a:t>
            </a:r>
            <a:r>
              <a:rPr lang="en-US" dirty="0">
                <a:solidFill>
                  <a:srgbClr val="FF0000"/>
                </a:solidFill>
              </a:rPr>
              <a:t>set the data link layer address to its router’s address.</a:t>
            </a:r>
          </a:p>
          <a:p>
            <a:r>
              <a:rPr lang="en-US" dirty="0"/>
              <a:t>The router will recognize it must send the packet to the </a:t>
            </a:r>
            <a:r>
              <a:rPr lang="en-US" dirty="0">
                <a:solidFill>
                  <a:srgbClr val="FF0000"/>
                </a:solidFill>
              </a:rPr>
              <a:t>data center router, 128.192.254.96 and does this by using this router’s MAC address.</a:t>
            </a:r>
          </a:p>
          <a:p>
            <a:r>
              <a:rPr lang="en-US" dirty="0"/>
              <a:t>When the data center router receives this packet, </a:t>
            </a:r>
            <a:r>
              <a:rPr lang="en-US" dirty="0">
                <a:solidFill>
                  <a:srgbClr val="FF0000"/>
                </a:solidFill>
              </a:rPr>
              <a:t>it will transmit the packet using the DNS server’s Ethernet address.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name server will process the DNS request </a:t>
            </a:r>
            <a:r>
              <a:rPr lang="en-US" dirty="0"/>
              <a:t>and send the matching IP address back to the client via the 128.192.98.x </a:t>
            </a:r>
            <a:r>
              <a:rPr lang="en-US" dirty="0">
                <a:solidFill>
                  <a:srgbClr val="FF0000"/>
                </a:solidFill>
              </a:rPr>
              <a:t>subnet 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6126265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11379200" cy="6705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Unknown Addresses </a:t>
            </a:r>
            <a:r>
              <a:rPr lang="en-US" sz="2000" dirty="0"/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304800" y="1447800"/>
            <a:ext cx="11379200" cy="4495800"/>
          </a:xfrm>
        </p:spPr>
        <p:txBody>
          <a:bodyPr>
            <a:normAutofit/>
          </a:bodyPr>
          <a:lstStyle/>
          <a:p>
            <a:r>
              <a:rPr lang="en-US" dirty="0"/>
              <a:t>The IP address for the desired computer </a:t>
            </a:r>
            <a:r>
              <a:rPr lang="en-US" dirty="0">
                <a:solidFill>
                  <a:srgbClr val="FF0000"/>
                </a:solidFill>
              </a:rPr>
              <a:t>makes its way back to the application layer software.</a:t>
            </a:r>
          </a:p>
          <a:p>
            <a:r>
              <a:rPr lang="en-US" dirty="0"/>
              <a:t>The application layer then issues the </a:t>
            </a:r>
            <a:r>
              <a:rPr lang="en-US" dirty="0">
                <a:solidFill>
                  <a:srgbClr val="FF0000"/>
                </a:solidFill>
              </a:rPr>
              <a:t>HTTP request using the IP address for the Web server and passes it to the transport layer, which in turn passes it to the network layer.</a:t>
            </a:r>
          </a:p>
          <a:p>
            <a:r>
              <a:rPr lang="en-US" dirty="0"/>
              <a:t>The network layer will </a:t>
            </a:r>
            <a:r>
              <a:rPr lang="en-US" dirty="0">
                <a:solidFill>
                  <a:srgbClr val="FF0000"/>
                </a:solidFill>
              </a:rPr>
              <a:t>route the packet to its default gateway</a:t>
            </a:r>
            <a:r>
              <a:rPr lang="en-US" dirty="0"/>
              <a:t>, which will then send the HTTP request to the </a:t>
            </a:r>
            <a:r>
              <a:rPr lang="en-US" dirty="0">
                <a:solidFill>
                  <a:srgbClr val="FF0000"/>
                </a:solidFill>
              </a:rPr>
              <a:t>data center’s router</a:t>
            </a:r>
            <a:r>
              <a:rPr lang="en-US" dirty="0"/>
              <a:t>, which will deliver the HTTP request to Web server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667982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6082"/>
            <a:ext cx="4572000" cy="864236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Routing Protocols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152400" y="1143000"/>
            <a:ext cx="6248400" cy="5105400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i="1" dirty="0"/>
              <a:t>autonomous system </a:t>
            </a:r>
            <a:r>
              <a:rPr lang="en-US" dirty="0"/>
              <a:t>is simply a network operated by one organization</a:t>
            </a:r>
          </a:p>
          <a:p>
            <a:pPr lvl="1"/>
            <a:r>
              <a:rPr lang="en-US" dirty="0"/>
              <a:t>The routing protocols are called </a:t>
            </a:r>
            <a:r>
              <a:rPr lang="en-US" b="1" i="1" dirty="0">
                <a:solidFill>
                  <a:srgbClr val="FF0000"/>
                </a:solidFill>
              </a:rPr>
              <a:t>interior routing protocols.</a:t>
            </a:r>
          </a:p>
          <a:p>
            <a:r>
              <a:rPr lang="en-US" dirty="0"/>
              <a:t>Protocols used between autonomous systems are called </a:t>
            </a:r>
            <a:r>
              <a:rPr lang="en-US" b="1" i="1" dirty="0">
                <a:solidFill>
                  <a:srgbClr val="FF0000"/>
                </a:solidFill>
              </a:rPr>
              <a:t>exterior routing protocols.</a:t>
            </a:r>
          </a:p>
          <a:p>
            <a:r>
              <a:rPr lang="en-US" b="1" i="1" dirty="0"/>
              <a:t>Border Gateway Protocol </a:t>
            </a:r>
            <a:r>
              <a:rPr lang="en-US" dirty="0"/>
              <a:t>(BGP) is a dynamic distance vector </a:t>
            </a:r>
            <a:r>
              <a:rPr lang="en-US" dirty="0">
                <a:solidFill>
                  <a:srgbClr val="FF0000"/>
                </a:solidFill>
              </a:rPr>
              <a:t>exterior routing protocol used to exchange routing information between autonomous systems.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7086600" y="682835"/>
            <a:ext cx="4433058" cy="602573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5991257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554989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Routing Protocols </a:t>
            </a:r>
            <a:r>
              <a:rPr lang="en-US" sz="2000" dirty="0"/>
              <a:t>Continued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228600" y="1447800"/>
            <a:ext cx="5384800" cy="4419600"/>
          </a:xfrm>
        </p:spPr>
        <p:txBody>
          <a:bodyPr>
            <a:normAutofit lnSpcReduction="10000"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Internet Control Message Protocol </a:t>
            </a:r>
            <a:r>
              <a:rPr lang="en-US" dirty="0">
                <a:solidFill>
                  <a:srgbClr val="FF0000"/>
                </a:solidFill>
              </a:rPr>
              <a:t>(ICMP</a:t>
            </a:r>
            <a:r>
              <a:rPr lang="en-US" dirty="0"/>
              <a:t>) is simply an </a:t>
            </a:r>
            <a:r>
              <a:rPr lang="en-US" dirty="0">
                <a:solidFill>
                  <a:srgbClr val="FF0000"/>
                </a:solidFill>
              </a:rPr>
              <a:t>error-reporting protocol </a:t>
            </a:r>
            <a:r>
              <a:rPr lang="en-US" dirty="0"/>
              <a:t>that enables computers to report routing errors to message senders.</a:t>
            </a:r>
          </a:p>
          <a:p>
            <a:r>
              <a:rPr lang="en-US" b="1" i="1" dirty="0"/>
              <a:t>Routing Information Protocol </a:t>
            </a:r>
            <a:r>
              <a:rPr lang="en-US" dirty="0"/>
              <a:t>(RIP) is a </a:t>
            </a:r>
            <a:r>
              <a:rPr lang="en-US" dirty="0">
                <a:solidFill>
                  <a:srgbClr val="FF0000"/>
                </a:solidFill>
              </a:rPr>
              <a:t>dynamic distance vector interior routing protocol </a:t>
            </a:r>
            <a:r>
              <a:rPr lang="en-US" dirty="0"/>
              <a:t>that is commonly used in </a:t>
            </a:r>
            <a:r>
              <a:rPr lang="en-US" dirty="0">
                <a:solidFill>
                  <a:srgbClr val="FF0000"/>
                </a:solidFill>
              </a:rPr>
              <a:t>smaller networks.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7086600" y="838200"/>
            <a:ext cx="4260586" cy="579129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434635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99" y="579069"/>
            <a:ext cx="5156201" cy="716331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Routing Protocols </a:t>
            </a:r>
            <a:r>
              <a:rPr lang="en-US" sz="2000" dirty="0"/>
              <a:t>Continued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304800" y="1407274"/>
            <a:ext cx="5384800" cy="4612526"/>
          </a:xfrm>
        </p:spPr>
        <p:txBody>
          <a:bodyPr>
            <a:normAutofit lnSpcReduction="10000"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Intermediate System to Intermediate System </a:t>
            </a:r>
            <a:r>
              <a:rPr lang="en-US" dirty="0">
                <a:solidFill>
                  <a:srgbClr val="FF0000"/>
                </a:solidFill>
              </a:rPr>
              <a:t>(IS-IS</a:t>
            </a:r>
            <a:r>
              <a:rPr lang="en-US" dirty="0"/>
              <a:t>) is a link state interior routing protocol that is commonly used </a:t>
            </a:r>
            <a:r>
              <a:rPr lang="en-US" dirty="0">
                <a:solidFill>
                  <a:srgbClr val="FF0000"/>
                </a:solidFill>
              </a:rPr>
              <a:t>in large networks.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Open Shortest Path First </a:t>
            </a:r>
            <a:r>
              <a:rPr lang="en-US" dirty="0">
                <a:solidFill>
                  <a:srgbClr val="FF0000"/>
                </a:solidFill>
              </a:rPr>
              <a:t>(OSPF) </a:t>
            </a:r>
            <a:r>
              <a:rPr lang="en-US" dirty="0"/>
              <a:t>is a </a:t>
            </a:r>
            <a:r>
              <a:rPr lang="en-US" dirty="0">
                <a:solidFill>
                  <a:srgbClr val="FF0000"/>
                </a:solidFill>
              </a:rPr>
              <a:t>dynamic hybrid interior routing protocol</a:t>
            </a:r>
          </a:p>
          <a:p>
            <a:pPr lvl="1"/>
            <a:r>
              <a:rPr lang="en-US" dirty="0"/>
              <a:t>It uses the number of computers in </a:t>
            </a:r>
            <a:r>
              <a:rPr lang="en-US" dirty="0">
                <a:solidFill>
                  <a:srgbClr val="FF0000"/>
                </a:solidFill>
              </a:rPr>
              <a:t>a route as well as network traffic and error rates </a:t>
            </a:r>
            <a:r>
              <a:rPr lang="en-US" dirty="0"/>
              <a:t>to select the best route.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629400" y="579069"/>
            <a:ext cx="4908426" cy="667188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5456823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624" y="548640"/>
            <a:ext cx="11379200" cy="6705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Routing Protocols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304800" y="1295400"/>
            <a:ext cx="6172200" cy="4267200"/>
          </a:xfrm>
        </p:spPr>
        <p:txBody>
          <a:bodyPr>
            <a:normAutofit/>
          </a:bodyPr>
          <a:lstStyle/>
          <a:p>
            <a:r>
              <a:rPr lang="en-US" b="1" i="1" dirty="0"/>
              <a:t>Enhanced Interior Gateway Routing Protocol </a:t>
            </a:r>
            <a:r>
              <a:rPr lang="en-US" dirty="0"/>
              <a:t>(EIGRP) is a </a:t>
            </a:r>
            <a:r>
              <a:rPr lang="en-US" dirty="0">
                <a:solidFill>
                  <a:srgbClr val="FF0000"/>
                </a:solidFill>
              </a:rPr>
              <a:t>dynamic hybrid interior routing protocol.</a:t>
            </a:r>
          </a:p>
          <a:p>
            <a:pPr lvl="1"/>
            <a:r>
              <a:rPr lang="en-US" dirty="0"/>
              <a:t>Hybrid means that it has some features that act like </a:t>
            </a:r>
            <a:r>
              <a:rPr lang="en-US" dirty="0">
                <a:solidFill>
                  <a:srgbClr val="FF0000"/>
                </a:solidFill>
              </a:rPr>
              <a:t>distance vector protocols </a:t>
            </a:r>
            <a:r>
              <a:rPr lang="en-US" dirty="0"/>
              <a:t>and some that act like </a:t>
            </a:r>
            <a:r>
              <a:rPr lang="en-US" dirty="0">
                <a:solidFill>
                  <a:srgbClr val="FF0000"/>
                </a:solidFill>
              </a:rPr>
              <a:t>link state protocols.</a:t>
            </a:r>
          </a:p>
          <a:p>
            <a:r>
              <a:rPr lang="en-US" dirty="0"/>
              <a:t>EIGRP is an improved version of the </a:t>
            </a:r>
            <a:r>
              <a:rPr lang="en-US" b="1" i="1" dirty="0"/>
              <a:t>Interior Gateway Routing Protocol </a:t>
            </a:r>
            <a:r>
              <a:rPr lang="en-US" dirty="0"/>
              <a:t>(IGRP).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7010400" y="549875"/>
            <a:ext cx="4540374" cy="617160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3198453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18953"/>
            <a:ext cx="11379200" cy="3651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How Messages Move Through the Network Layers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2362200" y="1025932"/>
            <a:ext cx="8153399" cy="569554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611907390"/>
      </p:ext>
    </p:extLst>
  </p:cSld>
  <p:clrMapOvr>
    <a:masterClrMapping/>
  </p:clrMapOvr>
</p:sld>
</file>

<file path=ppt/theme/theme1.xml><?xml version="1.0" encoding="utf-8"?>
<a:theme xmlns:a="http://schemas.openxmlformats.org/drawingml/2006/main" name="Open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ADB653A1-22A9-4BD0-B2B5-00B2E53CA889}"/>
    </a:ext>
  </a:extLst>
</a:theme>
</file>

<file path=ppt/theme/theme2.xml><?xml version="1.0" encoding="utf-8"?>
<a:theme xmlns:a="http://schemas.openxmlformats.org/drawingml/2006/main" name="Chapter Outline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25467C8E-E53C-4AD9-A914-F685BED9852C}"/>
    </a:ext>
  </a:extLst>
</a:theme>
</file>

<file path=ppt/theme/theme3.xml><?xml version="1.0" encoding="utf-8"?>
<a:theme xmlns:a="http://schemas.openxmlformats.org/drawingml/2006/main" name="Learning Objectives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895C9AC-D919-427F-9B86-94C36E44A5AC}"/>
    </a:ext>
  </a:extLst>
</a:theme>
</file>

<file path=ppt/theme/theme4.xml><?xml version="1.0" encoding="utf-8"?>
<a:theme xmlns:a="http://schemas.openxmlformats.org/drawingml/2006/main" name="Concept Check Ques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DF06AF5-28F1-4349-ABBF-0F854C7FF2AB}"/>
    </a:ext>
  </a:extLst>
</a:theme>
</file>

<file path=ppt/theme/theme5.xml><?xml version="1.0" encoding="utf-8"?>
<a:theme xmlns:a="http://schemas.openxmlformats.org/drawingml/2006/main" name="Key Term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DCC268CD-8C3E-414C-B079-8C7CF400294A}"/>
    </a:ext>
  </a:extLst>
</a:theme>
</file>

<file path=ppt/theme/theme6.xml><?xml version="1.0" encoding="utf-8"?>
<a:theme xmlns:a="http://schemas.openxmlformats.org/drawingml/2006/main" name="Sec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1E4FF330-8D2F-4F8D-BD47-17DD76922698}"/>
    </a:ext>
  </a:extLst>
</a:theme>
</file>

<file path=ppt/theme/theme7.xml><?xml version="1.0" encoding="utf-8"?>
<a:theme xmlns:a="http://schemas.openxmlformats.org/drawingml/2006/main" name="Image Slide Mast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9997BA5C-0A08-467C-973F-4C065CD0136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acb1e6a-c770-49d5-a476-585c8d9f4762">
      <UserInfo>
        <DisplayName>McGinniss, Allison</DisplayName>
        <AccountId>4797</AccountId>
        <AccountType/>
      </UserInfo>
      <UserInfo>
        <DisplayName>Boylan, Jon</DisplayName>
        <AccountId>3791</AccountId>
        <AccountType/>
      </UserInfo>
      <UserInfo>
        <DisplayName>Swinford, Christin - Indianapolis</DisplayName>
        <AccountId>2742</AccountId>
        <AccountType/>
      </UserInfo>
      <UserInfo>
        <DisplayName>Davis, Kathy</DisplayName>
        <AccountId>3885</AccountId>
        <AccountType/>
      </UserInfo>
      <UserInfo>
        <DisplayName>Trent, Michael</DisplayName>
        <AccountId>3890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FC5FF765D7D64998B8A00072F6BAD5" ma:contentTypeVersion="15" ma:contentTypeDescription="Create a new document." ma:contentTypeScope="" ma:versionID="7dc141ca22241caa5807500f3576adfb">
  <xsd:schema xmlns:xsd="http://www.w3.org/2001/XMLSchema" xmlns:xs="http://www.w3.org/2001/XMLSchema" xmlns:p="http://schemas.microsoft.com/office/2006/metadata/properties" xmlns:ns1="http://schemas.microsoft.com/sharepoint/v3" xmlns:ns3="3acb1e6a-c770-49d5-a476-585c8d9f4762" xmlns:ns4="2849ce5b-a999-43ca-9b4e-9342bc28e78e" targetNamespace="http://schemas.microsoft.com/office/2006/metadata/properties" ma:root="true" ma:fieldsID="8f0ef06240b3429aa59a01c4d08c16e4" ns1:_="" ns3:_="" ns4:_="">
    <xsd:import namespace="http://schemas.microsoft.com/sharepoint/v3"/>
    <xsd:import namespace="3acb1e6a-c770-49d5-a476-585c8d9f4762"/>
    <xsd:import namespace="2849ce5b-a999-43ca-9b4e-9342bc28e78e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cb1e6a-c770-49d5-a476-585c8d9f47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9ce5b-a999-43ca-9b4e-9342bc28e7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EFD79E-06AF-4973-A733-BC27ECAABB1B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2849ce5b-a999-43ca-9b4e-9342bc28e78e"/>
    <ds:schemaRef ds:uri="3acb1e6a-c770-49d5-a476-585c8d9f4762"/>
    <ds:schemaRef ds:uri="http://schemas.microsoft.com/sharepoint/v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74E8EDE-B712-4183-997A-9529F0F6D8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acb1e6a-c770-49d5-a476-585c8d9f4762"/>
    <ds:schemaRef ds:uri="2849ce5b-a999-43ca-9b4e-9342bc28e7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ECD1DE-F5AD-4A6B-99F8-E38245CC2D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McDaniel Template</Template>
  <TotalTime>23247</TotalTime>
  <Words>4435</Words>
  <Application>Microsoft Office PowerPoint</Application>
  <PresentationFormat>Widescreen</PresentationFormat>
  <Paragraphs>430</Paragraphs>
  <Slides>59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59</vt:i4>
      </vt:variant>
    </vt:vector>
  </HeadingPairs>
  <TitlesOfParts>
    <vt:vector size="73" baseType="lpstr">
      <vt:lpstr>Arial</vt:lpstr>
      <vt:lpstr>Calibri</vt:lpstr>
      <vt:lpstr>Calibri Light</vt:lpstr>
      <vt:lpstr>Courier New</vt:lpstr>
      <vt:lpstr>LiberationSans</vt:lpstr>
      <vt:lpstr>Source Sans Pro</vt:lpstr>
      <vt:lpstr>Times New Roman</vt:lpstr>
      <vt:lpstr>Opener</vt:lpstr>
      <vt:lpstr>Chapter Outline</vt:lpstr>
      <vt:lpstr>Learning Objectives</vt:lpstr>
      <vt:lpstr>Concept Check Question</vt:lpstr>
      <vt:lpstr>Key Term</vt:lpstr>
      <vt:lpstr>Section</vt:lpstr>
      <vt:lpstr>Image Slide Master</vt:lpstr>
      <vt:lpstr>Business Data Communications</vt:lpstr>
      <vt:lpstr>Learning Objectives</vt:lpstr>
      <vt:lpstr>Message Transmission  using Layers</vt:lpstr>
      <vt:lpstr>The Network Layer</vt:lpstr>
      <vt:lpstr>IP Encapsulation </vt:lpstr>
      <vt:lpstr>5.4 Addressing</vt:lpstr>
      <vt:lpstr>5.4 Addressing Continued</vt:lpstr>
      <vt:lpstr>5.4 Addressing Continued</vt:lpstr>
      <vt:lpstr>Assigning Addresses</vt:lpstr>
      <vt:lpstr>Internet Addresses</vt:lpstr>
      <vt:lpstr>IPV4: Network and Host Portions</vt:lpstr>
      <vt:lpstr>IPv4 Public Address Space</vt:lpstr>
      <vt:lpstr>IPv4 Public Address Space Continued</vt:lpstr>
      <vt:lpstr>IPv4 Public Address Space Continued</vt:lpstr>
      <vt:lpstr>IPv4 Public Address Space Continued</vt:lpstr>
      <vt:lpstr>Layer 3 Logical Address</vt:lpstr>
      <vt:lpstr>Subnets</vt:lpstr>
      <vt:lpstr>Address Subnets</vt:lpstr>
      <vt:lpstr>Subnet mask – Examples &gt;&gt; is used to determine whether a host is on the local subnet or on a remote network.</vt:lpstr>
      <vt:lpstr>Determining the Network: Logical AND</vt:lpstr>
      <vt:lpstr>The Prefix Length</vt:lpstr>
      <vt:lpstr>Data Access: Devices on the same network</vt:lpstr>
      <vt:lpstr>Role of the Data Link Layer Addresses: same IP network</vt:lpstr>
      <vt:lpstr>Devices on a Remote Network</vt:lpstr>
      <vt:lpstr> Role of the Data Link Layer Addresses: Different IP Networks</vt:lpstr>
      <vt:lpstr> Role of the Data Link Layer Addresses: Different IP Networks</vt:lpstr>
      <vt:lpstr>Dynamic Addressing</vt:lpstr>
      <vt:lpstr>Address Resolution</vt:lpstr>
      <vt:lpstr>Server Name Resolution</vt:lpstr>
      <vt:lpstr>How the DNS System Works</vt:lpstr>
      <vt:lpstr>How the DNS System Works Continued</vt:lpstr>
      <vt:lpstr>Data Link Layer Address Resolution</vt:lpstr>
      <vt:lpstr>Data Link Layer Address Resolution</vt:lpstr>
      <vt:lpstr>QUIZ 1</vt:lpstr>
      <vt:lpstr>QUIZ 2</vt:lpstr>
      <vt:lpstr>QUIZ 3</vt:lpstr>
      <vt:lpstr>QUIZ 4</vt:lpstr>
      <vt:lpstr>5.5 Routing</vt:lpstr>
      <vt:lpstr>Sample Routing Tables</vt:lpstr>
      <vt:lpstr>Types of Routing</vt:lpstr>
      <vt:lpstr>Multicasting</vt:lpstr>
      <vt:lpstr>Anatomy of a Router</vt:lpstr>
      <vt:lpstr>Anatomy of a Router Continued</vt:lpstr>
      <vt:lpstr>Anatomy of a Router Continued</vt:lpstr>
      <vt:lpstr>5.6 TCP/IP Example</vt:lpstr>
      <vt:lpstr>Example TCP/IP Network</vt:lpstr>
      <vt:lpstr>Known Address</vt:lpstr>
      <vt:lpstr>Known Address Continued</vt:lpstr>
      <vt:lpstr>Known Address Continued</vt:lpstr>
      <vt:lpstr>5.7 Implications for Cyber Security</vt:lpstr>
      <vt:lpstr>Optional (Extra material)</vt:lpstr>
      <vt:lpstr>Unknown Addresses</vt:lpstr>
      <vt:lpstr>Unknown Addresses Continued</vt:lpstr>
      <vt:lpstr>Unknown Addresses Continued</vt:lpstr>
      <vt:lpstr>Routing Protocols</vt:lpstr>
      <vt:lpstr>Routing Protocols Continued</vt:lpstr>
      <vt:lpstr>Routing Protocols Continued</vt:lpstr>
      <vt:lpstr>Routing Protocols Continued</vt:lpstr>
      <vt:lpstr>How Messages Move Through the Network Layers</vt:lpstr>
    </vt:vector>
  </TitlesOfParts>
  <Manager>Judy Howarth</Manager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Network and Transport Layers</dc:title>
  <dc:subject>Business Data Communications 14e</dc:subject>
  <dc:creator>Ronny Richardson</dc:creator>
  <cp:keywords>Business</cp:keywords>
  <dc:description>This file was created by:_x000d_
_x000d_
Dr. Ronny Richardson_x000d_
Professor of Operations Management_x000d_
Coles College of Business_x000d_
Kennesaw State University_x000d_
_x000d_
DrRonnyRichardson@gmail.com</dc:description>
  <cp:lastModifiedBy>Duaa Zuhair Al-Hamid</cp:lastModifiedBy>
  <cp:revision>58</cp:revision>
  <cp:lastPrinted>2024-08-13T18:52:59Z</cp:lastPrinted>
  <dcterms:created xsi:type="dcterms:W3CDTF">2021-04-29T19:32:45Z</dcterms:created>
  <dcterms:modified xsi:type="dcterms:W3CDTF">2025-04-01T23:01:30Z</dcterms:modified>
  <cp:category>PowerPoint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0x0101006FFC5FF765D7D64998B8A00072F6BAD5</vt:lpwstr>
  </property>
</Properties>
</file>