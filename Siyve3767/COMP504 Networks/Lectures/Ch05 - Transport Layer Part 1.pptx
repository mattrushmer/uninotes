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6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9" r:id="rId4"/>
    <p:sldMasterId id="2147483936" r:id="rId5"/>
    <p:sldMasterId id="2147483943" r:id="rId6"/>
    <p:sldMasterId id="2147483965" r:id="rId7"/>
    <p:sldMasterId id="2147483968" r:id="rId8"/>
    <p:sldMasterId id="2147483971" r:id="rId9"/>
    <p:sldMasterId id="2147483976" r:id="rId10"/>
  </p:sldMasterIdLst>
  <p:notesMasterIdLst>
    <p:notesMasterId r:id="rId47"/>
  </p:notesMasterIdLst>
  <p:sldIdLst>
    <p:sldId id="256" r:id="rId11"/>
    <p:sldId id="257" r:id="rId12"/>
    <p:sldId id="258" r:id="rId13"/>
    <p:sldId id="259" r:id="rId14"/>
    <p:sldId id="318" r:id="rId15"/>
    <p:sldId id="319" r:id="rId16"/>
    <p:sldId id="320" r:id="rId17"/>
    <p:sldId id="850" r:id="rId18"/>
    <p:sldId id="260" r:id="rId19"/>
    <p:sldId id="261" r:id="rId20"/>
    <p:sldId id="262" r:id="rId21"/>
    <p:sldId id="263" r:id="rId22"/>
    <p:sldId id="264" r:id="rId23"/>
    <p:sldId id="853" r:id="rId24"/>
    <p:sldId id="265" r:id="rId25"/>
    <p:sldId id="266" r:id="rId26"/>
    <p:sldId id="321" r:id="rId27"/>
    <p:sldId id="322" r:id="rId28"/>
    <p:sldId id="323" r:id="rId29"/>
    <p:sldId id="324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851" r:id="rId41"/>
    <p:sldId id="852" r:id="rId42"/>
    <p:sldId id="277" r:id="rId43"/>
    <p:sldId id="278" r:id="rId44"/>
    <p:sldId id="279" r:id="rId45"/>
    <p:sldId id="280" r:id="rId46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arvin, Megan - Hoboken" initials="MG" lastIdx="38" clrIdx="0"/>
  <p:cmAuthor id="1" name="Michael, Leah - Indianapolis" initials="LM" lastIdx="9" clrIdx="1"/>
  <p:cmAuthor id="2" name="Heaney, Barbara - Hoboken" initials="BH" lastIdx="3" clrIdx="2"/>
  <p:cmAuthor id="3" name="Perry, Nancy - Hoboken" initials="NP" lastIdx="2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AEAE9"/>
    <a:srgbClr val="E4E5E3"/>
    <a:srgbClr val="F2F2F1"/>
    <a:srgbClr val="EB9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A0CA49-A59C-432D-B5A5-E67D0F576A2A}" v="236" dt="2024-08-03T05:39:34.1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051" autoAdjust="0"/>
  </p:normalViewPr>
  <p:slideViewPr>
    <p:cSldViewPr>
      <p:cViewPr varScale="1">
        <p:scale>
          <a:sx n="85" d="100"/>
          <a:sy n="85" d="100"/>
        </p:scale>
        <p:origin x="590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026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70" d="100"/>
        <a:sy n="70" d="100"/>
      </p:scale>
      <p:origin x="0" y="6254"/>
    </p:cViewPr>
  </p:sorterViewPr>
  <p:notesViewPr>
    <p:cSldViewPr>
      <p:cViewPr varScale="1">
        <p:scale>
          <a:sx n="134" d="100"/>
          <a:sy n="134" d="100"/>
        </p:scale>
        <p:origin x="3184" y="200"/>
      </p:cViewPr>
      <p:guideLst>
        <p:guide orient="horz" pos="3131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commentAuthors" Target="commentAuthors.xml"/><Relationship Id="rId8" Type="http://schemas.openxmlformats.org/officeDocument/2006/relationships/slideMaster" Target="slideMasters/slideMaster5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194C1A8-DC4B-4329-AF88-FD913597DE85}" type="datetimeFigureOut">
              <a:rPr lang="en-US" smtClean="0"/>
              <a:t>3/21/2025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6125"/>
            <a:ext cx="662622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8073E54-D085-4E2E-B9A5-A53D7E519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7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73E54-D085-4E2E-B9A5-A53D7E51940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907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sz="1600" dirty="0"/>
              <a:t>IP does not specify how the delivery or transportation of the packets takes place. </a:t>
            </a:r>
          </a:p>
          <a:p>
            <a:r>
              <a:rPr lang="en-NZ" sz="1600" dirty="0"/>
              <a:t>Transport layer protocols specify how to transfer messages between hosts, and are responsible for managing reliability requirements of a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73E54-D085-4E2E-B9A5-A53D7E51940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032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73E54-D085-4E2E-B9A5-A53D7E51940E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586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65126"/>
            <a:ext cx="117856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Book Title</a:t>
            </a:r>
          </a:p>
        </p:txBody>
      </p:sp>
      <p:sp>
        <p:nvSpPr>
          <p:cNvPr id="2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1752600"/>
            <a:ext cx="11785600" cy="609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Edition</a:t>
            </a:r>
          </a:p>
        </p:txBody>
      </p:sp>
      <p:sp>
        <p:nvSpPr>
          <p:cNvPr id="27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2362200"/>
            <a:ext cx="117856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Authors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37338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4267200"/>
            <a:ext cx="11785600" cy="2438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82637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2286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14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762000"/>
            <a:ext cx="11785600" cy="228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505200"/>
            <a:ext cx="11785600" cy="1524000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1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5029200"/>
            <a:ext cx="11785600" cy="762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900" b="1" i="0" dirty="0">
                <a:latin typeface="Source Sans Pro" charset="0"/>
                <a:ea typeface="Source Sans Pro" charset="0"/>
                <a:cs typeface="Source Sans Pro" charset="0"/>
              </a:rPr>
              <a:t>Third Edition</a:t>
            </a:r>
            <a:endParaRPr lang="en-US" dirty="0"/>
          </a:p>
        </p:txBody>
      </p:sp>
      <p:sp>
        <p:nvSpPr>
          <p:cNvPr id="16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60960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b="0" i="0" dirty="0">
                <a:latin typeface="Source Sans Pro" charset="0"/>
                <a:ea typeface="Source Sans Pro" charset="0"/>
                <a:cs typeface="Source Sans Pro" charset="0"/>
              </a:rPr>
              <a:t>David Klein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23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699" y="777241"/>
            <a:ext cx="11391901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13" name="COBBL"/>
          <p:cNvSpPr>
            <a:spLocks noGrp="1"/>
          </p:cNvSpPr>
          <p:nvPr>
            <p:ph sz="quarter" idx="10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295275" indent="-295275">
              <a:buClr>
                <a:schemeClr val="accent2"/>
              </a:buClr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6693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BL 2-co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603750"/>
          </a:xfrm>
          <a:prstGeom prst="rect">
            <a:avLst/>
          </a:prstGeom>
        </p:spPr>
        <p:txBody>
          <a:bodyPr numCol="2" spcCol="548640"/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Two-Column</a:t>
            </a:r>
          </a:p>
          <a:p>
            <a:pPr lvl="0"/>
            <a:r>
              <a:rPr lang="en-US" dirty="0"/>
              <a:t>This Outline Has No Sub-lists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0"/>
            <a:r>
              <a:rPr lang="en-US" dirty="0"/>
              <a:t>This is Another Heading</a:t>
            </a:r>
          </a:p>
          <a:p>
            <a:pPr lvl="0"/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9360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Numbered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78642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10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1148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0"/>
            <a:r>
              <a:rPr lang="en-US" dirty="0"/>
              <a:t>1.2	It is One-column Only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10.6	Outline Items Usually Have No Ending Punctuation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123572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8" name="COBB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621792" marR="0" indent="-32004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Courier New" charset="0"/>
              <a:buChar char="o"/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>
              <a:defRPr sz="20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1-Column </a:t>
            </a:r>
          </a:p>
          <a:p>
            <a:pPr lvl="1"/>
            <a:r>
              <a:rPr lang="en-US" dirty="0"/>
              <a:t>It Has H2s</a:t>
            </a:r>
          </a:p>
          <a:p>
            <a:pPr lvl="0"/>
            <a:r>
              <a:rPr lang="en-US" dirty="0"/>
              <a:t>It Is One-column Only</a:t>
            </a:r>
          </a:p>
          <a:p>
            <a:pPr lvl="1"/>
            <a:r>
              <a:rPr lang="en-US" dirty="0"/>
              <a:t>It Will Probably Not Have Art</a:t>
            </a:r>
          </a:p>
          <a:p>
            <a:pPr lvl="0"/>
            <a:r>
              <a:rPr lang="en-US" dirty="0"/>
              <a:t>This Is a Bulleted List</a:t>
            </a:r>
          </a:p>
          <a:p>
            <a:pPr lvl="1"/>
            <a:r>
              <a:rPr lang="en-US" dirty="0"/>
              <a:t>Make Sure That Any Links Included Here, for Any Reason, Have Descriptive Hyperlinks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1"/>
            <a:r>
              <a:rPr lang="en-US" dirty="0"/>
              <a:t>There is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37909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465138" indent="-465138">
              <a:buClr>
                <a:schemeClr val="accent2"/>
              </a:buClr>
              <a:buFont typeface="+mj-lt"/>
              <a:buAutoNum type="arabicPeriod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803275" indent="-282575">
              <a:buClr>
                <a:schemeClr val="accent2"/>
              </a:buClr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This Is a Sample Outline for One-Column and single number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343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3434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1143000" indent="-292608">
              <a:buClr>
                <a:schemeClr val="accent2"/>
              </a:buClr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1143000" marR="0" indent="-29260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</a:t>
            </a:r>
          </a:p>
          <a:p>
            <a:pPr lvl="0"/>
            <a:r>
              <a:rPr lang="en-US" dirty="0"/>
              <a:t>10.2	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lvl="2"/>
            <a:r>
              <a:rPr lang="en-US" dirty="0"/>
              <a:t>Special Feature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4265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803275" indent="-282575"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This Is a Sample Outline with No Numbers and One-column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4037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 numCol="2" spcCol="548640"/>
          <a:lstStyle>
            <a:lvl1pPr marL="803275" marR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Two-Column and Double-numbered</a:t>
            </a:r>
          </a:p>
          <a:p>
            <a:pPr lvl="0"/>
            <a:r>
              <a:rPr lang="en-US" dirty="0"/>
              <a:t>1.2	It is Two-column 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1.6	Outline Items Usually Have No Ending Punctuation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1.7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1.8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1.10	Another Heading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051878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1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5384800" cy="4419600"/>
          </a:xfrm>
          <a:prstGeom prst="rect">
            <a:avLst/>
          </a:prstGeom>
        </p:spPr>
        <p:txBody>
          <a:bodyPr numCol="1" spcCol="54864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This Is a Sample Outline for Two-Column (2 Boxes) and Double-numbered</a:t>
            </a:r>
          </a:p>
          <a:p>
            <a:pPr lvl="0"/>
            <a:r>
              <a:rPr lang="en-US" dirty="0"/>
              <a:t>It is Two-column </a:t>
            </a:r>
          </a:p>
          <a:p>
            <a:pPr lvl="0"/>
            <a:r>
              <a:rPr lang="en-US" dirty="0"/>
              <a:t>This Outline Has No Sub-lists</a:t>
            </a:r>
          </a:p>
          <a:p>
            <a:pPr lvl="0"/>
            <a:r>
              <a:rPr lang="en-US" dirty="0"/>
              <a:t>This List Is Double-numbered</a:t>
            </a:r>
          </a:p>
        </p:txBody>
      </p:sp>
      <p:sp>
        <p:nvSpPr>
          <p:cNvPr id="7" name="COBNL2"/>
          <p:cNvSpPr>
            <a:spLocks noGrp="1"/>
          </p:cNvSpPr>
          <p:nvPr>
            <p:ph sz="quarter" idx="15" hasCustomPrompt="1"/>
          </p:nvPr>
        </p:nvSpPr>
        <p:spPr>
          <a:xfrm>
            <a:off x="6356349" y="1752600"/>
            <a:ext cx="5384800" cy="4419600"/>
          </a:xfrm>
          <a:prstGeom prst="rect">
            <a:avLst/>
          </a:prstGeom>
        </p:spPr>
        <p:txBody>
          <a:bodyPr numCol="1" spcCol="548640"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410060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/>
            </a:lvl1pPr>
            <a:lvl2pPr marL="457200" indent="-446088">
              <a:spcBef>
                <a:spcPts val="2000"/>
              </a:spcBef>
              <a:buFont typeface="+mj-lt"/>
              <a:buNone/>
              <a:tabLst/>
              <a:defRPr sz="2800">
                <a:solidFill>
                  <a:schemeClr val="accent2"/>
                </a:solidFill>
              </a:defRPr>
            </a:lvl2pPr>
            <a:lvl3pPr marL="688975" indent="-400050">
              <a:spcBef>
                <a:spcPts val="1000"/>
              </a:spcBef>
              <a:buClr>
                <a:schemeClr val="accent2"/>
              </a:buClr>
              <a:buFont typeface="+mj-lt"/>
              <a:buAutoNum type="arabicPeriod"/>
              <a:tabLst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This Is a Sample Outline with No Numbers</a:t>
            </a:r>
          </a:p>
          <a:p>
            <a:pPr lvl="1"/>
            <a:r>
              <a:rPr lang="en-US" dirty="0"/>
              <a:t>Learning Objective</a:t>
            </a:r>
          </a:p>
          <a:p>
            <a:pPr lvl="2"/>
            <a:r>
              <a:rPr lang="en-US" dirty="0"/>
              <a:t>Describe what racial &amp; ethnic group make up Latin America.</a:t>
            </a:r>
          </a:p>
          <a:p>
            <a:pPr lvl="2"/>
            <a:r>
              <a:rPr lang="en-US" dirty="0"/>
              <a:t>Explain Latin American agricultural systems.</a:t>
            </a:r>
          </a:p>
          <a:p>
            <a:pPr lvl="2"/>
            <a:r>
              <a:rPr lang="en-US" dirty="0"/>
              <a:t>Critically evaluate models of biodiversity conservation in the Latin American context.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©2017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9563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Outline: Version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8" name="COBB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621792" marR="0" indent="-32004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Courier New" charset="0"/>
              <a:buChar char="o"/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>
              <a:defRPr sz="20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1-Column </a:t>
            </a:r>
          </a:p>
          <a:p>
            <a:pPr lvl="1"/>
            <a:r>
              <a:rPr lang="en-US" dirty="0"/>
              <a:t>It Has H2s</a:t>
            </a:r>
          </a:p>
          <a:p>
            <a:pPr lvl="0"/>
            <a:r>
              <a:rPr lang="en-US" dirty="0"/>
              <a:t>It Is One-column Only</a:t>
            </a:r>
          </a:p>
          <a:p>
            <a:pPr lvl="1"/>
            <a:r>
              <a:rPr lang="en-US" dirty="0"/>
              <a:t>It Will Probably Not Have Art</a:t>
            </a:r>
          </a:p>
          <a:p>
            <a:pPr lvl="0"/>
            <a:r>
              <a:rPr lang="en-US" dirty="0"/>
              <a:t>This Is a Bulleted List</a:t>
            </a:r>
          </a:p>
          <a:p>
            <a:pPr lvl="1"/>
            <a:r>
              <a:rPr lang="en-US" dirty="0"/>
              <a:t>Make Sure That Any Links Included Here, for Any Reason, Have Descriptive Hyperlinks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1"/>
            <a:r>
              <a:rPr lang="en-US" dirty="0"/>
              <a:t>There is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26047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16668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06400" y="743712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9" name="LONL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957104EA-F2AF-1046-9253-EE8D978719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82321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406400" y="743712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7" name="LOBL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292608" indent="-292608">
              <a:buClr>
                <a:schemeClr val="accent2"/>
              </a:buClr>
              <a:buFont typeface="Arial" charset="0"/>
              <a:buChar char="•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177182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1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 Periodicity Assumption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2800" baseline="0"/>
            </a:lvl1pPr>
            <a:lvl2pPr marL="809625" indent="-460375">
              <a:spcBef>
                <a:spcPts val="1000"/>
              </a:spcBef>
              <a:buClr>
                <a:schemeClr val="accent2"/>
              </a:buClr>
              <a:buFont typeface="+mj-lt"/>
              <a:buAutoNum type="alphaLcPeriod"/>
              <a:tabLst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Companies record events that change their financial statements in the period in which events occur, even if cash was not exchanged.</a:t>
            </a:r>
          </a:p>
          <a:p>
            <a:pPr lvl="1"/>
            <a:r>
              <a:rPr lang="en-US" dirty="0"/>
              <a:t>Companies recognize revenue in the period in which the performance obligation is satisfied.</a:t>
            </a:r>
          </a:p>
          <a:p>
            <a:pPr lvl="1"/>
            <a:r>
              <a:rPr lang="en-US" dirty="0"/>
              <a:t>This basis is accord with generally accepted accounting principles.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12438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2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1.1 Periodicity Assumption</a:t>
            </a:r>
          </a:p>
        </p:txBody>
      </p:sp>
      <p:sp>
        <p:nvSpPr>
          <p:cNvPr id="12" name="Question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12700" indent="0">
              <a:spcBef>
                <a:spcPts val="1000"/>
              </a:spcBef>
              <a:buNone/>
              <a:tabLst/>
              <a:defRPr sz="28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None/>
              <a:tabLst/>
              <a:defRPr sz="28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03275" indent="-790575">
              <a:buNone/>
              <a:tabLst/>
              <a:defRPr sz="2800" b="0" i="0"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a.	Companies record events that change their financial statements in the period in which events occur, even if cash was not exchanged.</a:t>
            </a:r>
          </a:p>
          <a:p>
            <a:pPr lvl="2"/>
            <a:r>
              <a:rPr lang="en-US" dirty="0"/>
              <a:t>✔️b.	Companies recognize revenue in the period in which the performance obligation is satisfied.</a:t>
            </a:r>
          </a:p>
          <a:p>
            <a:pPr lvl="1"/>
            <a:r>
              <a:rPr lang="en-US" dirty="0"/>
              <a:t>c.	This basis is accord with generally accepted accounting principles.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523935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8351"/>
            <a:ext cx="11379200" cy="990599"/>
          </a:xfrm>
        </p:spPr>
        <p:txBody>
          <a:bodyPr/>
          <a:lstStyle/>
          <a:p>
            <a:r>
              <a:rPr lang="en-US"/>
              <a:t>Language</a:t>
            </a:r>
            <a:endParaRPr lang="en-US" dirty="0"/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1148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Form of communication using sounds and symbols combined according to specified rules</a:t>
            </a:r>
          </a:p>
        </p:txBody>
      </p:sp>
      <p:sp>
        <p:nvSpPr>
          <p:cNvPr id="9" name="Media LInk"/>
          <p:cNvSpPr>
            <a:spLocks noGrp="1"/>
          </p:cNvSpPr>
          <p:nvPr>
            <p:ph sz="quarter" idx="16" hasCustomPrompt="1"/>
          </p:nvPr>
        </p:nvSpPr>
        <p:spPr>
          <a:xfrm>
            <a:off x="406400" y="5867400"/>
            <a:ext cx="11379200" cy="6096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200" b="0" i="0" baseline="0">
                <a:latin typeface="Calibri" charset="0"/>
                <a:ea typeface="Calibri" charset="0"/>
                <a:cs typeface="Calibri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Media link placeholder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700609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914402"/>
            <a:ext cx="11379200" cy="9905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Anatomy and Physiology Defined</a:t>
            </a:r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406400" y="1905000"/>
            <a:ext cx="11379200" cy="39624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Clr>
                <a:schemeClr val="accent2"/>
              </a:buClr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Anatomy is the science of structure and the relationships among structures.</a:t>
            </a:r>
          </a:p>
          <a:p>
            <a:pPr lvl="0"/>
            <a:r>
              <a:rPr lang="en-US" dirty="0"/>
              <a:t>Physiology is the science of body functions, that is, how the body parts work.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62271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327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Figure caption"/>
          <p:cNvSpPr>
            <a:spLocks noGrp="1"/>
          </p:cNvSpPr>
          <p:nvPr>
            <p:ph sz="quarter" idx="15" hasCustomPrompt="1"/>
          </p:nvPr>
        </p:nvSpPr>
        <p:spPr>
          <a:xfrm>
            <a:off x="406400" y="5029200"/>
            <a:ext cx="11379200" cy="114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 typeface="Arial" charset="0"/>
              <a:buNone/>
              <a:defRPr sz="2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sz="2000" dirty="0"/>
              <a:t>Figure 4.5 Figure title placeholder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771030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539791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47604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048000" y="4724401"/>
            <a:ext cx="6096000" cy="1489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132984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5350051"/>
            <a:ext cx="11379200" cy="30997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000" dirty="0"/>
              <a:t>Figure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20739"/>
            <a:ext cx="11379200" cy="4452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406400" y="5780676"/>
            <a:ext cx="11379200" cy="46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000" dirty="0"/>
              <a:t>Figure 4.5 Figure title placeholder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67376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06400" y="5920581"/>
            <a:ext cx="11379200" cy="435770"/>
          </a:xfrm>
          <a:prstGeom prst="rect">
            <a:avLst/>
          </a:prstGeom>
        </p:spPr>
        <p:txBody>
          <a:bodyPr/>
          <a:lstStyle>
            <a:lvl1pPr algn="ctr"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Image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20738"/>
            <a:ext cx="11379200" cy="49704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5-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04800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9388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93699" y="777242"/>
            <a:ext cx="11391901" cy="975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61158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42" r:id="rId2"/>
    <p:sldLayoutId id="2147483956" r:id="rId3"/>
    <p:sldLayoutId id="2147483955" r:id="rId4"/>
    <p:sldLayoutId id="2147483957" r:id="rId5"/>
    <p:sldLayoutId id="2147483959" r:id="rId6"/>
    <p:sldLayoutId id="2147483958" r:id="rId7"/>
    <p:sldLayoutId id="2147483960" r:id="rId8"/>
    <p:sldLayoutId id="2147483961" r:id="rId9"/>
    <p:sldLayoutId id="2147483962" r:id="rId10"/>
    <p:sldLayoutId id="2147483963" r:id="rId11"/>
    <p:sldLayoutId id="2147483980" r:id="rId12"/>
    <p:sldLayoutId id="214748398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43714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1193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64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8272" y="762002"/>
            <a:ext cx="11387328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3219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62001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61695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2016" y="762001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026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008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Copyright ©2021 John Wiley &amp; Sons, Inc.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29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5-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1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Data 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Fourteenth Edition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dirty="0"/>
              <a:t>Jerry FitzGerald, Alan Dennis, and Alexandra Durcikova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Chapter 5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 dirty="0"/>
              <a:t>Network and Transport Layers </a:t>
            </a:r>
            <a:r>
              <a:rPr lang="en-US" dirty="0">
                <a:highlight>
                  <a:srgbClr val="FFFF00"/>
                </a:highlight>
              </a:rPr>
              <a:t>(Part 1)</a:t>
            </a:r>
          </a:p>
        </p:txBody>
      </p:sp>
    </p:spTree>
    <p:extLst>
      <p:ext uri="{BB962C8B-B14F-4D97-AF65-F5344CB8AC3E}">
        <p14:creationId xmlns:p14="http://schemas.microsoft.com/office/powerpoint/2010/main" val="66050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Discuss about TCP/IP protocol suite.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Discuss about linking to the application layer, segmenting, and session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Explain connection-oriented messaging.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Automatic Repeat </a:t>
            </a:r>
            <a:r>
              <a:rPr lang="en-US" dirty="0" err="1">
                <a:solidFill>
                  <a:srgbClr val="FF0000"/>
                </a:solidFill>
              </a:rPr>
              <a:t>reQuest</a:t>
            </a:r>
            <a:r>
              <a:rPr lang="en-US" dirty="0">
                <a:solidFill>
                  <a:srgbClr val="FF0000"/>
                </a:solidFill>
              </a:rPr>
              <a:t> (ARQ) protocols.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5-</a:t>
            </a:r>
            <a:fld id="{957104EA-F2AF-1046-9253-EE8D978719B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59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609600"/>
            <a:ext cx="11379200" cy="746759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5.1 Introduction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transport and network layers are so closely tied together that they are almost always discussed together.</a:t>
            </a:r>
          </a:p>
          <a:p>
            <a:r>
              <a:rPr lang="en-US" dirty="0"/>
              <a:t>Transmission Control Protocol/Internet Protocol (TCP/IP) is the most commonly used set of transport and network layer protocols, so this chapter focuses on </a:t>
            </a:r>
            <a:r>
              <a:rPr lang="en-US" dirty="0">
                <a:solidFill>
                  <a:srgbClr val="FF0000"/>
                </a:solidFill>
              </a:rPr>
              <a:t>TCP/IP.</a:t>
            </a:r>
          </a:p>
          <a:p>
            <a:r>
              <a:rPr lang="en-US" dirty="0"/>
              <a:t>The transport layer links the software in the </a:t>
            </a:r>
            <a:r>
              <a:rPr lang="en-US" dirty="0">
                <a:solidFill>
                  <a:srgbClr val="FF0000"/>
                </a:solidFill>
              </a:rPr>
              <a:t>application layer </a:t>
            </a:r>
            <a:r>
              <a:rPr lang="en-US" dirty="0"/>
              <a:t>and is responsible for the </a:t>
            </a:r>
            <a:r>
              <a:rPr lang="en-US" dirty="0">
                <a:solidFill>
                  <a:srgbClr val="FF0000"/>
                </a:solidFill>
              </a:rPr>
              <a:t>end-to-end delivery of the message.</a:t>
            </a:r>
          </a:p>
          <a:p>
            <a:r>
              <a:rPr lang="en-US" dirty="0"/>
              <a:t>The transport layer accepts outgoing messages </a:t>
            </a:r>
            <a:r>
              <a:rPr lang="en-US" dirty="0">
                <a:solidFill>
                  <a:srgbClr val="FF0000"/>
                </a:solidFill>
              </a:rPr>
              <a:t>from the application layer and segments them for transmission.</a:t>
            </a:r>
          </a:p>
          <a:p>
            <a:r>
              <a:rPr lang="en-US" dirty="0"/>
              <a:t>The network and transport layers also </a:t>
            </a:r>
            <a:r>
              <a:rPr lang="en-US" dirty="0">
                <a:solidFill>
                  <a:srgbClr val="FF0000"/>
                </a:solidFill>
              </a:rPr>
              <a:t>accept incoming messages from the data link layer and organize them into coherent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60189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76200" y="414840"/>
            <a:ext cx="4724400" cy="110916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Message Transmission 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using Layers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4783435" y="678907"/>
            <a:ext cx="6957141" cy="567744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676725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9677400" cy="3556000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network layer sits directly between the application layer and the data link layer in the Internet five-layer network model. (TRUE/FALSE)?</a:t>
            </a:r>
          </a:p>
          <a:p>
            <a:pPr marL="342900" lvl="0" indent="-342900">
              <a:buFont typeface="+mj-lt"/>
              <a:buAutoNum type="arabicPeriod"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1524000" y="43434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20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10820400" cy="889000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TCP/IP is a data link protocol that is used on the Internet. (TRUE/FALSE)?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1524000" y="43434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50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9677400" cy="9652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network layer provides guaranteed end-to-end delivery of the message (TRUE/FALSE)?.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1524000" y="43434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43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CA39643-FA49-B43E-475A-53142C9C8E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7734300" cy="792163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00FF"/>
                </a:solidFill>
              </a:rPr>
              <a:t>Your Turn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4B3BB78-4508-1630-CABF-400C098667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31951" y="1557339"/>
            <a:ext cx="8208963" cy="4175125"/>
          </a:xfrm>
          <a:solidFill>
            <a:srgbClr val="FFFFCC"/>
          </a:solidFill>
        </p:spPr>
        <p:txBody>
          <a:bodyPr/>
          <a:lstStyle/>
          <a:p>
            <a:pPr>
              <a:buFont typeface="Monotype Sorts" panose="05010101010101010101" pitchFamily="2" charset="2"/>
              <a:buNone/>
            </a:pPr>
            <a:endParaRPr lang="en-US" altLang="en-US" dirty="0"/>
          </a:p>
          <a:p>
            <a:pPr>
              <a:buFont typeface="Monotype Sorts" panose="05010101010101010101" pitchFamily="2" charset="2"/>
              <a:buNone/>
            </a:pPr>
            <a:endParaRPr lang="en-US" altLang="en-US" dirty="0"/>
          </a:p>
          <a:p>
            <a:pPr>
              <a:buFont typeface="Monotype Sorts" panose="05010101010101010101" pitchFamily="2" charset="2"/>
              <a:buNone/>
            </a:pPr>
            <a:r>
              <a:rPr lang="en-US" altLang="en-US" sz="3200" b="1" dirty="0"/>
              <a:t>What do you know about TCP/IP?</a:t>
            </a:r>
          </a:p>
          <a:p>
            <a:pPr algn="ctr">
              <a:buFont typeface="Monotype Sorts" panose="05010101010101010101" pitchFamily="2" charset="2"/>
              <a:buNone/>
            </a:pPr>
            <a:endParaRPr lang="en-US" altLang="en-US" i="1" dirty="0">
              <a:solidFill>
                <a:srgbClr val="0000FF"/>
              </a:solidFill>
            </a:endParaRPr>
          </a:p>
          <a:p>
            <a:pPr algn="ctr">
              <a:buFont typeface="Monotype Sorts" panose="05010101010101010101" pitchFamily="2" charset="2"/>
              <a:buNone/>
            </a:pPr>
            <a:r>
              <a:rPr lang="en-US" altLang="en-US" i="1" dirty="0">
                <a:solidFill>
                  <a:srgbClr val="0000FF"/>
                </a:solidFill>
              </a:rPr>
              <a:t>Talk to the person next to you about it</a:t>
            </a:r>
          </a:p>
          <a:p>
            <a:pPr algn="ctr">
              <a:buFont typeface="Monotype Sorts" panose="05010101010101010101" pitchFamily="2" charset="2"/>
              <a:buNone/>
            </a:pPr>
            <a:r>
              <a:rPr lang="en-US" altLang="en-US" i="1" dirty="0">
                <a:solidFill>
                  <a:srgbClr val="FF0000"/>
                </a:solidFill>
              </a:rPr>
              <a:t>( a couple of minutes …)</a:t>
            </a:r>
          </a:p>
          <a:p>
            <a:pPr algn="ctr">
              <a:buFont typeface="Monotype Sorts" panose="05010101010101010101" pitchFamily="2" charset="2"/>
              <a:buNone/>
            </a:pPr>
            <a:endParaRPr lang="en-US" altLang="en-US" i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93712"/>
            <a:ext cx="11379200" cy="61912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5.2 Transport and Network Layer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1752600"/>
            <a:ext cx="10109200" cy="2667000"/>
          </a:xfrm>
        </p:spPr>
        <p:txBody>
          <a:bodyPr/>
          <a:lstStyle/>
          <a:p>
            <a:r>
              <a:rPr lang="en-US" dirty="0"/>
              <a:t>There are </a:t>
            </a:r>
            <a:r>
              <a:rPr lang="en-US" dirty="0">
                <a:solidFill>
                  <a:srgbClr val="FF0000"/>
                </a:solidFill>
              </a:rPr>
              <a:t>different transport/network layer protocols</a:t>
            </a:r>
            <a:r>
              <a:rPr lang="en-US" dirty="0"/>
              <a:t>, but one family of protocols, </a:t>
            </a:r>
            <a:r>
              <a:rPr lang="en-US" dirty="0">
                <a:solidFill>
                  <a:srgbClr val="FF0000"/>
                </a:solidFill>
              </a:rPr>
              <a:t>the Internet Protocol Suite</a:t>
            </a:r>
            <a:r>
              <a:rPr lang="en-US" dirty="0"/>
              <a:t>, dominates.</a:t>
            </a:r>
          </a:p>
          <a:p>
            <a:r>
              <a:rPr lang="en-US" dirty="0"/>
              <a:t>Each transport and network layer protocol performs essentially the same functions, but each is incompatible with the others.</a:t>
            </a:r>
          </a:p>
          <a:p>
            <a:r>
              <a:rPr lang="en-US" dirty="0">
                <a:solidFill>
                  <a:srgbClr val="FF0000"/>
                </a:solidFill>
              </a:rPr>
              <a:t>We will focus on TCP/IP.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040661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11887200" cy="7620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Transmission Control Protocol/Internet Protocol (TCP/IP)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228600" y="1371600"/>
            <a:ext cx="11163300" cy="4343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TCP/IP was developed for the U.S. Department of Defense’s Advanced Research Project Agency </a:t>
            </a:r>
            <a:r>
              <a:rPr lang="en-US" dirty="0">
                <a:solidFill>
                  <a:srgbClr val="FF0000"/>
                </a:solidFill>
              </a:rPr>
              <a:t>network (ARPANET) </a:t>
            </a:r>
            <a:r>
              <a:rPr lang="en-US" dirty="0"/>
              <a:t>by Vinton Cerf and Bob Kahn in 1974.</a:t>
            </a:r>
          </a:p>
          <a:p>
            <a:r>
              <a:rPr lang="en-US" dirty="0"/>
              <a:t>It is the </a:t>
            </a:r>
            <a:r>
              <a:rPr lang="en-US" dirty="0">
                <a:solidFill>
                  <a:srgbClr val="FF0000"/>
                </a:solidFill>
              </a:rPr>
              <a:t>transport/network layer protocol </a:t>
            </a:r>
            <a:r>
              <a:rPr lang="en-US" dirty="0"/>
              <a:t>used on the Internet.</a:t>
            </a:r>
          </a:p>
          <a:p>
            <a:r>
              <a:rPr lang="en-US" dirty="0"/>
              <a:t>It is the world’s most popular protocol set, used by almost all backbone </a:t>
            </a:r>
            <a:r>
              <a:rPr lang="en-US" dirty="0">
                <a:solidFill>
                  <a:srgbClr val="FF0000"/>
                </a:solidFill>
              </a:rPr>
              <a:t>networks (BNs) and WANs.</a:t>
            </a:r>
          </a:p>
          <a:p>
            <a:r>
              <a:rPr lang="en-US" dirty="0">
                <a:solidFill>
                  <a:srgbClr val="FF0000"/>
                </a:solidFill>
              </a:rPr>
              <a:t>TCP/IP allows reasonably efficient and error-free transmission</a:t>
            </a:r>
            <a:r>
              <a:rPr lang="en-US" dirty="0"/>
              <a:t>.</a:t>
            </a:r>
          </a:p>
          <a:p>
            <a:r>
              <a:rPr lang="en-US" dirty="0"/>
              <a:t>TCP/IP has two parts: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TCP is the transport layer protocol that links the application layer to the network layer.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IP </a:t>
            </a:r>
            <a:r>
              <a:rPr lang="en-US" dirty="0">
                <a:solidFill>
                  <a:srgbClr val="FF0000"/>
                </a:solidFill>
              </a:rPr>
              <a:t>routes the message to the final destination.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510482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457200"/>
            <a:ext cx="11379200" cy="97536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Transmission Control Protocol (TCP)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149225" y="1245932"/>
            <a:ext cx="11785600" cy="192973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typical TCP segment has a 192-bit header (24 bytes) of control information.</a:t>
            </a:r>
          </a:p>
          <a:p>
            <a:r>
              <a:rPr lang="en-US" dirty="0">
                <a:solidFill>
                  <a:srgbClr val="FF0000"/>
                </a:solidFill>
              </a:rPr>
              <a:t>TCP Header = 20-byte </a:t>
            </a:r>
            <a:r>
              <a:rPr lang="en-US" dirty="0"/>
              <a:t>(excluding Options).</a:t>
            </a:r>
          </a:p>
          <a:p>
            <a:r>
              <a:rPr lang="en-US" dirty="0"/>
              <a:t>The destination port tells the TCP software at the destination to which application layer program the application layer packet should be sent.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source port tells the receiver </a:t>
            </a:r>
            <a:r>
              <a:rPr lang="en-US" dirty="0"/>
              <a:t>which application layer program the packet is from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0" y="3325186"/>
            <a:ext cx="11934825" cy="124147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049885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600" y="554989"/>
            <a:ext cx="113792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Transmission Control Protocol (TCP)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152400" y="1600200"/>
            <a:ext cx="10668000" cy="2133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TCP segment also provides a </a:t>
            </a:r>
            <a:r>
              <a:rPr lang="en-US" dirty="0">
                <a:solidFill>
                  <a:srgbClr val="FF0000"/>
                </a:solidFill>
              </a:rPr>
              <a:t>sequence number so that the TCP software at the destination can assemble the segments into the correct order.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options field is optional and rarely used.</a:t>
            </a:r>
          </a:p>
          <a:p>
            <a:r>
              <a:rPr lang="en-US" dirty="0"/>
              <a:t>This results in a </a:t>
            </a:r>
            <a:r>
              <a:rPr lang="en-US" dirty="0">
                <a:solidFill>
                  <a:srgbClr val="FF0000"/>
                </a:solidFill>
              </a:rPr>
              <a:t>20-byte-long TCP </a:t>
            </a:r>
            <a:r>
              <a:rPr lang="en-US" dirty="0"/>
              <a:t>header.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-19050" y="4114800"/>
            <a:ext cx="12025516" cy="1295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133172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28600" y="590550"/>
            <a:ext cx="11379200" cy="7810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User Datagram Protocol (UDP)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269875" y="1447800"/>
            <a:ext cx="11379200" cy="4572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Internet Protocol Suite has a </a:t>
            </a:r>
            <a:r>
              <a:rPr lang="en-US" dirty="0">
                <a:solidFill>
                  <a:srgbClr val="FF0000"/>
                </a:solidFill>
              </a:rPr>
              <a:t>second type of transport layer protocol </a:t>
            </a:r>
            <a:r>
              <a:rPr lang="en-US" dirty="0"/>
              <a:t>called </a:t>
            </a:r>
            <a:r>
              <a:rPr lang="en-US" dirty="0">
                <a:solidFill>
                  <a:srgbClr val="FF0000"/>
                </a:solidFill>
              </a:rPr>
              <a:t>User Datagram Protocol (UDP).</a:t>
            </a:r>
          </a:p>
          <a:p>
            <a:r>
              <a:rPr lang="en-NZ" dirty="0"/>
              <a:t>UDP is a </a:t>
            </a:r>
            <a:r>
              <a:rPr lang="en-NZ" dirty="0">
                <a:solidFill>
                  <a:srgbClr val="FF0000"/>
                </a:solidFill>
              </a:rPr>
              <a:t>connectionless</a:t>
            </a:r>
            <a:r>
              <a:rPr lang="en-NZ" dirty="0"/>
              <a:t> protocol.</a:t>
            </a:r>
          </a:p>
          <a:p>
            <a:r>
              <a:rPr lang="en-NZ" dirty="0"/>
              <a:t>UDP is known as a </a:t>
            </a:r>
            <a:r>
              <a:rPr lang="en-NZ" dirty="0">
                <a:solidFill>
                  <a:srgbClr val="FF0000"/>
                </a:solidFill>
              </a:rPr>
              <a:t>best-effort delivery </a:t>
            </a:r>
            <a:r>
              <a:rPr lang="en-NZ" dirty="0"/>
              <a:t>protocol because there is </a:t>
            </a:r>
            <a:r>
              <a:rPr lang="en-NZ" dirty="0">
                <a:solidFill>
                  <a:srgbClr val="FF0000"/>
                </a:solidFill>
              </a:rPr>
              <a:t>no acknowledgment</a:t>
            </a:r>
            <a:r>
              <a:rPr lang="en-NZ" dirty="0"/>
              <a:t> that the data is received at the destination.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UDP PDUs are called </a:t>
            </a:r>
            <a:r>
              <a:rPr lang="en-US" dirty="0">
                <a:solidFill>
                  <a:srgbClr val="FF0000"/>
                </a:solidFill>
              </a:rPr>
              <a:t>datagrams.</a:t>
            </a:r>
          </a:p>
          <a:p>
            <a:r>
              <a:rPr lang="en-US" dirty="0"/>
              <a:t>Typically, UDP is used when the sender needs to send </a:t>
            </a:r>
            <a:r>
              <a:rPr lang="en-US" dirty="0">
                <a:solidFill>
                  <a:srgbClr val="FF0000"/>
                </a:solidFill>
              </a:rPr>
              <a:t>a single small packet </a:t>
            </a:r>
            <a:r>
              <a:rPr lang="en-US" dirty="0"/>
              <a:t>to the receiver</a:t>
            </a:r>
          </a:p>
          <a:p>
            <a:pPr lvl="1"/>
            <a:r>
              <a:rPr lang="en-US" dirty="0"/>
              <a:t>For example, a </a:t>
            </a:r>
            <a:r>
              <a:rPr lang="en-US" dirty="0">
                <a:solidFill>
                  <a:srgbClr val="FF0000"/>
                </a:solidFill>
              </a:rPr>
              <a:t>DNS request</a:t>
            </a:r>
          </a:p>
          <a:p>
            <a:r>
              <a:rPr lang="en-US" dirty="0"/>
              <a:t>A UDP </a:t>
            </a:r>
            <a:r>
              <a:rPr lang="en-US" dirty="0">
                <a:solidFill>
                  <a:srgbClr val="FF0000"/>
                </a:solidFill>
              </a:rPr>
              <a:t>datagram</a:t>
            </a:r>
            <a:r>
              <a:rPr lang="en-US" dirty="0"/>
              <a:t> has only four fields (</a:t>
            </a:r>
            <a:r>
              <a:rPr lang="en-US" dirty="0">
                <a:solidFill>
                  <a:srgbClr val="FF0000"/>
                </a:solidFill>
              </a:rPr>
              <a:t>8 bytes of over-head</a:t>
            </a:r>
            <a:r>
              <a:rPr lang="en-US" dirty="0"/>
              <a:t>) plus the application layer packet: source port, destination port, length, and a CRC‑16.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887668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0A229-B256-FF58-0C17-8BDDAC67A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3CEA4-5774-BA33-2281-3C8D583BFA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37E24-C90B-AE4D-8F18-C8AA70AF80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C5F47F-8F63-AD86-F2D5-AFB3C0A31E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2400" y="838200"/>
            <a:ext cx="10591800" cy="514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499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" y="497619"/>
            <a:ext cx="11379200" cy="52532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Internet Protocol (IP)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76200" y="1022941"/>
            <a:ext cx="11753490" cy="1981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Internet Protocol (IP) is the </a:t>
            </a:r>
            <a:r>
              <a:rPr lang="en-US" dirty="0">
                <a:solidFill>
                  <a:srgbClr val="FF0000"/>
                </a:solidFill>
              </a:rPr>
              <a:t>network layer protocol</a:t>
            </a:r>
          </a:p>
          <a:p>
            <a:r>
              <a:rPr lang="en-US" dirty="0"/>
              <a:t>Network layer PDUs are called </a:t>
            </a:r>
            <a:r>
              <a:rPr lang="en-US" dirty="0">
                <a:solidFill>
                  <a:srgbClr val="FF0000"/>
                </a:solidFill>
              </a:rPr>
              <a:t>packets.</a:t>
            </a:r>
          </a:p>
          <a:p>
            <a:r>
              <a:rPr lang="en-US" dirty="0"/>
              <a:t>Two forms of IP are currently in use: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older form is </a:t>
            </a:r>
            <a:r>
              <a:rPr lang="en-US" dirty="0">
                <a:solidFill>
                  <a:srgbClr val="FF0000"/>
                </a:solidFill>
              </a:rPr>
              <a:t>IP version 4 (IPv4), </a:t>
            </a:r>
            <a:r>
              <a:rPr lang="en-US" dirty="0"/>
              <a:t>which has a 192-bit header (</a:t>
            </a:r>
            <a:r>
              <a:rPr lang="en-US" dirty="0">
                <a:solidFill>
                  <a:srgbClr val="FF0000"/>
                </a:solidFill>
              </a:rPr>
              <a:t>24 bytes; 20-byte excluding options</a:t>
            </a:r>
            <a:r>
              <a:rPr lang="en-US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IP version 4 is being replaced by IPv6</a:t>
            </a:r>
            <a:r>
              <a:rPr lang="en-US" dirty="0"/>
              <a:t>, which has a 320-bit header </a:t>
            </a:r>
            <a:r>
              <a:rPr lang="en-US" dirty="0">
                <a:solidFill>
                  <a:srgbClr val="FF0000"/>
                </a:solidFill>
              </a:rPr>
              <a:t>(40 bytes)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104839" y="3004141"/>
            <a:ext cx="9321922" cy="347690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78913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2845" y="437234"/>
            <a:ext cx="11379200" cy="670559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Internet Protocol (IP)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152400" y="1260193"/>
            <a:ext cx="11557000" cy="216880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primary reason for switching from IPv4 to IPv6 was to </a:t>
            </a:r>
            <a:r>
              <a:rPr lang="en-US" dirty="0">
                <a:solidFill>
                  <a:srgbClr val="FF0000"/>
                </a:solidFill>
              </a:rPr>
              <a:t>increase the address size</a:t>
            </a:r>
            <a:r>
              <a:rPr lang="en-US" dirty="0"/>
              <a:t> from </a:t>
            </a:r>
            <a:r>
              <a:rPr lang="en-US" dirty="0">
                <a:solidFill>
                  <a:srgbClr val="FF0000"/>
                </a:solidFill>
              </a:rPr>
              <a:t>32 bits </a:t>
            </a:r>
            <a:r>
              <a:rPr lang="en-US" dirty="0"/>
              <a:t>to </a:t>
            </a:r>
            <a:r>
              <a:rPr lang="en-US" dirty="0">
                <a:solidFill>
                  <a:srgbClr val="FF0000"/>
                </a:solidFill>
              </a:rPr>
              <a:t>128 </a:t>
            </a:r>
            <a:r>
              <a:rPr lang="en-US" dirty="0"/>
              <a:t>bits.</a:t>
            </a:r>
          </a:p>
          <a:p>
            <a:r>
              <a:rPr lang="en-US" dirty="0"/>
              <a:t>The development of the IPv6 came about because IP addresses were being depleted.</a:t>
            </a:r>
          </a:p>
          <a:p>
            <a:r>
              <a:rPr lang="en-US" dirty="0"/>
              <a:t>IPv4 allows for about </a:t>
            </a:r>
            <a:r>
              <a:rPr lang="en-US" dirty="0">
                <a:solidFill>
                  <a:srgbClr val="FF0000"/>
                </a:solidFill>
              </a:rPr>
              <a:t>4.2 billion addresses </a:t>
            </a:r>
            <a:r>
              <a:rPr lang="en-US" dirty="0"/>
              <a:t>but some are reserved.</a:t>
            </a:r>
          </a:p>
          <a:p>
            <a:r>
              <a:rPr lang="en-US" dirty="0"/>
              <a:t>IPv6 allows for </a:t>
            </a:r>
            <a:r>
              <a:rPr lang="en-US" dirty="0">
                <a:solidFill>
                  <a:srgbClr val="FF0000"/>
                </a:solidFill>
              </a:rPr>
              <a:t>3.4 x 10</a:t>
            </a:r>
            <a:r>
              <a:rPr lang="en-US" baseline="30000" dirty="0">
                <a:solidFill>
                  <a:srgbClr val="FF0000"/>
                </a:solidFill>
              </a:rPr>
              <a:t>38</a:t>
            </a:r>
            <a:r>
              <a:rPr lang="en-US" dirty="0">
                <a:solidFill>
                  <a:srgbClr val="FF0000"/>
                </a:solidFill>
              </a:rPr>
              <a:t> addresses</a:t>
            </a:r>
            <a:r>
              <a:rPr lang="en-US" dirty="0"/>
              <a:t>, more than enough for the foreseeable future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360531" y="3581400"/>
            <a:ext cx="7783469" cy="290309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17687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11023600" cy="3285469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____________ layer links the application layer with the network layer is responsible for end-to-end delivery of messages.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a.	physical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b.	transport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c.	session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d.	presentation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e.	data link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2209800" y="53340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NZ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transport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6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11023600" cy="3581400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__________ is not an important function of the transport layer.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a.	End-to-end delivery of the message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b.	Taking messages from the application layer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c.	Routing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d.	Breaking long messages into smaller segments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e.	Interfacing with the network layer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2209800" y="53340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Routing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14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11023600" cy="3581400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Transmission Control Protocol/Internet Protocol was developed for ________ in 1974.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a.	ARPANET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b.	IBM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c.	Hewlett-Packard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d.	Kennesaw State University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e.	Xerox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2209800" y="53340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ARPANET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165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11023600" cy="3581400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typical TCP segment has a _______ header of control information.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a.	32-bit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b.	64-bit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c.	120-byte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d.	192-bit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228600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e.	32-byte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2209800" y="53340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192-bit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79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28600" y="533400"/>
            <a:ext cx="11379200" cy="762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5.3 Transport Layer Functions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228600" y="1577975"/>
            <a:ext cx="10896600" cy="3298825"/>
          </a:xfrm>
        </p:spPr>
        <p:txBody>
          <a:bodyPr/>
          <a:lstStyle/>
          <a:p>
            <a:r>
              <a:rPr lang="en-US" dirty="0"/>
              <a:t>The transport layer </a:t>
            </a:r>
            <a:r>
              <a:rPr lang="en-US" dirty="0">
                <a:solidFill>
                  <a:srgbClr val="FF0000"/>
                </a:solidFill>
              </a:rPr>
              <a:t>links the application software in the application layer with the network.</a:t>
            </a:r>
          </a:p>
          <a:p>
            <a:r>
              <a:rPr lang="en-US" dirty="0"/>
              <a:t>It is responsible for </a:t>
            </a:r>
            <a:r>
              <a:rPr lang="en-US" dirty="0">
                <a:solidFill>
                  <a:srgbClr val="FF0000"/>
                </a:solidFill>
              </a:rPr>
              <a:t>segmenting</a:t>
            </a:r>
            <a:r>
              <a:rPr lang="en-US" dirty="0"/>
              <a:t> large messages into </a:t>
            </a:r>
            <a:r>
              <a:rPr lang="en-US" dirty="0">
                <a:solidFill>
                  <a:srgbClr val="FF0000"/>
                </a:solidFill>
              </a:rPr>
              <a:t>smaller ones </a:t>
            </a:r>
            <a:r>
              <a:rPr lang="en-US" dirty="0"/>
              <a:t>for transmission and for managing the session.</a:t>
            </a:r>
          </a:p>
          <a:p>
            <a:r>
              <a:rPr lang="en-US" dirty="0"/>
              <a:t>One of the first issues facing the application layer is to find the numeric network address of the destination computer.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9455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600" y="567801"/>
            <a:ext cx="11379200" cy="8799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Linking to the Application Layer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304800" y="1258682"/>
            <a:ext cx="4622800" cy="4913518"/>
          </a:xfrm>
        </p:spPr>
        <p:txBody>
          <a:bodyPr>
            <a:normAutofit fontScale="85000" lnSpcReduction="20000"/>
          </a:bodyPr>
          <a:lstStyle/>
          <a:p>
            <a:r>
              <a:rPr lang="en-NZ" dirty="0"/>
              <a:t>TCP and UDP transport layer protocols use </a:t>
            </a:r>
            <a:r>
              <a:rPr lang="en-NZ" dirty="0">
                <a:solidFill>
                  <a:srgbClr val="FF0000"/>
                </a:solidFill>
              </a:rPr>
              <a:t>port numbers </a:t>
            </a:r>
            <a:r>
              <a:rPr lang="en-NZ" dirty="0"/>
              <a:t>to manage multiple, simultaneous conversations.</a:t>
            </a:r>
            <a:endParaRPr lang="en-US" dirty="0"/>
          </a:p>
          <a:p>
            <a:r>
              <a:rPr lang="en-US" dirty="0"/>
              <a:t>With TCP, each application layer software package has a </a:t>
            </a:r>
            <a:r>
              <a:rPr lang="en-US" dirty="0">
                <a:solidFill>
                  <a:srgbClr val="FF0000"/>
                </a:solidFill>
              </a:rPr>
              <a:t>unique port address</a:t>
            </a:r>
            <a:r>
              <a:rPr lang="en-US" dirty="0"/>
              <a:t>.</a:t>
            </a:r>
          </a:p>
          <a:p>
            <a:r>
              <a:rPr lang="en-US" dirty="0"/>
              <a:t>When an application layer program generates an outgoing message, it tells the TCP software the </a:t>
            </a:r>
            <a:r>
              <a:rPr lang="en-US" dirty="0">
                <a:solidFill>
                  <a:srgbClr val="FF0000"/>
                </a:solidFill>
              </a:rPr>
              <a:t>source port address and the destination port address.</a:t>
            </a:r>
          </a:p>
          <a:p>
            <a:r>
              <a:rPr lang="en-US" dirty="0"/>
              <a:t>These two port addresses are placed in the </a:t>
            </a:r>
            <a:r>
              <a:rPr lang="en-US" dirty="0">
                <a:solidFill>
                  <a:srgbClr val="FF0000"/>
                </a:solidFill>
              </a:rPr>
              <a:t>first two fields in the TCP segment.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5542414" y="1752601"/>
            <a:ext cx="6198736" cy="390663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270999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600" y="593088"/>
            <a:ext cx="113792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Linking to the Application Layer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228600" y="1371600"/>
            <a:ext cx="4953000" cy="4114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 the Internet, all port addresses for popular services </a:t>
            </a:r>
            <a:r>
              <a:rPr lang="en-US" dirty="0">
                <a:solidFill>
                  <a:srgbClr val="FF0000"/>
                </a:solidFill>
              </a:rPr>
              <a:t>have been standardized.</a:t>
            </a:r>
          </a:p>
          <a:p>
            <a:r>
              <a:rPr lang="en-US" dirty="0"/>
              <a:t>Anyone using a Web server should set up the Web server with a port address </a:t>
            </a:r>
            <a:r>
              <a:rPr lang="en-US" dirty="0">
                <a:solidFill>
                  <a:srgbClr val="FF0000"/>
                </a:solidFill>
              </a:rPr>
              <a:t>of 80.</a:t>
            </a:r>
          </a:p>
          <a:p>
            <a:r>
              <a:rPr lang="en-US" dirty="0"/>
              <a:t>FTP servers use </a:t>
            </a:r>
            <a:r>
              <a:rPr lang="en-US" dirty="0">
                <a:solidFill>
                  <a:srgbClr val="FF0000"/>
                </a:solidFill>
              </a:rPr>
              <a:t>port 21.</a:t>
            </a:r>
          </a:p>
          <a:p>
            <a:r>
              <a:rPr lang="en-US" dirty="0"/>
              <a:t>Telnet 23, SMTP 25.</a:t>
            </a:r>
          </a:p>
          <a:p>
            <a:r>
              <a:rPr lang="en-US" dirty="0"/>
              <a:t>And so on.</a:t>
            </a:r>
          </a:p>
          <a:p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5836223" y="1568449"/>
            <a:ext cx="6216697" cy="391795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425023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28600" y="533400"/>
            <a:ext cx="11379200" cy="762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Segmenting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304800" y="1323974"/>
            <a:ext cx="11125200" cy="4695825"/>
          </a:xfrm>
        </p:spPr>
        <p:txBody>
          <a:bodyPr>
            <a:normAutofit fontScale="92500"/>
          </a:bodyPr>
          <a:lstStyle/>
          <a:p>
            <a:r>
              <a:rPr lang="en-US" dirty="0"/>
              <a:t>Some messages are </a:t>
            </a:r>
            <a:r>
              <a:rPr lang="en-US" dirty="0">
                <a:solidFill>
                  <a:srgbClr val="FF0000"/>
                </a:solidFill>
              </a:rPr>
              <a:t>small enough that they can be transmitted in one frame at the data link layer.</a:t>
            </a:r>
          </a:p>
          <a:p>
            <a:r>
              <a:rPr lang="en-US" dirty="0"/>
              <a:t>In other cases, the application data in one “message” </a:t>
            </a:r>
            <a:r>
              <a:rPr lang="en-US" dirty="0">
                <a:solidFill>
                  <a:srgbClr val="FF0000"/>
                </a:solidFill>
              </a:rPr>
              <a:t>are too large </a:t>
            </a:r>
            <a:r>
              <a:rPr lang="en-US" dirty="0"/>
              <a:t>and must be broken into multiple frames.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Segmenting</a:t>
            </a:r>
            <a:r>
              <a:rPr lang="en-US" dirty="0">
                <a:solidFill>
                  <a:srgbClr val="FF0000"/>
                </a:solidFill>
              </a:rPr>
              <a:t> means to take one outgoing message from the application layer </a:t>
            </a:r>
            <a:r>
              <a:rPr lang="en-US" dirty="0"/>
              <a:t>and break it into a </a:t>
            </a:r>
            <a:r>
              <a:rPr lang="en-US" dirty="0">
                <a:solidFill>
                  <a:srgbClr val="0000FF"/>
                </a:solidFill>
              </a:rPr>
              <a:t>set of smaller segments </a:t>
            </a:r>
            <a:r>
              <a:rPr lang="en-US" dirty="0"/>
              <a:t>for transmission through the network.</a:t>
            </a:r>
          </a:p>
          <a:p>
            <a:r>
              <a:rPr lang="en-US" dirty="0"/>
              <a:t>It also means to take the </a:t>
            </a:r>
            <a:r>
              <a:rPr lang="en-US" dirty="0">
                <a:solidFill>
                  <a:srgbClr val="FF0000"/>
                </a:solidFill>
              </a:rPr>
              <a:t>incoming set of smaller segments from the network </a:t>
            </a:r>
            <a:r>
              <a:rPr lang="en-US" dirty="0"/>
              <a:t>layer and </a:t>
            </a:r>
            <a:r>
              <a:rPr lang="en-US" dirty="0">
                <a:solidFill>
                  <a:srgbClr val="FF0000"/>
                </a:solidFill>
              </a:rPr>
              <a:t>reassemble them into one message </a:t>
            </a:r>
            <a:r>
              <a:rPr lang="en-US" dirty="0"/>
              <a:t>for the application layer.</a:t>
            </a:r>
          </a:p>
          <a:p>
            <a:r>
              <a:rPr lang="en-US" dirty="0"/>
              <a:t>One of the challenges at the transport layer is deciding how big to make the segments.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732874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81025"/>
            <a:ext cx="11379200" cy="58102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Session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406400" y="1371600"/>
            <a:ext cx="11023600" cy="449580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i="1" dirty="0"/>
              <a:t>session</a:t>
            </a:r>
            <a:r>
              <a:rPr lang="en-US" dirty="0"/>
              <a:t> can be thought of as a conversation between two computers</a:t>
            </a:r>
          </a:p>
          <a:p>
            <a:r>
              <a:rPr lang="en-US" dirty="0"/>
              <a:t>When a computer wants to send a message to the receiver, it starts by </a:t>
            </a:r>
            <a:r>
              <a:rPr lang="en-US" dirty="0">
                <a:solidFill>
                  <a:srgbClr val="FF0000"/>
                </a:solidFill>
              </a:rPr>
              <a:t>establishing a session </a:t>
            </a:r>
            <a:r>
              <a:rPr lang="en-US" dirty="0"/>
              <a:t>with that computer.</a:t>
            </a:r>
          </a:p>
          <a:p>
            <a:r>
              <a:rPr lang="en-US" dirty="0"/>
              <a:t>The sender transmits the segments in sequence until the conversation is done, and then the sender ends the session.</a:t>
            </a:r>
          </a:p>
          <a:p>
            <a:pPr lvl="1"/>
            <a:r>
              <a:rPr lang="en-US" dirty="0"/>
              <a:t>This is called </a:t>
            </a:r>
            <a:r>
              <a:rPr lang="en-US" b="1" i="1" dirty="0">
                <a:solidFill>
                  <a:srgbClr val="FF0000"/>
                </a:solidFill>
              </a:rPr>
              <a:t>connection-oriented messaging</a:t>
            </a:r>
          </a:p>
          <a:p>
            <a:r>
              <a:rPr lang="en-US" dirty="0"/>
              <a:t>To send a short message, the sender may just send the one quick message and move on</a:t>
            </a:r>
          </a:p>
          <a:p>
            <a:pPr lvl="1"/>
            <a:r>
              <a:rPr lang="en-US" dirty="0"/>
              <a:t>This approach is called </a:t>
            </a:r>
            <a:r>
              <a:rPr lang="en-US" b="1" i="1" dirty="0">
                <a:solidFill>
                  <a:srgbClr val="FF0000"/>
                </a:solidFill>
              </a:rPr>
              <a:t>connectionless messaging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296178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Connection-Oriented Messaging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sets up a TCP connection (a session) between the sender and receiver</a:t>
            </a:r>
          </a:p>
          <a:p>
            <a:r>
              <a:rPr lang="en-US" dirty="0"/>
              <a:t>The transport layer on both the sender and the receiver must </a:t>
            </a:r>
            <a:r>
              <a:rPr lang="en-US" dirty="0">
                <a:solidFill>
                  <a:srgbClr val="FF0000"/>
                </a:solidFill>
              </a:rPr>
              <a:t>send a SYN (synchronize) and receive an ACK (acknowledgement) segment</a:t>
            </a:r>
            <a:r>
              <a:rPr lang="en-US" dirty="0"/>
              <a:t>.</a:t>
            </a:r>
          </a:p>
          <a:p>
            <a:r>
              <a:rPr lang="en-US" dirty="0"/>
              <a:t>Once the connection is established, </a:t>
            </a:r>
            <a:r>
              <a:rPr lang="en-US" dirty="0">
                <a:solidFill>
                  <a:srgbClr val="FF0000"/>
                </a:solidFill>
              </a:rPr>
              <a:t>the segments flow between the sender and the receiver.</a:t>
            </a:r>
          </a:p>
          <a:p>
            <a:r>
              <a:rPr lang="en-US" dirty="0"/>
              <a:t>In case of an error, the receiver simply asks the </a:t>
            </a:r>
            <a:r>
              <a:rPr lang="en-US" dirty="0">
                <a:solidFill>
                  <a:srgbClr val="FF0000"/>
                </a:solidFill>
              </a:rPr>
              <a:t>sender to retransmit the message </a:t>
            </a:r>
            <a:r>
              <a:rPr lang="en-US" dirty="0"/>
              <a:t>until it is received without an error.</a:t>
            </a:r>
          </a:p>
          <a:p>
            <a:r>
              <a:rPr lang="en-US" dirty="0"/>
              <a:t>TCP calls this </a:t>
            </a:r>
            <a:r>
              <a:rPr lang="en-US" dirty="0">
                <a:solidFill>
                  <a:srgbClr val="FF0000"/>
                </a:solidFill>
              </a:rPr>
              <a:t>Automatic Repeat reQuest (ARQ).</a:t>
            </a:r>
          </a:p>
          <a:p>
            <a:r>
              <a:rPr lang="en-US" dirty="0"/>
              <a:t>There are two types of ARQ: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Stop-and-wait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Continuous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511211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8" y="454600"/>
            <a:ext cx="11379200" cy="80395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Stop-and-Wait ARQ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With </a:t>
            </a:r>
            <a:r>
              <a:rPr lang="en-US" dirty="0">
                <a:solidFill>
                  <a:srgbClr val="FF0000"/>
                </a:solidFill>
              </a:rPr>
              <a:t>stop-and-wait ARQ</a:t>
            </a:r>
            <a:r>
              <a:rPr lang="en-US" dirty="0"/>
              <a:t>, the sender stops and waits for a response after each data packet</a:t>
            </a:r>
          </a:p>
          <a:p>
            <a:r>
              <a:rPr lang="en-US" dirty="0"/>
              <a:t>After receiving a packet, the receiver sends either an </a:t>
            </a:r>
            <a:r>
              <a:rPr lang="en-US" dirty="0">
                <a:solidFill>
                  <a:srgbClr val="FF0000"/>
                </a:solidFill>
              </a:rPr>
              <a:t>acknowledgment (ACK) negative acknowledgment (NAK).</a:t>
            </a:r>
          </a:p>
          <a:p>
            <a:r>
              <a:rPr lang="en-US" dirty="0"/>
              <a:t>If it is an NAK, the sender resends the previous message.</a:t>
            </a:r>
          </a:p>
          <a:p>
            <a:r>
              <a:rPr lang="en-US" dirty="0"/>
              <a:t>If it is an ACK, the sender continues with the next message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1650962"/>
            <a:ext cx="5644412" cy="4419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4248805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554989"/>
            <a:ext cx="3784600" cy="740411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Continuous ARQ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406400" y="1752600"/>
            <a:ext cx="5232400" cy="4419600"/>
          </a:xfrm>
        </p:spPr>
        <p:txBody>
          <a:bodyPr/>
          <a:lstStyle/>
          <a:p>
            <a:r>
              <a:rPr lang="en-US" dirty="0"/>
              <a:t>With </a:t>
            </a:r>
            <a:r>
              <a:rPr lang="en-US" dirty="0">
                <a:solidFill>
                  <a:srgbClr val="FF0000"/>
                </a:solidFill>
              </a:rPr>
              <a:t>continuous ARQ</a:t>
            </a:r>
            <a:r>
              <a:rPr lang="en-US" dirty="0"/>
              <a:t>, the sender does not wait for an acknowledgment after sending a message.</a:t>
            </a:r>
          </a:p>
          <a:p>
            <a:r>
              <a:rPr lang="en-US" dirty="0"/>
              <a:t>It immediately sends the next one</a:t>
            </a:r>
          </a:p>
          <a:p>
            <a:r>
              <a:rPr lang="en-US" dirty="0"/>
              <a:t>If it receives a NAK, </a:t>
            </a:r>
            <a:r>
              <a:rPr lang="en-US" dirty="0">
                <a:solidFill>
                  <a:srgbClr val="FF0000"/>
                </a:solidFill>
              </a:rPr>
              <a:t>the sender retransmits the needed messages.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248400" y="989070"/>
            <a:ext cx="4434129" cy="558794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009887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73700"/>
            <a:ext cx="4876800" cy="6455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Continuous ARQ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The packets that are  retransmitted maybe only those containing an error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Called </a:t>
            </a:r>
            <a:r>
              <a:rPr lang="en-US" b="1" i="1" dirty="0">
                <a:solidFill>
                  <a:srgbClr val="FF0000"/>
                </a:solidFill>
              </a:rPr>
              <a:t>Selective-Repeat ARQ </a:t>
            </a:r>
            <a:r>
              <a:rPr lang="en-US" dirty="0">
                <a:solidFill>
                  <a:srgbClr val="FF0000"/>
                </a:solidFill>
              </a:rPr>
              <a:t>or </a:t>
            </a:r>
            <a:r>
              <a:rPr lang="en-US" b="1" i="1" dirty="0">
                <a:solidFill>
                  <a:srgbClr val="FF0000"/>
                </a:solidFill>
              </a:rPr>
              <a:t>Link Access Protocol for Modems </a:t>
            </a:r>
            <a:r>
              <a:rPr lang="en-US" dirty="0"/>
              <a:t>(LAP‑M)</a:t>
            </a:r>
          </a:p>
          <a:p>
            <a:r>
              <a:rPr lang="en-US" dirty="0"/>
              <a:t>The packets may also be the first packet with an error and all those that followed it</a:t>
            </a:r>
          </a:p>
          <a:p>
            <a:pPr lvl="1"/>
            <a:r>
              <a:rPr lang="en-US" dirty="0"/>
              <a:t>Called </a:t>
            </a:r>
            <a:r>
              <a:rPr lang="en-US" b="1" i="1" dirty="0">
                <a:solidFill>
                  <a:srgbClr val="FF0000"/>
                </a:solidFill>
              </a:rPr>
              <a:t>Go-Back-N ARQ.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554755" y="899158"/>
            <a:ext cx="4265645" cy="537561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893853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533400"/>
            <a:ext cx="5842000" cy="59435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Continuous ARQ </a:t>
            </a:r>
            <a:r>
              <a:rPr lang="en-US" sz="24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304800" y="1532255"/>
            <a:ext cx="5384800" cy="4419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Continuous ARQ is by definition a full-duplex transmission technique</a:t>
            </a:r>
          </a:p>
          <a:p>
            <a:r>
              <a:rPr lang="en-US" dirty="0"/>
              <a:t>It is sometimes called </a:t>
            </a:r>
            <a:r>
              <a:rPr lang="en-US" dirty="0">
                <a:solidFill>
                  <a:srgbClr val="FF0000"/>
                </a:solidFill>
              </a:rPr>
              <a:t>sliding window.</a:t>
            </a:r>
          </a:p>
          <a:p>
            <a:r>
              <a:rPr lang="en-US" dirty="0"/>
              <a:t>It is also important in providing </a:t>
            </a:r>
            <a:r>
              <a:rPr lang="en-US" dirty="0">
                <a:solidFill>
                  <a:srgbClr val="FF0000"/>
                </a:solidFill>
              </a:rPr>
              <a:t>flow control.</a:t>
            </a:r>
          </a:p>
          <a:p>
            <a:pPr lvl="1"/>
            <a:r>
              <a:rPr lang="en-US" dirty="0"/>
              <a:t>Ensuring the computer sending the message is not transmitting too quickly for the receiver</a:t>
            </a:r>
          </a:p>
          <a:p>
            <a:r>
              <a:rPr lang="en-US" dirty="0"/>
              <a:t>When the transmission is complete, the session is terminated </a:t>
            </a:r>
            <a:r>
              <a:rPr lang="en-US" dirty="0">
                <a:solidFill>
                  <a:srgbClr val="FF0000"/>
                </a:solidFill>
              </a:rPr>
              <a:t>using a </a:t>
            </a:r>
            <a:r>
              <a:rPr lang="en-US" b="1" i="1" dirty="0">
                <a:solidFill>
                  <a:srgbClr val="FF0000"/>
                </a:solidFill>
              </a:rPr>
              <a:t>four-way handshake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781800" y="1084060"/>
            <a:ext cx="4007365" cy="508814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968438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11023600" cy="35814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Stop-and-wait ARQ uses ___________ type of data flow.</a:t>
            </a:r>
          </a:p>
          <a:p>
            <a:pPr marL="457200" lvl="0" indent="-457200">
              <a:buAutoNum type="alphaLcPeriod"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full simplex</a:t>
            </a:r>
          </a:p>
          <a:p>
            <a:pPr marL="457200" lvl="0" indent="-457200">
              <a:buAutoNum type="alphaLcPeriod"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half complex</a:t>
            </a:r>
          </a:p>
          <a:p>
            <a:pPr marL="457200" lvl="0" indent="-457200">
              <a:buAutoNum type="alphaLcPeriod"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full duplex</a:t>
            </a:r>
          </a:p>
          <a:p>
            <a:pPr marL="457200" lvl="0" indent="-457200">
              <a:buAutoNum type="alphaLcPeriod"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half duplex</a:t>
            </a:r>
          </a:p>
          <a:p>
            <a:pPr marL="457200" lvl="0" indent="-457200">
              <a:buAutoNum type="alphaLcPeriod"/>
            </a:pPr>
            <a:r>
              <a:rPr lang="en-N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full complex</a:t>
            </a:r>
          </a:p>
          <a:p>
            <a:pPr marL="457200" lvl="0" indent="-457200">
              <a:buAutoNum type="alphaLcPeriod"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>
              <a:buAutoNum type="alphaLcPeriod"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2209800" y="5334000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half duplex</a:t>
            </a:r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61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2452-06EF-FDE1-C524-A6985C03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351F-ADF1-BA62-E0D7-A11B5F3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48640"/>
            <a:ext cx="2413000" cy="97536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000FF"/>
                </a:solidFill>
              </a:rPr>
              <a:t>QUIZ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4192-2823-4A53-04F8-2787A041DF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1000" y="1549400"/>
            <a:ext cx="11023600" cy="35814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NZ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What are the two types of ARQ?</a:t>
            </a:r>
          </a:p>
          <a:p>
            <a:pPr marL="457200" lvl="0" indent="-457200">
              <a:buAutoNum type="alphaLcPeriod"/>
            </a:pPr>
            <a:r>
              <a:rPr lang="en-NZ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Stop-and-wait and continuous</a:t>
            </a:r>
          </a:p>
          <a:p>
            <a:pPr marL="457200" lvl="0" indent="-457200">
              <a:buAutoNum type="alphaLcPeriod"/>
            </a:pPr>
            <a:r>
              <a:rPr lang="en-NZ" dirty="0">
                <a:latin typeface="Times New Roman" panose="02020603050405020304" pitchFamily="18" charset="0"/>
                <a:ea typeface="Times New Roman" panose="02020603050405020304" pitchFamily="18" charset="0"/>
              </a:rPr>
              <a:t>Half and full duplex</a:t>
            </a:r>
          </a:p>
          <a:p>
            <a:pPr marL="457200" lvl="0" indent="-457200">
              <a:buAutoNum type="alphaLcPeriod"/>
            </a:pPr>
            <a:r>
              <a:rPr lang="en-NZ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Continuous and intermittent</a:t>
            </a:r>
          </a:p>
          <a:p>
            <a:pPr marL="457200" lvl="0" indent="-457200">
              <a:buAutoNum type="alphaLcPeriod"/>
            </a:pPr>
            <a:r>
              <a:rPr lang="en-NZ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Selective and continuous</a:t>
            </a:r>
          </a:p>
          <a:p>
            <a:pPr marL="457200" lvl="0" indent="-457200">
              <a:buAutoNum type="alphaLcPeriod"/>
            </a:pPr>
            <a:r>
              <a:rPr lang="en-NZ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Stop-and-wait and selective</a:t>
            </a: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>
              <a:buAutoNum type="alphaLcPeriod"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>
              <a:buAutoNum type="alphaLcPeriod"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>
              <a:buAutoNum type="alphaLcPeriod"/>
            </a:pPr>
            <a:endParaRPr lang="en-NZ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E5887-63D1-0515-B079-5A600EAD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3-</a:t>
            </a:r>
            <a:fld id="{67B19427-F580-D146-B60E-4CADEE75497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DA500-E190-6D23-8657-33AEAA8CD2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75855-37F8-C760-BF9A-87BD359B9C9C}"/>
              </a:ext>
            </a:extLst>
          </p:cNvPr>
          <p:cNvSpPr txBox="1"/>
          <p:nvPr/>
        </p:nvSpPr>
        <p:spPr>
          <a:xfrm>
            <a:off x="2209800" y="5334000"/>
            <a:ext cx="7086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/>
            <a:r>
              <a:rPr lang="en-US" sz="2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Ans: 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Stop-and-wait and continuous</a:t>
            </a:r>
          </a:p>
          <a:p>
            <a:pPr marL="457200" indent="-228600"/>
            <a:endParaRPr lang="en-NZ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83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28600" y="533400"/>
            <a:ext cx="11379200" cy="746759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Connectionless Messaging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406400" y="1752600"/>
            <a:ext cx="11379200" cy="3276600"/>
          </a:xfrm>
        </p:spPr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Connectionless messaging </a:t>
            </a:r>
            <a:r>
              <a:rPr lang="en-US" dirty="0"/>
              <a:t>means each packet is treated separately and makes its own way through the network.</a:t>
            </a:r>
          </a:p>
          <a:p>
            <a:r>
              <a:rPr lang="en-US" dirty="0">
                <a:solidFill>
                  <a:srgbClr val="FF0000"/>
                </a:solidFill>
              </a:rPr>
              <a:t>No connection is established.</a:t>
            </a:r>
          </a:p>
          <a:p>
            <a:r>
              <a:rPr lang="en-US" dirty="0"/>
              <a:t>The sender simply sends the packets as separate, unrelated entities.</a:t>
            </a:r>
          </a:p>
          <a:p>
            <a:r>
              <a:rPr lang="en-US" dirty="0"/>
              <a:t>The packets may arrive </a:t>
            </a:r>
            <a:r>
              <a:rPr lang="en-US" dirty="0">
                <a:solidFill>
                  <a:srgbClr val="FF0000"/>
                </a:solidFill>
              </a:rPr>
              <a:t>out of sequence </a:t>
            </a:r>
            <a:r>
              <a:rPr lang="en-US" dirty="0"/>
              <a:t>at their destination.</a:t>
            </a:r>
          </a:p>
          <a:p>
            <a:r>
              <a:rPr lang="en-US" dirty="0"/>
              <a:t>So, the sender’s </a:t>
            </a:r>
            <a:r>
              <a:rPr lang="en-US" dirty="0">
                <a:solidFill>
                  <a:srgbClr val="FF0000"/>
                </a:solidFill>
              </a:rPr>
              <a:t>network layer puts a sequence number on each packet.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7901188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11379200" cy="97536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Internet Protocol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Internet Protocol Suite can operate either as </a:t>
            </a:r>
            <a:r>
              <a:rPr lang="en-US" dirty="0">
                <a:solidFill>
                  <a:srgbClr val="FF0000"/>
                </a:solidFill>
              </a:rPr>
              <a:t>connection-oriented or connectionless.</a:t>
            </a:r>
          </a:p>
          <a:p>
            <a:r>
              <a:rPr lang="en-US" dirty="0"/>
              <a:t>When </a:t>
            </a:r>
            <a:r>
              <a:rPr lang="en-US" dirty="0">
                <a:solidFill>
                  <a:srgbClr val="FF0000"/>
                </a:solidFill>
              </a:rPr>
              <a:t>connection-oriented messaging is desired, TCP is used</a:t>
            </a:r>
          </a:p>
          <a:p>
            <a:pPr lvl="1"/>
            <a:r>
              <a:rPr lang="en-US" dirty="0"/>
              <a:t>HTTP always uses TCP.</a:t>
            </a:r>
          </a:p>
          <a:p>
            <a:r>
              <a:rPr lang="en-US" dirty="0">
                <a:solidFill>
                  <a:srgbClr val="FF0000"/>
                </a:solidFill>
              </a:rPr>
              <a:t>When connectionless messaging is desired</a:t>
            </a:r>
            <a:r>
              <a:rPr lang="en-US" dirty="0"/>
              <a:t>, the TCP segment is replaced </a:t>
            </a:r>
            <a:r>
              <a:rPr lang="en-US" dirty="0">
                <a:solidFill>
                  <a:srgbClr val="FF0000"/>
                </a:solidFill>
              </a:rPr>
              <a:t>with a UDP packet.</a:t>
            </a:r>
          </a:p>
          <a:p>
            <a:pPr lvl="1"/>
            <a:r>
              <a:rPr lang="en-US" dirty="0"/>
              <a:t>Commonly used when the application data or message can fit into one single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0481601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5689600" cy="670559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Quality of Service (QoS)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260350" y="1447800"/>
            <a:ext cx="11379200" cy="4495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QoS routing is a special type of connection-oriented messaging in which different connections are assigned </a:t>
            </a:r>
            <a:r>
              <a:rPr lang="en-US" dirty="0">
                <a:solidFill>
                  <a:srgbClr val="FF0000"/>
                </a:solidFill>
              </a:rPr>
              <a:t>different priorities</a:t>
            </a:r>
            <a:r>
              <a:rPr lang="en-US" dirty="0"/>
              <a:t>.</a:t>
            </a:r>
          </a:p>
          <a:p>
            <a:r>
              <a:rPr lang="en-US" dirty="0"/>
              <a:t>Different </a:t>
            </a:r>
            <a:r>
              <a:rPr lang="en-US" dirty="0">
                <a:solidFill>
                  <a:srgbClr val="FF0000"/>
                </a:solidFill>
              </a:rPr>
              <a:t>classes of service are defined, each with different priorities</a:t>
            </a:r>
          </a:p>
          <a:p>
            <a:r>
              <a:rPr lang="en-US" dirty="0"/>
              <a:t>When the transport layer software attempts to establish a connection, it specifies the </a:t>
            </a:r>
            <a:r>
              <a:rPr lang="en-US" dirty="0">
                <a:solidFill>
                  <a:srgbClr val="FF0000"/>
                </a:solidFill>
              </a:rPr>
              <a:t>class of service </a:t>
            </a:r>
            <a:r>
              <a:rPr lang="en-US" dirty="0"/>
              <a:t>that connection requires.</a:t>
            </a:r>
          </a:p>
          <a:p>
            <a:r>
              <a:rPr lang="en-US" dirty="0"/>
              <a:t>QoS routing is common in certain types of networks.</a:t>
            </a:r>
          </a:p>
          <a:p>
            <a:r>
              <a:rPr lang="en-US" dirty="0"/>
              <a:t>The Internet provides several QoS protocols that can work in a TCP/IP environment</a:t>
            </a: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Resource Reservation Protocol </a:t>
            </a:r>
            <a:r>
              <a:rPr lang="en-US" dirty="0">
                <a:solidFill>
                  <a:srgbClr val="FF0000"/>
                </a:solidFill>
              </a:rPr>
              <a:t>(RSVP) </a:t>
            </a:r>
            <a:r>
              <a:rPr lang="en-US" dirty="0"/>
              <a:t>and </a:t>
            </a:r>
            <a:r>
              <a:rPr lang="en-US" b="1" i="1" dirty="0">
                <a:solidFill>
                  <a:srgbClr val="FF0000"/>
                </a:solidFill>
              </a:rPr>
              <a:t>Real-Time Streaming Protocol </a:t>
            </a:r>
            <a:r>
              <a:rPr lang="en-US" dirty="0">
                <a:solidFill>
                  <a:srgbClr val="FF0000"/>
                </a:solidFill>
              </a:rPr>
              <a:t>(RTSP) </a:t>
            </a:r>
            <a:r>
              <a:rPr lang="en-US" dirty="0"/>
              <a:t>both permit application layer software to request connections that have certain minimum data transfer capabilities.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834835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6604000" cy="8382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Quality of Service (QoS) </a:t>
            </a:r>
            <a:r>
              <a:rPr lang="en-US" sz="2000" dirty="0">
                <a:solidFill>
                  <a:srgbClr val="0000FF"/>
                </a:solidFill>
              </a:rPr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Both RSVP and RTSP are used to create a </a:t>
            </a:r>
            <a:r>
              <a:rPr lang="en-US" dirty="0">
                <a:solidFill>
                  <a:srgbClr val="FF0000"/>
                </a:solidFill>
              </a:rPr>
              <a:t>connection </a:t>
            </a:r>
            <a:r>
              <a:rPr lang="en-US" dirty="0"/>
              <a:t>and request a certain </a:t>
            </a:r>
            <a:r>
              <a:rPr lang="en-US" dirty="0">
                <a:solidFill>
                  <a:srgbClr val="FF0000"/>
                </a:solidFill>
              </a:rPr>
              <a:t>minimum guaranteed data rate</a:t>
            </a:r>
            <a:r>
              <a:rPr lang="en-US" dirty="0"/>
              <a:t>.</a:t>
            </a:r>
          </a:p>
          <a:p>
            <a:r>
              <a:rPr lang="en-US" dirty="0"/>
              <a:t>Once the connection has been established, they use the </a:t>
            </a:r>
            <a:r>
              <a:rPr lang="en-US" dirty="0">
                <a:solidFill>
                  <a:srgbClr val="FF0000"/>
                </a:solidFill>
              </a:rPr>
              <a:t>Real-Time Transport Protocol (RTP)</a:t>
            </a:r>
            <a:r>
              <a:rPr lang="en-US" dirty="0"/>
              <a:t> to send packets across the connection.</a:t>
            </a:r>
          </a:p>
          <a:p>
            <a:r>
              <a:rPr lang="en-US" dirty="0">
                <a:solidFill>
                  <a:srgbClr val="FF0000"/>
                </a:solidFill>
              </a:rPr>
              <a:t>RTP does not replace TCP or UDP at the transport layer.</a:t>
            </a:r>
          </a:p>
          <a:p>
            <a:r>
              <a:rPr lang="en-US" dirty="0"/>
              <a:t>Each real-time packet is first created using </a:t>
            </a:r>
            <a:r>
              <a:rPr lang="en-US" dirty="0">
                <a:solidFill>
                  <a:srgbClr val="FF0000"/>
                </a:solidFill>
              </a:rPr>
              <a:t>RTP and then surrounded by a UDP datagram,</a:t>
            </a:r>
            <a:r>
              <a:rPr lang="en-US" dirty="0"/>
              <a:t> before being handed to the IP software at the network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5-</a:t>
            </a:r>
            <a:fld id="{67B19427-F580-D146-B60E-4CADEE75497F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537400448"/>
      </p:ext>
    </p:extLst>
  </p:cSld>
  <p:clrMapOvr>
    <a:masterClrMapping/>
  </p:clrMapOvr>
</p:sld>
</file>

<file path=ppt/theme/theme1.xml><?xml version="1.0" encoding="utf-8"?>
<a:theme xmlns:a="http://schemas.openxmlformats.org/drawingml/2006/main" name="Open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ADB653A1-22A9-4BD0-B2B5-00B2E53CA889}"/>
    </a:ext>
  </a:extLst>
</a:theme>
</file>

<file path=ppt/theme/theme2.xml><?xml version="1.0" encoding="utf-8"?>
<a:theme xmlns:a="http://schemas.openxmlformats.org/drawingml/2006/main" name="Chapter Outline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25467C8E-E53C-4AD9-A914-F685BED9852C}"/>
    </a:ext>
  </a:extLst>
</a:theme>
</file>

<file path=ppt/theme/theme3.xml><?xml version="1.0" encoding="utf-8"?>
<a:theme xmlns:a="http://schemas.openxmlformats.org/drawingml/2006/main" name="Learning Objectives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C895C9AC-D919-427F-9B86-94C36E44A5AC}"/>
    </a:ext>
  </a:extLst>
</a:theme>
</file>

<file path=ppt/theme/theme4.xml><?xml version="1.0" encoding="utf-8"?>
<a:theme xmlns:a="http://schemas.openxmlformats.org/drawingml/2006/main" name="Concept Check Ques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CDF06AF5-28F1-4349-ABBF-0F854C7FF2AB}"/>
    </a:ext>
  </a:extLst>
</a:theme>
</file>

<file path=ppt/theme/theme5.xml><?xml version="1.0" encoding="utf-8"?>
<a:theme xmlns:a="http://schemas.openxmlformats.org/drawingml/2006/main" name="Key Term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DCC268CD-8C3E-414C-B079-8C7CF400294A}"/>
    </a:ext>
  </a:extLst>
</a:theme>
</file>

<file path=ppt/theme/theme6.xml><?xml version="1.0" encoding="utf-8"?>
<a:theme xmlns:a="http://schemas.openxmlformats.org/drawingml/2006/main" name="Sec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1E4FF330-8D2F-4F8D-BD47-17DD76922698}"/>
    </a:ext>
  </a:extLst>
</a:theme>
</file>

<file path=ppt/theme/theme7.xml><?xml version="1.0" encoding="utf-8"?>
<a:theme xmlns:a="http://schemas.openxmlformats.org/drawingml/2006/main" name="Image Slide Mast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9997BA5C-0A08-467C-973F-4C065CD0136E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FC5FF765D7D64998B8A00072F6BAD5" ma:contentTypeVersion="15" ma:contentTypeDescription="Create a new document." ma:contentTypeScope="" ma:versionID="7dc141ca22241caa5807500f3576adfb">
  <xsd:schema xmlns:xsd="http://www.w3.org/2001/XMLSchema" xmlns:xs="http://www.w3.org/2001/XMLSchema" xmlns:p="http://schemas.microsoft.com/office/2006/metadata/properties" xmlns:ns1="http://schemas.microsoft.com/sharepoint/v3" xmlns:ns3="3acb1e6a-c770-49d5-a476-585c8d9f4762" xmlns:ns4="2849ce5b-a999-43ca-9b4e-9342bc28e78e" targetNamespace="http://schemas.microsoft.com/office/2006/metadata/properties" ma:root="true" ma:fieldsID="8f0ef06240b3429aa59a01c4d08c16e4" ns1:_="" ns3:_="" ns4:_="">
    <xsd:import namespace="http://schemas.microsoft.com/sharepoint/v3"/>
    <xsd:import namespace="3acb1e6a-c770-49d5-a476-585c8d9f4762"/>
    <xsd:import namespace="2849ce5b-a999-43ca-9b4e-9342bc28e78e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cb1e6a-c770-49d5-a476-585c8d9f47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9ce5b-a999-43ca-9b4e-9342bc28e7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acb1e6a-c770-49d5-a476-585c8d9f4762">
      <UserInfo>
        <DisplayName>McGinniss, Allison</DisplayName>
        <AccountId>4797</AccountId>
        <AccountType/>
      </UserInfo>
      <UserInfo>
        <DisplayName>Boylan, Jon</DisplayName>
        <AccountId>3791</AccountId>
        <AccountType/>
      </UserInfo>
      <UserInfo>
        <DisplayName>Swinford, Christin - Indianapolis</DisplayName>
        <AccountId>2742</AccountId>
        <AccountType/>
      </UserInfo>
      <UserInfo>
        <DisplayName>Davis, Kathy</DisplayName>
        <AccountId>3885</AccountId>
        <AccountType/>
      </UserInfo>
      <UserInfo>
        <DisplayName>Trent, Michael</DisplayName>
        <AccountId>3890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4E8EDE-B712-4183-997A-9529F0F6D8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acb1e6a-c770-49d5-a476-585c8d9f4762"/>
    <ds:schemaRef ds:uri="2849ce5b-a999-43ca-9b4e-9342bc28e7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EFD79E-06AF-4973-A733-BC27ECAABB1B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3acb1e6a-c770-49d5-a476-585c8d9f4762"/>
    <ds:schemaRef ds:uri="http://schemas.microsoft.com/office/2006/documentManagement/types"/>
    <ds:schemaRef ds:uri="http://purl.org/dc/dcmitype/"/>
    <ds:schemaRef ds:uri="http://schemas.microsoft.com/office/infopath/2007/PartnerControls"/>
    <ds:schemaRef ds:uri="2849ce5b-a999-43ca-9b4e-9342bc28e78e"/>
    <ds:schemaRef ds:uri="http://schemas.microsoft.com/sharepoint/v3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DECD1DE-F5AD-4A6B-99F8-E38245CC2D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McDaniel Template</Template>
  <TotalTime>12590</TotalTime>
  <Words>2497</Words>
  <Application>Microsoft Office PowerPoint</Application>
  <PresentationFormat>Widescreen</PresentationFormat>
  <Paragraphs>280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36</vt:i4>
      </vt:variant>
    </vt:vector>
  </HeadingPairs>
  <TitlesOfParts>
    <vt:vector size="50" baseType="lpstr">
      <vt:lpstr>Arial</vt:lpstr>
      <vt:lpstr>Calibri</vt:lpstr>
      <vt:lpstr>Calibri Light</vt:lpstr>
      <vt:lpstr>Courier New</vt:lpstr>
      <vt:lpstr>Monotype Sorts</vt:lpstr>
      <vt:lpstr>Source Sans Pro</vt:lpstr>
      <vt:lpstr>Times New Roman</vt:lpstr>
      <vt:lpstr>Opener</vt:lpstr>
      <vt:lpstr>Chapter Outline</vt:lpstr>
      <vt:lpstr>Learning Objectives</vt:lpstr>
      <vt:lpstr>Concept Check Question</vt:lpstr>
      <vt:lpstr>Key Term</vt:lpstr>
      <vt:lpstr>Section</vt:lpstr>
      <vt:lpstr>Image Slide Master</vt:lpstr>
      <vt:lpstr>Business Data Communications</vt:lpstr>
      <vt:lpstr>Learning Objectives</vt:lpstr>
      <vt:lpstr>5.1 Introduction</vt:lpstr>
      <vt:lpstr>Message Transmission  using Layers</vt:lpstr>
      <vt:lpstr>QUIZ 1</vt:lpstr>
      <vt:lpstr>QUIZ 2</vt:lpstr>
      <vt:lpstr>QUIZ 3</vt:lpstr>
      <vt:lpstr>Your Turn</vt:lpstr>
      <vt:lpstr>5.2 Transport and Network Layer Protocols</vt:lpstr>
      <vt:lpstr>Transmission Control Protocol/Internet Protocol (TCP/IP)</vt:lpstr>
      <vt:lpstr>Transmission Control Protocol (TCP)</vt:lpstr>
      <vt:lpstr>Transmission Control Protocol (TCP) Continued</vt:lpstr>
      <vt:lpstr>User Datagram Protocol (UDP)</vt:lpstr>
      <vt:lpstr>PowerPoint Presentation</vt:lpstr>
      <vt:lpstr>Internet Protocol (IP)</vt:lpstr>
      <vt:lpstr>Internet Protocol (IP) Continued</vt:lpstr>
      <vt:lpstr>QUIZ 4</vt:lpstr>
      <vt:lpstr>QUIZ 5</vt:lpstr>
      <vt:lpstr>QUIZ 6</vt:lpstr>
      <vt:lpstr>QUIZ 7</vt:lpstr>
      <vt:lpstr>5.3 Transport Layer Functions</vt:lpstr>
      <vt:lpstr>Linking to the Application Layer</vt:lpstr>
      <vt:lpstr>Linking to the Application Layer Continued</vt:lpstr>
      <vt:lpstr>Segmenting</vt:lpstr>
      <vt:lpstr>Session Management</vt:lpstr>
      <vt:lpstr>Connection-Oriented Messaging</vt:lpstr>
      <vt:lpstr>Stop-and-Wait ARQ</vt:lpstr>
      <vt:lpstr>Continuous ARQ</vt:lpstr>
      <vt:lpstr>Continuous ARQ Continued</vt:lpstr>
      <vt:lpstr>Continuous ARQ Continued</vt:lpstr>
      <vt:lpstr>QUIZ 8</vt:lpstr>
      <vt:lpstr>QUIZ 9</vt:lpstr>
      <vt:lpstr>Connectionless Messaging</vt:lpstr>
      <vt:lpstr>Internet Protocol Suite</vt:lpstr>
      <vt:lpstr>Quality of Service (QoS)</vt:lpstr>
      <vt:lpstr>Quality of Service (QoS) Continued</vt:lpstr>
    </vt:vector>
  </TitlesOfParts>
  <Manager>Judy Howarth</Manager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Network and Transport Layers</dc:title>
  <dc:subject>Business Data Communications 14e</dc:subject>
  <dc:creator>Ronny Richardson</dc:creator>
  <cp:keywords>Business</cp:keywords>
  <dc:description>This file was created by:_x000d_
_x000d_
Dr. Ronny Richardson_x000d_
Professor of Operations Management_x000d_
Coles College of Business_x000d_
Kennesaw State University_x000d_
_x000d_
DrRonnyRichardson@gmail.com</dc:description>
  <cp:lastModifiedBy>Duaa Zuhair Al-Hamid</cp:lastModifiedBy>
  <cp:revision>55</cp:revision>
  <cp:lastPrinted>2024-03-19T21:17:01Z</cp:lastPrinted>
  <dcterms:created xsi:type="dcterms:W3CDTF">2021-04-29T19:32:45Z</dcterms:created>
  <dcterms:modified xsi:type="dcterms:W3CDTF">2025-03-26T03:54:56Z</dcterms:modified>
  <cp:category>PowerPoint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0x0101006FFC5FF765D7D64998B8A00072F6BAD5</vt:lpwstr>
  </property>
</Properties>
</file>