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63" r:id="rId4"/>
    <p:sldId id="297" r:id="rId5"/>
    <p:sldId id="298" r:id="rId6"/>
    <p:sldId id="302" r:id="rId7"/>
    <p:sldId id="270" r:id="rId8"/>
    <p:sldId id="275" r:id="rId9"/>
    <p:sldId id="285" r:id="rId10"/>
    <p:sldId id="271" r:id="rId11"/>
    <p:sldId id="280" r:id="rId12"/>
    <p:sldId id="283" r:id="rId13"/>
    <p:sldId id="300" r:id="rId14"/>
    <p:sldId id="301" r:id="rId15"/>
    <p:sldId id="284" r:id="rId16"/>
    <p:sldId id="273" r:id="rId17"/>
    <p:sldId id="274" r:id="rId18"/>
    <p:sldId id="278" r:id="rId19"/>
    <p:sldId id="279" r:id="rId20"/>
    <p:sldId id="281" r:id="rId21"/>
    <p:sldId id="282" r:id="rId22"/>
    <p:sldId id="286" r:id="rId23"/>
  </p:sldIdLst>
  <p:sldSz cx="12192000" cy="6858000"/>
  <p:notesSz cx="9939338" cy="68072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098" autoAdjust="0"/>
  </p:normalViewPr>
  <p:slideViewPr>
    <p:cSldViewPr>
      <p:cViewPr varScale="1">
        <p:scale>
          <a:sx n="90" d="100"/>
          <a:sy n="90" d="100"/>
        </p:scale>
        <p:origin x="370" y="5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6888" cy="3413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29275" y="0"/>
            <a:ext cx="4308475" cy="3413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042162-A9EA-4716-9F7D-6D6C91B25CBF}" type="datetimeFigureOut">
              <a:rPr lang="en-NZ" smtClean="0"/>
              <a:t>26/06/2026</a:t>
            </a:fld>
            <a:endParaRPr lang="en-N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927350" y="850900"/>
            <a:ext cx="4084638" cy="22971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93775" y="3276600"/>
            <a:ext cx="7951788" cy="26797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465888"/>
            <a:ext cx="4306888" cy="3413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29275" y="6465888"/>
            <a:ext cx="4308475" cy="3413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6B5436-4359-491E-A580-351CF0232358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4717736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6B5436-4359-491E-A580-351CF0232358}" type="slidenum">
              <a:rPr lang="en-NZ" smtClean="0"/>
              <a:t>3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659146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6B5436-4359-491E-A580-351CF0232358}" type="slidenum">
              <a:rPr lang="en-NZ" smtClean="0"/>
              <a:t>4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2888719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6B5436-4359-491E-A580-351CF0232358}" type="slidenum">
              <a:rPr lang="en-NZ" smtClean="0"/>
              <a:t>10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0977156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47849FE-C205-4F3A-A43A-C599D9402DF1}" type="slidenum">
              <a:rPr kumimoji="0" lang="en-NZ" sz="12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NZ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682575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637BDC-28BD-95BC-CB89-1A05FAA1C7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56B60E-CFC3-4BBE-9353-7925E115F9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88D727-1359-C818-9E54-62F3B36A9F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Z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2D2A4A-DC3D-092D-A8C8-86D5250C60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7849FE-C205-4F3A-A43A-C599D9402DF1}" type="slidenum">
              <a:rPr lang="en-NZ" smtClean="0"/>
              <a:t>14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87139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rgbClr val="F1642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F1642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F1642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F1642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199" cy="685799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406144" y="217424"/>
            <a:ext cx="10318115" cy="108948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rgbClr val="F1642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539366" y="1494790"/>
            <a:ext cx="10257155" cy="40328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5.xml"/><Relationship Id="rId1" Type="http://schemas.openxmlformats.org/officeDocument/2006/relationships/themeOverride" Target="../theme/themeOverrid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mailto:jjy3276@autuni.ac.nz" TargetMode="External"/><Relationship Id="rId2" Type="http://schemas.openxmlformats.org/officeDocument/2006/relationships/hyperlink" Target="mailto:daniel.vaipulu@aut.ac.nz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mailto:ggv5104@autuni.ac.nz" TargetMode="External"/><Relationship Id="rId5" Type="http://schemas.openxmlformats.org/officeDocument/2006/relationships/hyperlink" Target="mailto:adeola.ojo@autuni.ac.nz" TargetMode="External"/><Relationship Id="rId4" Type="http://schemas.openxmlformats.org/officeDocument/2006/relationships/hyperlink" Target="mailto:Pdf8356@autuni.ac.nz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jp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mailto:Pdf8356@autuni.ac.nz" TargetMode="External"/><Relationship Id="rId2" Type="http://schemas.openxmlformats.org/officeDocument/2006/relationships/hyperlink" Target="mailto:jjy3276@autuni.ac.nz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mailto:Daniel.Vaipulu@aut.ac.nz" TargetMode="External"/><Relationship Id="rId5" Type="http://schemas.openxmlformats.org/officeDocument/2006/relationships/hyperlink" Target="mailto:ggv5104@autuni.ac.nz" TargetMode="External"/><Relationship Id="rId4" Type="http://schemas.openxmlformats.org/officeDocument/2006/relationships/hyperlink" Target="mailto:adeola.ojo@autuni.ac.nz" TargetMode="Externa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1999" cy="685799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3340608"/>
              <a:ext cx="9182100" cy="2146300"/>
            </a:xfrm>
            <a:custGeom>
              <a:avLst/>
              <a:gdLst/>
              <a:ahLst/>
              <a:cxnLst/>
              <a:rect l="l" t="t" r="r" b="b"/>
              <a:pathLst>
                <a:path w="9182100" h="2146300">
                  <a:moveTo>
                    <a:pt x="9182100" y="0"/>
                  </a:moveTo>
                  <a:lnTo>
                    <a:pt x="0" y="0"/>
                  </a:lnTo>
                  <a:lnTo>
                    <a:pt x="0" y="2145792"/>
                  </a:lnTo>
                  <a:lnTo>
                    <a:pt x="9182100" y="2145792"/>
                  </a:lnTo>
                  <a:lnTo>
                    <a:pt x="9182100" y="0"/>
                  </a:lnTo>
                  <a:close/>
                </a:path>
              </a:pathLst>
            </a:custGeom>
            <a:solidFill>
              <a:srgbClr val="F16421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777983" y="0"/>
              <a:ext cx="2008631" cy="1994915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828243" y="3707129"/>
            <a:ext cx="8010957" cy="2210862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</a:pPr>
            <a:r>
              <a:rPr sz="4000" dirty="0">
                <a:solidFill>
                  <a:srgbClr val="FFFFFF"/>
                </a:solidFill>
              </a:rPr>
              <a:t>COMP507</a:t>
            </a:r>
            <a:r>
              <a:rPr sz="4000" spc="-145" dirty="0">
                <a:solidFill>
                  <a:srgbClr val="FFFFFF"/>
                </a:solidFill>
              </a:rPr>
              <a:t> </a:t>
            </a:r>
            <a:r>
              <a:rPr sz="4000" dirty="0">
                <a:solidFill>
                  <a:srgbClr val="FFFFFF"/>
                </a:solidFill>
              </a:rPr>
              <a:t>IT</a:t>
            </a:r>
            <a:r>
              <a:rPr sz="4000" spc="-150" dirty="0">
                <a:solidFill>
                  <a:srgbClr val="FFFFFF"/>
                </a:solidFill>
              </a:rPr>
              <a:t> </a:t>
            </a:r>
            <a:r>
              <a:rPr sz="4000" dirty="0">
                <a:solidFill>
                  <a:srgbClr val="FFFFFF"/>
                </a:solidFill>
              </a:rPr>
              <a:t>Project</a:t>
            </a:r>
            <a:r>
              <a:rPr sz="4000" spc="-125" dirty="0">
                <a:solidFill>
                  <a:srgbClr val="FFFFFF"/>
                </a:solidFill>
              </a:rPr>
              <a:t> </a:t>
            </a:r>
            <a:r>
              <a:rPr sz="4000" spc="-10" dirty="0">
                <a:solidFill>
                  <a:srgbClr val="FFFFFF"/>
                </a:solidFill>
              </a:rPr>
              <a:t>Management</a:t>
            </a:r>
            <a:r>
              <a:rPr lang="en-NZ" sz="4000" spc="-10" dirty="0">
                <a:solidFill>
                  <a:srgbClr val="FFFFFF"/>
                </a:solidFill>
              </a:rPr>
              <a:t> (ITPM)</a:t>
            </a:r>
            <a:r>
              <a:rPr sz="4000" spc="-10" dirty="0">
                <a:solidFill>
                  <a:srgbClr val="FFFFFF"/>
                </a:solidFill>
              </a:rPr>
              <a:t> </a:t>
            </a:r>
            <a:br>
              <a:rPr lang="en-NZ" sz="4000" spc="-10" dirty="0">
                <a:solidFill>
                  <a:srgbClr val="FFFFFF"/>
                </a:solidFill>
              </a:rPr>
            </a:br>
            <a:r>
              <a:rPr sz="4000" dirty="0">
                <a:solidFill>
                  <a:srgbClr val="FFFFFF"/>
                </a:solidFill>
              </a:rPr>
              <a:t>Course</a:t>
            </a:r>
            <a:r>
              <a:rPr sz="4000" spc="-185" dirty="0">
                <a:solidFill>
                  <a:srgbClr val="FFFFFF"/>
                </a:solidFill>
              </a:rPr>
              <a:t> </a:t>
            </a:r>
            <a:r>
              <a:rPr sz="4000" spc="-10" dirty="0">
                <a:solidFill>
                  <a:srgbClr val="FFFFFF"/>
                </a:solidFill>
              </a:rPr>
              <a:t>Overview</a:t>
            </a:r>
            <a:br>
              <a:rPr lang="en-NZ" sz="4000" spc="-10" dirty="0">
                <a:solidFill>
                  <a:srgbClr val="FFFFFF"/>
                </a:solidFill>
              </a:rPr>
            </a:br>
            <a:r>
              <a:rPr lang="en-NZ" sz="1800" spc="-10" dirty="0">
                <a:solidFill>
                  <a:srgbClr val="FFFFFF"/>
                </a:solidFill>
              </a:rPr>
              <a:t>Daniel Vaipulu: Programme Director– Master of IT Project Management (MITPM)</a:t>
            </a:r>
            <a:endParaRPr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06144" y="217424"/>
            <a:ext cx="10318115" cy="778880"/>
          </a:xfrm>
          <a:prstGeom prst="rect">
            <a:avLst/>
          </a:prstGeom>
        </p:spPr>
        <p:txBody>
          <a:bodyPr vert="horz" wrap="square" lIns="0" tIns="405587" rIns="0" bIns="0" rtlCol="0">
            <a:spAutoFit/>
          </a:bodyPr>
          <a:lstStyle/>
          <a:p>
            <a:pPr marL="145415">
              <a:lnSpc>
                <a:spcPct val="100000"/>
              </a:lnSpc>
              <a:spcBef>
                <a:spcPts val="105"/>
              </a:spcBef>
            </a:pPr>
            <a:r>
              <a:rPr lang="en-NZ" sz="2400" dirty="0"/>
              <a:t>Agenda</a:t>
            </a:r>
            <a:endParaRPr lang="en-NZ" sz="2400"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1406144" y="1066800"/>
            <a:ext cx="10318115" cy="1763688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240029" marR="5080" indent="-227965">
              <a:lnSpc>
                <a:spcPts val="3030"/>
              </a:lnSpc>
              <a:spcBef>
                <a:spcPts val="475"/>
              </a:spcBef>
              <a:buClr>
                <a:srgbClr val="F5821F"/>
              </a:buClr>
              <a:buFont typeface="Arial"/>
              <a:buChar char="•"/>
              <a:tabLst>
                <a:tab pos="241300" algn="l"/>
              </a:tabLst>
            </a:pPr>
            <a:r>
              <a:rPr lang="en-NZ" sz="2000" spc="-135" dirty="0">
                <a:latin typeface="Calibri"/>
                <a:cs typeface="Calibri"/>
              </a:rPr>
              <a:t>Why COMP507 (ITPM Course)</a:t>
            </a:r>
          </a:p>
          <a:p>
            <a:pPr marL="240029" marR="5080" indent="-227965">
              <a:lnSpc>
                <a:spcPts val="3030"/>
              </a:lnSpc>
              <a:spcBef>
                <a:spcPts val="475"/>
              </a:spcBef>
              <a:buClr>
                <a:srgbClr val="F5821F"/>
              </a:buClr>
              <a:buFont typeface="Arial"/>
              <a:buChar char="•"/>
              <a:tabLst>
                <a:tab pos="241300" algn="l"/>
              </a:tabLst>
            </a:pPr>
            <a:r>
              <a:rPr lang="en-NZ" sz="2000" spc="-135" dirty="0">
                <a:latin typeface="Calibri"/>
                <a:cs typeface="Calibri"/>
              </a:rPr>
              <a:t>Teaching Team </a:t>
            </a:r>
          </a:p>
          <a:p>
            <a:pPr marL="240029" marR="5080" indent="-227965">
              <a:lnSpc>
                <a:spcPts val="3030"/>
              </a:lnSpc>
              <a:spcBef>
                <a:spcPts val="475"/>
              </a:spcBef>
              <a:buClr>
                <a:srgbClr val="F5821F"/>
              </a:buClr>
              <a:buFont typeface="Arial"/>
              <a:buChar char="•"/>
              <a:tabLst>
                <a:tab pos="241300" algn="l"/>
              </a:tabLst>
            </a:pPr>
            <a:r>
              <a:rPr lang="en-NZ" sz="2000" spc="-135" dirty="0">
                <a:latin typeface="Calibri"/>
                <a:cs typeface="Calibri"/>
              </a:rPr>
              <a:t>Lecture and Lab Schedules</a:t>
            </a:r>
          </a:p>
          <a:p>
            <a:pPr marL="240029" marR="5080" indent="-227965">
              <a:lnSpc>
                <a:spcPts val="3030"/>
              </a:lnSpc>
              <a:spcBef>
                <a:spcPts val="475"/>
              </a:spcBef>
              <a:buClr>
                <a:srgbClr val="F5821F"/>
              </a:buClr>
              <a:buFont typeface="Arial"/>
              <a:buChar char="•"/>
              <a:tabLst>
                <a:tab pos="241300" algn="l"/>
              </a:tabLst>
            </a:pPr>
            <a:r>
              <a:rPr lang="en-NZ" sz="2000" spc="-135" dirty="0">
                <a:latin typeface="Calibri"/>
                <a:cs typeface="Calibri"/>
              </a:rPr>
              <a:t>Course Assessments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47800" y="609600"/>
            <a:ext cx="10311765" cy="3872214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lang="en-NZ" sz="2400" b="1" dirty="0">
                <a:solidFill>
                  <a:srgbClr val="F16421"/>
                </a:solidFill>
                <a:latin typeface="Calibri"/>
                <a:cs typeface="Calibri"/>
              </a:rPr>
              <a:t>COMP507-</a:t>
            </a:r>
            <a:r>
              <a:rPr lang="en-NZ" sz="2400" b="1" spc="-40" dirty="0">
                <a:solidFill>
                  <a:srgbClr val="F16421"/>
                </a:solidFill>
                <a:latin typeface="Calibri"/>
                <a:cs typeface="Calibri"/>
              </a:rPr>
              <a:t> </a:t>
            </a:r>
            <a:r>
              <a:rPr lang="en-NZ" sz="2400" b="1" dirty="0">
                <a:solidFill>
                  <a:srgbClr val="F16421"/>
                </a:solidFill>
                <a:latin typeface="Calibri"/>
                <a:cs typeface="Calibri"/>
              </a:rPr>
              <a:t>A</a:t>
            </a:r>
            <a:r>
              <a:rPr lang="en-NZ" sz="2400" b="1" spc="-65" dirty="0">
                <a:solidFill>
                  <a:srgbClr val="F16421"/>
                </a:solidFill>
                <a:latin typeface="Calibri"/>
                <a:cs typeface="Calibri"/>
              </a:rPr>
              <a:t> </a:t>
            </a:r>
            <a:r>
              <a:rPr lang="en-NZ" sz="2400" b="1" dirty="0">
                <a:solidFill>
                  <a:srgbClr val="F16421"/>
                </a:solidFill>
                <a:latin typeface="Calibri"/>
                <a:cs typeface="Calibri"/>
              </a:rPr>
              <a:t>core</a:t>
            </a:r>
            <a:r>
              <a:rPr lang="en-NZ" sz="2400" b="1" spc="-75" dirty="0">
                <a:solidFill>
                  <a:srgbClr val="F16421"/>
                </a:solidFill>
                <a:latin typeface="Calibri"/>
                <a:cs typeface="Calibri"/>
              </a:rPr>
              <a:t> </a:t>
            </a:r>
            <a:r>
              <a:rPr lang="en-NZ" sz="2400" b="1" dirty="0">
                <a:solidFill>
                  <a:srgbClr val="F16421"/>
                </a:solidFill>
                <a:latin typeface="Calibri"/>
                <a:cs typeface="Calibri"/>
              </a:rPr>
              <a:t>course</a:t>
            </a:r>
            <a:r>
              <a:rPr lang="en-NZ" sz="2400" b="1" spc="-65" dirty="0">
                <a:solidFill>
                  <a:srgbClr val="F16421"/>
                </a:solidFill>
                <a:latin typeface="Calibri"/>
                <a:cs typeface="Calibri"/>
              </a:rPr>
              <a:t> </a:t>
            </a:r>
            <a:r>
              <a:rPr lang="en-NZ" sz="2400" b="1" dirty="0">
                <a:solidFill>
                  <a:srgbClr val="F16421"/>
                </a:solidFill>
                <a:latin typeface="Calibri"/>
                <a:cs typeface="Calibri"/>
              </a:rPr>
              <a:t>&amp;</a:t>
            </a:r>
            <a:r>
              <a:rPr lang="en-NZ" sz="2400" b="1" spc="-65" dirty="0">
                <a:solidFill>
                  <a:srgbClr val="F16421"/>
                </a:solidFill>
                <a:latin typeface="Calibri"/>
                <a:cs typeface="Calibri"/>
              </a:rPr>
              <a:t> why it is </a:t>
            </a:r>
            <a:r>
              <a:rPr lang="en-NZ" sz="2400" b="1" spc="-10" dirty="0">
                <a:solidFill>
                  <a:srgbClr val="F16421"/>
                </a:solidFill>
                <a:latin typeface="Calibri"/>
                <a:cs typeface="Calibri"/>
              </a:rPr>
              <a:t>critical?</a:t>
            </a:r>
            <a:endParaRPr lang="en-NZ" sz="2400" dirty="0">
              <a:latin typeface="Calibri"/>
              <a:cs typeface="Calibri"/>
            </a:endParaRPr>
          </a:p>
          <a:p>
            <a:pPr marL="354965" marR="95250" lvl="8" indent="-342900">
              <a:lnSpc>
                <a:spcPts val="2690"/>
              </a:lnSpc>
              <a:spcBef>
                <a:spcPts val="975"/>
              </a:spcBef>
              <a:buClr>
                <a:srgbClr val="F5821F"/>
              </a:buClr>
              <a:buFont typeface="Arial" panose="020B0604020202020204" pitchFamily="34" charset="0"/>
              <a:buChar char="•"/>
              <a:tabLst>
                <a:tab pos="241300" algn="l"/>
              </a:tabLst>
            </a:pPr>
            <a:r>
              <a:rPr sz="2000" dirty="0">
                <a:latin typeface="Calibri"/>
                <a:cs typeface="Calibri"/>
              </a:rPr>
              <a:t>IT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project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management</a:t>
            </a:r>
            <a:r>
              <a:rPr lang="en-NZ" sz="2000" spc="-10" dirty="0">
                <a:latin typeface="Calibri"/>
                <a:cs typeface="Calibri"/>
              </a:rPr>
              <a:t> (PM) 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u="sng" spc="-10" dirty="0">
                <a:latin typeface="Calibri"/>
                <a:cs typeface="Calibri"/>
              </a:rPr>
              <a:t>knowledge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u="sng" dirty="0">
                <a:latin typeface="Calibri"/>
                <a:cs typeface="Calibri"/>
              </a:rPr>
              <a:t>skill</a:t>
            </a:r>
            <a:r>
              <a:rPr lang="en-NZ" sz="2000" u="sng" dirty="0">
                <a:latin typeface="Calibri"/>
                <a:cs typeface="Calibri"/>
              </a:rPr>
              <a:t>s</a:t>
            </a:r>
            <a:r>
              <a:rPr sz="2000" u="sng" spc="-70" dirty="0">
                <a:latin typeface="Calibri"/>
                <a:cs typeface="Calibri"/>
              </a:rPr>
              <a:t> </a:t>
            </a:r>
            <a:r>
              <a:rPr lang="en-NZ" sz="2000" spc="-25" dirty="0">
                <a:latin typeface="Calibri"/>
                <a:cs typeface="Calibri"/>
              </a:rPr>
              <a:t> are now considered critical attributes of </a:t>
            </a:r>
            <a:r>
              <a:rPr sz="2000" dirty="0">
                <a:latin typeface="Calibri"/>
                <a:cs typeface="Calibri"/>
              </a:rPr>
              <a:t>IT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graduate</a:t>
            </a:r>
            <a:r>
              <a:rPr lang="en-NZ" sz="2000" spc="-10" dirty="0">
                <a:latin typeface="Calibri"/>
                <a:cs typeface="Calibri"/>
              </a:rPr>
              <a:t>s and </a:t>
            </a:r>
            <a:r>
              <a:rPr lang="en-NZ" sz="2000" dirty="0">
                <a:latin typeface="Calibri"/>
                <a:cs typeface="Calibri"/>
              </a:rPr>
              <a:t>IT</a:t>
            </a:r>
            <a:r>
              <a:rPr lang="en-NZ" sz="2000" spc="-85" dirty="0">
                <a:latin typeface="Calibri"/>
                <a:cs typeface="Calibri"/>
              </a:rPr>
              <a:t> </a:t>
            </a:r>
            <a:r>
              <a:rPr lang="en-NZ" sz="2000" spc="-10" dirty="0">
                <a:latin typeface="Calibri"/>
                <a:cs typeface="Calibri"/>
              </a:rPr>
              <a:t>professionals</a:t>
            </a:r>
            <a:endParaRPr sz="2000" dirty="0">
              <a:latin typeface="Calibri"/>
              <a:cs typeface="Calibri"/>
            </a:endParaRPr>
          </a:p>
          <a:p>
            <a:pPr marL="355600" lvl="8" indent="-342900">
              <a:spcBef>
                <a:spcPts val="355"/>
              </a:spcBef>
              <a:buClr>
                <a:srgbClr val="F5821F"/>
              </a:buClr>
              <a:buFont typeface="Arial" panose="020B0604020202020204" pitchFamily="34" charset="0"/>
              <a:buChar char="•"/>
              <a:tabLst>
                <a:tab pos="241300" algn="l"/>
              </a:tabLst>
            </a:pPr>
            <a:r>
              <a:rPr lang="en-NZ" sz="2000" dirty="0">
                <a:latin typeface="Calibri"/>
                <a:cs typeface="Calibri"/>
              </a:rPr>
              <a:t>Our industry</a:t>
            </a:r>
            <a:r>
              <a:rPr lang="en-NZ" sz="2000" spc="-30" dirty="0">
                <a:latin typeface="Calibri"/>
                <a:cs typeface="Calibri"/>
              </a:rPr>
              <a:t> </a:t>
            </a:r>
            <a:r>
              <a:rPr lang="en-NZ" sz="2000" dirty="0">
                <a:latin typeface="Calibri"/>
                <a:cs typeface="Calibri"/>
              </a:rPr>
              <a:t>advisory</a:t>
            </a:r>
            <a:r>
              <a:rPr lang="en-NZ" sz="2000" spc="-65" dirty="0">
                <a:latin typeface="Calibri"/>
                <a:cs typeface="Calibri"/>
              </a:rPr>
              <a:t> </a:t>
            </a:r>
            <a:r>
              <a:rPr lang="en-NZ" sz="2000" spc="-10" dirty="0">
                <a:latin typeface="Calibri"/>
                <a:cs typeface="Calibri"/>
              </a:rPr>
              <a:t>committee has ensured COM507 is</a:t>
            </a:r>
            <a:r>
              <a:rPr lang="en-NZ" sz="2000" dirty="0">
                <a:latin typeface="Calibri"/>
                <a:cs typeface="Calibri"/>
              </a:rPr>
              <a:t> one of the core papers for</a:t>
            </a:r>
            <a:r>
              <a:rPr lang="en-NZ" sz="2000" spc="-105" dirty="0">
                <a:latin typeface="Calibri"/>
                <a:cs typeface="Calibri"/>
              </a:rPr>
              <a:t> the </a:t>
            </a:r>
            <a:r>
              <a:rPr lang="en-NZ" sz="2000" dirty="0">
                <a:latin typeface="Calibri"/>
                <a:cs typeface="Calibri"/>
              </a:rPr>
              <a:t>BCIS</a:t>
            </a:r>
            <a:r>
              <a:rPr lang="en-NZ" sz="2000" spc="-100" dirty="0">
                <a:latin typeface="Calibri"/>
                <a:cs typeface="Calibri"/>
              </a:rPr>
              <a:t> </a:t>
            </a:r>
            <a:r>
              <a:rPr lang="en-NZ" sz="2000" spc="-10" dirty="0">
                <a:latin typeface="Calibri"/>
                <a:cs typeface="Calibri"/>
              </a:rPr>
              <a:t>qualification</a:t>
            </a:r>
            <a:endParaRPr sz="2000" dirty="0">
              <a:latin typeface="Calibri"/>
              <a:cs typeface="Calibri"/>
            </a:endParaRPr>
          </a:p>
          <a:p>
            <a:pPr marL="354965" marR="1167130" indent="-342900" algn="just">
              <a:lnSpc>
                <a:spcPct val="80000"/>
              </a:lnSpc>
              <a:spcBef>
                <a:spcPts val="1000"/>
              </a:spcBef>
              <a:buClr>
                <a:srgbClr val="F5821F"/>
              </a:buClr>
              <a:buFont typeface="Arial" panose="020B0604020202020204" pitchFamily="34" charset="0"/>
              <a:buChar char="•"/>
              <a:tabLst>
                <a:tab pos="241300" algn="l"/>
              </a:tabLst>
            </a:pPr>
            <a:r>
              <a:rPr sz="2000" dirty="0">
                <a:latin typeface="Calibri"/>
                <a:cs typeface="Calibri"/>
              </a:rPr>
              <a:t>Industry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11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moving</a:t>
            </a:r>
            <a:r>
              <a:rPr sz="2000" spc="-10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away</a:t>
            </a:r>
            <a:r>
              <a:rPr sz="2000" spc="-1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from</a:t>
            </a:r>
            <a:r>
              <a:rPr sz="2000" spc="-10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specialist</a:t>
            </a:r>
            <a:r>
              <a:rPr sz="2000" spc="-9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to </a:t>
            </a:r>
            <a:r>
              <a:rPr sz="2000" spc="-20" dirty="0">
                <a:latin typeface="Calibri"/>
                <a:cs typeface="Calibri"/>
              </a:rPr>
              <a:t>generalist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individuals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into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what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called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‘T-Skilled’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lang="en-NZ" sz="2000" dirty="0">
                <a:latin typeface="Calibri"/>
                <a:cs typeface="Calibri"/>
              </a:rPr>
              <a:t>IT-type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individuals</a:t>
            </a:r>
            <a:endParaRPr sz="2000" dirty="0">
              <a:latin typeface="Calibri"/>
              <a:cs typeface="Calibri"/>
            </a:endParaRPr>
          </a:p>
          <a:p>
            <a:pPr marL="354964" marR="5080" indent="-342900">
              <a:lnSpc>
                <a:spcPts val="2690"/>
              </a:lnSpc>
              <a:spcBef>
                <a:spcPts val="985"/>
              </a:spcBef>
              <a:buClr>
                <a:srgbClr val="F5821F"/>
              </a:buClr>
              <a:buFont typeface="Arial" panose="020B0604020202020204" pitchFamily="34" charset="0"/>
              <a:buChar char="•"/>
              <a:tabLst>
                <a:tab pos="241300" algn="l"/>
              </a:tabLst>
            </a:pPr>
            <a:r>
              <a:rPr sz="2000" dirty="0">
                <a:latin typeface="Calibri"/>
                <a:cs typeface="Calibri"/>
              </a:rPr>
              <a:t>While</a:t>
            </a:r>
            <a:r>
              <a:rPr sz="2000" spc="-10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105" dirty="0">
                <a:latin typeface="Calibri"/>
                <a:cs typeface="Calibri"/>
              </a:rPr>
              <a:t> </a:t>
            </a:r>
            <a:r>
              <a:rPr sz="20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“specialist”</a:t>
            </a:r>
            <a:r>
              <a:rPr sz="2000" b="1" u="sng" spc="-8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project</a:t>
            </a:r>
            <a:r>
              <a:rPr sz="2000" b="1" u="sng" spc="-9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manager</a:t>
            </a:r>
            <a:r>
              <a:rPr sz="2000" b="1" u="sng" spc="-9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role</a:t>
            </a:r>
            <a:r>
              <a:rPr sz="2000" b="1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1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disappearing,</a:t>
            </a:r>
            <a:r>
              <a:rPr sz="2000" spc="-100" dirty="0">
                <a:latin typeface="Calibri"/>
                <a:cs typeface="Calibri"/>
              </a:rPr>
              <a:t> </a:t>
            </a:r>
            <a:r>
              <a:rPr sz="2000" b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project</a:t>
            </a:r>
            <a:r>
              <a:rPr lang="en-NZ" sz="2000" b="1" spc="-10" dirty="0">
                <a:latin typeface="Calibri"/>
                <a:cs typeface="Calibri"/>
              </a:rPr>
              <a:t> </a:t>
            </a:r>
            <a:r>
              <a:rPr sz="2000" b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management</a:t>
            </a:r>
            <a:r>
              <a:rPr sz="2000" b="1" u="sng" spc="-5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tasks</a:t>
            </a:r>
            <a:r>
              <a:rPr sz="2000" b="1" u="sng" spc="-6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are</a:t>
            </a:r>
            <a:r>
              <a:rPr sz="2000" b="1" u="sng" spc="-6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b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becoming</a:t>
            </a:r>
            <a:r>
              <a:rPr sz="2000" b="1" u="sng" spc="-7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embedded</a:t>
            </a:r>
            <a:r>
              <a:rPr sz="2000" b="1" u="sng" spc="-5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lang="en-NZ" sz="20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in</a:t>
            </a:r>
            <a:r>
              <a:rPr sz="2000" b="1" u="sng" spc="-8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other</a:t>
            </a:r>
            <a:r>
              <a:rPr sz="2000" b="1" u="sng" spc="-5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IT</a:t>
            </a:r>
            <a:r>
              <a:rPr sz="2000" b="1" u="sng" spc="-7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b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roles</a:t>
            </a:r>
            <a:r>
              <a:rPr lang="en-NZ" sz="2000" b="1" spc="-10" dirty="0">
                <a:latin typeface="Calibri"/>
                <a:cs typeface="Calibri"/>
              </a:rPr>
              <a:t> </a:t>
            </a:r>
            <a:r>
              <a:rPr sz="20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and</a:t>
            </a:r>
            <a:r>
              <a:rPr sz="2000" b="1" u="sng" spc="-9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even</a:t>
            </a:r>
            <a:r>
              <a:rPr sz="2000" b="1" u="sng" spc="-9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more</a:t>
            </a:r>
            <a:r>
              <a:rPr sz="2000" b="1" u="sng" spc="-7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critical</a:t>
            </a:r>
            <a:r>
              <a:rPr sz="2000" b="1" u="sng" spc="-9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to</a:t>
            </a:r>
            <a:r>
              <a:rPr sz="2000" b="1" u="sng" spc="-9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lang="en-NZ" sz="20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delivering</a:t>
            </a:r>
            <a:r>
              <a:rPr sz="2000" b="1" u="sng" spc="-6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projects</a:t>
            </a:r>
            <a:r>
              <a:rPr sz="2000" b="1" u="sng" spc="-8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b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successfully</a:t>
            </a:r>
            <a:r>
              <a:rPr sz="2000" spc="-10" dirty="0">
                <a:latin typeface="Calibri"/>
                <a:cs typeface="Calibri"/>
              </a:rPr>
              <a:t>.</a:t>
            </a:r>
            <a:endParaRPr lang="en-NZ" sz="2000" spc="-10" dirty="0">
              <a:latin typeface="Calibri"/>
              <a:cs typeface="Calibri"/>
            </a:endParaRPr>
          </a:p>
          <a:p>
            <a:pPr marL="354964" marR="5080" indent="-342900">
              <a:lnSpc>
                <a:spcPts val="2690"/>
              </a:lnSpc>
              <a:spcBef>
                <a:spcPts val="985"/>
              </a:spcBef>
              <a:buClr>
                <a:srgbClr val="F5821F"/>
              </a:buClr>
              <a:buFont typeface="Arial" panose="020B0604020202020204" pitchFamily="34" charset="0"/>
              <a:buChar char="•"/>
              <a:tabLst>
                <a:tab pos="241300" algn="l"/>
              </a:tabLst>
            </a:pPr>
            <a:endParaRPr sz="2400" dirty="0">
              <a:latin typeface="Calibri"/>
              <a:cs typeface="Calibri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76400" y="-228600"/>
            <a:ext cx="10318115" cy="1089482"/>
          </a:xfrm>
          <a:prstGeom prst="rect">
            <a:avLst/>
          </a:prstGeom>
        </p:spPr>
        <p:txBody>
          <a:bodyPr vert="horz" wrap="square" lIns="0" tIns="405587" rIns="0" bIns="0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NZ" sz="2400" b="1" dirty="0">
                <a:solidFill>
                  <a:srgbClr val="F16421"/>
                </a:solidFill>
                <a:latin typeface="Calibri"/>
                <a:cs typeface="Calibri"/>
              </a:rPr>
              <a:t>COMP507-</a:t>
            </a:r>
            <a:r>
              <a:rPr lang="en-NZ" sz="2400" b="1" spc="-40" dirty="0">
                <a:solidFill>
                  <a:srgbClr val="F16421"/>
                </a:solidFill>
                <a:latin typeface="Calibri"/>
                <a:cs typeface="Calibri"/>
              </a:rPr>
              <a:t> </a:t>
            </a:r>
            <a:r>
              <a:rPr lang="en-NZ" sz="2400" b="1" dirty="0">
                <a:solidFill>
                  <a:srgbClr val="F16421"/>
                </a:solidFill>
                <a:latin typeface="Calibri"/>
                <a:cs typeface="Calibri"/>
              </a:rPr>
              <a:t>A</a:t>
            </a:r>
            <a:r>
              <a:rPr lang="en-NZ" sz="2400" b="1" spc="-65" dirty="0">
                <a:solidFill>
                  <a:srgbClr val="F16421"/>
                </a:solidFill>
                <a:latin typeface="Calibri"/>
                <a:cs typeface="Calibri"/>
              </a:rPr>
              <a:t> </a:t>
            </a:r>
            <a:r>
              <a:rPr lang="en-NZ" sz="2400" b="1" dirty="0">
                <a:solidFill>
                  <a:srgbClr val="F16421"/>
                </a:solidFill>
                <a:latin typeface="Calibri"/>
                <a:cs typeface="Calibri"/>
              </a:rPr>
              <a:t>core</a:t>
            </a:r>
            <a:r>
              <a:rPr lang="en-NZ" sz="2400" b="1" spc="-75" dirty="0">
                <a:solidFill>
                  <a:srgbClr val="F16421"/>
                </a:solidFill>
                <a:latin typeface="Calibri"/>
                <a:cs typeface="Calibri"/>
              </a:rPr>
              <a:t> </a:t>
            </a:r>
            <a:r>
              <a:rPr lang="en-NZ" sz="2400" b="1" dirty="0">
                <a:solidFill>
                  <a:srgbClr val="F16421"/>
                </a:solidFill>
                <a:latin typeface="Calibri"/>
                <a:cs typeface="Calibri"/>
              </a:rPr>
              <a:t>paper</a:t>
            </a:r>
            <a:r>
              <a:rPr lang="en-NZ" sz="2400" b="1" spc="-65" dirty="0">
                <a:solidFill>
                  <a:srgbClr val="F16421"/>
                </a:solidFill>
                <a:latin typeface="Calibri"/>
                <a:cs typeface="Calibri"/>
              </a:rPr>
              <a:t> </a:t>
            </a:r>
            <a:r>
              <a:rPr lang="en-NZ" sz="2400" b="1" dirty="0">
                <a:solidFill>
                  <a:srgbClr val="F16421"/>
                </a:solidFill>
                <a:latin typeface="Calibri"/>
                <a:cs typeface="Calibri"/>
              </a:rPr>
              <a:t>&amp;</a:t>
            </a:r>
            <a:r>
              <a:rPr lang="en-NZ" sz="2400" b="1" spc="-65" dirty="0">
                <a:solidFill>
                  <a:srgbClr val="F16421"/>
                </a:solidFill>
                <a:latin typeface="Calibri"/>
                <a:cs typeface="Calibri"/>
              </a:rPr>
              <a:t> </a:t>
            </a:r>
            <a:r>
              <a:rPr lang="en-NZ" sz="2400" b="1" dirty="0">
                <a:solidFill>
                  <a:srgbClr val="F16421"/>
                </a:solidFill>
                <a:latin typeface="Calibri"/>
                <a:cs typeface="Calibri"/>
              </a:rPr>
              <a:t>why</a:t>
            </a:r>
            <a:r>
              <a:rPr lang="en-NZ" sz="2400" b="1" spc="-80" dirty="0">
                <a:solidFill>
                  <a:srgbClr val="F16421"/>
                </a:solidFill>
                <a:latin typeface="Calibri"/>
                <a:cs typeface="Calibri"/>
              </a:rPr>
              <a:t> </a:t>
            </a:r>
            <a:r>
              <a:rPr lang="en-NZ" sz="2400" b="1" spc="-10" dirty="0">
                <a:solidFill>
                  <a:srgbClr val="F16421"/>
                </a:solidFill>
                <a:latin typeface="Calibri"/>
                <a:cs typeface="Calibri"/>
              </a:rPr>
              <a:t>critical?</a:t>
            </a:r>
            <a:endParaRPr lang="en-NZ" sz="2400" dirty="0">
              <a:latin typeface="Calibri"/>
              <a:cs typeface="Calibri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23E614-3771-BE22-03E9-58575D49B5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860882"/>
            <a:ext cx="10257155" cy="6217087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NZ" sz="2000" dirty="0"/>
              <a:t>You will learn PM concepts (foundation)- </a:t>
            </a:r>
            <a:r>
              <a:rPr lang="en-NZ" sz="2000" u="sng" dirty="0"/>
              <a:t>it must remain with you forever as an IT person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NZ" dirty="0"/>
              <a:t>We will teach </a:t>
            </a:r>
            <a:r>
              <a:rPr lang="en-NZ" u="sng" dirty="0"/>
              <a:t>PM knowledge areas</a:t>
            </a:r>
            <a:r>
              <a:rPr lang="en-NZ" dirty="0"/>
              <a:t> (provide PM concepts)and, through the lab classes, provide the necessary </a:t>
            </a:r>
            <a:r>
              <a:rPr lang="en-NZ" u="sng" dirty="0"/>
              <a:t>PM skills</a:t>
            </a:r>
            <a:r>
              <a:rPr lang="en-NZ" dirty="0"/>
              <a:t>	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NZ" sz="2000" dirty="0"/>
              <a:t>Our teaching will be based on </a:t>
            </a:r>
            <a:r>
              <a:rPr lang="en-NZ" sz="2000" u="sng" dirty="0"/>
              <a:t>PMI (Project Management Institute) </a:t>
            </a:r>
            <a:r>
              <a:rPr lang="en-NZ" sz="2000" dirty="0"/>
              <a:t>concepts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NZ" dirty="0"/>
              <a:t>PMI is one of the major professional (industrial) world bodies on PM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NZ" dirty="0"/>
              <a:t>They provide best PM practices (PMBOK Guide) to successfully manage projects 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NZ" dirty="0"/>
              <a:t>Provide PM certification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NZ" dirty="0"/>
              <a:t>COMP507 is industry-based teaching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NZ" sz="2000" dirty="0"/>
              <a:t>On completion of COMP507, plus the other 2</a:t>
            </a:r>
            <a:r>
              <a:rPr lang="en-NZ" sz="2000" baseline="30000" dirty="0"/>
              <a:t>nd</a:t>
            </a:r>
            <a:r>
              <a:rPr lang="en-NZ" sz="2000" dirty="0"/>
              <a:t> year papers relating to your major, you must have sufficient PM knowledge and skills to undertake the R&amp;D project course (two-semester course- COMP702 &amp; COMP703)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NZ" sz="2000" dirty="0"/>
              <a:t>COMP702 &amp; COMP703- another core BCIS course (30-points)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NZ" sz="2000" dirty="0"/>
              <a:t>Undertake a client project with 3 to 4 other students in your team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NZ" sz="2000" dirty="0"/>
              <a:t>Allocated project will be based on your major 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NZ" sz="2000" dirty="0"/>
              <a:t>Client projects are mostly industry-based, but we also have internal client projects 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NZ" sz="2000" dirty="0"/>
              <a:t>Each project team will have a mentor and moderator under the paper leader. Teams must work closely with their client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NZ" sz="2000" dirty="0"/>
          </a:p>
          <a:p>
            <a:pPr marL="1371600" lvl="2" indent="-457200">
              <a:buFont typeface="Arial" panose="020B0604020202020204" pitchFamily="34" charset="0"/>
              <a:buChar char="•"/>
            </a:pPr>
            <a:endParaRPr lang="en-NZ" sz="2000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NZ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20022623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76400" y="-228600"/>
            <a:ext cx="10318115" cy="1089482"/>
          </a:xfrm>
          <a:prstGeom prst="rect">
            <a:avLst/>
          </a:prstGeom>
        </p:spPr>
        <p:txBody>
          <a:bodyPr vert="horz" wrap="square" lIns="0" tIns="405587" rIns="0" bIns="0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NZ" sz="2400" b="1" dirty="0">
                <a:solidFill>
                  <a:srgbClr val="F16421"/>
                </a:solidFill>
                <a:latin typeface="Calibri"/>
                <a:cs typeface="Calibri"/>
              </a:rPr>
              <a:t>COMP507-</a:t>
            </a:r>
            <a:r>
              <a:rPr lang="en-NZ" sz="2400" b="1" spc="-40" dirty="0">
                <a:solidFill>
                  <a:srgbClr val="F16421"/>
                </a:solidFill>
                <a:latin typeface="Calibri"/>
                <a:cs typeface="Calibri"/>
              </a:rPr>
              <a:t> </a:t>
            </a:r>
            <a:r>
              <a:rPr lang="en-NZ" sz="2400" b="1" dirty="0">
                <a:solidFill>
                  <a:srgbClr val="F16421"/>
                </a:solidFill>
                <a:latin typeface="Calibri"/>
                <a:cs typeface="Calibri"/>
              </a:rPr>
              <a:t>A</a:t>
            </a:r>
            <a:r>
              <a:rPr lang="en-NZ" sz="2400" b="1" spc="-65" dirty="0">
                <a:solidFill>
                  <a:srgbClr val="F16421"/>
                </a:solidFill>
                <a:latin typeface="Calibri"/>
                <a:cs typeface="Calibri"/>
              </a:rPr>
              <a:t> </a:t>
            </a:r>
            <a:r>
              <a:rPr lang="en-NZ" sz="2400" b="1" dirty="0">
                <a:solidFill>
                  <a:srgbClr val="F16421"/>
                </a:solidFill>
                <a:latin typeface="Calibri"/>
                <a:cs typeface="Calibri"/>
              </a:rPr>
              <a:t>core</a:t>
            </a:r>
            <a:r>
              <a:rPr lang="en-NZ" sz="2400" b="1" spc="-75" dirty="0">
                <a:solidFill>
                  <a:srgbClr val="F16421"/>
                </a:solidFill>
                <a:latin typeface="Calibri"/>
                <a:cs typeface="Calibri"/>
              </a:rPr>
              <a:t> </a:t>
            </a:r>
            <a:r>
              <a:rPr lang="en-NZ" sz="2400" b="1" dirty="0">
                <a:solidFill>
                  <a:srgbClr val="F16421"/>
                </a:solidFill>
                <a:latin typeface="Calibri"/>
                <a:cs typeface="Calibri"/>
              </a:rPr>
              <a:t>paper</a:t>
            </a:r>
            <a:r>
              <a:rPr lang="en-NZ" sz="2400" b="1" spc="-65" dirty="0">
                <a:solidFill>
                  <a:srgbClr val="F16421"/>
                </a:solidFill>
                <a:latin typeface="Calibri"/>
                <a:cs typeface="Calibri"/>
              </a:rPr>
              <a:t> </a:t>
            </a:r>
            <a:r>
              <a:rPr lang="en-NZ" sz="2400" b="1" dirty="0">
                <a:solidFill>
                  <a:srgbClr val="F16421"/>
                </a:solidFill>
                <a:latin typeface="Calibri"/>
                <a:cs typeface="Calibri"/>
              </a:rPr>
              <a:t>&amp;</a:t>
            </a:r>
            <a:r>
              <a:rPr lang="en-NZ" sz="2400" b="1" spc="-65" dirty="0">
                <a:solidFill>
                  <a:srgbClr val="F16421"/>
                </a:solidFill>
                <a:latin typeface="Calibri"/>
                <a:cs typeface="Calibri"/>
              </a:rPr>
              <a:t> </a:t>
            </a:r>
            <a:r>
              <a:rPr lang="en-NZ" sz="2400" b="1" dirty="0">
                <a:solidFill>
                  <a:srgbClr val="F16421"/>
                </a:solidFill>
                <a:latin typeface="Calibri"/>
                <a:cs typeface="Calibri"/>
              </a:rPr>
              <a:t>why</a:t>
            </a:r>
            <a:r>
              <a:rPr lang="en-NZ" sz="2400" b="1" spc="-80" dirty="0">
                <a:solidFill>
                  <a:srgbClr val="F16421"/>
                </a:solidFill>
                <a:latin typeface="Calibri"/>
                <a:cs typeface="Calibri"/>
              </a:rPr>
              <a:t> </a:t>
            </a:r>
            <a:r>
              <a:rPr lang="en-NZ" sz="2400" b="1" spc="-10" dirty="0">
                <a:solidFill>
                  <a:srgbClr val="F16421"/>
                </a:solidFill>
                <a:latin typeface="Calibri"/>
                <a:cs typeface="Calibri"/>
              </a:rPr>
              <a:t>critical?</a:t>
            </a:r>
            <a:endParaRPr lang="en-NZ" sz="2400" dirty="0">
              <a:latin typeface="Calibri"/>
              <a:cs typeface="Calibri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23E614-3771-BE22-03E9-58575D49B5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860882"/>
            <a:ext cx="10257155" cy="2400657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NZ" sz="2000" dirty="0"/>
              <a:t>COMP507- l</a:t>
            </a:r>
            <a:r>
              <a:rPr lang="en-NZ" sz="2000" dirty="0">
                <a:sym typeface="Wingdings" panose="05000000000000000000" pitchFamily="2" charset="2"/>
              </a:rPr>
              <a:t>earn about projects and PM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NZ" sz="2000" dirty="0">
                <a:sym typeface="Wingdings" panose="05000000000000000000" pitchFamily="2" charset="2"/>
              </a:rPr>
              <a:t>10 knowledge areas &amp; 5 process groups and various project plans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NZ" sz="2000" dirty="0">
                <a:sym typeface="Wingdings" panose="05000000000000000000" pitchFamily="2" charset="2"/>
              </a:rPr>
              <a:t>PM methodology- project phases, SE methods &amp; practices &amp; roles etc.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NZ" sz="2000" dirty="0"/>
              <a:t>Lots of individual elements to learn to understand PM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NZ" sz="2000" dirty="0"/>
          </a:p>
          <a:p>
            <a:pPr lvl="2"/>
            <a:endParaRPr lang="en-NZ" sz="2000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NZ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15210565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99593" rIns="0" bIns="0" rtlCol="0">
            <a:spAutoFit/>
          </a:bodyPr>
          <a:lstStyle/>
          <a:p>
            <a:pPr marL="145415">
              <a:lnSpc>
                <a:spcPct val="100000"/>
              </a:lnSpc>
              <a:spcBef>
                <a:spcPts val="105"/>
              </a:spcBef>
            </a:pPr>
            <a:r>
              <a:rPr spc="-30" dirty="0"/>
              <a:t>Teaching</a:t>
            </a:r>
            <a:r>
              <a:rPr spc="-170" dirty="0"/>
              <a:t> </a:t>
            </a:r>
            <a:r>
              <a:rPr spc="-20" dirty="0"/>
              <a:t>team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95400" y="1362964"/>
            <a:ext cx="10668000" cy="3316291"/>
          </a:xfrm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819"/>
              </a:spcBef>
              <a:buClr>
                <a:srgbClr val="F5821F"/>
              </a:buClr>
              <a:buFont typeface="Arial"/>
              <a:buChar char="•"/>
              <a:tabLst>
                <a:tab pos="241300" algn="l"/>
              </a:tabLst>
            </a:pPr>
            <a:r>
              <a:rPr sz="2200" spc="-10" dirty="0">
                <a:latin typeface="Calibri"/>
                <a:cs typeface="Calibri"/>
              </a:rPr>
              <a:t>Lecturer:</a:t>
            </a:r>
            <a:endParaRPr sz="2200" dirty="0">
              <a:latin typeface="Calibri"/>
              <a:cs typeface="Calibri"/>
            </a:endParaRPr>
          </a:p>
          <a:p>
            <a:pPr marL="469900" marR="5080" lvl="1">
              <a:lnSpc>
                <a:spcPts val="2590"/>
              </a:lnSpc>
              <a:spcBef>
                <a:spcPts val="550"/>
              </a:spcBef>
              <a:buClr>
                <a:srgbClr val="F5821F"/>
              </a:buClr>
              <a:tabLst>
                <a:tab pos="698500" algn="l"/>
              </a:tabLst>
            </a:pPr>
            <a:r>
              <a:rPr lang="en-NZ" sz="2000" dirty="0">
                <a:latin typeface="Calibri"/>
                <a:cs typeface="Calibri"/>
              </a:rPr>
              <a:t>Daniel</a:t>
            </a:r>
            <a:r>
              <a:rPr lang="en-NZ" sz="2000" spc="-55" dirty="0">
                <a:latin typeface="Calibri"/>
                <a:cs typeface="Calibri"/>
              </a:rPr>
              <a:t> </a:t>
            </a:r>
            <a:r>
              <a:rPr lang="en-NZ" sz="2000" dirty="0">
                <a:latin typeface="Calibri"/>
                <a:cs typeface="Calibri"/>
              </a:rPr>
              <a:t>Vaipulu: </a:t>
            </a:r>
            <a:r>
              <a:rPr lang="en-NZ" sz="2000" dirty="0">
                <a:latin typeface="Calibri"/>
                <a:cs typeface="Calibri"/>
                <a:hlinkClick r:id="rId2"/>
              </a:rPr>
              <a:t>daniel.vaipulu@aut.ac.nz</a:t>
            </a:r>
            <a:r>
              <a:rPr lang="en-NZ" sz="2000" dirty="0">
                <a:latin typeface="Calibri"/>
                <a:cs typeface="Calibri"/>
              </a:rPr>
              <a:t> </a:t>
            </a:r>
          </a:p>
          <a:p>
            <a:pPr marL="241300" indent="-228600">
              <a:spcBef>
                <a:spcPts val="819"/>
              </a:spcBef>
              <a:buClr>
                <a:srgbClr val="F5821F"/>
              </a:buClr>
              <a:buFont typeface="Arial"/>
              <a:buChar char="•"/>
              <a:tabLst>
                <a:tab pos="241300" algn="l"/>
              </a:tabLst>
            </a:pPr>
            <a:r>
              <a:rPr lang="en-NZ" sz="2000" spc="-45" dirty="0">
                <a:latin typeface="Calibri"/>
                <a:cs typeface="Calibri"/>
              </a:rPr>
              <a:t>TA:</a:t>
            </a:r>
          </a:p>
          <a:p>
            <a:pPr marL="12700">
              <a:spcBef>
                <a:spcPts val="819"/>
              </a:spcBef>
              <a:buClr>
                <a:srgbClr val="F5821F"/>
              </a:buClr>
              <a:tabLst>
                <a:tab pos="241300" algn="l"/>
              </a:tabLst>
            </a:pPr>
            <a:r>
              <a:rPr lang="en-NZ" sz="2000" spc="-45" dirty="0">
                <a:latin typeface="Calibri"/>
                <a:cs typeface="Calibri"/>
              </a:rPr>
              <a:t>        Khin </a:t>
            </a:r>
            <a:r>
              <a:rPr lang="en-NZ" sz="2000" spc="-45" dirty="0" err="1">
                <a:latin typeface="Calibri"/>
                <a:cs typeface="Calibri"/>
              </a:rPr>
              <a:t>Khin</a:t>
            </a:r>
            <a:r>
              <a:rPr lang="en-NZ" sz="2000" spc="-45" dirty="0">
                <a:latin typeface="Calibri"/>
                <a:cs typeface="Calibri"/>
              </a:rPr>
              <a:t> Maw: </a:t>
            </a:r>
            <a:r>
              <a:rPr lang="en-NZ" sz="2000" dirty="0">
                <a:hlinkClick r:id="rId3"/>
              </a:rPr>
              <a:t>jjy3276@autuni.ac.nz</a:t>
            </a:r>
            <a:endParaRPr lang="en-NZ" sz="2000" dirty="0"/>
          </a:p>
          <a:p>
            <a:pPr marL="12700">
              <a:spcBef>
                <a:spcPts val="819"/>
              </a:spcBef>
              <a:buClr>
                <a:srgbClr val="F5821F"/>
              </a:buClr>
              <a:tabLst>
                <a:tab pos="241300" algn="l"/>
              </a:tabLst>
            </a:pPr>
            <a:r>
              <a:rPr lang="en-NZ" sz="2000" spc="-45" dirty="0">
                <a:latin typeface="Calibri"/>
                <a:cs typeface="Calibri"/>
              </a:rPr>
              <a:t>        </a:t>
            </a:r>
            <a:r>
              <a:rPr lang="en-NZ" sz="2000" dirty="0"/>
              <a:t>Sindhuja Selvaraj: </a:t>
            </a:r>
            <a:r>
              <a:rPr lang="en-NZ" sz="2000" dirty="0">
                <a:hlinkClick r:id="rId4"/>
              </a:rPr>
              <a:t>Pdf8356@autuni.ac.nz</a:t>
            </a:r>
            <a:endParaRPr lang="en-NZ" sz="2000" dirty="0"/>
          </a:p>
          <a:p>
            <a:pPr marL="12700">
              <a:spcBef>
                <a:spcPts val="819"/>
              </a:spcBef>
              <a:buClr>
                <a:srgbClr val="F5821F"/>
              </a:buClr>
              <a:tabLst>
                <a:tab pos="241300" algn="l"/>
              </a:tabLst>
            </a:pPr>
            <a:r>
              <a:rPr lang="en-NZ" sz="2000" spc="-45" dirty="0">
                <a:latin typeface="Calibri"/>
                <a:cs typeface="Calibri"/>
              </a:rPr>
              <a:t>         Adeola. Ojo: </a:t>
            </a:r>
            <a:r>
              <a:rPr lang="en-NZ" sz="2000" dirty="0">
                <a:hlinkClick r:id="rId5" tooltip="mailto:adeola.ojo@autuni.ac.nz"/>
              </a:rPr>
              <a:t>adeola.ojo@autuni.ac.nz</a:t>
            </a:r>
            <a:endParaRPr lang="en-NZ" sz="2000" dirty="0"/>
          </a:p>
          <a:p>
            <a:pPr marL="12700">
              <a:spcBef>
                <a:spcPts val="819"/>
              </a:spcBef>
              <a:buClr>
                <a:srgbClr val="F5821F"/>
              </a:buClr>
              <a:tabLst>
                <a:tab pos="241300" algn="l"/>
              </a:tabLst>
            </a:pPr>
            <a:r>
              <a:rPr lang="en-NZ" sz="2000" spc="-45" dirty="0">
                <a:latin typeface="Calibri"/>
                <a:cs typeface="Calibri"/>
              </a:rPr>
              <a:t>         Manpreet Dhanjal: </a:t>
            </a:r>
            <a:r>
              <a:rPr lang="en-NZ" sz="2000" spc="-45" dirty="0">
                <a:latin typeface="Calibri"/>
                <a:cs typeface="Calibri"/>
                <a:hlinkClick r:id="rId6"/>
              </a:rPr>
              <a:t>ggv5104@autuni.ac.nz</a:t>
            </a:r>
            <a:endParaRPr lang="en-NZ" sz="2000" spc="-45" dirty="0">
              <a:latin typeface="Calibri"/>
              <a:cs typeface="Calibri"/>
            </a:endParaRPr>
          </a:p>
          <a:p>
            <a:pPr marL="12700">
              <a:spcBef>
                <a:spcPts val="819"/>
              </a:spcBef>
              <a:buClr>
                <a:srgbClr val="F5821F"/>
              </a:buClr>
              <a:tabLst>
                <a:tab pos="241300" algn="l"/>
              </a:tabLst>
            </a:pPr>
            <a:endParaRPr lang="en-NZ" sz="2000" spc="-45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06144" y="217424"/>
            <a:ext cx="10318115" cy="1089482"/>
          </a:xfrm>
        </p:spPr>
        <p:txBody>
          <a:bodyPr vert="horz" wrap="square" lIns="0" tIns="0" rIns="0" bIns="0" rtlCol="0">
            <a:normAutofit/>
          </a:bodyPr>
          <a:lstStyle/>
          <a:p>
            <a:pPr marL="12700">
              <a:spcBef>
                <a:spcPts val="105"/>
              </a:spcBef>
            </a:pPr>
            <a:r>
              <a:rPr lang="en-NZ" b="1" i="0" spc="-35">
                <a:latin typeface="Calibri"/>
                <a:ea typeface="+mj-ea"/>
                <a:cs typeface="Calibri"/>
              </a:rPr>
              <a:t>Teaching schedule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93444" y="1828800"/>
            <a:ext cx="4572000" cy="3756660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>
              <a:spcBef>
                <a:spcPts val="775"/>
              </a:spcBef>
              <a:buClr>
                <a:srgbClr val="F5821F"/>
              </a:buClr>
              <a:tabLst>
                <a:tab pos="240665" algn="l"/>
              </a:tabLst>
            </a:pPr>
            <a:r>
              <a:rPr lang="en-US" sz="2000" b="0" i="0" spc="-10" dirty="0">
                <a:solidFill>
                  <a:schemeClr val="tx1"/>
                </a:solidFill>
                <a:latin typeface="Calibri"/>
                <a:ea typeface="+mn-ea"/>
                <a:cs typeface="Calibri"/>
              </a:rPr>
              <a:t>Lecture: </a:t>
            </a:r>
            <a:r>
              <a:rPr lang="en-US" sz="2000" b="0" i="0" spc="-10" dirty="0">
                <a:solidFill>
                  <a:schemeClr val="tx1"/>
                </a:solidFill>
                <a:highlight>
                  <a:srgbClr val="FFFF00"/>
                </a:highlight>
                <a:latin typeface="Calibri"/>
                <a:ea typeface="+mn-ea"/>
                <a:cs typeface="Calibri"/>
              </a:rPr>
              <a:t>Must attend the lecture(as allocated in your timetable)</a:t>
            </a:r>
          </a:p>
          <a:p>
            <a:pPr marL="342900" lvl="2" indent="-342900">
              <a:spcBef>
                <a:spcPts val="775"/>
              </a:spcBef>
              <a:buClr>
                <a:srgbClr val="F5821F"/>
              </a:buClr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US" sz="2000" b="0" i="0" spc="-10" dirty="0">
                <a:solidFill>
                  <a:schemeClr val="tx1"/>
                </a:solidFill>
                <a:latin typeface="Calibri"/>
                <a:ea typeface="+mn-ea"/>
                <a:cs typeface="Calibri"/>
              </a:rPr>
              <a:t>Lecture 1: Monday 4-6 pm</a:t>
            </a:r>
            <a:r>
              <a:rPr lang="en-US" sz="2000" spc="-10" dirty="0">
                <a:solidFill>
                  <a:schemeClr val="tx1"/>
                </a:solidFill>
                <a:latin typeface="Calibri"/>
                <a:ea typeface="+mn-ea"/>
                <a:cs typeface="Calibri"/>
              </a:rPr>
              <a:t> at </a:t>
            </a:r>
            <a:r>
              <a:rPr lang="en-US" sz="2000" b="0" i="0" spc="-10" dirty="0">
                <a:solidFill>
                  <a:schemeClr val="tx1"/>
                </a:solidFill>
                <a:latin typeface="Calibri"/>
                <a:ea typeface="+mn-ea"/>
                <a:cs typeface="Calibri"/>
              </a:rPr>
              <a:t>WG403</a:t>
            </a:r>
          </a:p>
          <a:p>
            <a:pPr indent="-342900">
              <a:spcBef>
                <a:spcPts val="775"/>
              </a:spcBef>
              <a:buClr>
                <a:srgbClr val="F5821F"/>
              </a:buClr>
              <a:buFont typeface="Arial" panose="020B0604020202020204" pitchFamily="34" charset="0"/>
              <a:buChar char="•"/>
              <a:tabLst>
                <a:tab pos="240665" algn="l"/>
              </a:tabLst>
            </a:pPr>
            <a:r>
              <a:rPr lang="en-US" sz="2000" b="0" i="0" spc="-10" dirty="0">
                <a:solidFill>
                  <a:schemeClr val="tx1"/>
                </a:solidFill>
                <a:latin typeface="Calibri"/>
                <a:ea typeface="+mn-ea"/>
                <a:cs typeface="Calibri"/>
              </a:rPr>
              <a:t>Lab: attend one lab per week only (as allocated in your timetable) </a:t>
            </a:r>
          </a:p>
          <a:p>
            <a:pPr>
              <a:spcBef>
                <a:spcPts val="775"/>
              </a:spcBef>
              <a:buClr>
                <a:srgbClr val="F5821F"/>
              </a:buClr>
              <a:tabLst>
                <a:tab pos="240665" algn="l"/>
              </a:tabLst>
            </a:pPr>
            <a:endParaRPr lang="en-US" sz="2800" b="0" i="0" spc="-10" dirty="0">
              <a:solidFill>
                <a:schemeClr val="tx1"/>
              </a:solidFill>
              <a:latin typeface="Calibri"/>
              <a:ea typeface="+mn-ea"/>
              <a:cs typeface="Calibri"/>
            </a:endParaRPr>
          </a:p>
          <a:p>
            <a:pPr>
              <a:spcBef>
                <a:spcPts val="775"/>
              </a:spcBef>
              <a:buClr>
                <a:srgbClr val="F5821F"/>
              </a:buClr>
              <a:tabLst>
                <a:tab pos="240665" algn="l"/>
              </a:tabLst>
            </a:pPr>
            <a:endParaRPr lang="en-US" sz="2800" b="0" i="0" spc="-10" dirty="0">
              <a:solidFill>
                <a:schemeClr val="tx1"/>
              </a:solidFill>
              <a:latin typeface="Calibri"/>
              <a:ea typeface="+mn-ea"/>
              <a:cs typeface="Calibri"/>
            </a:endParaRPr>
          </a:p>
          <a:p>
            <a:pPr>
              <a:spcBef>
                <a:spcPts val="775"/>
              </a:spcBef>
              <a:buClr>
                <a:srgbClr val="F5821F"/>
              </a:buClr>
              <a:tabLst>
                <a:tab pos="240665" algn="l"/>
              </a:tabLst>
            </a:pPr>
            <a:endParaRPr lang="en-US" sz="2800" b="0" i="0" dirty="0">
              <a:solidFill>
                <a:schemeClr val="tx1"/>
              </a:solidFill>
              <a:latin typeface="Calibri"/>
              <a:ea typeface="+mn-ea"/>
              <a:cs typeface="Calibri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3E665B8-C903-9ED1-943F-F2C6E31BCC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5626072"/>
              </p:ext>
            </p:extLst>
          </p:nvPr>
        </p:nvGraphicFramePr>
        <p:xfrm>
          <a:off x="6278880" y="1891761"/>
          <a:ext cx="5303522" cy="3897440"/>
        </p:xfrm>
        <a:graphic>
          <a:graphicData uri="http://schemas.openxmlformats.org/drawingml/2006/table">
            <a:tbl>
              <a:tblPr>
                <a:noFill/>
                <a:tableStyleId>{5C22544A-7EE6-4342-B048-85BDC9FD1C3A}</a:tableStyleId>
              </a:tblPr>
              <a:tblGrid>
                <a:gridCol w="1722120">
                  <a:extLst>
                    <a:ext uri="{9D8B030D-6E8A-4147-A177-3AD203B41FA5}">
                      <a16:colId xmlns:a16="http://schemas.microsoft.com/office/drawing/2014/main" val="2340098144"/>
                    </a:ext>
                  </a:extLst>
                </a:gridCol>
                <a:gridCol w="1074050">
                  <a:extLst>
                    <a:ext uri="{9D8B030D-6E8A-4147-A177-3AD203B41FA5}">
                      <a16:colId xmlns:a16="http://schemas.microsoft.com/office/drawing/2014/main" val="3518292980"/>
                    </a:ext>
                  </a:extLst>
                </a:gridCol>
                <a:gridCol w="832103">
                  <a:extLst>
                    <a:ext uri="{9D8B030D-6E8A-4147-A177-3AD203B41FA5}">
                      <a16:colId xmlns:a16="http://schemas.microsoft.com/office/drawing/2014/main" val="2580125230"/>
                    </a:ext>
                  </a:extLst>
                </a:gridCol>
                <a:gridCol w="1675249">
                  <a:extLst>
                    <a:ext uri="{9D8B030D-6E8A-4147-A177-3AD203B41FA5}">
                      <a16:colId xmlns:a16="http://schemas.microsoft.com/office/drawing/2014/main" val="2165493488"/>
                    </a:ext>
                  </a:extLst>
                </a:gridCol>
              </a:tblGrid>
              <a:tr h="47542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NZ" sz="140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Stream </a:t>
                      </a:r>
                      <a:endParaRPr lang="en-NZ" sz="1400" b="0" i="0" u="none" strike="noStrik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95917" marR="117550" marT="117550" marB="117550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NZ" sz="140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Lab</a:t>
                      </a:r>
                      <a:endParaRPr lang="en-NZ" sz="1400" b="0" i="0" u="none" strike="noStrik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95917" marR="117550" marT="117550" marB="11755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NZ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NZ" sz="140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Location</a:t>
                      </a:r>
                      <a:endParaRPr lang="en-NZ" sz="1400" b="0" i="0" u="none" strike="noStrike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95917" marR="117550" marT="117550" marB="11755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1124136"/>
                  </a:ext>
                </a:extLst>
              </a:tr>
              <a:tr h="68440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NZ" sz="140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	</a:t>
                      </a:r>
                    </a:p>
                    <a:p>
                      <a:pPr algn="l" fontAlgn="ctr">
                        <a:buNone/>
                      </a:pPr>
                      <a:r>
                        <a:rPr lang="en-NZ" sz="140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COMP507/W204A</a:t>
                      </a:r>
                      <a:endParaRPr lang="en-NZ" sz="1400" b="0" i="0" u="none" strike="noStrik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95917" marR="117550" marT="117550" marB="117550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NZ" sz="140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2:00 PM - 4:00 PM </a:t>
                      </a:r>
                      <a:endParaRPr lang="en-NZ" sz="1400" b="0" i="0" u="none" strike="noStrik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95917" marR="117550" marT="117550" marB="11755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NZ" sz="1400" b="0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</a:rPr>
                        <a:t>TUES</a:t>
                      </a:r>
                    </a:p>
                  </a:txBody>
                  <a:tcPr marL="195917" marR="117550" marT="117550" marB="11755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NZ" sz="140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WZ602</a:t>
                      </a:r>
                      <a:endParaRPr lang="en-NZ" sz="1400" b="0" i="0" u="none" strike="noStrik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95917" marR="117550" marT="117550" marB="11755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363840"/>
                  </a:ext>
                </a:extLst>
              </a:tr>
              <a:tr h="68440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NZ" sz="140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	 COMP507/W203A </a:t>
                      </a:r>
                    </a:p>
                  </a:txBody>
                  <a:tcPr marL="195917" marR="117550" marT="117550" marB="117550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NZ" sz="140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8:00 AM - 10:00 AM </a:t>
                      </a:r>
                      <a:endParaRPr lang="en-NZ" sz="1400" b="0" i="0" u="none" strike="noStrik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95917" marR="117550" marT="117550" marB="11755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NZ" sz="140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THURS</a:t>
                      </a:r>
                      <a:endParaRPr lang="en-NZ" sz="1400" b="0" i="0" u="none" strike="noStrik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95917" marR="117550" marT="117550" marB="11755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NZ" sz="140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WS220 </a:t>
                      </a:r>
                      <a:endParaRPr lang="en-NZ" sz="1400" b="0" i="0" u="none" strike="noStrik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95917" marR="117550" marT="117550" marB="11755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7918643"/>
                  </a:ext>
                </a:extLst>
              </a:tr>
              <a:tr h="68440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NZ" sz="1400" b="0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</a:rPr>
                        <a:t>	</a:t>
                      </a:r>
                    </a:p>
                    <a:p>
                      <a:pPr algn="l" fontAlgn="ctr">
                        <a:buNone/>
                      </a:pPr>
                      <a:r>
                        <a:rPr lang="en-NZ" sz="1400" b="0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</a:rPr>
                        <a:t>COMP507/W201A </a:t>
                      </a:r>
                    </a:p>
                  </a:txBody>
                  <a:tcPr marL="195917" marR="117550" marT="117550" marB="117550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NZ" sz="140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2:00 PM - 4:00 PM </a:t>
                      </a:r>
                      <a:endParaRPr lang="en-NZ" sz="1400" b="0" i="0" u="none" strike="noStrik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95917" marR="117550" marT="117550" marB="11755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NZ" sz="140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THURS</a:t>
                      </a:r>
                      <a:endParaRPr lang="en-NZ" sz="1400" b="0" i="0" u="none" strike="noStrik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95917" marR="117550" marT="117550" marB="11755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NZ" sz="140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WS220  </a:t>
                      </a:r>
                      <a:endParaRPr lang="en-NZ" sz="1400" b="0" i="0" u="none" strike="noStrik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95917" marR="117550" marT="117550" marB="11755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4287090"/>
                  </a:ext>
                </a:extLst>
              </a:tr>
              <a:tr h="68440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NZ" sz="140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	</a:t>
                      </a:r>
                    </a:p>
                    <a:p>
                      <a:pPr algn="l" fontAlgn="ctr">
                        <a:buNone/>
                      </a:pPr>
                      <a:r>
                        <a:rPr lang="en-NZ" sz="140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COMP507/W103A</a:t>
                      </a:r>
                      <a:endParaRPr lang="en-NZ" sz="1400" b="0" i="0" u="none" strike="noStrik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95917" marR="117550" marT="117550" marB="117550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NZ" sz="140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8:00 AM - 10:00 AM </a:t>
                      </a:r>
                      <a:endParaRPr lang="en-NZ" sz="1400" b="0" i="0" u="none" strike="noStrik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95917" marR="117550" marT="117550" marB="11755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NZ" sz="1400" b="0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</a:rPr>
                        <a:t>FRI</a:t>
                      </a:r>
                    </a:p>
                  </a:txBody>
                  <a:tcPr marL="195917" marR="117550" marT="117550" marB="11755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NZ" sz="140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WZ602</a:t>
                      </a:r>
                      <a:endParaRPr lang="en-NZ" sz="1400" b="0" i="0" u="none" strike="noStrik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95917" marR="117550" marT="117550" marB="11755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0827263"/>
                  </a:ext>
                </a:extLst>
              </a:tr>
              <a:tr h="68440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NZ" sz="140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	</a:t>
                      </a:r>
                    </a:p>
                    <a:p>
                      <a:pPr algn="l" fontAlgn="ctr">
                        <a:buNone/>
                      </a:pPr>
                      <a:r>
                        <a:rPr lang="en-NZ" sz="140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COMP507/W102A</a:t>
                      </a:r>
                      <a:endParaRPr lang="en-NZ" sz="1400" b="0" i="0" u="none" strike="noStrik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95917" marR="117550" marT="117550" marB="117550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NZ" sz="140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4:00 PM - 6:00 PM </a:t>
                      </a:r>
                      <a:endParaRPr lang="en-NZ" sz="1400" b="0" i="0" u="none" strike="noStrik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95917" marR="117550" marT="117550" marB="11755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NZ" sz="1400" b="0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</a:rPr>
                        <a:t>FRI</a:t>
                      </a:r>
                    </a:p>
                  </a:txBody>
                  <a:tcPr marL="195917" marR="117550" marT="117550" marB="11755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NZ" sz="140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WZ517 </a:t>
                      </a:r>
                      <a:endParaRPr lang="en-NZ" sz="1400" b="0" i="0" u="none" strike="noStrik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95917" marR="117550" marT="117550" marB="11755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871044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2687" rIns="0" bIns="0" rtlCol="0">
            <a:spAutoFit/>
          </a:bodyPr>
          <a:lstStyle/>
          <a:p>
            <a:pPr marL="80645">
              <a:lnSpc>
                <a:spcPct val="100000"/>
              </a:lnSpc>
              <a:spcBef>
                <a:spcPts val="105"/>
              </a:spcBef>
            </a:pPr>
            <a:r>
              <a:rPr spc="-35" dirty="0"/>
              <a:t>Topics</a:t>
            </a:r>
            <a:r>
              <a:rPr spc="-200" dirty="0"/>
              <a:t> </a:t>
            </a:r>
            <a:r>
              <a:rPr spc="-10" dirty="0"/>
              <a:t>Covered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74469" y="1469897"/>
            <a:ext cx="9918065" cy="4019690"/>
          </a:xfrm>
          <a:prstGeom prst="rect">
            <a:avLst/>
          </a:prstGeom>
        </p:spPr>
        <p:txBody>
          <a:bodyPr vert="horz" wrap="square" lIns="0" tIns="104775" rIns="0" bIns="0" rtlCol="0">
            <a:spAutoFit/>
          </a:bodyPr>
          <a:lstStyle/>
          <a:p>
            <a:pPr marL="527685" marR="5080" indent="-515620">
              <a:lnSpc>
                <a:spcPct val="70000"/>
              </a:lnSpc>
              <a:spcBef>
                <a:spcPts val="825"/>
              </a:spcBef>
              <a:buClr>
                <a:srgbClr val="F5821F"/>
              </a:buClr>
              <a:buAutoNum type="arabicPeriod"/>
              <a:tabLst>
                <a:tab pos="527685" algn="l"/>
              </a:tabLst>
            </a:pPr>
            <a:r>
              <a:rPr sz="2000" dirty="0">
                <a:latin typeface="Calibri"/>
                <a:cs typeface="Calibri"/>
              </a:rPr>
              <a:t>Project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knowledge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concepts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-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lang="en-NZ" sz="2000" dirty="0">
                <a:latin typeface="Calibri"/>
                <a:cs typeface="Calibri"/>
              </a:rPr>
              <a:t>triple</a:t>
            </a:r>
            <a:r>
              <a:rPr lang="en-NZ" sz="2000" spc="-20" dirty="0">
                <a:latin typeface="Calibri"/>
                <a:cs typeface="Calibri"/>
              </a:rPr>
              <a:t> </a:t>
            </a:r>
            <a:r>
              <a:rPr lang="en-NZ" sz="2000" spc="-10" dirty="0">
                <a:latin typeface="Calibri"/>
                <a:cs typeface="Calibri"/>
              </a:rPr>
              <a:t>constraints,</a:t>
            </a:r>
            <a:r>
              <a:rPr lang="en-NZ"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project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attributes,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lang="en-NZ" sz="2000" dirty="0">
                <a:latin typeface="Calibri"/>
                <a:cs typeface="Calibri"/>
              </a:rPr>
              <a:t>project</a:t>
            </a:r>
            <a:r>
              <a:rPr lang="en-NZ" sz="2000" spc="-45" dirty="0">
                <a:latin typeface="Calibri"/>
                <a:cs typeface="Calibri"/>
              </a:rPr>
              <a:t> </a:t>
            </a:r>
            <a:r>
              <a:rPr lang="en-NZ" sz="2000" dirty="0">
                <a:latin typeface="Calibri"/>
                <a:cs typeface="Calibri"/>
              </a:rPr>
              <a:t>phases,</a:t>
            </a:r>
            <a:r>
              <a:rPr lang="en-NZ" sz="2000" spc="-40" dirty="0">
                <a:latin typeface="Calibri"/>
                <a:cs typeface="Calibri"/>
              </a:rPr>
              <a:t> </a:t>
            </a:r>
            <a:r>
              <a:rPr lang="en-NZ" sz="2000" dirty="0">
                <a:latin typeface="Calibri"/>
                <a:cs typeface="Calibri"/>
              </a:rPr>
              <a:t>project</a:t>
            </a:r>
            <a:r>
              <a:rPr lang="en-NZ" sz="2000" spc="-40" dirty="0">
                <a:latin typeface="Calibri"/>
                <a:cs typeface="Calibri"/>
              </a:rPr>
              <a:t> </a:t>
            </a:r>
            <a:r>
              <a:rPr lang="en-NZ" sz="2000" dirty="0">
                <a:latin typeface="Calibri"/>
                <a:cs typeface="Calibri"/>
              </a:rPr>
              <a:t>management</a:t>
            </a:r>
            <a:r>
              <a:rPr lang="en-NZ" sz="2000" spc="-50" dirty="0">
                <a:latin typeface="Calibri"/>
                <a:cs typeface="Calibri"/>
              </a:rPr>
              <a:t> </a:t>
            </a:r>
            <a:r>
              <a:rPr lang="en-NZ" sz="2000" spc="-10" dirty="0">
                <a:latin typeface="Calibri"/>
                <a:cs typeface="Calibri"/>
              </a:rPr>
              <a:t>methodology</a:t>
            </a:r>
            <a:endParaRPr lang="en-NZ" sz="2000" spc="-25" dirty="0">
              <a:latin typeface="Calibri"/>
              <a:cs typeface="Calibri"/>
            </a:endParaRPr>
          </a:p>
          <a:p>
            <a:pPr marL="527685" marR="5080" indent="-515620">
              <a:lnSpc>
                <a:spcPct val="70000"/>
              </a:lnSpc>
              <a:spcBef>
                <a:spcPts val="825"/>
              </a:spcBef>
              <a:buClr>
                <a:srgbClr val="F5821F"/>
              </a:buClr>
              <a:buAutoNum type="arabicPeriod"/>
              <a:tabLst>
                <a:tab pos="527685" algn="l"/>
              </a:tabLst>
            </a:pPr>
            <a:r>
              <a:rPr lang="en-NZ" sz="2000" dirty="0">
                <a:latin typeface="Calibri"/>
                <a:cs typeface="Calibri"/>
              </a:rPr>
              <a:t>Five</a:t>
            </a:r>
            <a:r>
              <a:rPr lang="en-NZ" sz="2000" spc="-40" dirty="0">
                <a:latin typeface="Calibri"/>
                <a:cs typeface="Calibri"/>
              </a:rPr>
              <a:t> </a:t>
            </a:r>
            <a:r>
              <a:rPr lang="en-NZ" sz="2000" dirty="0">
                <a:latin typeface="Calibri"/>
                <a:cs typeface="Calibri"/>
              </a:rPr>
              <a:t>process</a:t>
            </a:r>
            <a:r>
              <a:rPr lang="en-NZ" sz="2000" spc="-35" dirty="0">
                <a:latin typeface="Calibri"/>
                <a:cs typeface="Calibri"/>
              </a:rPr>
              <a:t> </a:t>
            </a:r>
            <a:r>
              <a:rPr lang="en-NZ" sz="2000" dirty="0">
                <a:latin typeface="Calibri"/>
                <a:cs typeface="Calibri"/>
              </a:rPr>
              <a:t>groups</a:t>
            </a:r>
          </a:p>
          <a:p>
            <a:pPr marL="527685" marR="5080" indent="-515620">
              <a:lnSpc>
                <a:spcPct val="70000"/>
              </a:lnSpc>
              <a:spcBef>
                <a:spcPts val="825"/>
              </a:spcBef>
              <a:buClr>
                <a:srgbClr val="F5821F"/>
              </a:buClr>
              <a:buAutoNum type="arabicPeriod"/>
              <a:tabLst>
                <a:tab pos="527685" algn="l"/>
              </a:tabLst>
            </a:pPr>
            <a:r>
              <a:rPr sz="2000" dirty="0">
                <a:latin typeface="Calibri"/>
                <a:cs typeface="Calibri"/>
              </a:rPr>
              <a:t>10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knowledge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areas</a:t>
            </a:r>
            <a:r>
              <a:rPr lang="en-NZ" sz="2000" spc="-10" dirty="0">
                <a:latin typeface="Calibri"/>
                <a:cs typeface="Calibri"/>
              </a:rPr>
              <a:t>:</a:t>
            </a:r>
            <a:r>
              <a:rPr sz="2000" spc="-60" dirty="0">
                <a:latin typeface="Calibri"/>
                <a:cs typeface="Calibri"/>
              </a:rPr>
              <a:t> </a:t>
            </a:r>
            <a:endParaRPr sz="2000" dirty="0">
              <a:latin typeface="Calibri"/>
              <a:cs typeface="Calibri"/>
            </a:endParaRPr>
          </a:p>
          <a:p>
            <a:pPr marL="12701" lvl="1">
              <a:spcBef>
                <a:spcPts val="290"/>
              </a:spcBef>
              <a:buClr>
                <a:srgbClr val="F5821F"/>
              </a:buClr>
              <a:tabLst>
                <a:tab pos="527685" algn="l"/>
              </a:tabLst>
            </a:pPr>
            <a:r>
              <a:rPr lang="en-NZ" sz="1600" spc="-10" dirty="0">
                <a:latin typeface="Calibri"/>
                <a:cs typeface="Calibri"/>
              </a:rPr>
              <a:t>		- Project Integration Management </a:t>
            </a:r>
          </a:p>
          <a:p>
            <a:pPr marL="12701" lvl="1">
              <a:spcBef>
                <a:spcPts val="290"/>
              </a:spcBef>
              <a:buClr>
                <a:srgbClr val="F5821F"/>
              </a:buClr>
              <a:tabLst>
                <a:tab pos="527685" algn="l"/>
              </a:tabLst>
            </a:pPr>
            <a:r>
              <a:rPr lang="en-NZ" sz="1600" spc="-10" dirty="0">
                <a:latin typeface="Calibri"/>
                <a:cs typeface="Calibri"/>
              </a:rPr>
              <a:t>		- </a:t>
            </a:r>
            <a:r>
              <a:rPr sz="1600" spc="-10" dirty="0">
                <a:latin typeface="Calibri"/>
                <a:cs typeface="Calibri"/>
              </a:rPr>
              <a:t>Scop</a:t>
            </a:r>
            <a:r>
              <a:rPr lang="en-NZ" sz="1600" spc="-10" dirty="0">
                <a:latin typeface="Calibri"/>
                <a:cs typeface="Calibri"/>
              </a:rPr>
              <a:t>e Management</a:t>
            </a:r>
            <a:endParaRPr sz="1600" dirty="0">
              <a:latin typeface="Calibri"/>
              <a:cs typeface="Calibri"/>
            </a:endParaRPr>
          </a:p>
          <a:p>
            <a:pPr marL="12701">
              <a:lnSpc>
                <a:spcPct val="100000"/>
              </a:lnSpc>
              <a:spcBef>
                <a:spcPts val="275"/>
              </a:spcBef>
              <a:buClr>
                <a:srgbClr val="F5821F"/>
              </a:buClr>
              <a:tabLst>
                <a:tab pos="527685" algn="l"/>
              </a:tabLst>
            </a:pPr>
            <a:r>
              <a:rPr lang="en-NZ" sz="1600" dirty="0">
                <a:latin typeface="Calibri"/>
                <a:cs typeface="Calibri"/>
              </a:rPr>
              <a:t>		- </a:t>
            </a:r>
            <a:r>
              <a:rPr sz="1600" dirty="0">
                <a:latin typeface="Calibri"/>
                <a:cs typeface="Calibri"/>
              </a:rPr>
              <a:t>Scheduling</a:t>
            </a:r>
            <a:r>
              <a:rPr lang="en-NZ" sz="1600" spc="-30" dirty="0">
                <a:latin typeface="Calibri"/>
                <a:cs typeface="Calibri"/>
              </a:rPr>
              <a:t>/</a:t>
            </a:r>
            <a:r>
              <a:rPr lang="en-NZ" sz="1600" dirty="0">
                <a:latin typeface="Calibri"/>
                <a:cs typeface="Calibri"/>
              </a:rPr>
              <a:t>Time</a:t>
            </a:r>
            <a:r>
              <a:rPr lang="en-NZ" sz="1600" spc="-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Management</a:t>
            </a:r>
            <a:endParaRPr sz="1600" dirty="0">
              <a:latin typeface="Calibri"/>
              <a:cs typeface="Calibri"/>
            </a:endParaRPr>
          </a:p>
          <a:p>
            <a:pPr marL="12701">
              <a:lnSpc>
                <a:spcPct val="100000"/>
              </a:lnSpc>
              <a:spcBef>
                <a:spcPts val="275"/>
              </a:spcBef>
              <a:buClr>
                <a:srgbClr val="F5821F"/>
              </a:buClr>
              <a:tabLst>
                <a:tab pos="527685" algn="l"/>
              </a:tabLst>
            </a:pPr>
            <a:r>
              <a:rPr lang="en-NZ" sz="1600" dirty="0">
                <a:latin typeface="Calibri"/>
                <a:cs typeface="Calibri"/>
              </a:rPr>
              <a:t>		- </a:t>
            </a:r>
            <a:r>
              <a:rPr sz="1600" dirty="0">
                <a:latin typeface="Calibri"/>
                <a:cs typeface="Calibri"/>
              </a:rPr>
              <a:t>Cost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Management</a:t>
            </a:r>
            <a:endParaRPr sz="1600" dirty="0">
              <a:latin typeface="Calibri"/>
              <a:cs typeface="Calibri"/>
            </a:endParaRPr>
          </a:p>
          <a:p>
            <a:pPr marL="12701">
              <a:lnSpc>
                <a:spcPct val="100000"/>
              </a:lnSpc>
              <a:spcBef>
                <a:spcPts val="290"/>
              </a:spcBef>
              <a:buClr>
                <a:srgbClr val="F5821F"/>
              </a:buClr>
              <a:tabLst>
                <a:tab pos="527685" algn="l"/>
              </a:tabLst>
            </a:pPr>
            <a:r>
              <a:rPr lang="en-NZ" sz="1600" dirty="0">
                <a:latin typeface="Calibri"/>
                <a:cs typeface="Calibri"/>
              </a:rPr>
              <a:t>		- </a:t>
            </a:r>
            <a:r>
              <a:rPr sz="1600" dirty="0">
                <a:latin typeface="Calibri"/>
                <a:cs typeface="Calibri"/>
              </a:rPr>
              <a:t>Quality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Assurance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Management</a:t>
            </a:r>
            <a:endParaRPr sz="1600" dirty="0">
              <a:latin typeface="Calibri"/>
              <a:cs typeface="Calibri"/>
            </a:endParaRPr>
          </a:p>
          <a:p>
            <a:pPr marL="12701">
              <a:lnSpc>
                <a:spcPct val="100000"/>
              </a:lnSpc>
              <a:spcBef>
                <a:spcPts val="275"/>
              </a:spcBef>
              <a:buClr>
                <a:srgbClr val="F5821F"/>
              </a:buClr>
              <a:tabLst>
                <a:tab pos="527685" algn="l"/>
              </a:tabLst>
            </a:pPr>
            <a:r>
              <a:rPr lang="en-NZ" sz="1600" dirty="0">
                <a:latin typeface="Calibri"/>
                <a:cs typeface="Calibri"/>
              </a:rPr>
              <a:t>		- </a:t>
            </a:r>
            <a:r>
              <a:rPr sz="1600" dirty="0">
                <a:latin typeface="Calibri"/>
                <a:cs typeface="Calibri"/>
              </a:rPr>
              <a:t>Communications</a:t>
            </a:r>
            <a:r>
              <a:rPr sz="1600" spc="-8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Management</a:t>
            </a:r>
            <a:endParaRPr sz="1600" dirty="0">
              <a:latin typeface="Calibri"/>
              <a:cs typeface="Calibri"/>
            </a:endParaRPr>
          </a:p>
          <a:p>
            <a:pPr marL="12701">
              <a:lnSpc>
                <a:spcPct val="100000"/>
              </a:lnSpc>
              <a:spcBef>
                <a:spcPts val="280"/>
              </a:spcBef>
              <a:buClr>
                <a:srgbClr val="F5821F"/>
              </a:buClr>
              <a:tabLst>
                <a:tab pos="527685" algn="l"/>
              </a:tabLst>
            </a:pPr>
            <a:r>
              <a:rPr lang="en-NZ" sz="1600" dirty="0">
                <a:latin typeface="Calibri"/>
                <a:cs typeface="Calibri"/>
              </a:rPr>
              <a:t>                    - Stakeholder 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Management</a:t>
            </a:r>
            <a:endParaRPr sz="1600" dirty="0">
              <a:latin typeface="Calibri"/>
              <a:cs typeface="Calibri"/>
            </a:endParaRPr>
          </a:p>
          <a:p>
            <a:pPr marL="12701">
              <a:lnSpc>
                <a:spcPct val="100000"/>
              </a:lnSpc>
              <a:spcBef>
                <a:spcPts val="285"/>
              </a:spcBef>
              <a:buClr>
                <a:srgbClr val="F5821F"/>
              </a:buClr>
              <a:tabLst>
                <a:tab pos="527685" algn="l"/>
              </a:tabLst>
            </a:pPr>
            <a:r>
              <a:rPr lang="en-NZ" sz="1600" dirty="0">
                <a:latin typeface="Calibri"/>
                <a:cs typeface="Calibri"/>
              </a:rPr>
              <a:t>  		- </a:t>
            </a:r>
            <a:r>
              <a:rPr sz="1600" dirty="0">
                <a:latin typeface="Calibri"/>
                <a:cs typeface="Calibri"/>
              </a:rPr>
              <a:t>Risk </a:t>
            </a:r>
            <a:r>
              <a:rPr sz="1600" spc="-10" dirty="0">
                <a:latin typeface="Calibri"/>
                <a:cs typeface="Calibri"/>
              </a:rPr>
              <a:t>Management</a:t>
            </a:r>
            <a:endParaRPr sz="1600" dirty="0">
              <a:latin typeface="Calibri"/>
              <a:cs typeface="Calibri"/>
            </a:endParaRPr>
          </a:p>
          <a:p>
            <a:pPr marL="12701">
              <a:lnSpc>
                <a:spcPct val="100000"/>
              </a:lnSpc>
              <a:spcBef>
                <a:spcPts val="275"/>
              </a:spcBef>
              <a:buClr>
                <a:srgbClr val="F5821F"/>
              </a:buClr>
              <a:tabLst>
                <a:tab pos="527685" algn="l"/>
              </a:tabLst>
            </a:pPr>
            <a:r>
              <a:rPr lang="en-NZ" sz="1600" spc="-35" dirty="0">
                <a:latin typeface="Calibri"/>
                <a:cs typeface="Calibri"/>
              </a:rPr>
              <a:t>		- Human Resource (Team) </a:t>
            </a:r>
            <a:r>
              <a:rPr sz="1600" spc="-10" dirty="0">
                <a:latin typeface="Calibri"/>
                <a:cs typeface="Calibri"/>
              </a:rPr>
              <a:t>Management</a:t>
            </a:r>
            <a:endParaRPr sz="1600" dirty="0">
              <a:latin typeface="Calibri"/>
              <a:cs typeface="Calibri"/>
            </a:endParaRPr>
          </a:p>
          <a:p>
            <a:pPr marL="12701">
              <a:lnSpc>
                <a:spcPct val="100000"/>
              </a:lnSpc>
              <a:spcBef>
                <a:spcPts val="290"/>
              </a:spcBef>
              <a:buClr>
                <a:srgbClr val="F5821F"/>
              </a:buClr>
              <a:tabLst>
                <a:tab pos="527685" algn="l"/>
              </a:tabLst>
            </a:pPr>
            <a:r>
              <a:rPr lang="en-NZ" sz="1600" spc="-10" dirty="0">
                <a:latin typeface="Calibri"/>
                <a:cs typeface="Calibri"/>
              </a:rPr>
              <a:t>		- Procurement</a:t>
            </a:r>
            <a:r>
              <a:rPr lang="en-NZ" sz="1600" spc="-30" dirty="0">
                <a:latin typeface="Calibri"/>
                <a:cs typeface="Calibri"/>
              </a:rPr>
              <a:t> </a:t>
            </a:r>
            <a:r>
              <a:rPr lang="en-NZ" sz="1600" spc="-10" dirty="0">
                <a:latin typeface="Calibri"/>
                <a:cs typeface="Calibri"/>
              </a:rPr>
              <a:t>Management</a:t>
            </a:r>
            <a:endParaRPr lang="en-NZ" sz="16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05483" y="481583"/>
            <a:ext cx="2986278" cy="122910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71600" y="-38530"/>
            <a:ext cx="10318115" cy="1089482"/>
          </a:xfrm>
          <a:prstGeom prst="rect">
            <a:avLst/>
          </a:prstGeom>
        </p:spPr>
        <p:txBody>
          <a:bodyPr vert="horz" wrap="square" lIns="0" tIns="405587" rIns="0" bIns="0" rtlCol="0">
            <a:spAutoFit/>
          </a:bodyPr>
          <a:lstStyle/>
          <a:p>
            <a:pPr marL="145415">
              <a:lnSpc>
                <a:spcPct val="100000"/>
              </a:lnSpc>
              <a:spcBef>
                <a:spcPts val="105"/>
              </a:spcBef>
            </a:pPr>
            <a:r>
              <a:rPr spc="-75" dirty="0"/>
              <a:t>Text</a:t>
            </a:r>
            <a:r>
              <a:rPr spc="-170" dirty="0"/>
              <a:t> </a:t>
            </a:r>
            <a:r>
              <a:rPr spc="-20" dirty="0"/>
              <a:t>Book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582135" y="1732788"/>
            <a:ext cx="9413240" cy="1171575"/>
            <a:chOff x="1582135" y="1732788"/>
            <a:chExt cx="9413240" cy="1171575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82135" y="1957236"/>
              <a:ext cx="236535" cy="25026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87652" y="1732788"/>
              <a:ext cx="2167890" cy="787146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488435" y="1732788"/>
              <a:ext cx="7372350" cy="78714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465308" y="1770888"/>
              <a:ext cx="529577" cy="540258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787652" y="2116836"/>
              <a:ext cx="4441698" cy="787146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1513966" y="1664223"/>
            <a:ext cx="9344660" cy="836294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495300" marR="30480" indent="-457834">
              <a:lnSpc>
                <a:spcPts val="3030"/>
              </a:lnSpc>
              <a:spcBef>
                <a:spcPts val="475"/>
              </a:spcBef>
              <a:tabLst>
                <a:tab pos="495300" algn="l"/>
              </a:tabLst>
            </a:pPr>
            <a:r>
              <a:rPr sz="2800" spc="-25" dirty="0">
                <a:solidFill>
                  <a:srgbClr val="F5821F"/>
                </a:solidFill>
                <a:latin typeface="Calibri"/>
                <a:cs typeface="Calibri"/>
              </a:rPr>
              <a:t>1.</a:t>
            </a:r>
            <a:r>
              <a:rPr sz="2800" dirty="0">
                <a:solidFill>
                  <a:srgbClr val="F5821F"/>
                </a:solidFill>
                <a:latin typeface="Calibri"/>
                <a:cs typeface="Calibri"/>
              </a:rPr>
              <a:t>	</a:t>
            </a:r>
            <a:r>
              <a:rPr sz="2800" spc="-10" dirty="0">
                <a:solidFill>
                  <a:srgbClr val="FF0000"/>
                </a:solidFill>
                <a:latin typeface="Calibri"/>
                <a:cs typeface="Calibri"/>
              </a:rPr>
              <a:t>REQUIRED!</a:t>
            </a:r>
            <a:r>
              <a:rPr sz="2800" spc="-10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6F2F9F"/>
                </a:solidFill>
                <a:latin typeface="Calibri"/>
                <a:cs typeface="Calibri"/>
              </a:rPr>
              <a:t>Information</a:t>
            </a:r>
            <a:r>
              <a:rPr sz="2800" spc="-9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spc="-30" dirty="0">
                <a:solidFill>
                  <a:srgbClr val="6F2F9F"/>
                </a:solidFill>
                <a:latin typeface="Calibri"/>
                <a:cs typeface="Calibri"/>
              </a:rPr>
              <a:t>Technology</a:t>
            </a:r>
            <a:r>
              <a:rPr sz="2800" spc="-9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6F2F9F"/>
                </a:solidFill>
                <a:latin typeface="Calibri"/>
                <a:cs typeface="Calibri"/>
              </a:rPr>
              <a:t>Project</a:t>
            </a:r>
            <a:r>
              <a:rPr sz="2800" spc="-8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6F2F9F"/>
                </a:solidFill>
                <a:latin typeface="Calibri"/>
                <a:cs typeface="Calibri"/>
              </a:rPr>
              <a:t>Management</a:t>
            </a:r>
            <a:r>
              <a:rPr sz="2800" spc="-9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6F2F9F"/>
                </a:solidFill>
                <a:latin typeface="Calibri"/>
                <a:cs typeface="Calibri"/>
              </a:rPr>
              <a:t>(9</a:t>
            </a:r>
            <a:r>
              <a:rPr sz="2775" spc="-30" baseline="25525" dirty="0">
                <a:solidFill>
                  <a:srgbClr val="6F2F9F"/>
                </a:solidFill>
                <a:latin typeface="Calibri"/>
                <a:cs typeface="Calibri"/>
              </a:rPr>
              <a:t>th </a:t>
            </a:r>
            <a:r>
              <a:rPr sz="2800" dirty="0">
                <a:solidFill>
                  <a:srgbClr val="6F2F9F"/>
                </a:solidFill>
                <a:latin typeface="Calibri"/>
                <a:cs typeface="Calibri"/>
              </a:rPr>
              <a:t>edition),</a:t>
            </a:r>
            <a:r>
              <a:rPr sz="2800" spc="-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6F2F9F"/>
                </a:solidFill>
                <a:latin typeface="Calibri"/>
                <a:cs typeface="Calibri"/>
              </a:rPr>
              <a:t>By</a:t>
            </a:r>
            <a:r>
              <a:rPr sz="2800" spc="-10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6F2F9F"/>
                </a:solidFill>
                <a:latin typeface="Calibri"/>
                <a:cs typeface="Calibri"/>
              </a:rPr>
              <a:t>Kathy</a:t>
            </a:r>
            <a:r>
              <a:rPr sz="2800" spc="-9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6F2F9F"/>
                </a:solidFill>
                <a:latin typeface="Calibri"/>
                <a:cs typeface="Calibri"/>
              </a:rPr>
              <a:t>Schwalbe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513966" y="5263692"/>
            <a:ext cx="9248140" cy="835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ts val="3190"/>
              </a:lnSpc>
              <a:spcBef>
                <a:spcPts val="95"/>
              </a:spcBef>
              <a:tabLst>
                <a:tab pos="495300" algn="l"/>
              </a:tabLst>
            </a:pPr>
            <a:r>
              <a:rPr sz="2800" spc="-25" dirty="0">
                <a:solidFill>
                  <a:srgbClr val="F5821F"/>
                </a:solidFill>
                <a:latin typeface="Calibri"/>
                <a:cs typeface="Calibri"/>
              </a:rPr>
              <a:t>2.</a:t>
            </a:r>
            <a:r>
              <a:rPr sz="2800" dirty="0">
                <a:solidFill>
                  <a:srgbClr val="F5821F"/>
                </a:solidFill>
                <a:latin typeface="Calibri"/>
                <a:cs typeface="Calibri"/>
              </a:rPr>
              <a:t>	</a:t>
            </a:r>
            <a:r>
              <a:rPr sz="2800" dirty="0">
                <a:latin typeface="Calibri"/>
                <a:cs typeface="Calibri"/>
              </a:rPr>
              <a:t>Also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A</a:t>
            </a:r>
            <a:r>
              <a:rPr sz="2800" i="1" spc="-50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Guide</a:t>
            </a:r>
            <a:r>
              <a:rPr sz="2800" i="1" spc="-55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to</a:t>
            </a:r>
            <a:r>
              <a:rPr sz="2800" i="1" spc="-55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the</a:t>
            </a:r>
            <a:r>
              <a:rPr sz="2800" i="1" spc="-50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Project</a:t>
            </a:r>
            <a:r>
              <a:rPr sz="2800" i="1" spc="-45" dirty="0">
                <a:latin typeface="Calibri"/>
                <a:cs typeface="Calibri"/>
              </a:rPr>
              <a:t> </a:t>
            </a:r>
            <a:r>
              <a:rPr sz="2800" i="1" spc="-10" dirty="0">
                <a:latin typeface="Calibri"/>
                <a:cs typeface="Calibri"/>
              </a:rPr>
              <a:t>Management</a:t>
            </a:r>
            <a:r>
              <a:rPr sz="2800" i="1" spc="-40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Body</a:t>
            </a:r>
            <a:r>
              <a:rPr sz="2800" i="1" spc="-60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of</a:t>
            </a:r>
            <a:r>
              <a:rPr sz="2800" i="1" spc="-65" dirty="0">
                <a:latin typeface="Calibri"/>
                <a:cs typeface="Calibri"/>
              </a:rPr>
              <a:t> </a:t>
            </a:r>
            <a:r>
              <a:rPr sz="2800" i="1" spc="-10" dirty="0">
                <a:latin typeface="Calibri"/>
                <a:cs typeface="Calibri"/>
              </a:rPr>
              <a:t>Knowledge</a:t>
            </a:r>
            <a:endParaRPr sz="2800">
              <a:latin typeface="Calibri"/>
              <a:cs typeface="Calibri"/>
            </a:endParaRPr>
          </a:p>
          <a:p>
            <a:pPr marL="495300">
              <a:lnSpc>
                <a:spcPts val="3190"/>
              </a:lnSpc>
            </a:pPr>
            <a:r>
              <a:rPr sz="2800" dirty="0">
                <a:latin typeface="Calibri"/>
                <a:cs typeface="Calibri"/>
              </a:rPr>
              <a:t>(PMBOK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Guide)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6</a:t>
            </a:r>
            <a:r>
              <a:rPr sz="2775" baseline="25525" dirty="0">
                <a:latin typeface="Calibri"/>
                <a:cs typeface="Calibri"/>
              </a:rPr>
              <a:t>th</a:t>
            </a:r>
            <a:r>
              <a:rPr sz="2775" spc="217" baseline="255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Edition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(available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AUT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online)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067555" y="2770632"/>
            <a:ext cx="3987165" cy="2261870"/>
            <a:chOff x="4067555" y="2770632"/>
            <a:chExt cx="3987165" cy="2261870"/>
          </a:xfrm>
        </p:grpSpPr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067555" y="2770632"/>
              <a:ext cx="1804416" cy="2261616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320027" y="2770632"/>
              <a:ext cx="1734312" cy="226161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541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Schedule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ADB5B51-B3CB-1272-867C-F27F30F0EC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56138" y="140335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NZ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7D055C4-81F6-5836-651C-ED8A1A346B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3256215"/>
              </p:ext>
            </p:extLst>
          </p:nvPr>
        </p:nvGraphicFramePr>
        <p:xfrm>
          <a:off x="4240152" y="1306906"/>
          <a:ext cx="5513448" cy="451727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11087">
                  <a:extLst>
                    <a:ext uri="{9D8B030D-6E8A-4147-A177-3AD203B41FA5}">
                      <a16:colId xmlns:a16="http://schemas.microsoft.com/office/drawing/2014/main" val="1944431325"/>
                    </a:ext>
                  </a:extLst>
                </a:gridCol>
                <a:gridCol w="2027146">
                  <a:extLst>
                    <a:ext uri="{9D8B030D-6E8A-4147-A177-3AD203B41FA5}">
                      <a16:colId xmlns:a16="http://schemas.microsoft.com/office/drawing/2014/main" val="3322027056"/>
                    </a:ext>
                  </a:extLst>
                </a:gridCol>
                <a:gridCol w="2675215">
                  <a:extLst>
                    <a:ext uri="{9D8B030D-6E8A-4147-A177-3AD203B41FA5}">
                      <a16:colId xmlns:a16="http://schemas.microsoft.com/office/drawing/2014/main" val="3161864581"/>
                    </a:ext>
                  </a:extLst>
                </a:gridCol>
              </a:tblGrid>
              <a:tr h="62991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Z" sz="1000" kern="100">
                          <a:effectLst/>
                        </a:rPr>
                        <a:t>Week</a:t>
                      </a:r>
                      <a:endParaRPr lang="en-NZ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1051" marR="151051" marT="226576" marB="22657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Z" sz="1000" kern="100">
                          <a:effectLst/>
                        </a:rPr>
                        <a:t>Topic(s)</a:t>
                      </a:r>
                      <a:endParaRPr lang="en-NZ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1051" marR="151051" marT="226576" marB="226576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Z" sz="1000" kern="100">
                          <a:effectLst/>
                        </a:rPr>
                        <a:t>Assessment</a:t>
                      </a:r>
                      <a:endParaRPr lang="en-NZ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1051" marR="151051" marT="226576" marB="226576" anchor="ctr"/>
                </a:tc>
                <a:extLst>
                  <a:ext uri="{0D108BD9-81ED-4DB2-BD59-A6C34878D82A}">
                    <a16:rowId xmlns:a16="http://schemas.microsoft.com/office/drawing/2014/main" val="3670869392"/>
                  </a:ext>
                </a:extLst>
              </a:tr>
              <a:tr h="20017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Z" sz="1000" kern="100">
                          <a:effectLst/>
                        </a:rPr>
                        <a:t>1</a:t>
                      </a:r>
                      <a:endParaRPr lang="en-NZ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105" marR="15105" marT="15105" marB="1510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Z" sz="1000" kern="100">
                          <a:effectLst/>
                        </a:rPr>
                        <a:t>Introduction to IT PM</a:t>
                      </a:r>
                      <a:endParaRPr lang="en-NZ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105" marR="15105" marT="15105" marB="1510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en-NZ" sz="1000" kern="10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15105" marR="15105" marT="15105" marB="15105" anchor="ctr"/>
                </a:tc>
                <a:extLst>
                  <a:ext uri="{0D108BD9-81ED-4DB2-BD59-A6C34878D82A}">
                    <a16:rowId xmlns:a16="http://schemas.microsoft.com/office/drawing/2014/main" val="1159580763"/>
                  </a:ext>
                </a:extLst>
              </a:tr>
              <a:tr h="19979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Z" sz="1000" kern="100">
                          <a:effectLst/>
                        </a:rPr>
                        <a:t>2</a:t>
                      </a:r>
                      <a:endParaRPr lang="en-NZ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105" marR="15105" marT="15105" marB="1510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Z" sz="1000" kern="100">
                          <a:effectLst/>
                        </a:rPr>
                        <a:t>Project Life Cycle &amp; Phases</a:t>
                      </a:r>
                      <a:endParaRPr lang="en-NZ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105" marR="15105" marT="15105" marB="1510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Z" sz="1000" kern="100">
                          <a:effectLst/>
                        </a:rPr>
                        <a:t>Introduction to Assignment 1 Part 1</a:t>
                      </a:r>
                      <a:endParaRPr lang="en-NZ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105" marR="15105" marT="15105" marB="15105" anchor="ctr"/>
                </a:tc>
                <a:extLst>
                  <a:ext uri="{0D108BD9-81ED-4DB2-BD59-A6C34878D82A}">
                    <a16:rowId xmlns:a16="http://schemas.microsoft.com/office/drawing/2014/main" val="1108717235"/>
                  </a:ext>
                </a:extLst>
              </a:tr>
              <a:tr h="20017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Z" sz="1000" kern="100">
                          <a:effectLst/>
                        </a:rPr>
                        <a:t>3</a:t>
                      </a:r>
                      <a:endParaRPr lang="en-NZ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105" marR="15105" marT="15105" marB="1510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Z" sz="1000" kern="100">
                          <a:effectLst/>
                        </a:rPr>
                        <a:t>PM Process Groups, Integration</a:t>
                      </a:r>
                      <a:endParaRPr lang="en-NZ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105" marR="15105" marT="15105" marB="1510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en-NZ" sz="1000" kern="10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15105" marR="15105" marT="15105" marB="15105" anchor="ctr"/>
                </a:tc>
                <a:extLst>
                  <a:ext uri="{0D108BD9-81ED-4DB2-BD59-A6C34878D82A}">
                    <a16:rowId xmlns:a16="http://schemas.microsoft.com/office/drawing/2014/main" val="600917989"/>
                  </a:ext>
                </a:extLst>
              </a:tr>
              <a:tr h="20017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Z" sz="1000" kern="100">
                          <a:effectLst/>
                        </a:rPr>
                        <a:t>4</a:t>
                      </a:r>
                      <a:endParaRPr lang="en-NZ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105" marR="15105" marT="15105" marB="1510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Z" sz="1000" kern="100">
                          <a:effectLst/>
                        </a:rPr>
                        <a:t>Scope Management</a:t>
                      </a:r>
                      <a:endParaRPr lang="en-NZ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105" marR="15105" marT="15105" marB="1510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en-NZ" sz="1000" kern="10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15105" marR="15105" marT="15105" marB="15105" anchor="ctr"/>
                </a:tc>
                <a:extLst>
                  <a:ext uri="{0D108BD9-81ED-4DB2-BD59-A6C34878D82A}">
                    <a16:rowId xmlns:a16="http://schemas.microsoft.com/office/drawing/2014/main" val="2316060364"/>
                  </a:ext>
                </a:extLst>
              </a:tr>
              <a:tr h="20017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Z" sz="1000" kern="100">
                          <a:effectLst/>
                        </a:rPr>
                        <a:t>5</a:t>
                      </a:r>
                      <a:endParaRPr lang="en-NZ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105" marR="15105" marT="15105" marB="1510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Z" sz="1000" kern="100">
                          <a:effectLst/>
                        </a:rPr>
                        <a:t>Stakeholder management</a:t>
                      </a:r>
                      <a:endParaRPr lang="en-NZ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105" marR="15105" marT="15105" marB="1510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en-NZ" sz="1000" kern="10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15105" marR="15105" marT="15105" marB="15105" anchor="ctr"/>
                </a:tc>
                <a:extLst>
                  <a:ext uri="{0D108BD9-81ED-4DB2-BD59-A6C34878D82A}">
                    <a16:rowId xmlns:a16="http://schemas.microsoft.com/office/drawing/2014/main" val="1856904674"/>
                  </a:ext>
                </a:extLst>
              </a:tr>
              <a:tr h="76291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Z" sz="1000" kern="100">
                          <a:effectLst/>
                        </a:rPr>
                        <a:t>6</a:t>
                      </a:r>
                      <a:endParaRPr lang="en-NZ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105" marR="15105" marT="15105" marB="1510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Z" sz="1000" kern="100">
                          <a:effectLst/>
                        </a:rPr>
                        <a:t>Schedule management</a:t>
                      </a:r>
                      <a:endParaRPr lang="en-NZ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105" marR="15105" marT="15105" marB="1510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Z" sz="1000" kern="100" dirty="0">
                          <a:effectLst/>
                        </a:rPr>
                        <a:t>Assignment 1 Part 1 Due</a:t>
                      </a: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Z" sz="1000" kern="100" dirty="0">
                          <a:effectLst/>
                        </a:rPr>
                        <a:t>23rd August, Sunday, 11:30pm </a:t>
                      </a:r>
                    </a:p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Z" sz="1000" kern="100" dirty="0">
                          <a:effectLst/>
                        </a:rPr>
                        <a:t>Introduction to Assignment 1 Part 2</a:t>
                      </a:r>
                      <a:endParaRPr lang="en-NZ" sz="1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105" marR="15105" marT="15105" marB="15105" anchor="ctr"/>
                </a:tc>
                <a:extLst>
                  <a:ext uri="{0D108BD9-81ED-4DB2-BD59-A6C34878D82A}">
                    <a16:rowId xmlns:a16="http://schemas.microsoft.com/office/drawing/2014/main" val="1855480493"/>
                  </a:ext>
                </a:extLst>
              </a:tr>
              <a:tr h="19979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Z" sz="1000" kern="100">
                          <a:effectLst/>
                        </a:rPr>
                        <a:t>7</a:t>
                      </a:r>
                      <a:endParaRPr lang="en-NZ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105" marR="15105" marT="15105" marB="1510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Z" sz="1000" kern="100">
                          <a:effectLst/>
                        </a:rPr>
                        <a:t>Guest lecture</a:t>
                      </a:r>
                      <a:endParaRPr lang="en-NZ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105" marR="15105" marT="15105" marB="1510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Z" sz="1000" kern="100">
                          <a:effectLst/>
                        </a:rPr>
                        <a:t> </a:t>
                      </a:r>
                      <a:endParaRPr lang="en-NZ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105" marR="15105" marT="15105" marB="15105" anchor="ctr"/>
                </a:tc>
                <a:extLst>
                  <a:ext uri="{0D108BD9-81ED-4DB2-BD59-A6C34878D82A}">
                    <a16:rowId xmlns:a16="http://schemas.microsoft.com/office/drawing/2014/main" val="2604294625"/>
                  </a:ext>
                </a:extLst>
              </a:tr>
              <a:tr h="20017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Z" sz="1000" kern="100">
                          <a:effectLst/>
                        </a:rPr>
                        <a:t>8</a:t>
                      </a:r>
                      <a:endParaRPr lang="en-NZ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105" marR="15105" marT="15105" marB="1510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Z" sz="1000" kern="100">
                          <a:effectLst/>
                        </a:rPr>
                        <a:t>Communication management</a:t>
                      </a:r>
                      <a:endParaRPr lang="en-NZ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105" marR="15105" marT="15105" marB="1510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en-NZ" sz="1000" kern="10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15105" marR="15105" marT="15105" marB="15105" anchor="ctr"/>
                </a:tc>
                <a:extLst>
                  <a:ext uri="{0D108BD9-81ED-4DB2-BD59-A6C34878D82A}">
                    <a16:rowId xmlns:a16="http://schemas.microsoft.com/office/drawing/2014/main" val="661868783"/>
                  </a:ext>
                </a:extLst>
              </a:tr>
              <a:tr h="39559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Z" sz="1000" kern="100">
                          <a:effectLst/>
                        </a:rPr>
                        <a:t>9</a:t>
                      </a:r>
                      <a:endParaRPr lang="en-NZ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105" marR="15105" marT="15105" marB="1510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Z" sz="1000" kern="100">
                          <a:effectLst/>
                        </a:rPr>
                        <a:t>Quality management</a:t>
                      </a:r>
                      <a:endParaRPr lang="en-NZ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105" marR="15105" marT="15105" marB="1510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NZ" sz="1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105" marR="15105" marT="15105" marB="15105" anchor="ctr"/>
                </a:tc>
                <a:extLst>
                  <a:ext uri="{0D108BD9-81ED-4DB2-BD59-A6C34878D82A}">
                    <a16:rowId xmlns:a16="http://schemas.microsoft.com/office/drawing/2014/main" val="1767826393"/>
                  </a:ext>
                </a:extLst>
              </a:tr>
              <a:tr h="20017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Z" sz="1000" kern="100">
                          <a:effectLst/>
                        </a:rPr>
                        <a:t>10</a:t>
                      </a:r>
                      <a:endParaRPr lang="en-NZ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105" marR="15105" marT="15105" marB="1510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Z" sz="1000" kern="100">
                          <a:effectLst/>
                        </a:rPr>
                        <a:t>Cost management</a:t>
                      </a:r>
                      <a:endParaRPr lang="en-NZ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105" marR="15105" marT="15105" marB="1510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Z" sz="1000" kern="100" dirty="0">
                          <a:effectLst/>
                        </a:rPr>
                        <a:t>Assignment 1 Part 2 Due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 dirty="0">
                          <a:effectLst/>
                        </a:rPr>
                        <a:t>Sunday: 10</a:t>
                      </a:r>
                      <a:r>
                        <a:rPr lang="en-US" sz="1000" kern="100" baseline="30000" dirty="0">
                          <a:effectLst/>
                        </a:rPr>
                        <a:t>th</a:t>
                      </a:r>
                      <a:r>
                        <a:rPr lang="en-US" sz="1000" kern="100" dirty="0">
                          <a:effectLst/>
                        </a:rPr>
                        <a:t>  May at 11:30 pm</a:t>
                      </a:r>
                      <a:endParaRPr lang="en-NZ" sz="1000" kern="10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Z" sz="1000" kern="100" dirty="0">
                          <a:effectLst/>
                        </a:rPr>
                        <a:t>Introduction to Assignment 2</a:t>
                      </a:r>
                      <a:endParaRPr lang="en-NZ" sz="1000" kern="100" dirty="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15105" marR="15105" marT="15105" marB="15105" anchor="ctr"/>
                </a:tc>
                <a:extLst>
                  <a:ext uri="{0D108BD9-81ED-4DB2-BD59-A6C34878D82A}">
                    <a16:rowId xmlns:a16="http://schemas.microsoft.com/office/drawing/2014/main" val="2404533777"/>
                  </a:ext>
                </a:extLst>
              </a:tr>
              <a:tr h="20017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Z" sz="1000" kern="100">
                          <a:effectLst/>
                        </a:rPr>
                        <a:t>11</a:t>
                      </a:r>
                      <a:endParaRPr lang="en-NZ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105" marR="15105" marT="15105" marB="1510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Z" sz="1000" kern="100">
                          <a:effectLst/>
                        </a:rPr>
                        <a:t>Risk management</a:t>
                      </a:r>
                      <a:endParaRPr lang="en-NZ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105" marR="15105" marT="15105" marB="1510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en-NZ" sz="1000" kern="10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15105" marR="15105" marT="15105" marB="15105" anchor="ctr"/>
                </a:tc>
                <a:extLst>
                  <a:ext uri="{0D108BD9-81ED-4DB2-BD59-A6C34878D82A}">
                    <a16:rowId xmlns:a16="http://schemas.microsoft.com/office/drawing/2014/main" val="3762499370"/>
                  </a:ext>
                </a:extLst>
              </a:tr>
              <a:tr h="37802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Z" sz="1000" kern="100">
                          <a:effectLst/>
                        </a:rPr>
                        <a:t>12</a:t>
                      </a:r>
                      <a:endParaRPr lang="en-NZ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105" marR="15105" marT="15105" marB="1510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Z" sz="1000" kern="100">
                          <a:effectLst/>
                        </a:rPr>
                        <a:t>Resource and Procurement management</a:t>
                      </a:r>
                      <a:endParaRPr lang="en-NZ" sz="10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105" marR="15105" marT="15105" marB="1510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NZ" sz="1000" kern="100" dirty="0">
                          <a:effectLst/>
                        </a:rPr>
                        <a:t>Assignment 2 Due Week 12 </a:t>
                      </a:r>
                      <a:endParaRPr lang="en-NZ" sz="10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105" marR="15105" marT="15105" marB="15105" anchor="ctr"/>
                </a:tc>
                <a:extLst>
                  <a:ext uri="{0D108BD9-81ED-4DB2-BD59-A6C34878D82A}">
                    <a16:rowId xmlns:a16="http://schemas.microsoft.com/office/drawing/2014/main" val="160101856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39366" y="461213"/>
            <a:ext cx="2988310" cy="3827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spc="-10" dirty="0"/>
              <a:t>Assessments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39366" y="1207744"/>
            <a:ext cx="9942830" cy="415395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1920" marR="1666875">
              <a:lnSpc>
                <a:spcPct val="111900"/>
              </a:lnSpc>
              <a:spcBef>
                <a:spcPts val="100"/>
              </a:spcBef>
              <a:buClr>
                <a:srgbClr val="F5821F"/>
              </a:buClr>
              <a:tabLst>
                <a:tab pos="645160" algn="l"/>
                <a:tab pos="2755900" algn="l"/>
                <a:tab pos="4357370" algn="l"/>
              </a:tabLst>
            </a:pPr>
            <a:r>
              <a:rPr lang="en-NZ" sz="2000" b="1" dirty="0">
                <a:latin typeface="Calibri"/>
                <a:cs typeface="Calibri"/>
              </a:rPr>
              <a:t>1.     </a:t>
            </a:r>
            <a:r>
              <a:rPr sz="2000" b="1" dirty="0">
                <a:latin typeface="Calibri"/>
                <a:cs typeface="Calibri"/>
              </a:rPr>
              <a:t>Assignment</a:t>
            </a:r>
            <a:r>
              <a:rPr sz="2000" b="1" spc="-40" dirty="0">
                <a:latin typeface="Calibri"/>
                <a:cs typeface="Calibri"/>
              </a:rPr>
              <a:t> </a:t>
            </a:r>
            <a:r>
              <a:rPr sz="2000" b="1" spc="-50" dirty="0">
                <a:latin typeface="Calibri"/>
                <a:cs typeface="Calibri"/>
              </a:rPr>
              <a:t>1</a:t>
            </a:r>
            <a:r>
              <a:rPr lang="en-NZ" sz="2000" b="1" spc="-50" dirty="0">
                <a:latin typeface="Calibri"/>
                <a:cs typeface="Calibri"/>
              </a:rPr>
              <a:t> 	</a:t>
            </a:r>
            <a:r>
              <a:rPr sz="2000" b="1" dirty="0">
                <a:latin typeface="Calibri"/>
                <a:cs typeface="Calibri"/>
              </a:rPr>
              <a:t>worth 50%</a:t>
            </a:r>
            <a:r>
              <a:rPr lang="en-NZ" sz="2000" b="1" dirty="0">
                <a:latin typeface="Calibri"/>
                <a:cs typeface="Calibri"/>
              </a:rPr>
              <a:t>       </a:t>
            </a:r>
            <a:r>
              <a:rPr sz="2000" b="1" dirty="0">
                <a:latin typeface="Calibri"/>
                <a:cs typeface="Calibri"/>
              </a:rPr>
              <a:t>Team</a:t>
            </a:r>
            <a:r>
              <a:rPr lang="en-NZ" sz="2000" b="1" dirty="0">
                <a:latin typeface="Calibri"/>
                <a:cs typeface="Calibri"/>
              </a:rPr>
              <a:t>-based </a:t>
            </a:r>
          </a:p>
          <a:p>
            <a:pPr marL="121920" marR="1666875">
              <a:lnSpc>
                <a:spcPct val="111900"/>
              </a:lnSpc>
              <a:spcBef>
                <a:spcPts val="100"/>
              </a:spcBef>
              <a:buClr>
                <a:srgbClr val="F5821F"/>
              </a:buClr>
              <a:tabLst>
                <a:tab pos="645160" algn="l"/>
                <a:tab pos="2755900" algn="l"/>
                <a:tab pos="4357370" algn="l"/>
              </a:tabLst>
            </a:pPr>
            <a:r>
              <a:rPr sz="2000" spc="-10" dirty="0">
                <a:latin typeface="Calibri"/>
                <a:cs typeface="Calibri"/>
              </a:rPr>
              <a:t> 	</a:t>
            </a:r>
            <a:r>
              <a:rPr lang="en-NZ" sz="2000" spc="-10" dirty="0">
                <a:latin typeface="Calibri"/>
                <a:cs typeface="Calibri"/>
              </a:rPr>
              <a:t>a. </a:t>
            </a:r>
            <a:r>
              <a:rPr sz="2000" dirty="0">
                <a:latin typeface="Calibri"/>
                <a:cs typeface="Calibri"/>
              </a:rPr>
              <a:t>Part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1</a:t>
            </a:r>
            <a:r>
              <a:rPr lang="en-NZ" sz="2000" dirty="0">
                <a:latin typeface="Calibri"/>
                <a:cs typeface="Calibri"/>
              </a:rPr>
              <a:t>- 25% </a:t>
            </a:r>
          </a:p>
          <a:p>
            <a:pPr marL="121920" marR="1666875">
              <a:lnSpc>
                <a:spcPct val="111900"/>
              </a:lnSpc>
              <a:spcBef>
                <a:spcPts val="100"/>
              </a:spcBef>
              <a:buClr>
                <a:srgbClr val="F5821F"/>
              </a:buClr>
              <a:tabLst>
                <a:tab pos="645160" algn="l"/>
                <a:tab pos="2755900" algn="l"/>
                <a:tab pos="4357370" algn="l"/>
              </a:tabLst>
            </a:pPr>
            <a:r>
              <a:rPr lang="en-NZ" sz="2000" dirty="0">
                <a:latin typeface="Calibri"/>
                <a:cs typeface="Calibri"/>
              </a:rPr>
              <a:t>	b. </a:t>
            </a:r>
            <a:r>
              <a:rPr sz="2000" dirty="0">
                <a:latin typeface="Calibri"/>
                <a:cs typeface="Calibri"/>
              </a:rPr>
              <a:t>Part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2</a:t>
            </a:r>
            <a:r>
              <a:rPr lang="en-NZ" sz="2000" dirty="0">
                <a:latin typeface="Calibri"/>
                <a:cs typeface="Calibri"/>
              </a:rPr>
              <a:t>- 25%</a:t>
            </a:r>
            <a:r>
              <a:rPr sz="2000" spc="-35" dirty="0">
                <a:latin typeface="Calibri"/>
                <a:cs typeface="Calibri"/>
              </a:rPr>
              <a:t> </a:t>
            </a:r>
            <a:endParaRPr lang="en-NZ" sz="2000" spc="-35" dirty="0">
              <a:latin typeface="Calibri"/>
              <a:cs typeface="Calibri"/>
            </a:endParaRPr>
          </a:p>
          <a:p>
            <a:pPr marL="121920" marR="1666875">
              <a:lnSpc>
                <a:spcPct val="111900"/>
              </a:lnSpc>
              <a:spcBef>
                <a:spcPts val="100"/>
              </a:spcBef>
              <a:buClr>
                <a:srgbClr val="F5821F"/>
              </a:buClr>
              <a:tabLst>
                <a:tab pos="645160" algn="l"/>
                <a:tab pos="2755900" algn="l"/>
                <a:tab pos="4357370" algn="l"/>
              </a:tabLst>
            </a:pPr>
            <a:r>
              <a:rPr lang="en-NZ" sz="2000" b="1" dirty="0">
                <a:latin typeface="Calibri"/>
                <a:cs typeface="Calibri"/>
              </a:rPr>
              <a:t>2.      </a:t>
            </a:r>
            <a:r>
              <a:rPr sz="2000" b="1" dirty="0">
                <a:latin typeface="Calibri"/>
                <a:cs typeface="Calibri"/>
              </a:rPr>
              <a:t>Assignment 2	</a:t>
            </a:r>
            <a:r>
              <a:rPr lang="en-NZ" sz="2000" b="1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worth 50%	Individual</a:t>
            </a:r>
            <a:r>
              <a:rPr lang="en-NZ" sz="2000" b="1" dirty="0">
                <a:latin typeface="Calibri"/>
                <a:cs typeface="Calibri"/>
              </a:rPr>
              <a:t>-based </a:t>
            </a:r>
            <a:endParaRPr sz="2000" b="1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3150" dirty="0">
              <a:latin typeface="Calibri"/>
              <a:cs typeface="Calibri"/>
            </a:endParaRPr>
          </a:p>
          <a:p>
            <a:pPr marL="121920">
              <a:lnSpc>
                <a:spcPct val="100000"/>
              </a:lnSpc>
            </a:pPr>
            <a:r>
              <a:rPr sz="2600" b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IMPORTANT</a:t>
            </a:r>
            <a:endParaRPr sz="2600" dirty="0">
              <a:latin typeface="Calibri"/>
              <a:cs typeface="Calibri"/>
            </a:endParaRPr>
          </a:p>
          <a:p>
            <a:pPr marL="241300" marR="801370" indent="-229235">
              <a:lnSpc>
                <a:spcPts val="2300"/>
              </a:lnSpc>
              <a:spcBef>
                <a:spcPts val="990"/>
              </a:spcBef>
              <a:buClr>
                <a:srgbClr val="F5821F"/>
              </a:buClr>
              <a:buFont typeface="Arial"/>
              <a:buChar char="•"/>
              <a:tabLst>
                <a:tab pos="241300" algn="l"/>
              </a:tabLst>
            </a:pPr>
            <a:r>
              <a:rPr sz="2400" spc="-40" dirty="0">
                <a:latin typeface="Calibri"/>
                <a:cs typeface="Calibri"/>
              </a:rPr>
              <a:t>You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must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attain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2400" b="1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minimum</a:t>
            </a:r>
            <a:r>
              <a:rPr sz="2400" b="1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of</a:t>
            </a:r>
            <a:r>
              <a:rPr sz="2400" b="1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35%</a:t>
            </a:r>
            <a:r>
              <a:rPr sz="2400" b="1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mark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higher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total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allocated </a:t>
            </a:r>
            <a:r>
              <a:rPr sz="2400" dirty="0">
                <a:latin typeface="Calibri"/>
                <a:cs typeface="Calibri"/>
              </a:rPr>
              <a:t>percentage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each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assessments;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and</a:t>
            </a:r>
            <a:endParaRPr sz="2400" dirty="0">
              <a:latin typeface="Calibri"/>
              <a:cs typeface="Calibri"/>
            </a:endParaRPr>
          </a:p>
          <a:p>
            <a:pPr marL="240665" indent="-227965">
              <a:lnSpc>
                <a:spcPts val="2595"/>
              </a:lnSpc>
              <a:spcBef>
                <a:spcPts val="440"/>
              </a:spcBef>
              <a:buClr>
                <a:srgbClr val="F5821F"/>
              </a:buClr>
              <a:buFont typeface="Arial"/>
              <a:buChar char="•"/>
              <a:tabLst>
                <a:tab pos="240665" algn="l"/>
              </a:tabLst>
            </a:pPr>
            <a:r>
              <a:rPr sz="2400" dirty="0">
                <a:latin typeface="Calibri"/>
                <a:cs typeface="Calibri"/>
              </a:rPr>
              <a:t>Also,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when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marks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all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assessments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added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together</a:t>
            </a:r>
            <a:r>
              <a:rPr lang="en-NZ" sz="2400" dirty="0">
                <a:latin typeface="Calibri"/>
                <a:cs typeface="Calibri"/>
              </a:rPr>
              <a:t>,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you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must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have</a:t>
            </a:r>
            <a:endParaRPr sz="2400" dirty="0">
              <a:latin typeface="Calibri"/>
              <a:cs typeface="Calibri"/>
            </a:endParaRPr>
          </a:p>
          <a:p>
            <a:pPr marL="241300">
              <a:lnSpc>
                <a:spcPts val="2595"/>
              </a:lnSpc>
            </a:pPr>
            <a:r>
              <a:rPr sz="2400" dirty="0">
                <a:latin typeface="Calibri"/>
                <a:cs typeface="Calibri"/>
              </a:rPr>
              <a:t>attained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overall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total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50%</a:t>
            </a:r>
            <a:r>
              <a:rPr sz="2400" b="1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or</a:t>
            </a:r>
            <a:r>
              <a:rPr sz="2400" b="1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more</a:t>
            </a:r>
            <a:r>
              <a:rPr sz="2400" b="1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get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pass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this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paper</a:t>
            </a:r>
            <a:endParaRPr sz="24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515"/>
              </a:spcBef>
              <a:buClr>
                <a:srgbClr val="F5821F"/>
              </a:buClr>
              <a:buFont typeface="Arial"/>
              <a:buChar char="•"/>
              <a:tabLst>
                <a:tab pos="241300" algn="l"/>
              </a:tabLst>
            </a:pPr>
            <a:r>
              <a:rPr sz="2200" b="1" dirty="0">
                <a:solidFill>
                  <a:srgbClr val="FF0000"/>
                </a:solidFill>
                <a:latin typeface="Arial"/>
                <a:cs typeface="Arial"/>
              </a:rPr>
              <a:t>Need</a:t>
            </a:r>
            <a:r>
              <a:rPr sz="2200" b="1" spc="-3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FF0000"/>
                </a:solidFill>
                <a:latin typeface="Arial"/>
                <a:cs typeface="Arial"/>
              </a:rPr>
              <a:t>to</a:t>
            </a:r>
            <a:r>
              <a:rPr sz="2200" b="1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FF0000"/>
                </a:solidFill>
                <a:latin typeface="Arial"/>
                <a:cs typeface="Arial"/>
              </a:rPr>
              <a:t>spend</a:t>
            </a:r>
            <a:r>
              <a:rPr sz="2200" b="1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FF0000"/>
                </a:solidFill>
                <a:latin typeface="Arial"/>
                <a:cs typeface="Arial"/>
              </a:rPr>
              <a:t>about</a:t>
            </a:r>
            <a:r>
              <a:rPr sz="2200" b="1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200" b="1" spc="-10" dirty="0">
                <a:solidFill>
                  <a:srgbClr val="FF0000"/>
                </a:solidFill>
                <a:latin typeface="Arial"/>
                <a:cs typeface="Arial"/>
              </a:rPr>
              <a:t>8-</a:t>
            </a:r>
            <a:r>
              <a:rPr sz="2200" b="1" dirty="0">
                <a:solidFill>
                  <a:srgbClr val="FF0000"/>
                </a:solidFill>
                <a:latin typeface="Arial"/>
                <a:cs typeface="Arial"/>
              </a:rPr>
              <a:t>10</a:t>
            </a:r>
            <a:r>
              <a:rPr sz="2200" b="1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FF0000"/>
                </a:solidFill>
                <a:latin typeface="Arial"/>
                <a:cs typeface="Arial"/>
              </a:rPr>
              <a:t>hours</a:t>
            </a:r>
            <a:r>
              <a:rPr sz="2200" b="1" spc="-3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FF0000"/>
                </a:solidFill>
                <a:latin typeface="Arial"/>
                <a:cs typeface="Arial"/>
              </a:rPr>
              <a:t>per</a:t>
            </a:r>
            <a:r>
              <a:rPr sz="2200" b="1" spc="-4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FF0000"/>
                </a:solidFill>
                <a:latin typeface="Arial"/>
                <a:cs typeface="Arial"/>
              </a:rPr>
              <a:t>week</a:t>
            </a:r>
            <a:r>
              <a:rPr sz="2200" b="1" spc="-5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FF0000"/>
                </a:solidFill>
                <a:latin typeface="Arial"/>
                <a:cs typeface="Arial"/>
              </a:rPr>
              <a:t>of</a:t>
            </a:r>
            <a:r>
              <a:rPr sz="2200" b="1" spc="-3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FF0000"/>
                </a:solidFill>
                <a:latin typeface="Arial"/>
                <a:cs typeface="Arial"/>
              </a:rPr>
              <a:t>your</a:t>
            </a:r>
            <a:r>
              <a:rPr sz="2200" b="1" spc="-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FF0000"/>
                </a:solidFill>
                <a:latin typeface="Arial"/>
                <a:cs typeface="Arial"/>
              </a:rPr>
              <a:t>own</a:t>
            </a:r>
            <a:r>
              <a:rPr sz="2200" b="1" spc="-5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FF0000"/>
                </a:solidFill>
                <a:latin typeface="Arial"/>
                <a:cs typeface="Arial"/>
              </a:rPr>
              <a:t>time</a:t>
            </a:r>
            <a:r>
              <a:rPr sz="2200" b="1" spc="-5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FF0000"/>
                </a:solidFill>
                <a:latin typeface="Arial"/>
                <a:cs typeface="Arial"/>
              </a:rPr>
              <a:t>on</a:t>
            </a:r>
            <a:r>
              <a:rPr sz="2200" b="1" spc="-3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FF0000"/>
                </a:solidFill>
                <a:latin typeface="Arial"/>
                <a:cs typeface="Arial"/>
              </a:rPr>
              <a:t>this</a:t>
            </a:r>
            <a:r>
              <a:rPr sz="2200" b="1" spc="-3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200" b="1" spc="-10" dirty="0">
                <a:solidFill>
                  <a:srgbClr val="FF0000"/>
                </a:solidFill>
                <a:latin typeface="Arial"/>
                <a:cs typeface="Arial"/>
              </a:rPr>
              <a:t>paper</a:t>
            </a:r>
            <a:endParaRPr sz="22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06144" y="217424"/>
            <a:ext cx="10318115" cy="683135"/>
          </a:xfrm>
          <a:prstGeom prst="rect">
            <a:avLst/>
          </a:prstGeom>
        </p:spPr>
        <p:txBody>
          <a:bodyPr vert="horz" wrap="square" lIns="0" tIns="310768" rIns="0" bIns="0" rtlCol="0">
            <a:spAutoFit/>
          </a:bodyPr>
          <a:lstStyle/>
          <a:p>
            <a:pPr marL="145415">
              <a:lnSpc>
                <a:spcPct val="100000"/>
              </a:lnSpc>
              <a:spcBef>
                <a:spcPts val="105"/>
              </a:spcBef>
            </a:pPr>
            <a:r>
              <a:rPr sz="2400" dirty="0"/>
              <a:t>Assignment</a:t>
            </a:r>
            <a:r>
              <a:rPr sz="2400" spc="-125" dirty="0"/>
              <a:t> </a:t>
            </a:r>
            <a:r>
              <a:rPr sz="2400" dirty="0"/>
              <a:t>1:</a:t>
            </a:r>
            <a:r>
              <a:rPr sz="2400" spc="-70" dirty="0"/>
              <a:t> </a:t>
            </a:r>
            <a:r>
              <a:rPr sz="2400" spc="-60" dirty="0"/>
              <a:t>Team</a:t>
            </a:r>
            <a:r>
              <a:rPr sz="2400" spc="-85" dirty="0"/>
              <a:t> </a:t>
            </a:r>
            <a:r>
              <a:rPr sz="2400" spc="-10" dirty="0"/>
              <a:t>project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95400" y="1143000"/>
            <a:ext cx="10021570" cy="281872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1300" marR="387985" indent="-229235">
              <a:lnSpc>
                <a:spcPts val="3020"/>
              </a:lnSpc>
              <a:spcBef>
                <a:spcPts val="480"/>
              </a:spcBef>
              <a:buClr>
                <a:srgbClr val="F5821F"/>
              </a:buClr>
              <a:buFont typeface="Arial"/>
              <a:buChar char="•"/>
              <a:tabLst>
                <a:tab pos="241300" algn="l"/>
              </a:tabLst>
            </a:pPr>
            <a:r>
              <a:rPr sz="2000" b="1" spc="-10" dirty="0">
                <a:latin typeface="Calibri"/>
                <a:cs typeface="Calibri"/>
              </a:rPr>
              <a:t>Assignment</a:t>
            </a:r>
            <a:r>
              <a:rPr sz="2000" b="1" spc="-5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1</a:t>
            </a:r>
            <a:r>
              <a:rPr sz="2000" b="1" spc="-5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(will</a:t>
            </a:r>
            <a:r>
              <a:rPr sz="2000" b="1" spc="-6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be</a:t>
            </a:r>
            <a:r>
              <a:rPr sz="2000" b="1" spc="-5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posted</a:t>
            </a:r>
            <a:r>
              <a:rPr sz="2000" b="1" spc="-6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on</a:t>
            </a:r>
            <a:r>
              <a:rPr sz="2000" b="1" spc="-6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the</a:t>
            </a:r>
            <a:r>
              <a:rPr sz="2000" b="1" spc="-5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Canvas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sz="2000" b="1" spc="-65" dirty="0">
                <a:latin typeface="Calibri"/>
                <a:cs typeface="Calibri"/>
              </a:rPr>
              <a:t> </a:t>
            </a:r>
            <a:r>
              <a:rPr lang="en-NZ" sz="2000" b="1" spc="-65" dirty="0">
                <a:latin typeface="Calibri"/>
                <a:cs typeface="Calibri"/>
              </a:rPr>
              <a:t>be end of </a:t>
            </a:r>
            <a:r>
              <a:rPr sz="2000" b="1" dirty="0">
                <a:latin typeface="Calibri"/>
                <a:cs typeface="Calibri"/>
              </a:rPr>
              <a:t>week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lang="en-NZ" sz="2000" b="1" spc="-25" dirty="0">
                <a:latin typeface="Calibri"/>
                <a:cs typeface="Calibri"/>
              </a:rPr>
              <a:t>2</a:t>
            </a:r>
            <a:r>
              <a:rPr sz="2000" b="1" spc="-25" dirty="0">
                <a:latin typeface="Calibri"/>
                <a:cs typeface="Calibri"/>
              </a:rPr>
              <a:t>)</a:t>
            </a:r>
            <a:endParaRPr sz="2000" dirty="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630"/>
              </a:spcBef>
              <a:buClr>
                <a:srgbClr val="F5821F"/>
              </a:buClr>
              <a:buFont typeface="Arial"/>
              <a:buChar char="•"/>
              <a:tabLst>
                <a:tab pos="240665" algn="l"/>
              </a:tabLst>
            </a:pPr>
            <a:r>
              <a:rPr sz="2000" dirty="0">
                <a:latin typeface="Calibri"/>
                <a:cs typeface="Calibri"/>
              </a:rPr>
              <a:t>In</a:t>
            </a:r>
            <a:r>
              <a:rPr sz="2000" spc="-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this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project,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you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will:</a:t>
            </a:r>
            <a:endParaRPr sz="2000" dirty="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235"/>
              </a:spcBef>
              <a:buClr>
                <a:srgbClr val="F5821F"/>
              </a:buClr>
              <a:buFont typeface="Arial"/>
              <a:buChar char="•"/>
              <a:tabLst>
                <a:tab pos="697865" algn="l"/>
              </a:tabLst>
            </a:pPr>
            <a:r>
              <a:rPr dirty="0">
                <a:latin typeface="Calibri"/>
                <a:cs typeface="Calibri"/>
              </a:rPr>
              <a:t>Form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team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of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Four</a:t>
            </a:r>
            <a:r>
              <a:rPr b="1" spc="-4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members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(from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your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b="1" dirty="0">
                <a:solidFill>
                  <a:srgbClr val="FF0000"/>
                </a:solidFill>
                <a:latin typeface="Calibri"/>
                <a:cs typeface="Calibri"/>
              </a:rPr>
              <a:t>same</a:t>
            </a:r>
            <a:r>
              <a:rPr b="1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b="1" dirty="0">
                <a:solidFill>
                  <a:srgbClr val="FF0000"/>
                </a:solidFill>
                <a:latin typeface="Calibri"/>
                <a:cs typeface="Calibri"/>
              </a:rPr>
              <a:t>tutorial</a:t>
            </a:r>
            <a:r>
              <a:rPr b="1" spc="-10" dirty="0">
                <a:solidFill>
                  <a:srgbClr val="FF0000"/>
                </a:solidFill>
                <a:latin typeface="Calibri"/>
                <a:cs typeface="Calibri"/>
              </a:rPr>
              <a:t> class</a:t>
            </a:r>
            <a:r>
              <a:rPr spc="-10" dirty="0">
                <a:latin typeface="Calibri"/>
                <a:cs typeface="Calibri"/>
              </a:rPr>
              <a:t>)</a:t>
            </a:r>
            <a:endParaRPr dirty="0">
              <a:latin typeface="Calibri"/>
              <a:cs typeface="Calibri"/>
            </a:endParaRPr>
          </a:p>
          <a:p>
            <a:pPr marL="698500" marR="69215" lvl="1" indent="-228600">
              <a:lnSpc>
                <a:spcPts val="2590"/>
              </a:lnSpc>
              <a:spcBef>
                <a:spcPts val="545"/>
              </a:spcBef>
              <a:buClr>
                <a:srgbClr val="F5821F"/>
              </a:buClr>
              <a:buFont typeface="Arial"/>
              <a:buChar char="•"/>
              <a:tabLst>
                <a:tab pos="698500" algn="l"/>
                <a:tab pos="1845945" algn="l"/>
              </a:tabLst>
            </a:pPr>
            <a:r>
              <a:rPr dirty="0">
                <a:latin typeface="Calibri"/>
                <a:cs typeface="Calibri"/>
              </a:rPr>
              <a:t>choose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lang="en-NZ" spc="-20" dirty="0">
                <a:latin typeface="Calibri"/>
                <a:cs typeface="Calibri"/>
              </a:rPr>
              <a:t>team leader- an </a:t>
            </a:r>
            <a:r>
              <a:rPr lang="en-NZ" spc="-10" dirty="0">
                <a:latin typeface="Calibri"/>
                <a:cs typeface="Calibri"/>
              </a:rPr>
              <a:t>individual who will </a:t>
            </a:r>
            <a:r>
              <a:rPr spc="-1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lead</a:t>
            </a:r>
            <a:r>
              <a:rPr spc="-5" dirty="0">
                <a:latin typeface="Calibri"/>
                <a:cs typeface="Calibri"/>
              </a:rPr>
              <a:t> </a:t>
            </a:r>
            <a:r>
              <a:rPr spc="-25" dirty="0">
                <a:latin typeface="Calibri"/>
                <a:cs typeface="Calibri"/>
              </a:rPr>
              <a:t>the</a:t>
            </a:r>
            <a:r>
              <a:rPr lang="en-NZ" spc="-25" dirty="0">
                <a:latin typeface="Calibri"/>
                <a:cs typeface="Calibri"/>
              </a:rPr>
              <a:t> team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lang="en-NZ" spc="-25" dirty="0">
                <a:latin typeface="Calibri"/>
                <a:cs typeface="Calibri"/>
              </a:rPr>
              <a:t> in the </a:t>
            </a:r>
            <a:r>
              <a:rPr dirty="0">
                <a:latin typeface="Calibri"/>
                <a:cs typeface="Calibri"/>
              </a:rPr>
              <a:t>communication</a:t>
            </a:r>
            <a:r>
              <a:rPr lang="en-NZ" dirty="0">
                <a:latin typeface="Calibri"/>
                <a:cs typeface="Calibri"/>
              </a:rPr>
              <a:t> and coordination side of things only; tasks</a:t>
            </a:r>
            <a:r>
              <a:rPr spc="-10" dirty="0">
                <a:latin typeface="Calibri"/>
                <a:cs typeface="Calibri"/>
              </a:rPr>
              <a:t> </a:t>
            </a:r>
            <a:r>
              <a:rPr lang="en-NZ" spc="-10" dirty="0">
                <a:latin typeface="Calibri"/>
                <a:cs typeface="Calibri"/>
              </a:rPr>
              <a:t>a</a:t>
            </a:r>
            <a:r>
              <a:rPr dirty="0">
                <a:latin typeface="Calibri"/>
                <a:cs typeface="Calibri"/>
              </a:rPr>
              <a:t>nd</a:t>
            </a:r>
            <a:r>
              <a:rPr spc="-80" dirty="0">
                <a:latin typeface="Calibri"/>
                <a:cs typeface="Calibri"/>
              </a:rPr>
              <a:t> </a:t>
            </a:r>
            <a:r>
              <a:rPr lang="en-NZ" spc="-80" dirty="0">
                <a:latin typeface="Calibri"/>
                <a:cs typeface="Calibri"/>
              </a:rPr>
              <a:t>decision-making etc., must be done collectively </a:t>
            </a:r>
          </a:p>
          <a:p>
            <a:pPr marL="698500" marR="69215" lvl="1" indent="-228600">
              <a:lnSpc>
                <a:spcPts val="2590"/>
              </a:lnSpc>
              <a:spcBef>
                <a:spcPts val="545"/>
              </a:spcBef>
              <a:buClr>
                <a:srgbClr val="F5821F"/>
              </a:buClr>
              <a:buFont typeface="Arial"/>
              <a:buChar char="•"/>
              <a:tabLst>
                <a:tab pos="698500" algn="l"/>
                <a:tab pos="1845945" algn="l"/>
              </a:tabLst>
            </a:pPr>
            <a:r>
              <a:rPr dirty="0">
                <a:latin typeface="Calibri"/>
                <a:cs typeface="Calibri"/>
              </a:rPr>
              <a:t>The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lang="en-NZ" dirty="0">
                <a:latin typeface="Calibri"/>
                <a:cs typeface="Calibri"/>
              </a:rPr>
              <a:t>team lead </a:t>
            </a:r>
            <a:r>
              <a:rPr dirty="0">
                <a:latin typeface="Calibri"/>
                <a:cs typeface="Calibri"/>
              </a:rPr>
              <a:t>must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email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team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list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to</a:t>
            </a:r>
            <a:r>
              <a:rPr spc="-5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their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spc="-20" dirty="0">
                <a:latin typeface="Calibri"/>
                <a:cs typeface="Calibri"/>
              </a:rPr>
              <a:t>Teaching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Assistant</a:t>
            </a:r>
            <a:r>
              <a:rPr spc="-55" dirty="0">
                <a:latin typeface="Calibri"/>
                <a:cs typeface="Calibri"/>
              </a:rPr>
              <a:t> </a:t>
            </a:r>
            <a:r>
              <a:rPr spc="-25" dirty="0">
                <a:latin typeface="Calibri"/>
                <a:cs typeface="Calibri"/>
              </a:rPr>
              <a:t>by </a:t>
            </a:r>
            <a:r>
              <a:rPr dirty="0">
                <a:latin typeface="Calibri"/>
                <a:cs typeface="Calibri"/>
              </a:rPr>
              <a:t>the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end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of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Week</a:t>
            </a:r>
            <a:r>
              <a:rPr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lang="en-NZ" u="sng" spc="-5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3</a:t>
            </a:r>
            <a:endParaRPr dirty="0">
              <a:latin typeface="Calibri"/>
              <a:cs typeface="Calibri"/>
            </a:endParaRPr>
          </a:p>
          <a:p>
            <a:pPr marL="1155700" lvl="2" indent="-228600">
              <a:lnSpc>
                <a:spcPct val="100000"/>
              </a:lnSpc>
              <a:spcBef>
                <a:spcPts val="245"/>
              </a:spcBef>
              <a:buClr>
                <a:srgbClr val="F5821F"/>
              </a:buClr>
              <a:buFont typeface="Arial"/>
              <a:buChar char="•"/>
              <a:tabLst>
                <a:tab pos="1155700" algn="l"/>
              </a:tabLst>
            </a:pPr>
            <a:r>
              <a:rPr sz="1600" dirty="0">
                <a:latin typeface="Calibri"/>
                <a:cs typeface="Calibri"/>
              </a:rPr>
              <a:t>Full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name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team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members,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Student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ID,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preferred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email</a:t>
            </a:r>
            <a:r>
              <a:rPr sz="1600" spc="-10" dirty="0">
                <a:latin typeface="Calibri"/>
                <a:cs typeface="Calibri"/>
              </a:rPr>
              <a:t> address</a:t>
            </a:r>
            <a:endParaRPr sz="1600" dirty="0">
              <a:latin typeface="Calibri"/>
              <a:cs typeface="Calibri"/>
            </a:endParaRPr>
          </a:p>
          <a:p>
            <a:pPr marL="1155700" lvl="2" indent="-228600">
              <a:lnSpc>
                <a:spcPct val="100000"/>
              </a:lnSpc>
              <a:spcBef>
                <a:spcPts val="265"/>
              </a:spcBef>
              <a:buClr>
                <a:srgbClr val="F5821F"/>
              </a:buClr>
              <a:buFont typeface="Arial"/>
              <a:buChar char="•"/>
              <a:tabLst>
                <a:tab pos="1155700" algn="l"/>
              </a:tabLst>
            </a:pPr>
            <a:r>
              <a:rPr sz="1600" spc="-25" dirty="0">
                <a:latin typeface="Calibri"/>
                <a:cs typeface="Calibri"/>
              </a:rPr>
              <a:t>Team</a:t>
            </a:r>
            <a:r>
              <a:rPr sz="1600" spc="-8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name</a:t>
            </a:r>
            <a:endParaRPr sz="16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B81D64-75D2-6A4D-3305-152C3AC19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50ED07B-EFAC-D908-1628-7721584F13B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06144" y="217424"/>
            <a:ext cx="10318115" cy="1089482"/>
          </a:xfrm>
        </p:spPr>
        <p:txBody>
          <a:bodyPr vert="horz" wrap="square" lIns="0" tIns="13335" rIns="0" bIns="0" rtlCol="0" anchor="ctr">
            <a:normAutofit/>
          </a:bodyPr>
          <a:lstStyle/>
          <a:p>
            <a:pPr marL="12700">
              <a:spcBef>
                <a:spcPts val="105"/>
              </a:spcBef>
            </a:pPr>
            <a:r>
              <a:rPr lang="en-NZ" spc="-10" dirty="0"/>
              <a:t>Assessments 1 Part 1 and Part 2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99DB543-E43F-2E47-C769-3093580489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3743969"/>
              </p:ext>
            </p:extLst>
          </p:nvPr>
        </p:nvGraphicFramePr>
        <p:xfrm>
          <a:off x="2425561" y="1524000"/>
          <a:ext cx="8279282" cy="4396926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7301237">
                  <a:extLst>
                    <a:ext uri="{9D8B030D-6E8A-4147-A177-3AD203B41FA5}">
                      <a16:colId xmlns:a16="http://schemas.microsoft.com/office/drawing/2014/main" val="1981412852"/>
                    </a:ext>
                  </a:extLst>
                </a:gridCol>
                <a:gridCol w="978045">
                  <a:extLst>
                    <a:ext uri="{9D8B030D-6E8A-4147-A177-3AD203B41FA5}">
                      <a16:colId xmlns:a16="http://schemas.microsoft.com/office/drawing/2014/main" val="662245165"/>
                    </a:ext>
                  </a:extLst>
                </a:gridCol>
              </a:tblGrid>
              <a:tr h="147508">
                <a:tc>
                  <a:txBody>
                    <a:bodyPr/>
                    <a:lstStyle/>
                    <a:p>
                      <a:pPr algn="ctr" fontAlgn="b"/>
                      <a:r>
                        <a:rPr lang="en-NZ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Assessment 1 Part 1 – Due date-due on 23rd August, Sunday, 11:30pm </a:t>
                      </a:r>
                      <a:endParaRPr lang="en-NZ" sz="9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453" marR="4453" marT="4453" marB="0" anchor="b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NZ" sz="900" u="none" strike="noStrike">
                          <a:effectLst/>
                        </a:rPr>
                        <a:t>Marks</a:t>
                      </a:r>
                      <a:endParaRPr lang="en-NZ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453" marR="4453" marT="4453" marB="0"/>
                </a:tc>
                <a:extLst>
                  <a:ext uri="{0D108BD9-81ED-4DB2-BD59-A6C34878D82A}">
                    <a16:rowId xmlns:a16="http://schemas.microsoft.com/office/drawing/2014/main" val="2505345513"/>
                  </a:ext>
                </a:extLst>
              </a:tr>
              <a:tr h="174102"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u="none" strike="noStrike" spc="-25">
                          <a:effectLst/>
                        </a:rPr>
                        <a:t>1. Business case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20217" marR="4453" marT="4453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u="none" strike="noStrike" spc="-25">
                          <a:effectLst/>
                        </a:rPr>
                        <a:t>25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453" marR="4453" marT="4453" marB="0"/>
                </a:tc>
                <a:extLst>
                  <a:ext uri="{0D108BD9-81ED-4DB2-BD59-A6C34878D82A}">
                    <a16:rowId xmlns:a16="http://schemas.microsoft.com/office/drawing/2014/main" val="295945654"/>
                  </a:ext>
                </a:extLst>
              </a:tr>
              <a:tr h="174102"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u="none" strike="noStrike" spc="-25">
                          <a:effectLst/>
                        </a:rPr>
                        <a:t>2. Stakeholder register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20217" marR="4453" marT="4453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u="none" strike="noStrike" spc="-50">
                          <a:effectLst/>
                        </a:rPr>
                        <a:t>5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453" marR="4453" marT="4453" marB="0"/>
                </a:tc>
                <a:extLst>
                  <a:ext uri="{0D108BD9-81ED-4DB2-BD59-A6C34878D82A}">
                    <a16:rowId xmlns:a16="http://schemas.microsoft.com/office/drawing/2014/main" val="1293841383"/>
                  </a:ext>
                </a:extLst>
              </a:tr>
              <a:tr h="174102"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u="none" strike="noStrike" spc="-25">
                          <a:effectLst/>
                        </a:rPr>
                        <a:t>3. Stakeholder management strategy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20217" marR="4453" marT="4453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u="none" strike="noStrike" spc="-50">
                          <a:effectLst/>
                        </a:rPr>
                        <a:t>10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453" marR="4453" marT="4453" marB="0"/>
                </a:tc>
                <a:extLst>
                  <a:ext uri="{0D108BD9-81ED-4DB2-BD59-A6C34878D82A}">
                    <a16:rowId xmlns:a16="http://schemas.microsoft.com/office/drawing/2014/main" val="3961893944"/>
                  </a:ext>
                </a:extLst>
              </a:tr>
              <a:tr h="174102"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u="none" strike="noStrike" spc="-25">
                          <a:effectLst/>
                        </a:rPr>
                        <a:t>4. Project charter including roles and responsibilities (must include a Team Leader)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20217" marR="4453" marT="4453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u="none" strike="noStrike" spc="-25">
                          <a:effectLst/>
                        </a:rPr>
                        <a:t>20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453" marR="4453" marT="4453" marB="0"/>
                </a:tc>
                <a:extLst>
                  <a:ext uri="{0D108BD9-81ED-4DB2-BD59-A6C34878D82A}">
                    <a16:rowId xmlns:a16="http://schemas.microsoft.com/office/drawing/2014/main" val="901370742"/>
                  </a:ext>
                </a:extLst>
              </a:tr>
              <a:tr h="174102"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u="none" strike="noStrike" spc="-25">
                          <a:effectLst/>
                        </a:rPr>
                        <a:t>5. Team contract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20217" marR="4453" marT="4453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u="none" strike="noStrike" spc="-25">
                          <a:effectLst/>
                        </a:rPr>
                        <a:t>10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453" marR="4453" marT="4453" marB="0"/>
                </a:tc>
                <a:extLst>
                  <a:ext uri="{0D108BD9-81ED-4DB2-BD59-A6C34878D82A}">
                    <a16:rowId xmlns:a16="http://schemas.microsoft.com/office/drawing/2014/main" val="3223242077"/>
                  </a:ext>
                </a:extLst>
              </a:tr>
              <a:tr h="174102"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u="none" strike="noStrike" spc="-25">
                          <a:effectLst/>
                        </a:rPr>
                        <a:t>6. Kick-off meeting agenda and minutes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20217" marR="4453" marT="4453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u="none" strike="noStrike" spc="-50">
                          <a:effectLst/>
                        </a:rPr>
                        <a:t>5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453" marR="4453" marT="4453" marB="0"/>
                </a:tc>
                <a:extLst>
                  <a:ext uri="{0D108BD9-81ED-4DB2-BD59-A6C34878D82A}">
                    <a16:rowId xmlns:a16="http://schemas.microsoft.com/office/drawing/2014/main" val="2319801514"/>
                  </a:ext>
                </a:extLst>
              </a:tr>
              <a:tr h="174102"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u="none" strike="noStrike" spc="-25">
                          <a:effectLst/>
                        </a:rPr>
                        <a:t>7. Client meeting agenda and minutes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20217" marR="4453" marT="4453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u="none" strike="noStrike" spc="-50">
                          <a:effectLst/>
                        </a:rPr>
                        <a:t>5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453" marR="4453" marT="4453" marB="0"/>
                </a:tc>
                <a:extLst>
                  <a:ext uri="{0D108BD9-81ED-4DB2-BD59-A6C34878D82A}">
                    <a16:rowId xmlns:a16="http://schemas.microsoft.com/office/drawing/2014/main" val="4115356658"/>
                  </a:ext>
                </a:extLst>
              </a:tr>
              <a:tr h="174102"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u="none" strike="noStrike" spc="-30">
                          <a:effectLst/>
                        </a:rPr>
                        <a:t>8. Team meeting agenda and minutes (every other daily or weekly meeting’s agenda and minutes must be submitted)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40434" marR="4453" marT="4453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u="none" strike="noStrike" spc="-50">
                          <a:effectLst/>
                        </a:rPr>
                        <a:t>5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453" marR="4453" marT="4453" marB="0"/>
                </a:tc>
                <a:extLst>
                  <a:ext uri="{0D108BD9-81ED-4DB2-BD59-A6C34878D82A}">
                    <a16:rowId xmlns:a16="http://schemas.microsoft.com/office/drawing/2014/main" val="793589910"/>
                  </a:ext>
                </a:extLst>
              </a:tr>
              <a:tr h="174102">
                <a:tc>
                  <a:txBody>
                    <a:bodyPr/>
                    <a:lstStyle/>
                    <a:p>
                      <a:pPr algn="l" fontAlgn="t"/>
                      <a:r>
                        <a:rPr lang="sv-SE" sz="900" u="none" strike="noStrike" spc="-25">
                          <a:effectLst/>
                        </a:rPr>
                        <a:t>9. Risk register (version 1)</a:t>
                      </a:r>
                      <a:endParaRPr lang="sv-SE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20217" marR="4453" marT="4453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u="none" strike="noStrike" spc="-50">
                          <a:effectLst/>
                        </a:rPr>
                        <a:t>5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453" marR="4453" marT="4453" marB="0"/>
                </a:tc>
                <a:extLst>
                  <a:ext uri="{0D108BD9-81ED-4DB2-BD59-A6C34878D82A}">
                    <a16:rowId xmlns:a16="http://schemas.microsoft.com/office/drawing/2014/main" val="3964176054"/>
                  </a:ext>
                </a:extLst>
              </a:tr>
              <a:tr h="174102"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u="none" strike="noStrike">
                          <a:effectLst/>
                        </a:rPr>
                        <a:t>10. Issue register (version 1)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20217" marR="4453" marT="4453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u="none" strike="noStrike" spc="-50">
                          <a:effectLst/>
                        </a:rPr>
                        <a:t>5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453" marR="4453" marT="4453" marB="0"/>
                </a:tc>
                <a:extLst>
                  <a:ext uri="{0D108BD9-81ED-4DB2-BD59-A6C34878D82A}">
                    <a16:rowId xmlns:a16="http://schemas.microsoft.com/office/drawing/2014/main" val="1108009328"/>
                  </a:ext>
                </a:extLst>
              </a:tr>
              <a:tr h="245072"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u="none" strike="noStrike">
                          <a:effectLst/>
                        </a:rPr>
                        <a:t>11. Milestone report (version 1)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20217" marR="4453" marT="4453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u="none" strike="noStrike" spc="-50">
                          <a:effectLst/>
                        </a:rPr>
                        <a:t>5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453" marR="4453" marT="4453" marB="0"/>
                </a:tc>
                <a:extLst>
                  <a:ext uri="{0D108BD9-81ED-4DB2-BD59-A6C34878D82A}">
                    <a16:rowId xmlns:a16="http://schemas.microsoft.com/office/drawing/2014/main" val="2858893407"/>
                  </a:ext>
                </a:extLst>
              </a:tr>
              <a:tr h="174102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NZ" sz="900" b="1" u="none" strike="noStrike" dirty="0">
                          <a:solidFill>
                            <a:srgbClr val="FF0000"/>
                          </a:solidFill>
                          <a:effectLst/>
                        </a:rPr>
                        <a:t>Assessment 1 Part 2 – Due Date -20th September, Sunday, at 11:30 pm</a:t>
                      </a:r>
                      <a:endParaRPr lang="en-NZ" sz="9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453" marR="4453" marT="4453" marB="0" anchor="b"/>
                </a:tc>
                <a:tc hMerge="1">
                  <a:txBody>
                    <a:bodyPr/>
                    <a:lstStyle/>
                    <a:p>
                      <a:endParaRPr lang="en-NZ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1384345"/>
                  </a:ext>
                </a:extLst>
              </a:tr>
              <a:tr h="174102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12. Communications management plan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20217" marR="4453" marT="4453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NZ" sz="900" u="none" strike="noStrike">
                          <a:effectLst/>
                        </a:rPr>
                        <a:t>10</a:t>
                      </a:r>
                      <a:endParaRPr lang="en-NZ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453" marR="4453" marT="4453" marB="0"/>
                </a:tc>
                <a:extLst>
                  <a:ext uri="{0D108BD9-81ED-4DB2-BD59-A6C34878D82A}">
                    <a16:rowId xmlns:a16="http://schemas.microsoft.com/office/drawing/2014/main" val="3764747457"/>
                  </a:ext>
                </a:extLst>
              </a:tr>
              <a:tr h="174102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13. Change management plan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20217" marR="4453" marT="4453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NZ" sz="900" u="none" strike="noStrike">
                          <a:effectLst/>
                        </a:rPr>
                        <a:t>10</a:t>
                      </a:r>
                      <a:endParaRPr lang="en-NZ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453" marR="4453" marT="4453" marB="0"/>
                </a:tc>
                <a:extLst>
                  <a:ext uri="{0D108BD9-81ED-4DB2-BD59-A6C34878D82A}">
                    <a16:rowId xmlns:a16="http://schemas.microsoft.com/office/drawing/2014/main" val="699386742"/>
                  </a:ext>
                </a:extLst>
              </a:tr>
              <a:tr h="174102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14. Scope statement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20217" marR="4453" marT="4453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NZ" sz="900" u="none" strike="noStrike">
                          <a:effectLst/>
                        </a:rPr>
                        <a:t>15</a:t>
                      </a:r>
                      <a:endParaRPr lang="en-NZ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453" marR="4453" marT="4453" marB="0"/>
                </a:tc>
                <a:extLst>
                  <a:ext uri="{0D108BD9-81ED-4DB2-BD59-A6C34878D82A}">
                    <a16:rowId xmlns:a16="http://schemas.microsoft.com/office/drawing/2014/main" val="532800032"/>
                  </a:ext>
                </a:extLst>
              </a:tr>
              <a:tr h="174102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15. Work Breakdown Structure (WBS)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20217" marR="4453" marT="4453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NZ" sz="900" u="none" strike="noStrike">
                          <a:effectLst/>
                        </a:rPr>
                        <a:t>20</a:t>
                      </a:r>
                      <a:endParaRPr lang="en-NZ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453" marR="4453" marT="4453" marB="0"/>
                </a:tc>
                <a:extLst>
                  <a:ext uri="{0D108BD9-81ED-4DB2-BD59-A6C34878D82A}">
                    <a16:rowId xmlns:a16="http://schemas.microsoft.com/office/drawing/2014/main" val="3019894647"/>
                  </a:ext>
                </a:extLst>
              </a:tr>
              <a:tr h="174102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16.</a:t>
                      </a:r>
                      <a:r>
                        <a:rPr lang="en-US" sz="700" u="none" strike="noStrike">
                          <a:effectLst/>
                        </a:rPr>
                        <a:t>  </a:t>
                      </a:r>
                      <a:r>
                        <a:rPr lang="en-US" sz="900" u="none" strike="noStrike">
                          <a:effectLst/>
                        </a:rPr>
                        <a:t>Project schedule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00361" marR="4453" marT="4453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NZ" sz="900" u="none" strike="noStrike">
                          <a:effectLst/>
                        </a:rPr>
                        <a:t>20</a:t>
                      </a:r>
                      <a:endParaRPr lang="en-NZ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453" marR="4453" marT="4453" marB="0"/>
                </a:tc>
                <a:extLst>
                  <a:ext uri="{0D108BD9-81ED-4DB2-BD59-A6C34878D82A}">
                    <a16:rowId xmlns:a16="http://schemas.microsoft.com/office/drawing/2014/main" val="3037744229"/>
                  </a:ext>
                </a:extLst>
              </a:tr>
              <a:tr h="174102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a.</a:t>
                      </a:r>
                      <a:r>
                        <a:rPr lang="en-US" sz="700" u="none" strike="noStrike">
                          <a:effectLst/>
                        </a:rPr>
                        <a:t>        </a:t>
                      </a:r>
                      <a:r>
                        <a:rPr lang="en-US" sz="900" u="none" strike="noStrike">
                          <a:effectLst/>
                        </a:rPr>
                        <a:t>Schedule baseline showing originally planned activities and their durations and milestones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40795" marR="4453" marT="4453" marB="0" anchor="ctr"/>
                </a:tc>
                <a:tc>
                  <a:txBody>
                    <a:bodyPr/>
                    <a:lstStyle/>
                    <a:p>
                      <a:pPr algn="l" fontAlgn="t"/>
                      <a:endParaRPr lang="en-NZ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453" marR="4453" marT="4453" marB="0"/>
                </a:tc>
                <a:extLst>
                  <a:ext uri="{0D108BD9-81ED-4DB2-BD59-A6C34878D82A}">
                    <a16:rowId xmlns:a16="http://schemas.microsoft.com/office/drawing/2014/main" val="3181380373"/>
                  </a:ext>
                </a:extLst>
              </a:tr>
              <a:tr h="174102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b.</a:t>
                      </a:r>
                      <a:r>
                        <a:rPr lang="en-US" sz="700" u="none" strike="noStrike">
                          <a:effectLst/>
                        </a:rPr>
                        <a:t>       </a:t>
                      </a:r>
                      <a:r>
                        <a:rPr lang="en-US" sz="900" u="none" strike="noStrike">
                          <a:effectLst/>
                        </a:rPr>
                        <a:t>Network diagram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40795" marR="4453" marT="4453" marB="0" anchor="ctr"/>
                </a:tc>
                <a:tc>
                  <a:txBody>
                    <a:bodyPr/>
                    <a:lstStyle/>
                    <a:p>
                      <a:pPr algn="l" fontAlgn="t"/>
                      <a:endParaRPr lang="en-NZ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453" marR="4453" marT="4453" marB="0"/>
                </a:tc>
                <a:extLst>
                  <a:ext uri="{0D108BD9-81ED-4DB2-BD59-A6C34878D82A}">
                    <a16:rowId xmlns:a16="http://schemas.microsoft.com/office/drawing/2014/main" val="2904583480"/>
                  </a:ext>
                </a:extLst>
              </a:tr>
              <a:tr h="174102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c.</a:t>
                      </a:r>
                      <a:r>
                        <a:rPr lang="en-US" sz="700" u="none" strike="noStrike">
                          <a:effectLst/>
                        </a:rPr>
                        <a:t>        </a:t>
                      </a:r>
                      <a:r>
                        <a:rPr lang="en-US" sz="900" u="none" strike="noStrike">
                          <a:effectLst/>
                        </a:rPr>
                        <a:t>Critical path analysis with accompanying discussion on the critical path and changes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40795" marR="4453" marT="4453" marB="0" anchor="ctr"/>
                </a:tc>
                <a:tc>
                  <a:txBody>
                    <a:bodyPr/>
                    <a:lstStyle/>
                    <a:p>
                      <a:pPr algn="l" fontAlgn="t"/>
                      <a:endParaRPr lang="en-NZ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453" marR="4453" marT="4453" marB="0"/>
                </a:tc>
                <a:extLst>
                  <a:ext uri="{0D108BD9-81ED-4DB2-BD59-A6C34878D82A}">
                    <a16:rowId xmlns:a16="http://schemas.microsoft.com/office/drawing/2014/main" val="3217896010"/>
                  </a:ext>
                </a:extLst>
              </a:tr>
              <a:tr h="174102">
                <a:tc>
                  <a:txBody>
                    <a:bodyPr/>
                    <a:lstStyle/>
                    <a:p>
                      <a:pPr algn="l" fontAlgn="ctr"/>
                      <a:r>
                        <a:rPr lang="sv-SE" sz="900" u="none" strike="noStrike">
                          <a:effectLst/>
                        </a:rPr>
                        <a:t>17. Risk register (version 2)</a:t>
                      </a:r>
                      <a:endParaRPr lang="sv-SE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20217" marR="4453" marT="4453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NZ" sz="900" u="none" strike="noStrike">
                          <a:effectLst/>
                        </a:rPr>
                        <a:t>5</a:t>
                      </a:r>
                      <a:endParaRPr lang="en-NZ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453" marR="4453" marT="4453" marB="0"/>
                </a:tc>
                <a:extLst>
                  <a:ext uri="{0D108BD9-81ED-4DB2-BD59-A6C34878D82A}">
                    <a16:rowId xmlns:a16="http://schemas.microsoft.com/office/drawing/2014/main" val="439445406"/>
                  </a:ext>
                </a:extLst>
              </a:tr>
              <a:tr h="174102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18. Issue register (version 2)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20217" marR="4453" marT="4453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NZ" sz="900" u="none" strike="noStrike">
                          <a:effectLst/>
                        </a:rPr>
                        <a:t>5</a:t>
                      </a:r>
                      <a:endParaRPr lang="en-NZ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453" marR="4453" marT="4453" marB="0"/>
                </a:tc>
                <a:extLst>
                  <a:ext uri="{0D108BD9-81ED-4DB2-BD59-A6C34878D82A}">
                    <a16:rowId xmlns:a16="http://schemas.microsoft.com/office/drawing/2014/main" val="2928777277"/>
                  </a:ext>
                </a:extLst>
              </a:tr>
              <a:tr h="174102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19. Milestone report (version 2)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20217" marR="4453" marT="4453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NZ" sz="900" u="none" strike="noStrike">
                          <a:effectLst/>
                        </a:rPr>
                        <a:t>5</a:t>
                      </a:r>
                      <a:endParaRPr lang="en-NZ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453" marR="4453" marT="4453" marB="0"/>
                </a:tc>
                <a:extLst>
                  <a:ext uri="{0D108BD9-81ED-4DB2-BD59-A6C34878D82A}">
                    <a16:rowId xmlns:a16="http://schemas.microsoft.com/office/drawing/2014/main" val="3427562553"/>
                  </a:ext>
                </a:extLst>
              </a:tr>
              <a:tr h="174102"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u="none" strike="noStrike">
                          <a:effectLst/>
                        </a:rPr>
                        <a:t>20. Lessons-learned report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20217" marR="4453" marT="4453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NZ" sz="900" u="none" strike="noStrike" dirty="0">
                          <a:effectLst/>
                        </a:rPr>
                        <a:t>10</a:t>
                      </a:r>
                      <a:endParaRPr lang="en-NZ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453" marR="4453" marT="4453" marB="0"/>
                </a:tc>
                <a:extLst>
                  <a:ext uri="{0D108BD9-81ED-4DB2-BD59-A6C34878D82A}">
                    <a16:rowId xmlns:a16="http://schemas.microsoft.com/office/drawing/2014/main" val="9434653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065162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D1503-B87A-959E-16CD-9053A0B35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8635FE1-98AD-1FE4-2EBA-DE489A6ECDD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06144" y="217424"/>
            <a:ext cx="10318115" cy="1089482"/>
          </a:xfrm>
        </p:spPr>
        <p:txBody>
          <a:bodyPr vert="horz" wrap="square" lIns="0" tIns="13335" rIns="0" bIns="0" rtlCol="0" anchor="ctr">
            <a:normAutofit/>
          </a:bodyPr>
          <a:lstStyle/>
          <a:p>
            <a:pPr marL="12700">
              <a:spcBef>
                <a:spcPts val="105"/>
              </a:spcBef>
            </a:pPr>
            <a:r>
              <a:rPr lang="en-NZ" spc="-10" dirty="0"/>
              <a:t>Assessments 2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8CBB130-8E93-3829-22B6-89D0B9F3F2BE}"/>
              </a:ext>
            </a:extLst>
          </p:cNvPr>
          <p:cNvGraphicFramePr>
            <a:graphicFrameLocks noGrp="1"/>
          </p:cNvGraphicFramePr>
          <p:nvPr/>
        </p:nvGraphicFramePr>
        <p:xfrm>
          <a:off x="1817988" y="1819160"/>
          <a:ext cx="9494427" cy="37090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36578">
                  <a:extLst>
                    <a:ext uri="{9D8B030D-6E8A-4147-A177-3AD203B41FA5}">
                      <a16:colId xmlns:a16="http://schemas.microsoft.com/office/drawing/2014/main" val="1776453295"/>
                    </a:ext>
                  </a:extLst>
                </a:gridCol>
                <a:gridCol w="3057849">
                  <a:extLst>
                    <a:ext uri="{9D8B030D-6E8A-4147-A177-3AD203B41FA5}">
                      <a16:colId xmlns:a16="http://schemas.microsoft.com/office/drawing/2014/main" val="4217499535"/>
                    </a:ext>
                  </a:extLst>
                </a:gridCol>
              </a:tblGrid>
              <a:tr h="641223">
                <a:tc>
                  <a:txBody>
                    <a:bodyPr/>
                    <a:lstStyle/>
                    <a:p>
                      <a:pPr algn="ctr" fontAlgn="ctr"/>
                      <a:r>
                        <a:rPr lang="en-NZ" sz="3300" u="none" strike="noStrike">
                          <a:effectLst/>
                        </a:rPr>
                        <a:t>Assessment 2</a:t>
                      </a:r>
                      <a:endParaRPr lang="en-NZ" sz="33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8575" marR="28575" marT="2857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NZ" sz="3300" u="none" strike="noStrike">
                          <a:effectLst/>
                        </a:rPr>
                        <a:t>Marks</a:t>
                      </a:r>
                      <a:endParaRPr lang="en-NZ" sz="33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8575" marR="28575" marT="28575" marB="0" anchor="ctr"/>
                </a:tc>
                <a:extLst>
                  <a:ext uri="{0D108BD9-81ED-4DB2-BD59-A6C34878D82A}">
                    <a16:rowId xmlns:a16="http://schemas.microsoft.com/office/drawing/2014/main" val="562676623"/>
                  </a:ext>
                </a:extLst>
              </a:tr>
              <a:tr h="641223">
                <a:tc>
                  <a:txBody>
                    <a:bodyPr/>
                    <a:lstStyle/>
                    <a:p>
                      <a:pPr algn="l" fontAlgn="b"/>
                      <a:r>
                        <a:rPr lang="en-NZ" sz="3300" u="none" strike="noStrike" dirty="0">
                          <a:effectLst/>
                        </a:rPr>
                        <a:t>Project Cost Control </a:t>
                      </a:r>
                      <a:endParaRPr lang="en-NZ" sz="33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8575" marR="28575" marT="2857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NZ" sz="3300" u="none" strike="noStrike">
                          <a:effectLst/>
                        </a:rPr>
                        <a:t>30</a:t>
                      </a:r>
                      <a:endParaRPr lang="en-NZ" sz="33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8575" marR="28575" marT="28575" marB="0" anchor="b"/>
                </a:tc>
                <a:extLst>
                  <a:ext uri="{0D108BD9-81ED-4DB2-BD59-A6C34878D82A}">
                    <a16:rowId xmlns:a16="http://schemas.microsoft.com/office/drawing/2014/main" val="3227842471"/>
                  </a:ext>
                </a:extLst>
              </a:tr>
              <a:tr h="641223">
                <a:tc>
                  <a:txBody>
                    <a:bodyPr/>
                    <a:lstStyle/>
                    <a:p>
                      <a:pPr algn="l" fontAlgn="b"/>
                      <a:r>
                        <a:rPr lang="en-NZ" sz="3300" u="none" strike="noStrike" dirty="0">
                          <a:effectLst/>
                        </a:rPr>
                        <a:t>Project schedule development</a:t>
                      </a:r>
                      <a:endParaRPr lang="en-NZ" sz="33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8575" marR="28575" marT="2857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NZ" sz="3300" u="none" strike="noStrike">
                          <a:effectLst/>
                        </a:rPr>
                        <a:t>35</a:t>
                      </a:r>
                      <a:endParaRPr lang="en-NZ" sz="33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8575" marR="28575" marT="28575" marB="0" anchor="b"/>
                </a:tc>
                <a:extLst>
                  <a:ext uri="{0D108BD9-81ED-4DB2-BD59-A6C34878D82A}">
                    <a16:rowId xmlns:a16="http://schemas.microsoft.com/office/drawing/2014/main" val="2442939691"/>
                  </a:ext>
                </a:extLst>
              </a:tr>
              <a:tr h="641223">
                <a:tc>
                  <a:txBody>
                    <a:bodyPr/>
                    <a:lstStyle/>
                    <a:p>
                      <a:pPr algn="l" fontAlgn="b"/>
                      <a:r>
                        <a:rPr lang="en-NZ" sz="3300" u="none" strike="noStrike" dirty="0">
                          <a:effectLst/>
                        </a:rPr>
                        <a:t>Project selection </a:t>
                      </a:r>
                      <a:endParaRPr lang="en-NZ" sz="33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8575" marR="28575" marT="2857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NZ" sz="3300" u="none" strike="noStrike">
                          <a:effectLst/>
                        </a:rPr>
                        <a:t>15</a:t>
                      </a:r>
                      <a:endParaRPr lang="en-NZ" sz="33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8575" marR="28575" marT="28575" marB="0" anchor="b"/>
                </a:tc>
                <a:extLst>
                  <a:ext uri="{0D108BD9-81ED-4DB2-BD59-A6C34878D82A}">
                    <a16:rowId xmlns:a16="http://schemas.microsoft.com/office/drawing/2014/main" val="3364624869"/>
                  </a:ext>
                </a:extLst>
              </a:tr>
              <a:tr h="1144143">
                <a:tc>
                  <a:txBody>
                    <a:bodyPr/>
                    <a:lstStyle/>
                    <a:p>
                      <a:pPr algn="l" fontAlgn="b"/>
                      <a:r>
                        <a:rPr lang="en-US" sz="3300" u="none" strike="noStrike">
                          <a:effectLst/>
                        </a:rPr>
                        <a:t>Perform a quantitative risk analysis</a:t>
                      </a:r>
                      <a:endParaRPr lang="en-US" sz="33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8575" marR="28575" marT="2857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NZ" sz="3300" u="none" strike="noStrike" dirty="0">
                          <a:effectLst/>
                        </a:rPr>
                        <a:t>20</a:t>
                      </a:r>
                      <a:endParaRPr lang="en-NZ" sz="33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28575" marR="28575" marT="28575" marB="0" anchor="b"/>
                </a:tc>
                <a:extLst>
                  <a:ext uri="{0D108BD9-81ED-4DB2-BD59-A6C34878D82A}">
                    <a16:rowId xmlns:a16="http://schemas.microsoft.com/office/drawing/2014/main" val="11667550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137682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05587" rIns="0" bIns="0" rtlCol="0">
            <a:spAutoFit/>
          </a:bodyPr>
          <a:lstStyle/>
          <a:p>
            <a:pPr marL="145415">
              <a:lnSpc>
                <a:spcPct val="100000"/>
              </a:lnSpc>
              <a:spcBef>
                <a:spcPts val="105"/>
              </a:spcBef>
            </a:pPr>
            <a:r>
              <a:rPr spc="-55" dirty="0"/>
              <a:t>Team</a:t>
            </a:r>
            <a:r>
              <a:rPr spc="-175" dirty="0"/>
              <a:t> </a:t>
            </a:r>
            <a:r>
              <a:rPr dirty="0"/>
              <a:t>Information</a:t>
            </a:r>
            <a:r>
              <a:rPr spc="-170" dirty="0"/>
              <a:t> </a:t>
            </a:r>
            <a:r>
              <a:rPr spc="-50" dirty="0"/>
              <a:t>Template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2012276"/>
              </p:ext>
            </p:extLst>
          </p:nvPr>
        </p:nvGraphicFramePr>
        <p:xfrm>
          <a:off x="1600200" y="1981200"/>
          <a:ext cx="9242422" cy="251269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7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9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06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66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926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420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741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92836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 marL="107314">
                        <a:lnSpc>
                          <a:spcPct val="100000"/>
                        </a:lnSpc>
                      </a:pPr>
                      <a:r>
                        <a:rPr sz="135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Team</a:t>
                      </a:r>
                      <a:r>
                        <a:rPr sz="135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5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Name</a:t>
                      </a:r>
                      <a:endParaRPr sz="135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L="332740" marR="327025" indent="69850">
                        <a:lnSpc>
                          <a:spcPct val="107400"/>
                        </a:lnSpc>
                      </a:pPr>
                      <a:r>
                        <a:rPr sz="135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Last Name</a:t>
                      </a:r>
                      <a:endParaRPr sz="1350">
                        <a:latin typeface="Calibri"/>
                        <a:cs typeface="Calibri"/>
                      </a:endParaRPr>
                    </a:p>
                  </a:txBody>
                  <a:tcPr marL="0" marR="0" marT="12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35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First</a:t>
                      </a:r>
                      <a:endParaRPr sz="1350">
                        <a:latin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35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Name</a:t>
                      </a:r>
                      <a:endParaRPr sz="1350">
                        <a:latin typeface="Calibri"/>
                        <a:cs typeface="Calibri"/>
                      </a:endParaRPr>
                    </a:p>
                  </a:txBody>
                  <a:tcPr marL="0" marR="0" marT="4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272415">
                        <a:lnSpc>
                          <a:spcPct val="100000"/>
                        </a:lnSpc>
                      </a:pPr>
                      <a:r>
                        <a:rPr sz="135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Student</a:t>
                      </a:r>
                      <a:r>
                        <a:rPr sz="1350" b="1" spc="-6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5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ID</a:t>
                      </a:r>
                      <a:endParaRPr sz="13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L="699135" marR="372745" indent="-318770">
                        <a:lnSpc>
                          <a:spcPct val="107400"/>
                        </a:lnSpc>
                      </a:pPr>
                      <a:r>
                        <a:rPr sz="135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AUT/Preferred </a:t>
                      </a:r>
                      <a:r>
                        <a:rPr sz="135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Email</a:t>
                      </a:r>
                      <a:endParaRPr sz="1350">
                        <a:latin typeface="Calibri"/>
                        <a:cs typeface="Calibri"/>
                      </a:endParaRPr>
                    </a:p>
                  </a:txBody>
                  <a:tcPr marL="0" marR="0" marT="127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33655">
                        <a:lnSpc>
                          <a:spcPct val="100000"/>
                        </a:lnSpc>
                      </a:pPr>
                      <a:r>
                        <a:rPr sz="135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Contact</a:t>
                      </a:r>
                      <a:r>
                        <a:rPr sz="135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5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Number</a:t>
                      </a:r>
                      <a:endParaRPr sz="13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225425" marR="215265" indent="-1905" algn="ctr">
                        <a:lnSpc>
                          <a:spcPct val="107000"/>
                        </a:lnSpc>
                        <a:spcBef>
                          <a:spcPts val="935"/>
                        </a:spcBef>
                      </a:pPr>
                      <a:r>
                        <a:rPr sz="135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Group Coordinator/ Leader</a:t>
                      </a:r>
                      <a:endParaRPr sz="1350">
                        <a:latin typeface="Calibri"/>
                        <a:cs typeface="Calibri"/>
                      </a:endParaRPr>
                    </a:p>
                  </a:txBody>
                  <a:tcPr marL="0" marR="0" marT="1187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6865">
                <a:tc row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 row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686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686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686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686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D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1905000" y="5195227"/>
            <a:ext cx="820483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Remember: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There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no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‘I’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team.</a:t>
            </a:r>
            <a:r>
              <a:rPr sz="1800" spc="-30" dirty="0">
                <a:latin typeface="Calibri"/>
                <a:cs typeface="Calibri"/>
              </a:rPr>
              <a:t> You </a:t>
            </a:r>
            <a:r>
              <a:rPr sz="1800" dirty="0">
                <a:latin typeface="Calibri"/>
                <a:cs typeface="Calibri"/>
              </a:rPr>
              <a:t>will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jointly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severally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accountable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for</a:t>
            </a:r>
            <a:r>
              <a:rPr sz="1800" spc="-20" dirty="0">
                <a:latin typeface="Calibri"/>
                <a:cs typeface="Calibri"/>
              </a:rPr>
              <a:t> team</a:t>
            </a:r>
            <a:endParaRPr sz="18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outcomes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–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everyone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named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shares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responsibility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equally.</a:t>
            </a:r>
            <a:endParaRPr sz="1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81432" y="457200"/>
            <a:ext cx="6390968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5" dirty="0"/>
              <a:t>Learning</a:t>
            </a:r>
            <a:r>
              <a:rPr sz="2400" spc="-35" dirty="0"/>
              <a:t> </a:t>
            </a:r>
            <a:r>
              <a:rPr spc="-55" dirty="0"/>
              <a:t>Outcomes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59309" y="1438519"/>
            <a:ext cx="10298430" cy="3980961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2400" dirty="0">
                <a:latin typeface="Calibri"/>
                <a:cs typeface="Calibri"/>
              </a:rPr>
              <a:t>Must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have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solid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knowledge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understanding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lang="en-NZ" sz="2400" dirty="0">
                <a:latin typeface="Calibri"/>
                <a:cs typeface="Calibri"/>
              </a:rPr>
              <a:t>of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project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management</a:t>
            </a:r>
            <a:endParaRPr sz="2400" dirty="0">
              <a:latin typeface="Calibri"/>
              <a:cs typeface="Calibri"/>
            </a:endParaRPr>
          </a:p>
          <a:p>
            <a:pPr marL="241300" indent="-228600">
              <a:lnSpc>
                <a:spcPts val="2140"/>
              </a:lnSpc>
              <a:spcBef>
                <a:spcPts val="254"/>
              </a:spcBef>
              <a:buClr>
                <a:srgbClr val="F5821F"/>
              </a:buClr>
              <a:buFont typeface="Arial"/>
              <a:buChar char="•"/>
              <a:tabLst>
                <a:tab pos="241300" algn="l"/>
              </a:tabLst>
            </a:pPr>
            <a:r>
              <a:rPr sz="2000" dirty="0">
                <a:latin typeface="Calibri"/>
                <a:cs typeface="Calibri"/>
              </a:rPr>
              <a:t>Able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understand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apply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6F2F9F"/>
                </a:solidFill>
                <a:latin typeface="Calibri"/>
                <a:cs typeface="Calibri"/>
              </a:rPr>
              <a:t>project</a:t>
            </a:r>
            <a:r>
              <a:rPr sz="20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6F2F9F"/>
                </a:solidFill>
                <a:latin typeface="Calibri"/>
                <a:cs typeface="Calibri"/>
              </a:rPr>
              <a:t>management concepts</a:t>
            </a:r>
            <a:r>
              <a:rPr sz="20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</a:t>
            </a:r>
            <a:r>
              <a:rPr lang="en-NZ" sz="2000" dirty="0">
                <a:latin typeface="Calibri"/>
                <a:cs typeface="Calibri"/>
              </a:rPr>
              <a:t>based on </a:t>
            </a:r>
            <a:r>
              <a:rPr sz="2000" dirty="0">
                <a:latin typeface="Calibri"/>
                <a:cs typeface="Calibri"/>
              </a:rPr>
              <a:t>Project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Management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Institute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(PMI)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lang="en-NZ" sz="2000" spc="-30" dirty="0">
                <a:latin typeface="Calibri"/>
                <a:cs typeface="Calibri"/>
              </a:rPr>
              <a:t> concepts</a:t>
            </a:r>
            <a:r>
              <a:rPr sz="2000" spc="-10" dirty="0">
                <a:latin typeface="Calibri"/>
                <a:cs typeface="Calibri"/>
              </a:rPr>
              <a:t>)</a:t>
            </a:r>
            <a:endParaRPr sz="2000" dirty="0">
              <a:latin typeface="Calibri"/>
              <a:cs typeface="Calibri"/>
            </a:endParaRPr>
          </a:p>
          <a:p>
            <a:pPr marL="927100" lvl="1" indent="-457200">
              <a:lnSpc>
                <a:spcPts val="2180"/>
              </a:lnSpc>
              <a:buClr>
                <a:srgbClr val="F5821F"/>
              </a:buClr>
              <a:buAutoNum type="arabicPeriod"/>
              <a:tabLst>
                <a:tab pos="927100" algn="l"/>
              </a:tabLst>
            </a:pPr>
            <a:r>
              <a:rPr dirty="0">
                <a:latin typeface="Calibri"/>
                <a:cs typeface="Calibri"/>
              </a:rPr>
              <a:t>Explain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principles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of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project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management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in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an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information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technology</a:t>
            </a:r>
            <a:r>
              <a:rPr spc="-6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context.</a:t>
            </a:r>
            <a:endParaRPr dirty="0">
              <a:latin typeface="Calibri"/>
              <a:cs typeface="Calibri"/>
            </a:endParaRPr>
          </a:p>
          <a:p>
            <a:pPr marL="927100" lvl="1" indent="-457200">
              <a:lnSpc>
                <a:spcPts val="2180"/>
              </a:lnSpc>
              <a:buClr>
                <a:srgbClr val="F5821F"/>
              </a:buClr>
              <a:buAutoNum type="arabicPeriod"/>
              <a:tabLst>
                <a:tab pos="927100" algn="l"/>
              </a:tabLst>
            </a:pPr>
            <a:r>
              <a:rPr dirty="0">
                <a:latin typeface="Calibri"/>
                <a:cs typeface="Calibri"/>
              </a:rPr>
              <a:t>Compare</a:t>
            </a:r>
            <a:r>
              <a:rPr spc="-5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and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contrast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project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management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methodologies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and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their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applicability.</a:t>
            </a:r>
            <a:endParaRPr dirty="0">
              <a:latin typeface="Calibri"/>
              <a:cs typeface="Calibri"/>
            </a:endParaRPr>
          </a:p>
          <a:p>
            <a:pPr marL="925830" marR="52705" lvl="1" indent="-455930" algn="just">
              <a:lnSpc>
                <a:spcPct val="70000"/>
              </a:lnSpc>
              <a:spcBef>
                <a:spcPts val="610"/>
              </a:spcBef>
              <a:buClr>
                <a:srgbClr val="F5821F"/>
              </a:buClr>
              <a:buAutoNum type="arabicPeriod"/>
              <a:tabLst>
                <a:tab pos="927100" algn="l"/>
              </a:tabLst>
            </a:pPr>
            <a:r>
              <a:rPr dirty="0">
                <a:latin typeface="Calibri"/>
                <a:cs typeface="Calibri"/>
              </a:rPr>
              <a:t>Compare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IT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project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management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practices</a:t>
            </a:r>
            <a:r>
              <a:rPr spc="-1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in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management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of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integration,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scope,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time, 	</a:t>
            </a:r>
            <a:r>
              <a:rPr dirty="0">
                <a:latin typeface="Calibri"/>
                <a:cs typeface="Calibri"/>
              </a:rPr>
              <a:t>cost,</a:t>
            </a:r>
            <a:r>
              <a:rPr spc="-5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quality,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human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resources,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communications,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risk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management,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procurement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and</a:t>
            </a:r>
            <a:r>
              <a:rPr spc="-50" dirty="0">
                <a:latin typeface="Calibri"/>
                <a:cs typeface="Calibri"/>
              </a:rPr>
              <a:t> </a:t>
            </a:r>
            <a:r>
              <a:rPr spc="-20" dirty="0">
                <a:latin typeface="Calibri"/>
                <a:cs typeface="Calibri"/>
              </a:rPr>
              <a:t>with</a:t>
            </a:r>
            <a:r>
              <a:rPr lang="en-NZ" spc="-2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stakeholders.</a:t>
            </a:r>
            <a:endParaRPr dirty="0">
              <a:latin typeface="Calibri"/>
              <a:cs typeface="Calibri"/>
            </a:endParaRPr>
          </a:p>
          <a:p>
            <a:pPr marL="925830" lvl="1" indent="-455930" algn="just">
              <a:lnSpc>
                <a:spcPts val="2075"/>
              </a:lnSpc>
              <a:buClr>
                <a:srgbClr val="F5821F"/>
              </a:buClr>
              <a:buAutoNum type="arabicPeriod"/>
              <a:tabLst>
                <a:tab pos="925830" algn="l"/>
              </a:tabLst>
            </a:pPr>
            <a:r>
              <a:rPr dirty="0">
                <a:latin typeface="Calibri"/>
                <a:cs typeface="Calibri"/>
              </a:rPr>
              <a:t>Apply</a:t>
            </a:r>
            <a:r>
              <a:rPr spc="-6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project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management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practices,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particularly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in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planning</a:t>
            </a:r>
            <a:r>
              <a:rPr spc="-5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and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communications</a:t>
            </a:r>
            <a:endParaRPr dirty="0">
              <a:latin typeface="Calibri"/>
              <a:cs typeface="Calibri"/>
            </a:endParaRPr>
          </a:p>
          <a:p>
            <a:pPr marL="927100" marR="762000" lvl="1" indent="-457200">
              <a:lnSpc>
                <a:spcPct val="70000"/>
              </a:lnSpc>
              <a:spcBef>
                <a:spcPts val="610"/>
              </a:spcBef>
              <a:buClr>
                <a:srgbClr val="F5821F"/>
              </a:buClr>
              <a:buAutoNum type="arabicPeriod"/>
              <a:tabLst>
                <a:tab pos="927100" algn="l"/>
              </a:tabLst>
            </a:pPr>
            <a:r>
              <a:rPr dirty="0">
                <a:latin typeface="Calibri"/>
                <a:cs typeface="Calibri"/>
              </a:rPr>
              <a:t>Use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project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management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lang="en-NZ" dirty="0">
                <a:latin typeface="Calibri"/>
                <a:cs typeface="Calibri"/>
              </a:rPr>
              <a:t>techniques </a:t>
            </a:r>
            <a:r>
              <a:rPr dirty="0">
                <a:latin typeface="Calibri"/>
                <a:cs typeface="Calibri"/>
              </a:rPr>
              <a:t>to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support</a:t>
            </a:r>
            <a:r>
              <a:rPr spc="-5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planning,</a:t>
            </a:r>
            <a:r>
              <a:rPr spc="-6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scheduling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spc="-25" dirty="0">
                <a:latin typeface="Calibri"/>
                <a:cs typeface="Calibri"/>
              </a:rPr>
              <a:t>and </a:t>
            </a:r>
            <a:r>
              <a:rPr spc="-10" dirty="0">
                <a:latin typeface="Calibri"/>
                <a:cs typeface="Calibri"/>
              </a:rPr>
              <a:t>estimation</a:t>
            </a:r>
            <a:endParaRPr dirty="0">
              <a:latin typeface="Calibri"/>
              <a:cs typeface="Calibri"/>
            </a:endParaRPr>
          </a:p>
          <a:p>
            <a:pPr marL="927100" marR="101600" lvl="1" indent="-457200">
              <a:lnSpc>
                <a:spcPct val="70000"/>
              </a:lnSpc>
              <a:spcBef>
                <a:spcPts val="495"/>
              </a:spcBef>
              <a:buClr>
                <a:srgbClr val="F5821F"/>
              </a:buClr>
              <a:buAutoNum type="arabicPeriod"/>
              <a:tabLst>
                <a:tab pos="927100" algn="l"/>
              </a:tabLst>
            </a:pPr>
            <a:r>
              <a:rPr dirty="0">
                <a:latin typeface="Calibri"/>
                <a:cs typeface="Calibri"/>
              </a:rPr>
              <a:t>Discuss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competencies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f</a:t>
            </a:r>
            <a:r>
              <a:rPr lang="en-NZ" dirty="0">
                <a:latin typeface="Calibri"/>
                <a:cs typeface="Calibri"/>
              </a:rPr>
              <a:t>or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project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lang="en-NZ" spc="-30" dirty="0">
                <a:latin typeface="Calibri"/>
                <a:cs typeface="Calibri"/>
              </a:rPr>
              <a:t>management tasks </a:t>
            </a:r>
            <a:r>
              <a:rPr lang="en-NZ" dirty="0">
                <a:latin typeface="Calibri"/>
                <a:cs typeface="Calibri"/>
              </a:rPr>
              <a:t>enabling high-performing project teams</a:t>
            </a:r>
            <a:r>
              <a:rPr sz="2000" spc="-10" dirty="0">
                <a:latin typeface="Calibri"/>
                <a:cs typeface="Calibri"/>
              </a:rPr>
              <a:t>.</a:t>
            </a:r>
            <a:endParaRPr sz="2000" dirty="0">
              <a:latin typeface="Calibri"/>
              <a:cs typeface="Calibri"/>
            </a:endParaRPr>
          </a:p>
          <a:p>
            <a:pPr marL="240665" indent="-227965">
              <a:lnSpc>
                <a:spcPts val="2770"/>
              </a:lnSpc>
              <a:spcBef>
                <a:spcPts val="140"/>
              </a:spcBef>
              <a:buClr>
                <a:srgbClr val="F5821F"/>
              </a:buClr>
              <a:buFont typeface="Arial"/>
              <a:buChar char="•"/>
              <a:tabLst>
                <a:tab pos="240665" algn="l"/>
              </a:tabLst>
            </a:pPr>
            <a:r>
              <a:rPr sz="2000" dirty="0">
                <a:latin typeface="Calibri"/>
                <a:cs typeface="Calibri"/>
              </a:rPr>
              <a:t>Know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how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develop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project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6F2F9F"/>
                </a:solidFill>
                <a:latin typeface="Calibri"/>
                <a:cs typeface="Calibri"/>
              </a:rPr>
              <a:t>proposal</a:t>
            </a:r>
            <a:r>
              <a:rPr sz="20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6F2F9F"/>
                </a:solidFill>
                <a:latin typeface="Calibri"/>
                <a:cs typeface="Calibri"/>
              </a:rPr>
              <a:t>(</a:t>
            </a:r>
            <a:r>
              <a:rPr lang="en-NZ" sz="2000" b="1" dirty="0">
                <a:solidFill>
                  <a:srgbClr val="6F2F9F"/>
                </a:solidFill>
                <a:latin typeface="Calibri"/>
                <a:cs typeface="Calibri"/>
              </a:rPr>
              <a:t>develop</a:t>
            </a:r>
            <a:r>
              <a:rPr sz="20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6F2F9F"/>
                </a:solidFill>
                <a:latin typeface="Calibri"/>
                <a:cs typeface="Calibri"/>
              </a:rPr>
              <a:t>plans</a:t>
            </a:r>
            <a:r>
              <a:rPr sz="20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6F2F9F"/>
                </a:solidFill>
                <a:latin typeface="Calibri"/>
                <a:cs typeface="Calibri"/>
              </a:rPr>
              <a:t>for</a:t>
            </a:r>
            <a:r>
              <a:rPr sz="20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lang="en-NZ" sz="2000" b="1" spc="-45" dirty="0">
                <a:solidFill>
                  <a:srgbClr val="6F2F9F"/>
                </a:solidFill>
                <a:latin typeface="Calibri"/>
                <a:cs typeface="Calibri"/>
              </a:rPr>
              <a:t>the </a:t>
            </a:r>
            <a:r>
              <a:rPr sz="2000" b="1" spc="-10" dirty="0">
                <a:solidFill>
                  <a:srgbClr val="6F2F9F"/>
                </a:solidFill>
                <a:latin typeface="Calibri"/>
                <a:cs typeface="Calibri"/>
              </a:rPr>
              <a:t>project)</a:t>
            </a:r>
            <a:endParaRPr sz="2000" dirty="0">
              <a:latin typeface="Calibri"/>
              <a:cs typeface="Calibri"/>
            </a:endParaRPr>
          </a:p>
          <a:p>
            <a:pPr marL="698500" indent="-228600">
              <a:lnSpc>
                <a:spcPts val="2180"/>
              </a:lnSpc>
              <a:buClr>
                <a:srgbClr val="F5821F"/>
              </a:buClr>
              <a:buFont typeface="Arial"/>
              <a:buChar char="•"/>
              <a:tabLst>
                <a:tab pos="698500" algn="l"/>
              </a:tabLst>
            </a:pPr>
            <a:r>
              <a:rPr dirty="0">
                <a:latin typeface="Calibri"/>
                <a:cs typeface="Calibri"/>
              </a:rPr>
              <a:t>Know</a:t>
            </a:r>
            <a:r>
              <a:rPr spc="-6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how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to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b="1" spc="-10" dirty="0">
                <a:solidFill>
                  <a:srgbClr val="6F2F9F"/>
                </a:solidFill>
                <a:latin typeface="Calibri"/>
                <a:cs typeface="Calibri"/>
              </a:rPr>
              <a:t>execute,</a:t>
            </a:r>
            <a:r>
              <a:rPr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b="1" dirty="0">
                <a:solidFill>
                  <a:srgbClr val="6F2F9F"/>
                </a:solidFill>
                <a:latin typeface="Calibri"/>
                <a:cs typeface="Calibri"/>
              </a:rPr>
              <a:t>monitor</a:t>
            </a:r>
            <a:r>
              <a:rPr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b="1" dirty="0">
                <a:solidFill>
                  <a:srgbClr val="6F2F9F"/>
                </a:solidFill>
                <a:latin typeface="Calibri"/>
                <a:cs typeface="Calibri"/>
              </a:rPr>
              <a:t>and</a:t>
            </a:r>
            <a:r>
              <a:rPr b="1" spc="-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b="1" dirty="0">
                <a:solidFill>
                  <a:srgbClr val="6F2F9F"/>
                </a:solidFill>
                <a:latin typeface="Calibri"/>
                <a:cs typeface="Calibri"/>
              </a:rPr>
              <a:t>control</a:t>
            </a:r>
            <a:r>
              <a:rPr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an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IT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project</a:t>
            </a:r>
            <a:endParaRPr dirty="0">
              <a:latin typeface="Calibri"/>
              <a:cs typeface="Calibri"/>
            </a:endParaRPr>
          </a:p>
          <a:p>
            <a:pPr marL="698500" indent="-228600">
              <a:lnSpc>
                <a:spcPts val="2290"/>
              </a:lnSpc>
              <a:buClr>
                <a:srgbClr val="F5821F"/>
              </a:buClr>
              <a:buFont typeface="Arial"/>
              <a:buChar char="•"/>
              <a:tabLst>
                <a:tab pos="698500" algn="l"/>
              </a:tabLst>
            </a:pPr>
            <a:r>
              <a:rPr dirty="0">
                <a:latin typeface="Calibri"/>
                <a:cs typeface="Calibri"/>
              </a:rPr>
              <a:t>Use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typical</a:t>
            </a:r>
            <a:r>
              <a:rPr spc="-50" dirty="0">
                <a:latin typeface="Calibri"/>
                <a:cs typeface="Calibri"/>
              </a:rPr>
              <a:t> </a:t>
            </a:r>
            <a:r>
              <a:rPr b="1" dirty="0">
                <a:solidFill>
                  <a:srgbClr val="6F2F9F"/>
                </a:solidFill>
                <a:latin typeface="Calibri"/>
                <a:cs typeface="Calibri"/>
              </a:rPr>
              <a:t>project</a:t>
            </a:r>
            <a:r>
              <a:rPr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b="1" dirty="0">
                <a:solidFill>
                  <a:srgbClr val="6F2F9F"/>
                </a:solidFill>
                <a:latin typeface="Calibri"/>
                <a:cs typeface="Calibri"/>
              </a:rPr>
              <a:t>management</a:t>
            </a:r>
            <a:r>
              <a:rPr b="1" spc="-5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b="1" dirty="0">
                <a:solidFill>
                  <a:srgbClr val="6F2F9F"/>
                </a:solidFill>
                <a:latin typeface="Calibri"/>
                <a:cs typeface="Calibri"/>
              </a:rPr>
              <a:t>software</a:t>
            </a:r>
            <a:r>
              <a:rPr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to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lang="en-NZ" spc="-10" dirty="0">
                <a:latin typeface="Calibri"/>
                <a:cs typeface="Calibri"/>
              </a:rPr>
              <a:t>organise</a:t>
            </a:r>
            <a:r>
              <a:rPr spc="-10" dirty="0">
                <a:latin typeface="Calibri"/>
                <a:cs typeface="Calibri"/>
              </a:rPr>
              <a:t>,</a:t>
            </a:r>
            <a:r>
              <a:rPr spc="-6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execute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and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control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project</a:t>
            </a:r>
            <a:endParaRPr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06144" y="217424"/>
            <a:ext cx="10318115" cy="778880"/>
          </a:xfrm>
          <a:prstGeom prst="rect">
            <a:avLst/>
          </a:prstGeom>
        </p:spPr>
        <p:txBody>
          <a:bodyPr vert="horz" wrap="square" lIns="0" tIns="405587" rIns="0" bIns="0" rtlCol="0">
            <a:spAutoFit/>
          </a:bodyPr>
          <a:lstStyle/>
          <a:p>
            <a:pPr marL="145415">
              <a:lnSpc>
                <a:spcPct val="100000"/>
              </a:lnSpc>
              <a:spcBef>
                <a:spcPts val="105"/>
              </a:spcBef>
            </a:pPr>
            <a:r>
              <a:rPr sz="2400" dirty="0"/>
              <a:t>Learning</a:t>
            </a:r>
            <a:r>
              <a:rPr sz="2400" spc="-35" dirty="0"/>
              <a:t> </a:t>
            </a:r>
            <a:r>
              <a:rPr sz="2400" spc="-10" dirty="0"/>
              <a:t>Outcomes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99794" y="1295400"/>
            <a:ext cx="10324465" cy="2975815"/>
          </a:xfrm>
          <a:prstGeom prst="rect">
            <a:avLst/>
          </a:prstGeom>
        </p:spPr>
        <p:txBody>
          <a:bodyPr vert="horz" wrap="square" lIns="0" tIns="10477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825"/>
              </a:spcBef>
            </a:pPr>
            <a:r>
              <a:rPr sz="2000" dirty="0">
                <a:latin typeface="Calibri"/>
                <a:cs typeface="Calibri"/>
              </a:rPr>
              <a:t>This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paper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also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assists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in:</a:t>
            </a:r>
            <a:endParaRPr sz="2000" dirty="0">
              <a:latin typeface="Calibri"/>
              <a:cs typeface="Calibri"/>
            </a:endParaRPr>
          </a:p>
          <a:p>
            <a:pPr marL="241300" marR="206375" indent="-229235" algn="just">
              <a:lnSpc>
                <a:spcPts val="2590"/>
              </a:lnSpc>
              <a:spcBef>
                <a:spcPts val="1050"/>
              </a:spcBef>
              <a:buClr>
                <a:srgbClr val="F5821F"/>
              </a:buClr>
              <a:buFont typeface="Arial"/>
              <a:buChar char="•"/>
              <a:tabLst>
                <a:tab pos="241300" algn="l"/>
              </a:tabLst>
            </a:pPr>
            <a:r>
              <a:rPr sz="2000" dirty="0">
                <a:latin typeface="Calibri"/>
                <a:cs typeface="Calibri"/>
              </a:rPr>
              <a:t>Providing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knowledge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produce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6F2F9F"/>
                </a:solidFill>
                <a:latin typeface="Calibri"/>
                <a:cs typeface="Calibri"/>
              </a:rPr>
              <a:t>project</a:t>
            </a:r>
            <a:r>
              <a:rPr sz="2000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6F2F9F"/>
                </a:solidFill>
                <a:latin typeface="Calibri"/>
                <a:cs typeface="Calibri"/>
              </a:rPr>
              <a:t>proposal.</a:t>
            </a:r>
            <a:r>
              <a:rPr sz="2000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Will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come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handy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your </a:t>
            </a:r>
            <a:r>
              <a:rPr sz="2000" dirty="0">
                <a:latin typeface="Calibri"/>
                <a:cs typeface="Calibri"/>
              </a:rPr>
              <a:t>R&amp;D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project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(Level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7,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30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points)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–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undertake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industry-</a:t>
            </a:r>
            <a:r>
              <a:rPr sz="2000" dirty="0">
                <a:latin typeface="Calibri"/>
                <a:cs typeface="Calibri"/>
              </a:rPr>
              <a:t>based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project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25" dirty="0">
                <a:latin typeface="Calibri"/>
                <a:cs typeface="Calibri"/>
              </a:rPr>
              <a:t> in </a:t>
            </a:r>
            <a:r>
              <a:rPr sz="2000" dirty="0">
                <a:latin typeface="Calibri"/>
                <a:cs typeface="Calibri"/>
              </a:rPr>
              <a:t>your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future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careers.</a:t>
            </a:r>
            <a:endParaRPr sz="2000" dirty="0">
              <a:latin typeface="Calibri"/>
              <a:cs typeface="Calibri"/>
            </a:endParaRPr>
          </a:p>
          <a:p>
            <a:pPr marL="241300" marR="78105" indent="-229235">
              <a:lnSpc>
                <a:spcPts val="2590"/>
              </a:lnSpc>
              <a:spcBef>
                <a:spcPts val="1005"/>
              </a:spcBef>
              <a:buClr>
                <a:srgbClr val="F5821F"/>
              </a:buClr>
              <a:buFont typeface="Arial"/>
              <a:buChar char="•"/>
              <a:tabLst>
                <a:tab pos="241300" algn="l"/>
              </a:tabLst>
            </a:pPr>
            <a:r>
              <a:rPr sz="2000" dirty="0">
                <a:latin typeface="Calibri"/>
                <a:cs typeface="Calibri"/>
              </a:rPr>
              <a:t>What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you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will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learn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used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industry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-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b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PMI’s</a:t>
            </a:r>
            <a:r>
              <a:rPr sz="2000" b="1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10</a:t>
            </a:r>
            <a:r>
              <a:rPr sz="2000" b="1" u="sng" spc="-3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knowledge</a:t>
            </a:r>
            <a:r>
              <a:rPr sz="2000" b="1" u="sng" spc="-3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areas</a:t>
            </a:r>
            <a:r>
              <a:rPr sz="2000" b="1" u="sng" spc="-3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and</a:t>
            </a:r>
            <a:r>
              <a:rPr sz="2000" b="1" u="sng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5</a:t>
            </a:r>
            <a:r>
              <a:rPr sz="2000" b="1" u="sng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b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process</a:t>
            </a:r>
            <a:r>
              <a:rPr sz="2000" b="1" spc="-10" dirty="0">
                <a:latin typeface="Calibri"/>
                <a:cs typeface="Calibri"/>
              </a:rPr>
              <a:t> </a:t>
            </a:r>
            <a:r>
              <a:rPr sz="20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groups</a:t>
            </a:r>
            <a:r>
              <a:rPr sz="2000" b="1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will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not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change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regardless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lang="en-NZ" sz="2000" dirty="0">
                <a:latin typeface="Calibri"/>
                <a:cs typeface="Calibri"/>
              </a:rPr>
              <a:t>IT solutions, methods and infrastructure requirements</a:t>
            </a:r>
            <a:r>
              <a:rPr sz="2000" spc="-10" dirty="0">
                <a:latin typeface="Calibri"/>
                <a:cs typeface="Calibri"/>
              </a:rPr>
              <a:t>.</a:t>
            </a:r>
            <a:endParaRPr sz="2000" dirty="0">
              <a:latin typeface="Calibri"/>
              <a:cs typeface="Calibri"/>
            </a:endParaRPr>
          </a:p>
          <a:p>
            <a:pPr marL="240029" marR="5080" indent="-227965">
              <a:lnSpc>
                <a:spcPct val="90000"/>
              </a:lnSpc>
              <a:spcBef>
                <a:spcPts val="960"/>
              </a:spcBef>
              <a:buClr>
                <a:srgbClr val="F5821F"/>
              </a:buClr>
              <a:buFont typeface="Arial"/>
              <a:buChar char="•"/>
              <a:tabLst>
                <a:tab pos="241300" algn="l"/>
              </a:tabLst>
            </a:pPr>
            <a:r>
              <a:rPr sz="2000" dirty="0">
                <a:latin typeface="Calibri"/>
                <a:cs typeface="Calibri"/>
              </a:rPr>
              <a:t>The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R&amp;D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project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will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further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build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your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industry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knowledge</a:t>
            </a:r>
            <a:r>
              <a:rPr lang="en-NZ" sz="2000" dirty="0">
                <a:latin typeface="Calibri"/>
                <a:cs typeface="Calibri"/>
              </a:rPr>
              <a:t>,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including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your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project</a:t>
            </a:r>
            <a:r>
              <a:rPr lang="en-NZ"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skills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-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you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will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have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reality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experience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lang="en-NZ" sz="2000" dirty="0">
                <a:latin typeface="Calibri"/>
                <a:cs typeface="Calibri"/>
              </a:rPr>
              <a:t>for undertaking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lang="en-NZ" sz="2000" dirty="0">
                <a:latin typeface="Calibri"/>
                <a:cs typeface="Calibri"/>
              </a:rPr>
              <a:t>an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lang="en-NZ" sz="2000" spc="-25" dirty="0">
                <a:latin typeface="Calibri"/>
                <a:cs typeface="Calibri"/>
              </a:rPr>
              <a:t>industry </a:t>
            </a:r>
            <a:r>
              <a:rPr sz="2000" dirty="0">
                <a:latin typeface="Calibri"/>
                <a:cs typeface="Calibri"/>
              </a:rPr>
              <a:t>project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deliver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20" dirty="0">
                <a:latin typeface="Calibri"/>
                <a:cs typeface="Calibri"/>
              </a:rPr>
              <a:t> good</a:t>
            </a:r>
            <a:r>
              <a:rPr lang="en-NZ"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interview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when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job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hunting.</a:t>
            </a:r>
            <a:endParaRPr sz="20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06144" y="217424"/>
            <a:ext cx="10318115" cy="543815"/>
          </a:xfrm>
          <a:prstGeom prst="rect">
            <a:avLst/>
          </a:prstGeom>
        </p:spPr>
        <p:txBody>
          <a:bodyPr vert="horz" wrap="square" lIns="0" tIns="17279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spc="-20" dirty="0"/>
              <a:t>Techniques</a:t>
            </a:r>
            <a:r>
              <a:rPr sz="2400" spc="-50" dirty="0"/>
              <a:t> </a:t>
            </a:r>
            <a:r>
              <a:rPr sz="2400" dirty="0"/>
              <a:t>and</a:t>
            </a:r>
            <a:r>
              <a:rPr sz="2400" spc="-85" dirty="0"/>
              <a:t> </a:t>
            </a:r>
            <a:r>
              <a:rPr sz="2400" dirty="0"/>
              <a:t>tools</a:t>
            </a:r>
            <a:r>
              <a:rPr sz="2400" spc="-65" dirty="0"/>
              <a:t> </a:t>
            </a:r>
            <a:r>
              <a:rPr sz="2400" dirty="0"/>
              <a:t>(plans</a:t>
            </a:r>
            <a:r>
              <a:rPr sz="2400" spc="-50" dirty="0"/>
              <a:t> </a:t>
            </a:r>
            <a:r>
              <a:rPr sz="2400" dirty="0"/>
              <a:t>and</a:t>
            </a:r>
            <a:r>
              <a:rPr sz="2400" spc="-45" dirty="0"/>
              <a:t> </a:t>
            </a:r>
            <a:r>
              <a:rPr sz="2400" spc="-10" dirty="0"/>
              <a:t>documents)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24000" y="914400"/>
            <a:ext cx="9542145" cy="4739759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300"/>
              </a:spcBef>
              <a:buClr>
                <a:srgbClr val="F5821F"/>
              </a:buClr>
              <a:buAutoNum type="arabicPeriod"/>
              <a:tabLst>
                <a:tab pos="469265" algn="l"/>
              </a:tabLst>
            </a:pPr>
            <a:r>
              <a:rPr sz="2200" dirty="0">
                <a:latin typeface="Calibri"/>
                <a:cs typeface="Calibri"/>
              </a:rPr>
              <a:t>The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Business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Case</a:t>
            </a:r>
            <a:endParaRPr sz="2200" dirty="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spcBef>
                <a:spcPts val="204"/>
              </a:spcBef>
              <a:buClr>
                <a:srgbClr val="F5821F"/>
              </a:buClr>
              <a:buAutoNum type="arabicPeriod"/>
              <a:tabLst>
                <a:tab pos="469265" algn="l"/>
              </a:tabLst>
            </a:pPr>
            <a:r>
              <a:rPr sz="2200" spc="-20" dirty="0">
                <a:latin typeface="Calibri"/>
                <a:cs typeface="Calibri"/>
              </a:rPr>
              <a:t>Requirements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document</a:t>
            </a:r>
            <a:endParaRPr sz="2200" dirty="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spcBef>
                <a:spcPts val="204"/>
              </a:spcBef>
              <a:buClr>
                <a:srgbClr val="F5821F"/>
              </a:buClr>
              <a:buAutoNum type="arabicPeriod"/>
              <a:tabLst>
                <a:tab pos="469265" algn="l"/>
              </a:tabLst>
            </a:pPr>
            <a:r>
              <a:rPr sz="2200" dirty="0">
                <a:latin typeface="Calibri"/>
                <a:cs typeface="Calibri"/>
              </a:rPr>
              <a:t>Scope</a:t>
            </a:r>
            <a:r>
              <a:rPr sz="2200" spc="-9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Statement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document</a:t>
            </a:r>
            <a:endParaRPr sz="2200" dirty="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spcBef>
                <a:spcPts val="219"/>
              </a:spcBef>
              <a:buClr>
                <a:srgbClr val="F5821F"/>
              </a:buClr>
              <a:buAutoNum type="arabicPeriod"/>
              <a:tabLst>
                <a:tab pos="469265" algn="l"/>
              </a:tabLst>
            </a:pPr>
            <a:r>
              <a:rPr sz="2200" spc="-10" dirty="0">
                <a:latin typeface="Calibri"/>
                <a:cs typeface="Calibri"/>
              </a:rPr>
              <a:t>Work</a:t>
            </a:r>
            <a:r>
              <a:rPr sz="2200" spc="-9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Breakdown</a:t>
            </a:r>
            <a:r>
              <a:rPr sz="2200" spc="-8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Structure</a:t>
            </a:r>
            <a:r>
              <a:rPr sz="2200" spc="-8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(WBS)</a:t>
            </a:r>
            <a:endParaRPr sz="2200" dirty="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spcBef>
                <a:spcPts val="200"/>
              </a:spcBef>
              <a:buClr>
                <a:srgbClr val="F5821F"/>
              </a:buClr>
              <a:buAutoNum type="arabicPeriod"/>
              <a:tabLst>
                <a:tab pos="469265" algn="l"/>
              </a:tabLst>
            </a:pPr>
            <a:r>
              <a:rPr sz="2200" spc="-10" dirty="0">
                <a:latin typeface="Calibri"/>
                <a:cs typeface="Calibri"/>
              </a:rPr>
              <a:t>Stakeholder</a:t>
            </a:r>
            <a:r>
              <a:rPr sz="2200" spc="-8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register</a:t>
            </a:r>
            <a:r>
              <a:rPr sz="2200" spc="-8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9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stakeholder</a:t>
            </a:r>
            <a:r>
              <a:rPr sz="2200" spc="-8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management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strategy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document</a:t>
            </a:r>
            <a:endParaRPr sz="2200" dirty="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spcBef>
                <a:spcPts val="204"/>
              </a:spcBef>
              <a:buClr>
                <a:srgbClr val="F5821F"/>
              </a:buClr>
              <a:buAutoNum type="arabicPeriod"/>
              <a:tabLst>
                <a:tab pos="469265" algn="l"/>
              </a:tabLst>
            </a:pPr>
            <a:r>
              <a:rPr sz="2200" dirty="0">
                <a:latin typeface="Calibri"/>
                <a:cs typeface="Calibri"/>
              </a:rPr>
              <a:t>Project</a:t>
            </a:r>
            <a:r>
              <a:rPr sz="2200" spc="-10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schedule,</a:t>
            </a:r>
            <a:r>
              <a:rPr sz="2200" spc="-9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arrow</a:t>
            </a:r>
            <a:r>
              <a:rPr sz="2200" spc="-11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diagram,</a:t>
            </a:r>
            <a:r>
              <a:rPr sz="2200" spc="-9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network</a:t>
            </a:r>
            <a:r>
              <a:rPr sz="2200" spc="-8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diagram</a:t>
            </a:r>
            <a:endParaRPr sz="2200" dirty="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spcBef>
                <a:spcPts val="220"/>
              </a:spcBef>
              <a:buClr>
                <a:srgbClr val="F5821F"/>
              </a:buClr>
              <a:buAutoNum type="arabicPeriod"/>
              <a:tabLst>
                <a:tab pos="469265" algn="l"/>
              </a:tabLst>
            </a:pPr>
            <a:r>
              <a:rPr sz="2200" spc="-10" dirty="0">
                <a:latin typeface="Calibri"/>
                <a:cs typeface="Calibri"/>
              </a:rPr>
              <a:t>Communication</a:t>
            </a:r>
            <a:r>
              <a:rPr sz="2200" spc="-9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plan</a:t>
            </a:r>
            <a:endParaRPr sz="2200" dirty="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spcBef>
                <a:spcPts val="204"/>
              </a:spcBef>
              <a:buClr>
                <a:srgbClr val="F5821F"/>
              </a:buClr>
              <a:buAutoNum type="arabicPeriod"/>
              <a:tabLst>
                <a:tab pos="469265" algn="l"/>
              </a:tabLst>
            </a:pPr>
            <a:r>
              <a:rPr sz="2200" dirty="0">
                <a:latin typeface="Calibri"/>
                <a:cs typeface="Calibri"/>
              </a:rPr>
              <a:t>Quality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Assurance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plan</a:t>
            </a:r>
            <a:endParaRPr sz="2200" dirty="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spcBef>
                <a:spcPts val="200"/>
              </a:spcBef>
              <a:buClr>
                <a:srgbClr val="F5821F"/>
              </a:buClr>
              <a:buAutoNum type="arabicPeriod"/>
              <a:tabLst>
                <a:tab pos="469265" algn="l"/>
              </a:tabLst>
            </a:pPr>
            <a:r>
              <a:rPr sz="2200" dirty="0">
                <a:latin typeface="Calibri"/>
                <a:cs typeface="Calibri"/>
              </a:rPr>
              <a:t>Budget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plan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-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Earned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Value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Management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(EVM)</a:t>
            </a:r>
            <a:endParaRPr sz="2200" dirty="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spcBef>
                <a:spcPts val="220"/>
              </a:spcBef>
              <a:buClr>
                <a:srgbClr val="F5821F"/>
              </a:buClr>
              <a:buAutoNum type="arabicPeriod"/>
              <a:tabLst>
                <a:tab pos="469265" algn="l"/>
              </a:tabLst>
            </a:pPr>
            <a:r>
              <a:rPr sz="2200" dirty="0">
                <a:latin typeface="Calibri"/>
                <a:cs typeface="Calibri"/>
              </a:rPr>
              <a:t>Risk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plan-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qualitative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quantitative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approaches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-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register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risk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calculations</a:t>
            </a:r>
            <a:r>
              <a:rPr lang="en-NZ" sz="2200" spc="-10" dirty="0">
                <a:latin typeface="Calibri"/>
                <a:cs typeface="Calibri"/>
              </a:rPr>
              <a:t>, risk management</a:t>
            </a:r>
            <a:endParaRPr sz="2200" dirty="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spcBef>
                <a:spcPts val="204"/>
              </a:spcBef>
              <a:buClr>
                <a:srgbClr val="F5821F"/>
              </a:buClr>
              <a:buAutoNum type="arabicPeriod"/>
              <a:tabLst>
                <a:tab pos="469265" algn="l"/>
              </a:tabLst>
            </a:pPr>
            <a:r>
              <a:rPr sz="2200" dirty="0">
                <a:latin typeface="Calibri"/>
                <a:cs typeface="Calibri"/>
              </a:rPr>
              <a:t>Issue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management-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issue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register</a:t>
            </a:r>
            <a:endParaRPr sz="22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400" dirty="0">
                <a:latin typeface="Calibri"/>
                <a:cs typeface="Calibri"/>
              </a:rPr>
              <a:t>We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will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introduce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you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PMI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templates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above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plans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documents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06144" y="217424"/>
            <a:ext cx="10318115" cy="625042"/>
          </a:xfrm>
          <a:prstGeom prst="rect">
            <a:avLst/>
          </a:prstGeom>
        </p:spPr>
        <p:txBody>
          <a:bodyPr vert="horz" wrap="square" lIns="0" tIns="253237" rIns="0" bIns="0" rtlCol="0">
            <a:spAutoFit/>
          </a:bodyPr>
          <a:lstStyle/>
          <a:p>
            <a:pPr marL="145415">
              <a:lnSpc>
                <a:spcPct val="100000"/>
              </a:lnSpc>
              <a:spcBef>
                <a:spcPts val="105"/>
              </a:spcBef>
            </a:pPr>
            <a:r>
              <a:rPr sz="2400" spc="-30" dirty="0"/>
              <a:t>Tutorials</a:t>
            </a:r>
            <a:r>
              <a:rPr lang="en-NZ" sz="2400" spc="-30" dirty="0"/>
              <a:t> in Labs</a:t>
            </a:r>
            <a:endParaRPr sz="2400" spc="-30"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1467104" y="990600"/>
            <a:ext cx="10257155" cy="3220482"/>
          </a:xfrm>
          <a:prstGeom prst="rect">
            <a:avLst/>
          </a:prstGeom>
        </p:spPr>
        <p:txBody>
          <a:bodyPr vert="horz" wrap="square" lIns="0" tIns="25843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375"/>
              </a:spcBef>
              <a:buClr>
                <a:srgbClr val="F5821F"/>
              </a:buClr>
              <a:buFont typeface="Arial"/>
              <a:buChar char="•"/>
              <a:tabLst>
                <a:tab pos="241300" algn="l"/>
              </a:tabLst>
            </a:pPr>
            <a:r>
              <a:rPr sz="2000" spc="-25" dirty="0"/>
              <a:t>Tutorials</a:t>
            </a:r>
            <a:r>
              <a:rPr sz="2000" spc="-85" dirty="0"/>
              <a:t> </a:t>
            </a:r>
            <a:r>
              <a:rPr sz="2000" dirty="0"/>
              <a:t>tasks</a:t>
            </a:r>
            <a:r>
              <a:rPr sz="2000" spc="-65" dirty="0"/>
              <a:t> </a:t>
            </a:r>
            <a:r>
              <a:rPr sz="2000" dirty="0"/>
              <a:t>based</a:t>
            </a:r>
            <a:r>
              <a:rPr sz="2000" spc="-65" dirty="0"/>
              <a:t> </a:t>
            </a:r>
            <a:r>
              <a:rPr sz="2000" dirty="0"/>
              <a:t>on</a:t>
            </a:r>
            <a:r>
              <a:rPr sz="2000" spc="-85" dirty="0"/>
              <a:t> </a:t>
            </a:r>
            <a:r>
              <a:rPr sz="2000" dirty="0"/>
              <a:t>the</a:t>
            </a:r>
            <a:r>
              <a:rPr sz="2000" spc="-70" dirty="0"/>
              <a:t> </a:t>
            </a:r>
            <a:r>
              <a:rPr sz="2000" dirty="0"/>
              <a:t>topics</a:t>
            </a:r>
            <a:r>
              <a:rPr sz="2000" spc="-55" dirty="0"/>
              <a:t> </a:t>
            </a:r>
            <a:r>
              <a:rPr sz="2000" spc="-10" dirty="0"/>
              <a:t>covered</a:t>
            </a:r>
            <a:r>
              <a:rPr sz="2000" spc="-85" dirty="0"/>
              <a:t> </a:t>
            </a:r>
            <a:r>
              <a:rPr sz="2000" dirty="0"/>
              <a:t>each</a:t>
            </a:r>
            <a:r>
              <a:rPr sz="2000" spc="-85" dirty="0"/>
              <a:t> </a:t>
            </a:r>
            <a:r>
              <a:rPr sz="2000" spc="-10" dirty="0"/>
              <a:t>week.</a:t>
            </a:r>
          </a:p>
          <a:p>
            <a:pPr marL="927100" lvl="1" indent="-457200">
              <a:lnSpc>
                <a:spcPct val="100000"/>
              </a:lnSpc>
              <a:spcBef>
                <a:spcPts val="245"/>
              </a:spcBef>
              <a:buClr>
                <a:srgbClr val="F5821F"/>
              </a:buClr>
              <a:buAutoNum type="arabicPeriod"/>
              <a:tabLst>
                <a:tab pos="927100" algn="l"/>
              </a:tabLst>
            </a:pPr>
            <a:r>
              <a:rPr spc="-10" dirty="0">
                <a:latin typeface="Calibri"/>
                <a:cs typeface="Calibri"/>
              </a:rPr>
              <a:t>Tutorial</a:t>
            </a:r>
            <a:r>
              <a:rPr spc="-75" dirty="0">
                <a:latin typeface="Calibri"/>
                <a:cs typeface="Calibri"/>
              </a:rPr>
              <a:t> </a:t>
            </a:r>
            <a:r>
              <a:rPr lang="en-NZ" dirty="0">
                <a:latin typeface="Calibri"/>
                <a:cs typeface="Calibri"/>
              </a:rPr>
              <a:t>task</a:t>
            </a:r>
            <a:r>
              <a:rPr spc="-70" dirty="0">
                <a:latin typeface="Calibri"/>
                <a:cs typeface="Calibri"/>
              </a:rPr>
              <a:t> </a:t>
            </a:r>
            <a:r>
              <a:rPr lang="en-NZ" dirty="0">
                <a:latin typeface="Calibri"/>
                <a:cs typeface="Calibri"/>
              </a:rPr>
              <a:t>–</a:t>
            </a:r>
            <a:r>
              <a:rPr spc="-6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should</a:t>
            </a:r>
            <a:r>
              <a:rPr spc="-5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take</a:t>
            </a:r>
            <a:r>
              <a:rPr spc="-7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around</a:t>
            </a:r>
            <a:r>
              <a:rPr spc="-5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30-</a:t>
            </a:r>
            <a:r>
              <a:rPr dirty="0">
                <a:latin typeface="Calibri"/>
                <a:cs typeface="Calibri"/>
              </a:rPr>
              <a:t>50</a:t>
            </a:r>
            <a:r>
              <a:rPr spc="-5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minutes</a:t>
            </a:r>
            <a:endParaRPr dirty="0">
              <a:latin typeface="Calibri"/>
              <a:cs typeface="Calibri"/>
            </a:endParaRPr>
          </a:p>
          <a:p>
            <a:pPr marL="927100" marR="5080" lvl="1" indent="-457200">
              <a:lnSpc>
                <a:spcPts val="2590"/>
              </a:lnSpc>
              <a:spcBef>
                <a:spcPts val="545"/>
              </a:spcBef>
              <a:buClr>
                <a:srgbClr val="F5821F"/>
              </a:buClr>
              <a:buAutoNum type="arabicPeriod"/>
              <a:tabLst>
                <a:tab pos="927100" algn="l"/>
              </a:tabLst>
            </a:pPr>
            <a:r>
              <a:rPr dirty="0">
                <a:latin typeface="Calibri"/>
                <a:cs typeface="Calibri"/>
              </a:rPr>
              <a:t>Assignment</a:t>
            </a:r>
            <a:r>
              <a:rPr spc="-5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1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tasks</a:t>
            </a:r>
            <a:r>
              <a:rPr spc="-50" dirty="0">
                <a:latin typeface="Calibri"/>
                <a:cs typeface="Calibri"/>
              </a:rPr>
              <a:t> </a:t>
            </a:r>
            <a:r>
              <a:rPr spc="-30" dirty="0">
                <a:latin typeface="Calibri"/>
                <a:cs typeface="Calibri"/>
              </a:rPr>
              <a:t>(Team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assignment)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lang="en-NZ" dirty="0">
                <a:latin typeface="Calibri"/>
                <a:cs typeface="Calibri"/>
              </a:rPr>
              <a:t>–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rest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of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lang="en-NZ" spc="-35" dirty="0">
                <a:latin typeface="Calibri"/>
                <a:cs typeface="Calibri"/>
              </a:rPr>
              <a:t>the </a:t>
            </a:r>
            <a:r>
              <a:rPr dirty="0">
                <a:latin typeface="Calibri"/>
                <a:cs typeface="Calibri"/>
              </a:rPr>
              <a:t>time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(an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hour+)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must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spc="-25" dirty="0">
                <a:latin typeface="Calibri"/>
                <a:cs typeface="Calibri"/>
              </a:rPr>
              <a:t>be </a:t>
            </a:r>
            <a:r>
              <a:rPr dirty="0">
                <a:latin typeface="Calibri"/>
                <a:cs typeface="Calibri"/>
              </a:rPr>
              <a:t>spent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on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team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assignment</a:t>
            </a:r>
            <a:endParaRPr dirty="0">
              <a:latin typeface="Calibri"/>
              <a:cs typeface="Calibri"/>
            </a:endParaRPr>
          </a:p>
          <a:p>
            <a:pPr marL="927100" lvl="1" indent="-457200">
              <a:lnSpc>
                <a:spcPts val="2735"/>
              </a:lnSpc>
              <a:spcBef>
                <a:spcPts val="170"/>
              </a:spcBef>
              <a:buClr>
                <a:srgbClr val="F5821F"/>
              </a:buClr>
              <a:buAutoNum type="arabicPeriod"/>
              <a:tabLst>
                <a:tab pos="927100" algn="l"/>
              </a:tabLst>
            </a:pPr>
            <a:r>
              <a:rPr spc="-30" dirty="0">
                <a:latin typeface="Calibri"/>
                <a:cs typeface="Calibri"/>
              </a:rPr>
              <a:t>Team</a:t>
            </a:r>
            <a:r>
              <a:rPr spc="-5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assignment</a:t>
            </a:r>
            <a:r>
              <a:rPr spc="-6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is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based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on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creating</a:t>
            </a:r>
            <a:r>
              <a:rPr spc="-6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various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project</a:t>
            </a:r>
            <a:r>
              <a:rPr spc="-6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plans</a:t>
            </a:r>
            <a:r>
              <a:rPr spc="-5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and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documents</a:t>
            </a:r>
            <a:endParaRPr dirty="0">
              <a:latin typeface="Calibri"/>
              <a:cs typeface="Calibri"/>
            </a:endParaRPr>
          </a:p>
          <a:p>
            <a:pPr marL="927100">
              <a:lnSpc>
                <a:spcPts val="2735"/>
              </a:lnSpc>
            </a:pPr>
            <a:r>
              <a:rPr sz="1800" dirty="0"/>
              <a:t>to</a:t>
            </a:r>
            <a:r>
              <a:rPr sz="1800" spc="-40" dirty="0"/>
              <a:t> </a:t>
            </a:r>
            <a:r>
              <a:rPr lang="en-NZ" sz="1800" dirty="0"/>
              <a:t>undertake IT project</a:t>
            </a:r>
            <a:endParaRPr sz="1800" dirty="0"/>
          </a:p>
          <a:p>
            <a:pPr marL="241300" indent="-228600">
              <a:lnSpc>
                <a:spcPct val="100000"/>
              </a:lnSpc>
              <a:spcBef>
                <a:spcPts val="645"/>
              </a:spcBef>
              <a:buClr>
                <a:srgbClr val="F5821F"/>
              </a:buClr>
              <a:buFont typeface="Arial"/>
              <a:buChar char="•"/>
              <a:tabLst>
                <a:tab pos="241300" algn="l"/>
              </a:tabLst>
            </a:pPr>
            <a:r>
              <a:rPr sz="2000" spc="-25" dirty="0"/>
              <a:t>Tutorial</a:t>
            </a:r>
            <a:r>
              <a:rPr sz="2000" spc="-90" dirty="0"/>
              <a:t> </a:t>
            </a:r>
            <a:r>
              <a:rPr sz="2000" dirty="0"/>
              <a:t>tasks</a:t>
            </a:r>
            <a:r>
              <a:rPr sz="2000" spc="-70" dirty="0"/>
              <a:t> </a:t>
            </a:r>
            <a:r>
              <a:rPr sz="2000" dirty="0"/>
              <a:t>should</a:t>
            </a:r>
            <a:r>
              <a:rPr sz="2000" spc="-35" dirty="0"/>
              <a:t> </a:t>
            </a:r>
            <a:r>
              <a:rPr sz="2000" dirty="0"/>
              <a:t>be</a:t>
            </a:r>
            <a:r>
              <a:rPr sz="2000" spc="-75" dirty="0"/>
              <a:t> </a:t>
            </a:r>
            <a:r>
              <a:rPr sz="2000" dirty="0"/>
              <a:t>done</a:t>
            </a:r>
            <a:r>
              <a:rPr sz="2000" spc="-60" dirty="0"/>
              <a:t> </a:t>
            </a:r>
            <a:r>
              <a:rPr sz="2000" spc="-10" dirty="0"/>
              <a:t>individually</a:t>
            </a:r>
          </a:p>
          <a:p>
            <a:pPr marL="240029" marR="626110" indent="-227965">
              <a:lnSpc>
                <a:spcPts val="3030"/>
              </a:lnSpc>
              <a:spcBef>
                <a:spcPts val="1035"/>
              </a:spcBef>
              <a:buClr>
                <a:srgbClr val="F5821F"/>
              </a:buClr>
              <a:buFont typeface="Arial"/>
              <a:buChar char="•"/>
              <a:tabLst>
                <a:tab pos="241300" algn="l"/>
              </a:tabLst>
            </a:pPr>
            <a:r>
              <a:rPr sz="2000" u="sng" dirty="0">
                <a:uFill>
                  <a:solidFill>
                    <a:srgbClr val="000000"/>
                  </a:solidFill>
                </a:uFill>
              </a:rPr>
              <a:t>Assignment</a:t>
            </a:r>
            <a:r>
              <a:rPr sz="2000" u="sng" spc="-45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sz="2000" u="sng" dirty="0">
                <a:uFill>
                  <a:solidFill>
                    <a:srgbClr val="000000"/>
                  </a:solidFill>
                </a:uFill>
              </a:rPr>
              <a:t>2</a:t>
            </a:r>
            <a:r>
              <a:rPr sz="2000" u="sng" spc="-60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sz="2000" u="sng" dirty="0">
                <a:uFill>
                  <a:solidFill>
                    <a:srgbClr val="000000"/>
                  </a:solidFill>
                </a:uFill>
              </a:rPr>
              <a:t>will</a:t>
            </a:r>
            <a:r>
              <a:rPr sz="2000" u="sng" spc="-75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sz="2000" u="sng" dirty="0">
                <a:uFill>
                  <a:solidFill>
                    <a:srgbClr val="000000"/>
                  </a:solidFill>
                </a:uFill>
              </a:rPr>
              <a:t>be</a:t>
            </a:r>
            <a:r>
              <a:rPr sz="2000" u="sng" spc="-65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sz="2000" u="sng" dirty="0">
                <a:uFill>
                  <a:solidFill>
                    <a:srgbClr val="000000"/>
                  </a:solidFill>
                </a:uFill>
              </a:rPr>
              <a:t>an</a:t>
            </a:r>
            <a:r>
              <a:rPr sz="2000" u="sng" spc="-75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sz="2000" u="sng" dirty="0">
                <a:uFill>
                  <a:solidFill>
                    <a:srgbClr val="000000"/>
                  </a:solidFill>
                </a:uFill>
              </a:rPr>
              <a:t>individual</a:t>
            </a:r>
            <a:r>
              <a:rPr sz="2000" u="sng" spc="-35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sz="2000" u="sng" spc="-10" dirty="0">
                <a:uFill>
                  <a:solidFill>
                    <a:srgbClr val="000000"/>
                  </a:solidFill>
                </a:uFill>
              </a:rPr>
              <a:t>effort</a:t>
            </a:r>
            <a:r>
              <a:rPr sz="2000" u="sng" spc="-75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sz="2000" u="sng" dirty="0">
                <a:uFill>
                  <a:solidFill>
                    <a:srgbClr val="000000"/>
                  </a:solidFill>
                </a:uFill>
              </a:rPr>
              <a:t>and</a:t>
            </a:r>
            <a:r>
              <a:rPr sz="2000" u="sng" spc="-75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sz="2000" u="sng" dirty="0">
                <a:uFill>
                  <a:solidFill>
                    <a:srgbClr val="000000"/>
                  </a:solidFill>
                </a:uFill>
              </a:rPr>
              <a:t>will</a:t>
            </a:r>
            <a:r>
              <a:rPr sz="2000" u="sng" spc="-75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sz="2000" u="sng" dirty="0">
                <a:uFill>
                  <a:solidFill>
                    <a:srgbClr val="000000"/>
                  </a:solidFill>
                </a:uFill>
              </a:rPr>
              <a:t>be</a:t>
            </a:r>
            <a:r>
              <a:rPr sz="2000" u="sng" spc="-60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sz="2000" u="sng" dirty="0">
                <a:uFill>
                  <a:solidFill>
                    <a:srgbClr val="000000"/>
                  </a:solidFill>
                </a:uFill>
              </a:rPr>
              <a:t>based</a:t>
            </a:r>
            <a:r>
              <a:rPr sz="2000" u="sng" spc="-65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sz="2000" u="sng" dirty="0">
                <a:uFill>
                  <a:solidFill>
                    <a:srgbClr val="000000"/>
                  </a:solidFill>
                </a:uFill>
              </a:rPr>
              <a:t>on</a:t>
            </a:r>
            <a:r>
              <a:rPr sz="2000" u="sng" spc="-70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sz="2000" u="sng" spc="-25" dirty="0">
                <a:uFill>
                  <a:solidFill>
                    <a:srgbClr val="000000"/>
                  </a:solidFill>
                </a:uFill>
              </a:rPr>
              <a:t>the</a:t>
            </a:r>
            <a:r>
              <a:rPr sz="2000" spc="-25" dirty="0"/>
              <a:t> </a:t>
            </a:r>
            <a:r>
              <a:rPr sz="2000" u="sng" dirty="0">
                <a:uFill>
                  <a:solidFill>
                    <a:srgbClr val="000000"/>
                  </a:solidFill>
                </a:uFill>
              </a:rPr>
              <a:t>tutorial</a:t>
            </a:r>
            <a:r>
              <a:rPr sz="2000" u="sng" spc="-114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sz="2000" u="sng" spc="-10" dirty="0">
                <a:uFill>
                  <a:solidFill>
                    <a:srgbClr val="000000"/>
                  </a:solidFill>
                </a:uFill>
              </a:rPr>
              <a:t>tasks</a:t>
            </a:r>
            <a:r>
              <a:rPr sz="2000" spc="-10" dirty="0"/>
              <a:t>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06144" y="217424"/>
            <a:ext cx="10318115" cy="615502"/>
          </a:xfrm>
          <a:prstGeom prst="rect">
            <a:avLst/>
          </a:prstGeom>
        </p:spPr>
        <p:txBody>
          <a:bodyPr vert="horz" wrap="square" lIns="0" tIns="243789" rIns="0" bIns="0" rtlCol="0">
            <a:spAutoFit/>
          </a:bodyPr>
          <a:lstStyle/>
          <a:p>
            <a:pPr marL="145415">
              <a:lnSpc>
                <a:spcPct val="100000"/>
              </a:lnSpc>
              <a:spcBef>
                <a:spcPts val="105"/>
              </a:spcBef>
            </a:pPr>
            <a:r>
              <a:rPr sz="2400" dirty="0"/>
              <a:t>Academic</a:t>
            </a:r>
            <a:r>
              <a:rPr sz="2400" spc="-95" dirty="0"/>
              <a:t> </a:t>
            </a:r>
            <a:r>
              <a:rPr sz="2400" spc="-10" dirty="0"/>
              <a:t>integrity</a:t>
            </a:r>
            <a:r>
              <a:rPr lang="en-NZ" sz="2400" spc="-10" dirty="0"/>
              <a:t> + bullying behaviour </a:t>
            </a:r>
            <a:endParaRPr sz="2400"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1406144" y="990600"/>
            <a:ext cx="10320655" cy="511313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0665" indent="-227965">
              <a:lnSpc>
                <a:spcPts val="2970"/>
              </a:lnSpc>
              <a:spcBef>
                <a:spcPts val="105"/>
              </a:spcBef>
              <a:buClr>
                <a:srgbClr val="F5821F"/>
              </a:buClr>
              <a:buFont typeface="Arial"/>
              <a:buChar char="•"/>
              <a:tabLst>
                <a:tab pos="240665" algn="l"/>
              </a:tabLst>
            </a:pPr>
            <a:r>
              <a:rPr sz="2000" b="1" dirty="0">
                <a:latin typeface="Calibri"/>
                <a:cs typeface="Calibri"/>
              </a:rPr>
              <a:t>Acts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of</a:t>
            </a:r>
            <a:r>
              <a:rPr sz="2000" b="1" spc="-1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academic</a:t>
            </a:r>
            <a:r>
              <a:rPr sz="2000" b="1" spc="-2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dishonesty</a:t>
            </a:r>
            <a:endParaRPr sz="2000" dirty="0">
              <a:latin typeface="Calibri"/>
              <a:cs typeface="Calibri"/>
            </a:endParaRPr>
          </a:p>
          <a:p>
            <a:pPr marL="698500" marR="568960" lvl="1" indent="-228600">
              <a:lnSpc>
                <a:spcPct val="70000"/>
              </a:lnSpc>
              <a:spcBef>
                <a:spcPts val="640"/>
              </a:spcBef>
              <a:buClr>
                <a:srgbClr val="F5821F"/>
              </a:buClr>
              <a:buFont typeface="Arial"/>
              <a:buChar char="•"/>
              <a:tabLst>
                <a:tab pos="698500" algn="l"/>
              </a:tabLst>
            </a:pPr>
            <a:r>
              <a:rPr sz="2000" b="1" dirty="0">
                <a:latin typeface="Calibri"/>
                <a:cs typeface="Calibri"/>
              </a:rPr>
              <a:t>copy</a:t>
            </a:r>
            <a:r>
              <a:rPr sz="2000" b="1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from,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or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inappropriately</a:t>
            </a:r>
            <a:r>
              <a:rPr sz="2000" spc="-8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communicates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with,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another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person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or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found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in </a:t>
            </a:r>
            <a:r>
              <a:rPr sz="2000" spc="-10" dirty="0">
                <a:latin typeface="Calibri"/>
                <a:cs typeface="Calibri"/>
              </a:rPr>
              <a:t>possession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any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lang="en-NZ" sz="2000" spc="-10" dirty="0">
                <a:latin typeface="Calibri"/>
                <a:cs typeface="Calibri"/>
              </a:rPr>
              <a:t>unauthorised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equipment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or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material</a:t>
            </a:r>
            <a:endParaRPr sz="2000" dirty="0">
              <a:latin typeface="Calibri"/>
              <a:cs typeface="Calibri"/>
            </a:endParaRPr>
          </a:p>
          <a:p>
            <a:pPr marL="698500" lvl="1" indent="-228600">
              <a:lnSpc>
                <a:spcPts val="1960"/>
              </a:lnSpc>
              <a:buClr>
                <a:srgbClr val="F5821F"/>
              </a:buClr>
              <a:buFont typeface="Arial"/>
              <a:buChar char="•"/>
              <a:tabLst>
                <a:tab pos="698500" algn="l"/>
              </a:tabLst>
            </a:pPr>
            <a:r>
              <a:rPr sz="2000" b="1" spc="-10" dirty="0">
                <a:latin typeface="Calibri"/>
                <a:cs typeface="Calibri"/>
              </a:rPr>
              <a:t>plagiarize</a:t>
            </a:r>
            <a:r>
              <a:rPr sz="2000" b="1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(copy)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work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another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person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without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indicating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work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not</a:t>
            </a:r>
            <a:endParaRPr sz="2000" dirty="0">
              <a:latin typeface="Calibri"/>
              <a:cs typeface="Calibri"/>
            </a:endParaRPr>
          </a:p>
          <a:p>
            <a:pPr marL="698500">
              <a:lnSpc>
                <a:spcPts val="2100"/>
              </a:lnSpc>
            </a:pPr>
            <a:r>
              <a:rPr sz="2000" dirty="0">
                <a:latin typeface="Calibri"/>
                <a:cs typeface="Calibri"/>
              </a:rPr>
              <a:t>the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student’s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own</a:t>
            </a:r>
            <a:endParaRPr sz="2000" dirty="0">
              <a:latin typeface="Calibri"/>
              <a:cs typeface="Calibri"/>
            </a:endParaRPr>
          </a:p>
          <a:p>
            <a:pPr marL="698500" marR="314960" lvl="1" indent="-228600">
              <a:lnSpc>
                <a:spcPct val="70000"/>
              </a:lnSpc>
              <a:spcBef>
                <a:spcPts val="650"/>
              </a:spcBef>
              <a:buClr>
                <a:srgbClr val="F5821F"/>
              </a:buClr>
              <a:buFont typeface="Arial"/>
              <a:buChar char="•"/>
              <a:tabLst>
                <a:tab pos="698500" algn="l"/>
              </a:tabLst>
            </a:pPr>
            <a:r>
              <a:rPr sz="2000" b="1" spc="-10" dirty="0">
                <a:latin typeface="Calibri"/>
                <a:cs typeface="Calibri"/>
              </a:rPr>
              <a:t>collaborate</a:t>
            </a:r>
            <a:r>
              <a:rPr sz="2000" b="1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with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others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preparation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material,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except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where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this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has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been </a:t>
            </a:r>
            <a:r>
              <a:rPr sz="2000" spc="-10" dirty="0">
                <a:latin typeface="Calibri"/>
                <a:cs typeface="Calibri"/>
              </a:rPr>
              <a:t>approved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assessment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requirement</a:t>
            </a:r>
            <a:endParaRPr sz="2000" dirty="0">
              <a:latin typeface="Calibri"/>
              <a:cs typeface="Calibri"/>
            </a:endParaRPr>
          </a:p>
          <a:p>
            <a:pPr marL="698500" marR="5080" lvl="1" indent="-228600">
              <a:lnSpc>
                <a:spcPct val="70000"/>
              </a:lnSpc>
              <a:spcBef>
                <a:spcPts val="495"/>
              </a:spcBef>
              <a:buClr>
                <a:srgbClr val="F5821F"/>
              </a:buClr>
              <a:buFont typeface="Arial"/>
              <a:buChar char="•"/>
              <a:tabLst>
                <a:tab pos="698500" algn="l"/>
              </a:tabLst>
            </a:pPr>
            <a:r>
              <a:rPr sz="2000" b="1" dirty="0">
                <a:latin typeface="Calibri"/>
                <a:cs typeface="Calibri"/>
              </a:rPr>
              <a:t>resubmit</a:t>
            </a:r>
            <a:r>
              <a:rPr sz="2000" b="1" spc="-6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previously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submitted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work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without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prior</a:t>
            </a:r>
            <a:r>
              <a:rPr sz="2000" spc="-8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approval</a:t>
            </a:r>
            <a:r>
              <a:rPr sz="2000" spc="-10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Assessment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Board </a:t>
            </a:r>
            <a:r>
              <a:rPr sz="2000" dirty="0">
                <a:latin typeface="Calibri"/>
                <a:cs typeface="Calibri"/>
              </a:rPr>
              <a:t>or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delegated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authority</a:t>
            </a:r>
            <a:endParaRPr sz="2000" dirty="0">
              <a:latin typeface="Calibri"/>
              <a:cs typeface="Calibri"/>
            </a:endParaRPr>
          </a:p>
          <a:p>
            <a:pPr marL="698500" lvl="1" indent="-228600">
              <a:lnSpc>
                <a:spcPts val="2350"/>
              </a:lnSpc>
              <a:buClr>
                <a:srgbClr val="F5821F"/>
              </a:buClr>
              <a:buFont typeface="Arial"/>
              <a:buChar char="•"/>
              <a:tabLst>
                <a:tab pos="698500" algn="l"/>
              </a:tabLst>
            </a:pPr>
            <a:r>
              <a:rPr sz="2000" b="1" dirty="0">
                <a:latin typeface="Calibri"/>
                <a:cs typeface="Calibri"/>
              </a:rPr>
              <a:t>use</a:t>
            </a:r>
            <a:r>
              <a:rPr sz="2000" b="1" spc="-75" dirty="0">
                <a:latin typeface="Calibri"/>
                <a:cs typeface="Calibri"/>
              </a:rPr>
              <a:t> </a:t>
            </a:r>
            <a:r>
              <a:rPr sz="20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any</a:t>
            </a:r>
            <a:r>
              <a:rPr sz="2000" u="sng" spc="-7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other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unfair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means</a:t>
            </a:r>
            <a:endParaRPr lang="en-NZ" sz="2000" spc="-10" dirty="0">
              <a:latin typeface="Calibri"/>
              <a:cs typeface="Calibri"/>
            </a:endParaRPr>
          </a:p>
          <a:p>
            <a:pPr marL="698500" lvl="1" indent="-228600">
              <a:lnSpc>
                <a:spcPts val="2350"/>
              </a:lnSpc>
              <a:buClr>
                <a:srgbClr val="F5821F"/>
              </a:buClr>
              <a:buFont typeface="Arial"/>
              <a:buChar char="•"/>
              <a:tabLst>
                <a:tab pos="698500" algn="l"/>
              </a:tabLst>
            </a:pPr>
            <a:endParaRPr sz="2000" dirty="0">
              <a:latin typeface="Calibri"/>
              <a:cs typeface="Calibri"/>
            </a:endParaRPr>
          </a:p>
          <a:p>
            <a:pPr marL="240029" marR="45085" indent="-227965">
              <a:lnSpc>
                <a:spcPct val="70000"/>
              </a:lnSpc>
              <a:spcBef>
                <a:spcPts val="5"/>
              </a:spcBef>
              <a:buClr>
                <a:srgbClr val="F5821F"/>
              </a:buClr>
              <a:buFont typeface="Arial"/>
              <a:buChar char="•"/>
              <a:tabLst>
                <a:tab pos="241300" algn="l"/>
              </a:tabLst>
            </a:pPr>
            <a:r>
              <a:rPr sz="2000" dirty="0">
                <a:latin typeface="Calibri"/>
                <a:cs typeface="Calibri"/>
              </a:rPr>
              <a:t>Any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such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acts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will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result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lang="en-NZ" sz="2000" spc="-35" dirty="0">
                <a:latin typeface="Calibri"/>
                <a:cs typeface="Calibri"/>
              </a:rPr>
              <a:t>an </a:t>
            </a:r>
            <a:r>
              <a:rPr sz="2000" dirty="0">
                <a:latin typeface="Calibri"/>
                <a:cs typeface="Calibri"/>
              </a:rPr>
              <a:t>appropriate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adjustment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assessment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mark </a:t>
            </a:r>
            <a:r>
              <a:rPr sz="2000" dirty="0">
                <a:latin typeface="Calibri"/>
                <a:cs typeface="Calibri"/>
              </a:rPr>
              <a:t>(i.e.</a:t>
            </a:r>
            <a:r>
              <a:rPr lang="en-NZ" sz="2000" dirty="0">
                <a:latin typeface="Calibri"/>
                <a:cs typeface="Calibri"/>
              </a:rPr>
              <a:t>,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0)</a:t>
            </a:r>
            <a:r>
              <a:rPr lang="en-NZ" sz="2000" dirty="0">
                <a:latin typeface="Calibri"/>
                <a:cs typeface="Calibri"/>
              </a:rPr>
              <a:t>,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it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may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lead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disciplinary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action,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failure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course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and </a:t>
            </a:r>
            <a:r>
              <a:rPr lang="en-NZ" sz="2000" dirty="0">
                <a:latin typeface="Calibri"/>
                <a:cs typeface="Calibri"/>
              </a:rPr>
              <a:t>potential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expulsion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from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BCIS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programme</a:t>
            </a:r>
            <a:endParaRPr lang="en-NZ" sz="2000" spc="-10" dirty="0">
              <a:latin typeface="Calibri"/>
              <a:cs typeface="Calibri"/>
            </a:endParaRPr>
          </a:p>
          <a:p>
            <a:pPr marL="240029" marR="45085" indent="-227965">
              <a:lnSpc>
                <a:spcPct val="70000"/>
              </a:lnSpc>
              <a:spcBef>
                <a:spcPts val="5"/>
              </a:spcBef>
              <a:buClr>
                <a:srgbClr val="F5821F"/>
              </a:buClr>
              <a:buFont typeface="Arial"/>
              <a:buChar char="•"/>
              <a:tabLst>
                <a:tab pos="241300" algn="l"/>
              </a:tabLst>
            </a:pPr>
            <a:endParaRPr lang="en-NZ" sz="2000" spc="-10" dirty="0">
              <a:latin typeface="Calibri"/>
              <a:cs typeface="Calibri"/>
            </a:endParaRPr>
          </a:p>
          <a:p>
            <a:pPr marL="240029" marR="45085" indent="-227965">
              <a:lnSpc>
                <a:spcPct val="70000"/>
              </a:lnSpc>
              <a:spcBef>
                <a:spcPts val="5"/>
              </a:spcBef>
              <a:buClr>
                <a:srgbClr val="F5821F"/>
              </a:buClr>
              <a:buFont typeface="Arial"/>
              <a:buChar char="•"/>
              <a:tabLst>
                <a:tab pos="241300" algn="l"/>
              </a:tabLst>
            </a:pPr>
            <a:endParaRPr lang="en-NZ" sz="2000" spc="-10" dirty="0">
              <a:latin typeface="Calibri"/>
              <a:cs typeface="Calibri"/>
            </a:endParaRPr>
          </a:p>
          <a:p>
            <a:pPr marL="240029" marR="45085" indent="-227965">
              <a:lnSpc>
                <a:spcPct val="70000"/>
              </a:lnSpc>
              <a:spcBef>
                <a:spcPts val="5"/>
              </a:spcBef>
              <a:buClr>
                <a:srgbClr val="F5821F"/>
              </a:buClr>
              <a:buFont typeface="Arial"/>
              <a:buChar char="•"/>
              <a:tabLst>
                <a:tab pos="241300" algn="l"/>
              </a:tabLst>
            </a:pPr>
            <a:r>
              <a:rPr lang="en-NZ" sz="2000" spc="-10" dirty="0">
                <a:latin typeface="Calibri"/>
                <a:cs typeface="Calibri"/>
              </a:rPr>
              <a:t>No bullying or any other actions aimed at harming or harassing anyone. </a:t>
            </a:r>
          </a:p>
          <a:p>
            <a:pPr marL="240029" marR="45085" indent="-227965">
              <a:lnSpc>
                <a:spcPct val="70000"/>
              </a:lnSpc>
              <a:spcBef>
                <a:spcPts val="5"/>
              </a:spcBef>
              <a:buClr>
                <a:srgbClr val="F5821F"/>
              </a:buClr>
              <a:buFont typeface="Arial"/>
              <a:buChar char="•"/>
              <a:tabLst>
                <a:tab pos="241300" algn="l"/>
              </a:tabLst>
            </a:pPr>
            <a:endParaRPr lang="en-NZ" sz="2000" spc="-10" dirty="0">
              <a:latin typeface="Calibri"/>
              <a:cs typeface="Calibri"/>
            </a:endParaRPr>
          </a:p>
          <a:p>
            <a:pPr marL="12064" marR="45085">
              <a:lnSpc>
                <a:spcPct val="70000"/>
              </a:lnSpc>
              <a:spcBef>
                <a:spcPts val="5"/>
              </a:spcBef>
              <a:buClr>
                <a:srgbClr val="F5821F"/>
              </a:buClr>
              <a:tabLst>
                <a:tab pos="241300" algn="l"/>
              </a:tabLst>
            </a:pPr>
            <a:r>
              <a:rPr lang="en-NZ" sz="3600" spc="-10" dirty="0">
                <a:solidFill>
                  <a:srgbClr val="FF0000"/>
                </a:solidFill>
                <a:latin typeface="Calibri"/>
                <a:cs typeface="Calibri"/>
              </a:rPr>
              <a:t>This not be tolerated even for a second; you will be gone from AUT &amp; potential criminal charges will follow   </a:t>
            </a:r>
            <a:endParaRPr sz="3600" dirty="0">
              <a:solidFill>
                <a:srgbClr val="FF0000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06144" y="217424"/>
            <a:ext cx="10318115" cy="642867"/>
          </a:xfrm>
          <a:prstGeom prst="rect">
            <a:avLst/>
          </a:prstGeom>
        </p:spPr>
        <p:txBody>
          <a:bodyPr vert="horz" wrap="square" lIns="0" tIns="270890" rIns="0" bIns="0" rtlCol="0">
            <a:spAutoFit/>
          </a:bodyPr>
          <a:lstStyle/>
          <a:p>
            <a:pPr marL="145415">
              <a:lnSpc>
                <a:spcPct val="100000"/>
              </a:lnSpc>
              <a:spcBef>
                <a:spcPts val="105"/>
              </a:spcBef>
            </a:pPr>
            <a:r>
              <a:rPr sz="2400" spc="-10" dirty="0"/>
              <a:t>Out-side-</a:t>
            </a:r>
            <a:r>
              <a:rPr sz="2400" dirty="0"/>
              <a:t>class</a:t>
            </a:r>
            <a:r>
              <a:rPr sz="2400" spc="25" dirty="0"/>
              <a:t> </a:t>
            </a:r>
            <a:r>
              <a:rPr sz="2400" spc="-10" dirty="0"/>
              <a:t>contact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47800" y="990600"/>
            <a:ext cx="8923020" cy="3737562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385"/>
              </a:spcBef>
              <a:buClr>
                <a:srgbClr val="F5821F"/>
              </a:buClr>
              <a:buFont typeface="Arial"/>
              <a:buChar char="•"/>
              <a:tabLst>
                <a:tab pos="240665" algn="l"/>
              </a:tabLst>
            </a:pPr>
            <a:r>
              <a:rPr sz="2000" b="1" dirty="0">
                <a:latin typeface="Calibri"/>
                <a:cs typeface="Calibri"/>
              </a:rPr>
              <a:t>Who</a:t>
            </a:r>
            <a:r>
              <a:rPr sz="2000" b="1" spc="-5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should</a:t>
            </a:r>
            <a:r>
              <a:rPr sz="2000" b="1" spc="-6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I</a:t>
            </a:r>
            <a:r>
              <a:rPr sz="2000" b="1" spc="-50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contact?</a:t>
            </a:r>
            <a:endParaRPr sz="2000" dirty="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245"/>
              </a:spcBef>
              <a:buClr>
                <a:srgbClr val="F5821F"/>
              </a:buClr>
              <a:buFont typeface="Arial"/>
              <a:buChar char="•"/>
              <a:tabLst>
                <a:tab pos="697865" algn="l"/>
              </a:tabLst>
            </a:pPr>
            <a:r>
              <a:rPr sz="2000" b="1" spc="-30" dirty="0">
                <a:solidFill>
                  <a:srgbClr val="FF0000"/>
                </a:solidFill>
                <a:latin typeface="Calibri"/>
                <a:cs typeface="Calibri"/>
              </a:rPr>
              <a:t>Your</a:t>
            </a:r>
            <a:r>
              <a:rPr sz="2000" b="1" spc="-7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alibri"/>
                <a:cs typeface="Calibri"/>
              </a:rPr>
              <a:t>first</a:t>
            </a:r>
            <a:r>
              <a:rPr sz="2000" b="1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alibri"/>
                <a:cs typeface="Calibri"/>
              </a:rPr>
              <a:t>point</a:t>
            </a:r>
            <a:r>
              <a:rPr sz="2000" b="1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alibri"/>
                <a:cs typeface="Calibri"/>
              </a:rPr>
              <a:t>of</a:t>
            </a:r>
            <a:r>
              <a:rPr sz="2000" b="1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alibri"/>
                <a:cs typeface="Calibri"/>
              </a:rPr>
              <a:t>contact</a:t>
            </a:r>
            <a:r>
              <a:rPr sz="2000" b="1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FF0000"/>
                </a:solidFill>
                <a:latin typeface="Calibri"/>
                <a:cs typeface="Calibri"/>
              </a:rPr>
              <a:t>is</a:t>
            </a:r>
            <a:r>
              <a:rPr sz="2000" b="1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b="1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your</a:t>
            </a:r>
            <a:r>
              <a:rPr sz="2000" b="1" u="sng" spc="-7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 </a:t>
            </a:r>
            <a:r>
              <a:rPr sz="2000" b="1" u="sng" spc="-2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Teaching</a:t>
            </a:r>
            <a:r>
              <a:rPr sz="2000" b="1" u="sng" spc="-4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 </a:t>
            </a:r>
            <a:r>
              <a:rPr sz="2000" b="1" u="sng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Assistant</a:t>
            </a:r>
            <a:endParaRPr sz="2000" dirty="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5"/>
              </a:spcBef>
              <a:buClr>
                <a:srgbClr val="F5821F"/>
              </a:buClr>
            </a:pPr>
            <a:r>
              <a:rPr lang="en-NZ" sz="2000" dirty="0">
                <a:latin typeface="Calibri"/>
                <a:cs typeface="Calibri"/>
              </a:rPr>
              <a:t> </a:t>
            </a:r>
            <a:r>
              <a:rPr lang="en-NZ" sz="2000" b="1" dirty="0">
                <a:latin typeface="Calibri"/>
                <a:cs typeface="Calibri"/>
              </a:rPr>
              <a:t>Khin </a:t>
            </a:r>
            <a:r>
              <a:rPr lang="en-NZ" sz="2000" b="1" dirty="0" err="1">
                <a:latin typeface="Calibri"/>
                <a:cs typeface="Calibri"/>
              </a:rPr>
              <a:t>Khin</a:t>
            </a:r>
            <a:r>
              <a:rPr lang="en-NZ" sz="2000" b="1" dirty="0">
                <a:latin typeface="Calibri"/>
                <a:cs typeface="Calibri"/>
              </a:rPr>
              <a:t> Maw: </a:t>
            </a:r>
            <a:r>
              <a:rPr lang="en-NZ" sz="2000" b="1" dirty="0">
                <a:latin typeface="Calibri"/>
                <a:cs typeface="Calibri"/>
                <a:hlinkClick r:id="rId2"/>
              </a:rPr>
              <a:t>jjy3276@autuni.ac.nz</a:t>
            </a:r>
            <a:endParaRPr lang="en-NZ" sz="2000" b="1" dirty="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5"/>
              </a:spcBef>
              <a:buClr>
                <a:srgbClr val="F5821F"/>
              </a:buClr>
            </a:pPr>
            <a:endParaRPr lang="en-NZ" sz="2000" b="1" dirty="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5"/>
              </a:spcBef>
              <a:buClr>
                <a:srgbClr val="F5821F"/>
              </a:buClr>
            </a:pPr>
            <a:r>
              <a:rPr lang="en-NZ" sz="2000" b="1" dirty="0">
                <a:latin typeface="Calibri"/>
                <a:cs typeface="Calibri"/>
              </a:rPr>
              <a:t>  Sindhuja Selvaraj: </a:t>
            </a:r>
            <a:r>
              <a:rPr lang="en-NZ" sz="2000" b="1" dirty="0">
                <a:latin typeface="Calibri"/>
                <a:cs typeface="Calibri"/>
                <a:hlinkClick r:id="rId3"/>
              </a:rPr>
              <a:t>Pdf8356@autuni.ac.nz</a:t>
            </a:r>
            <a:endParaRPr lang="en-NZ" sz="2000" b="1" dirty="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5"/>
              </a:spcBef>
              <a:buClr>
                <a:srgbClr val="F5821F"/>
              </a:buClr>
            </a:pPr>
            <a:endParaRPr lang="en-NZ" sz="2000" b="1" dirty="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5"/>
              </a:spcBef>
              <a:buClr>
                <a:srgbClr val="F5821F"/>
              </a:buClr>
            </a:pPr>
            <a:r>
              <a:rPr lang="en-NZ" sz="2000" b="1" dirty="0">
                <a:latin typeface="Calibri"/>
                <a:cs typeface="Calibri"/>
              </a:rPr>
              <a:t>  Adeola. Ojo: </a:t>
            </a:r>
            <a:r>
              <a:rPr lang="en-NZ" sz="2000" b="1" dirty="0">
                <a:latin typeface="Calibri"/>
                <a:cs typeface="Calibri"/>
                <a:hlinkClick r:id="rId4"/>
              </a:rPr>
              <a:t>adeola.ojo@autuni.ac.nz</a:t>
            </a:r>
            <a:endParaRPr lang="en-NZ" sz="2000" b="1" dirty="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5"/>
              </a:spcBef>
              <a:buClr>
                <a:srgbClr val="F5821F"/>
              </a:buClr>
            </a:pPr>
            <a:endParaRPr lang="en-NZ" sz="2000" b="1" dirty="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5"/>
              </a:spcBef>
              <a:buClr>
                <a:srgbClr val="F5821F"/>
              </a:buClr>
            </a:pPr>
            <a:r>
              <a:rPr lang="en-NZ" sz="2000" b="1" dirty="0">
                <a:latin typeface="Calibri"/>
                <a:cs typeface="Calibri"/>
              </a:rPr>
              <a:t>  Manpreet Dhanjal: </a:t>
            </a:r>
            <a:r>
              <a:rPr lang="en-NZ" sz="2000" b="1" dirty="0">
                <a:latin typeface="Calibri"/>
                <a:cs typeface="Calibri"/>
                <a:hlinkClick r:id="rId5"/>
              </a:rPr>
              <a:t>ggv5104@autuni.ac.nz</a:t>
            </a:r>
            <a:endParaRPr lang="en-NZ" sz="2000" b="1" dirty="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5"/>
              </a:spcBef>
              <a:buClr>
                <a:srgbClr val="F5821F"/>
              </a:buClr>
            </a:pPr>
            <a:endParaRPr sz="2000" b="1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buClr>
                <a:srgbClr val="F5821F"/>
              </a:buClr>
              <a:buFont typeface="Arial"/>
              <a:buChar char="•"/>
              <a:tabLst>
                <a:tab pos="241300" algn="l"/>
              </a:tabLst>
            </a:pPr>
            <a:r>
              <a:rPr sz="2000" b="1" dirty="0">
                <a:latin typeface="Calibri"/>
                <a:cs typeface="Calibri"/>
              </a:rPr>
              <a:t>Email</a:t>
            </a:r>
            <a:r>
              <a:rPr sz="2000" b="1" spc="-9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the</a:t>
            </a:r>
            <a:r>
              <a:rPr sz="2000" b="1" spc="-5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lecturer</a:t>
            </a:r>
            <a:r>
              <a:rPr sz="2000" b="1" spc="-50" dirty="0">
                <a:latin typeface="Calibri"/>
                <a:cs typeface="Calibri"/>
              </a:rPr>
              <a:t> </a:t>
            </a:r>
            <a:r>
              <a:rPr lang="en-NZ" sz="2000" b="1" spc="-50" dirty="0">
                <a:latin typeface="Calibri"/>
                <a:cs typeface="Calibri"/>
              </a:rPr>
              <a:t>(Daniel) </a:t>
            </a:r>
            <a:r>
              <a:rPr sz="2000" b="1" dirty="0">
                <a:latin typeface="Calibri"/>
                <a:cs typeface="Calibri"/>
              </a:rPr>
              <a:t>to</a:t>
            </a:r>
            <a:r>
              <a:rPr sz="2000" b="1" spc="-7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make</a:t>
            </a:r>
            <a:r>
              <a:rPr sz="2000" b="1" spc="-7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an</a:t>
            </a:r>
            <a:r>
              <a:rPr sz="2000" b="1" spc="-70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appointment</a:t>
            </a:r>
            <a:endParaRPr lang="en-US" sz="2000" b="1" spc="-1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buClr>
                <a:srgbClr val="F5821F"/>
              </a:buClr>
              <a:buFont typeface="Arial"/>
              <a:buChar char="•"/>
              <a:tabLst>
                <a:tab pos="241300" algn="l"/>
              </a:tabLst>
            </a:pPr>
            <a:r>
              <a:rPr lang="en-NZ" spc="-10" dirty="0">
                <a:solidFill>
                  <a:schemeClr val="tx1"/>
                </a:solidFill>
                <a:latin typeface="Calibri"/>
                <a:cs typeface="Calibri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Contact: </a:t>
            </a:r>
            <a:r>
              <a:rPr lang="en-NZ" spc="-10" dirty="0">
                <a:solidFill>
                  <a:srgbClr val="0000FF"/>
                </a:solidFill>
                <a:latin typeface="Calibri"/>
                <a:cs typeface="Calibri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Daniel.Vaipulu@aut.ac.nz</a:t>
            </a:r>
            <a:r>
              <a:rPr lang="en-NZ" spc="-10" dirty="0">
                <a:latin typeface="Calibri"/>
                <a:cs typeface="Calibri"/>
              </a:rPr>
              <a:t> </a:t>
            </a:r>
            <a:endParaRPr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05587" rIns="0" bIns="0" rtlCol="0">
            <a:spAutoFit/>
          </a:bodyPr>
          <a:lstStyle/>
          <a:p>
            <a:pPr marL="145415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Homework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39366" y="1812112"/>
            <a:ext cx="9606915" cy="836294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240029" marR="5080" indent="-227965">
              <a:lnSpc>
                <a:spcPts val="3030"/>
              </a:lnSpc>
              <a:spcBef>
                <a:spcPts val="475"/>
              </a:spcBef>
              <a:buClr>
                <a:srgbClr val="F5821F"/>
              </a:buClr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Week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1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readings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-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Chapters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1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2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from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i="1" spc="-10" dirty="0">
                <a:latin typeface="Calibri"/>
                <a:cs typeface="Calibri"/>
              </a:rPr>
              <a:t>Information</a:t>
            </a:r>
            <a:r>
              <a:rPr sz="2800" i="1" spc="-75" dirty="0">
                <a:latin typeface="Calibri"/>
                <a:cs typeface="Calibri"/>
              </a:rPr>
              <a:t> </a:t>
            </a:r>
            <a:r>
              <a:rPr sz="2800" i="1" spc="-10" dirty="0">
                <a:latin typeface="Calibri"/>
                <a:cs typeface="Calibri"/>
              </a:rPr>
              <a:t>Technology 	</a:t>
            </a:r>
            <a:r>
              <a:rPr sz="2800" i="1" dirty="0">
                <a:latin typeface="Calibri"/>
                <a:cs typeface="Calibri"/>
              </a:rPr>
              <a:t>Project</a:t>
            </a:r>
            <a:r>
              <a:rPr sz="2800" i="1" spc="-70" dirty="0">
                <a:latin typeface="Calibri"/>
                <a:cs typeface="Calibri"/>
              </a:rPr>
              <a:t> </a:t>
            </a:r>
            <a:r>
              <a:rPr sz="2800" i="1" spc="-10" dirty="0">
                <a:latin typeface="Calibri"/>
                <a:cs typeface="Calibri"/>
              </a:rPr>
              <a:t>Management</a:t>
            </a:r>
            <a:r>
              <a:rPr sz="2800" i="1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(2019)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by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Kathy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Schwalbe.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27699</TotalTime>
  <Words>2002</Words>
  <Application>Microsoft Office PowerPoint</Application>
  <PresentationFormat>Widescreen</PresentationFormat>
  <Paragraphs>299</Paragraphs>
  <Slides>22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Aptos</vt:lpstr>
      <vt:lpstr>Arial</vt:lpstr>
      <vt:lpstr>Calibri</vt:lpstr>
      <vt:lpstr>Times New Roman</vt:lpstr>
      <vt:lpstr>Wingdings</vt:lpstr>
      <vt:lpstr>Office Theme</vt:lpstr>
      <vt:lpstr>COMP507 IT Project Management (ITPM)  Course Overview Daniel Vaipulu: Programme Director– Master of IT Project Management (MITPM)</vt:lpstr>
      <vt:lpstr>Agenda</vt:lpstr>
      <vt:lpstr>PowerPoint Presentation</vt:lpstr>
      <vt:lpstr>COMP507- A core paper &amp; why critical?</vt:lpstr>
      <vt:lpstr>COMP507- A core paper &amp; why critical?</vt:lpstr>
      <vt:lpstr>Teaching team</vt:lpstr>
      <vt:lpstr>Teaching schedule</vt:lpstr>
      <vt:lpstr>Topics Covered</vt:lpstr>
      <vt:lpstr>Text Book</vt:lpstr>
      <vt:lpstr>Schedule</vt:lpstr>
      <vt:lpstr>Assessments</vt:lpstr>
      <vt:lpstr>Assignment 1: Team project</vt:lpstr>
      <vt:lpstr>Assessments 1 Part 1 and Part 2</vt:lpstr>
      <vt:lpstr>Assessments 2</vt:lpstr>
      <vt:lpstr>Team Information Template</vt:lpstr>
      <vt:lpstr>Learning Outcomes</vt:lpstr>
      <vt:lpstr>Learning Outcomes</vt:lpstr>
      <vt:lpstr>Techniques and tools (plans and documents)</vt:lpstr>
      <vt:lpstr>Tutorials in Labs</vt:lpstr>
      <vt:lpstr>Academic integrity + bullying behaviour </vt:lpstr>
      <vt:lpstr>Out-side-class contact</vt:lpstr>
      <vt:lpstr>Homework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Text</dc:title>
  <dc:creator>Remko de Jong</dc:creator>
  <cp:lastModifiedBy>Taniela  Ana Vaipulu</cp:lastModifiedBy>
  <cp:revision>63</cp:revision>
  <cp:lastPrinted>2023-07-16T22:59:57Z</cp:lastPrinted>
  <dcterms:created xsi:type="dcterms:W3CDTF">2023-07-12T01:30:32Z</dcterms:created>
  <dcterms:modified xsi:type="dcterms:W3CDTF">2026-06-26T06:02:16Z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2022-07-20T00:00:00Z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2023-07-12T00:00:00Z</vt:filetime>
  </property>
  <property fmtid="{D5CDD505-2E9C-101B-9397-08002B2CF9AE}" pid="5" name="Producer">
    <vt:lpwstr>Microsoft® PowerPoint® for Microsoft 365</vt:lpwstr>
  </property>
</Properties>
</file>