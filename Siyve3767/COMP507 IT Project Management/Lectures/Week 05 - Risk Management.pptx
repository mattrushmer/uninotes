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theme/themeOverride2.xml" ContentType="application/vnd.openxmlformats-officedocument.themeOverride+xml"/>
  <Override PartName="/ppt/notesSlides/notesSlide6.xml" ContentType="application/vnd.openxmlformats-officedocument.presentationml.notesSlide+xml"/>
  <Override PartName="/ppt/theme/themeOverride3.xml" ContentType="application/vnd.openxmlformats-officedocument.themeOverride+xml"/>
  <Override PartName="/ppt/notesSlides/notesSlide7.xml" ContentType="application/vnd.openxmlformats-officedocument.presentationml.notesSlide+xml"/>
  <Override PartName="/ppt/theme/themeOverride4.xml" ContentType="application/vnd.openxmlformats-officedocument.themeOverride+xml"/>
  <Override PartName="/ppt/notesSlides/notesSlide8.xml" ContentType="application/vnd.openxmlformats-officedocument.presentationml.notesSlide+xml"/>
  <Override PartName="/ppt/theme/themeOverride5.xml" ContentType="application/vnd.openxmlformats-officedocument.themeOverride+xml"/>
  <Override PartName="/ppt/notesSlides/notesSlide9.xml" ContentType="application/vnd.openxmlformats-officedocument.presentationml.notesSlide+xml"/>
  <Override PartName="/ppt/theme/themeOverride6.xml" ContentType="application/vnd.openxmlformats-officedocument.themeOverride+xml"/>
  <Override PartName="/ppt/notesSlides/notesSlide10.xml" ContentType="application/vnd.openxmlformats-officedocument.presentationml.notesSlide+xml"/>
  <Override PartName="/ppt/theme/themeOverride7.xml" ContentType="application/vnd.openxmlformats-officedocument.themeOverride+xml"/>
  <Override PartName="/ppt/notesSlides/notesSlide11.xml" ContentType="application/vnd.openxmlformats-officedocument.presentationml.notesSlide+xml"/>
  <Override PartName="/ppt/theme/themeOverride8.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42"/>
  </p:notesMasterIdLst>
  <p:handoutMasterIdLst>
    <p:handoutMasterId r:id="rId43"/>
  </p:handoutMasterIdLst>
  <p:sldIdLst>
    <p:sldId id="646" r:id="rId5"/>
    <p:sldId id="648" r:id="rId6"/>
    <p:sldId id="650" r:id="rId7"/>
    <p:sldId id="654" r:id="rId8"/>
    <p:sldId id="659" r:id="rId9"/>
    <p:sldId id="660" r:id="rId10"/>
    <p:sldId id="699" r:id="rId11"/>
    <p:sldId id="661" r:id="rId12"/>
    <p:sldId id="662" r:id="rId13"/>
    <p:sldId id="702" r:id="rId14"/>
    <p:sldId id="663" r:id="rId15"/>
    <p:sldId id="666" r:id="rId16"/>
    <p:sldId id="268" r:id="rId17"/>
    <p:sldId id="664" r:id="rId18"/>
    <p:sldId id="711" r:id="rId19"/>
    <p:sldId id="272" r:id="rId20"/>
    <p:sldId id="703" r:id="rId21"/>
    <p:sldId id="704" r:id="rId22"/>
    <p:sldId id="713" r:id="rId23"/>
    <p:sldId id="714" r:id="rId24"/>
    <p:sldId id="705" r:id="rId25"/>
    <p:sldId id="673" r:id="rId26"/>
    <p:sldId id="674" r:id="rId27"/>
    <p:sldId id="675" r:id="rId28"/>
    <p:sldId id="715" r:id="rId29"/>
    <p:sldId id="672" r:id="rId30"/>
    <p:sldId id="677" r:id="rId31"/>
    <p:sldId id="678" r:id="rId32"/>
    <p:sldId id="679" r:id="rId33"/>
    <p:sldId id="680" r:id="rId34"/>
    <p:sldId id="681" r:id="rId35"/>
    <p:sldId id="682" r:id="rId36"/>
    <p:sldId id="684" r:id="rId37"/>
    <p:sldId id="685" r:id="rId38"/>
    <p:sldId id="707" r:id="rId39"/>
    <p:sldId id="710" r:id="rId40"/>
    <p:sldId id="708" r:id="rId41"/>
  </p:sldIdLst>
  <p:sldSz cx="12192000" cy="6858000"/>
  <p:notesSz cx="6858000" cy="9144000"/>
  <p:embeddedFontLst>
    <p:embeddedFont>
      <p:font typeface="Century Gothic" panose="020B0502020202020204" pitchFamily="34" charset="0"/>
      <p:regular r:id="rId44"/>
      <p:bold r:id="rId45"/>
      <p:italic r:id="rId46"/>
      <p:boldItalic r:id="rId47"/>
    </p:embeddedFont>
    <p:embeddedFont>
      <p:font typeface="Palatino Linotype" panose="02040502050505030304" pitchFamily="18" charset="0"/>
      <p:regular r:id="rId48"/>
      <p:bold r:id="rId49"/>
      <p:italic r:id="rId50"/>
      <p:boldItalic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9CF"/>
    <a:srgbClr val="F26400"/>
    <a:srgbClr val="6C3B7A"/>
    <a:srgbClr val="92722D"/>
    <a:srgbClr val="519032"/>
    <a:srgbClr val="F58220"/>
    <a:srgbClr val="DBC385"/>
    <a:srgbClr val="B3933A"/>
    <a:srgbClr val="B01116"/>
    <a:srgbClr val="F2652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015" autoAdjust="0"/>
    <p:restoredTop sz="77603" autoAdjust="0"/>
  </p:normalViewPr>
  <p:slideViewPr>
    <p:cSldViewPr snapToGrid="0">
      <p:cViewPr varScale="1">
        <p:scale>
          <a:sx n="86" d="100"/>
          <a:sy n="86" d="100"/>
        </p:scale>
        <p:origin x="1092" y="78"/>
      </p:cViewPr>
      <p:guideLst/>
    </p:cSldViewPr>
  </p:slideViewPr>
  <p:notesTextViewPr>
    <p:cViewPr>
      <p:scale>
        <a:sx n="1" d="1"/>
        <a:sy n="1" d="1"/>
      </p:scale>
      <p:origin x="0" y="0"/>
    </p:cViewPr>
  </p:notesTextViewPr>
  <p:notesViewPr>
    <p:cSldViewPr snapToGrid="0">
      <p:cViewPr varScale="1">
        <p:scale>
          <a:sx n="64" d="100"/>
          <a:sy n="64" d="100"/>
        </p:scale>
        <p:origin x="2616"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openxmlformats.org/officeDocument/2006/relationships/font" Target="fonts/font4.fntdata"/><Relationship Id="rId50" Type="http://schemas.openxmlformats.org/officeDocument/2006/relationships/font" Target="fonts/font7.fntdata"/><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font" Target="fonts/font2.fntdata"/><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fntdata"/><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handoutMaster" Target="handoutMasters/handoutMaster1.xml"/><Relationship Id="rId48" Type="http://schemas.openxmlformats.org/officeDocument/2006/relationships/font" Target="fonts/font5.fntdata"/><Relationship Id="rId8" Type="http://schemas.openxmlformats.org/officeDocument/2006/relationships/slide" Target="slides/slide4.xml"/><Relationship Id="rId51" Type="http://schemas.openxmlformats.org/officeDocument/2006/relationships/font" Target="fonts/font8.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3.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013FD6E-1FDB-4DE3-9FB8-34B352973208}" type="datetimeFigureOut">
              <a:rPr lang="en-NZ" smtClean="0"/>
              <a:t>9/08/2026</a:t>
            </a:fld>
            <a:endParaRPr lang="en-NZ"/>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21E9BB-33A9-40EC-87AC-6B7FA56C6C7D}" type="slidenum">
              <a:rPr lang="en-NZ" smtClean="0"/>
              <a:t>‹#›</a:t>
            </a:fld>
            <a:endParaRPr lang="en-NZ"/>
          </a:p>
        </p:txBody>
      </p:sp>
    </p:spTree>
    <p:extLst>
      <p:ext uri="{BB962C8B-B14F-4D97-AF65-F5344CB8AC3E}">
        <p14:creationId xmlns:p14="http://schemas.microsoft.com/office/powerpoint/2010/main" val="356662058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2081.76611" units="1/cm"/>
          <inkml:channelProperty channel="Y" name="resolution" value="3329.97974" units="1/cm"/>
          <inkml:channelProperty channel="F" name="resolution" value="5.68611" units="1/deg"/>
          <inkml:channelProperty channel="T" name="resolution" value="1" units="1/dev"/>
        </inkml:channelProperties>
      </inkml:inkSource>
      <inkml:timestamp xml:id="ts0" timeString="2021-09-27T22:12:21.339"/>
    </inkml:context>
    <inkml:brush xml:id="br0">
      <inkml:brushProperty name="width" value="0.05292" units="cm"/>
      <inkml:brushProperty name="height" value="0.05292" units="cm"/>
      <inkml:brushProperty name="color" value="#00B0F0"/>
    </inkml:brush>
  </inkml:definitions>
  <inkml:trace contextRef="#ctx0" brushRef="#br0">5912 4214 298 0,'-32'0'26'0,"2"6"21"16,6 0 15-1,5-2 25-15,6-4-2 0,6 0 26 16,5 0-13 0,2 0-30-16,0 0-46 0,19-4-9 15,21-8 12-15,16 1-3 16,16-3 1 0,19 3 9-16,16-1-9 0,20 1 2 15,11-1-9-15,13-2-1 16,12-1-6-1,12-5 20-15,14-3-15 0,6 2 5 16,6-1-10-16,-2 5 0 16,-9 4-1-16,-14 7-1 15,-9 2-2-15,-15 4 0 16,-2 0-1-16,-5 0 1 16,-1 0-10-16,5-6 8 15,4-2 1-15,6-5-1 16,2-3-1-16,6-1 0 15,6 3 3-15,-6 0-1 16,-3 5 0-16,-9 3-1 16,-8 2-1-16,-10 3-3 15,-4 1 1-15,-3-3 0 16,-5 3 2-16,-1-2 0 16,3-2 0-16,-4-1 0 15,0-3 2-15,-1 0-2 16,1 1 4-16,0 3-6 15,-5-2 6-15,0 6-4 16,-4 0 0-16,-4 0 2 16,-3 0-1-16,1 0-4 15,-1 0 2-15,-4 0-2 16,1 0 1-16,1-4 1 16,-1 2 3-16,1 2-6 15,0-4 1-15,-1 2 3 0,-3-3 1 16,0-1-1-1,-2 0 0-15,-4 2-1 16,0 0-1-16,-5 0 2 16,1 4 0-16,-8 0 0 0,1 0-1 15,-2 0 2-15,-1 0-1 16,1 0 0-16,0 0 1 16,2 0 0-16,-2 0-1 15,-2 0 2-15,-5 0-6 16,-3 0 2-16,-2 0 3 15,-6-1-3-15,-5-2 3 16,3 3-3-16,-2 0 1 16,3 0-1-16,-1 0 1 15,5-1 2-15,1 1-2 16,-1 0 1-16,4 0-1 16,-4-2-1-16,4-1 3 15,-1 3-1-15,2 0-3 16,1 0 2-16,5 0-1 15,1 0-1-15,3 5 4 16,2-4-2-16,3 3 0 16,4-4 1-16,1 2-1 15,1 0 1-15,-3 0-2 16,-1 0-1-16,-1 0 4 16,-6 2-3-16,-3 0-1 15,-1 0 3-15,1-1-3 16,-1 0 1-16,3-2 1 15,3-1 1-15,5 0-2 16,3 0 1-16,3 0-1 16,2 0 3-16,-3 0-4 15,6 0 1-15,-1 0-2 0,-1 0 3 16,3 0-3-16,5 2 4 16,1 8-5-16,3-2 4 15,0 1 0-15,2 1-3 16,0 0 3-16,-5 0 1 15,-1-1-2 1,-5-3-4-16,-6 2 2 0,-1-2 2 16,-7-3 2-16,-4 1-7 15,-7 0 7-15,-6-2-1 16,-7 2-3-16,-7-4-3 16,-16 4 6-16,-7-4-3 15,-14 4 5-15,-6-4-1 16,-6 1-2-16,-7-1 3 15,0 0 9-15,0 0 3 16,0 0-6-16,0 0-3 16,0 0-3-16,0 0-5 15,0 0 6-15,0 0-2 16,2 0-2-16,-2 0-13 16,0 0-69-16,-11-5-72 15,-40-3-201-15</inkml:trace>
  <inkml:trace contextRef="#ctx0" brushRef="#br0" timeOffset="11011.34">13871 8665 526 0,'-13'4'15'0,"9"-2"36"16,2-2 32-16,2 0-16 15,0 0-20-15,0 0-15 16,0 0-12-16,0 0-8 16,6 0 5-16,7 0 2 15,2 0 8-15,5 0-4 16,1 0-3-16,5 0-5 0,2 0 2 15,0 0-5 1,2 0 5-16,2 0-3 16,0 0 1-16,-1 0-6 0,-3 0-4 15,0 0 4-15,0 0-6 16,-3 0 5-16,3 0-1 16,0 0-1-16,0 0 4 15,0 0-1 1,0 0 2-16,-2 0 4 0,-2 0-6 15,-1 0-1-15,-1 4-1 16,-3-3 0-16,2 4-1 16,3-4-1-16,2 3 0 15,0 2 1-15,4-4-2 16,2 4 1-16,-1-2-3 16,3 0 1-16,-4-2 1 15,0-1 1-15,-2 3 1 16,-2-4-1-16,-7 2-3 15,1-2 0-15,-3 4 3 16,-4-4-2-16,-1 0 0 16,2 2-1-16,-4 0 2 15,-1 0-1-15,0-2 0 16,-3 2 6-16,-2-2-7 16,1 0 4-16,-3 0 0 15,0 0 1-15,-2 0 1 16,2 0-1-16,-2 0 1 15,0 0 1-15,0 2 1 16,0-2-2-16,0 0-4 16,0 2-1-16,0-2 1 15,0 0-2-15,0 0 2 16,0 0 0-16,0 0 0 16,0 0 4-16,0 0 0 0,0 0 4 15,0 0 0 1,0 0-1-16,0 0 3 0,0 0 0 15,0 0-2-15,0 0 0 16,0 0-2-16,0 0 0 16,0 0-1-16,0 0-2 15,0 0 1-15,0 0-3 16,0 0-4-16,0 0 4 16,0 0-3-16,0 0 3 15,0 0-3-15,0 0-1 16,0 0 2-16,0 0-5 15,0 0 3-15,0 0-1 16,0 0 1-16,0 0 1 16,0 0-3-16,0 0 0 15,0 0 2-15,0 0 0 16,0 0-1-16,0 0-2 16,0 0 3-16,0 0-1 15,0 0-2-15,0 0 0 16,0 0 3-16,0 0-3 15,0 0 2-15,0 0-1 16,0 0 0-16,0 0 1 16,0 0-1-16,0 0 1 15,0 0-2-15,0 0 0 16,0 0 1-16,0 0-2 16,0 0-4-16,0 0 0 15,0 0-4-15,0 0 2 16,0 0 1-16,0 0 1 15,0 0 3-15,0 0-1 16,7 0 0-16,-1 0 4 0,3 0-1 16,1 0 2-16,3 0-2 15,4 0-1-15,3 0 3 16,0 0 0-16,0 0 0 16,6 0-2-16,-2 0 0 15,0-2 0 1,0-2 0-16,-1 2 1 0,-1-2 2 15,2 0-2-15,0 2 3 16,-1-3-4-16,0 3-1 16,1-2 9-16,0 2-8 15,3-2-1-15,1 2 6 16,5-2-2-16,2 0 1 16,1 2-6-16,3-2 5 15,1 1 1-15,0-1-4 16,-2 0 5-16,1 0-6 15,-1 0 0-15,2 0 8 16,-4 1-9-16,0-2 7 16,1 0-4-16,4 1 3 15,0 0-3-15,4-2 1 16,2 2-3-16,2-2 8 16,5 1-7-16,0-1 4 15,3 0-2-15,1 0 1 16,0 0 0-16,1-1-3 15,2 1 3-15,-1-4-2 16,0 3 2-16,-4-1-1 16,-4 0 1-16,0 4 0 0,-5-1-2 15,-6 0 1-15,2 1 2 16,-4 1-5-16,1-1 5 16,-2 0-2-16,0 0-2 15,1 0 4-15,-3-2-3 16,0 1 0-16,0 1 2 15,-4 2-2-15,-4-4 1 16,-1 6 2 0,-3-4-8-16,-2 4 10 0,-3 0-4 15,-4 0 0-15,1 0 0 16,-4 0 0-16,1 0 0 16,-2 0-2-16,1 0 3 15,2 0 1-15,3 0-5 16,0-2 5-16,2 2-2 15,3 0 0-15,2 0 2 16,0 0-4-16,1 0 3 16,7-2 0-16,0 0-2 15,5 2-4-15,0-2 9 16,-1 1-5-16,1-2 4 16,-7 2-5-16,-2 1-2 15,-2-2 11-15,-2 2-10 16,-4 0 5-16,2 0-3 15,0 0-1-15,2 0 5 16,-1 0-4-16,-1 0 0 16,-3 0 2-16,0-2-2 15,3 2 2-15,-4-2 0 16,-2 2-2-16,4 0 2 16,1 0-4-16,1 0 6 15,2 0-3-15,-1 0-1 16,0 0 1-16,1 0 1 15,-2 0-2-15,0 0 3 0,-7 0-2 16,-2 0 1-16,-3 0-1 16,-1 0 0-16,-5 0 1 15,0 0-2-15,-2 0 1 16,-2 0 0-16,0 0-2 16,0-2-20-16,-4-6-73 15,-37 0-100-15,-19 2-280 16</inkml:trace>
  <inkml:trace contextRef="#ctx0" brushRef="#br0" timeOffset="12377.98">13623 8471 577 0,'46'-5'23'16,"20"-3"-4"-16,23-1 46 15,16-1 3-15,20-2-9 16,15-4-11-16,13 5-6 16,10-3 1-16,5 3-10 15,8-1-7-15,-3 6-3 16,-6 6-10-16,-3 0 1 16,-11 0 0-16,-7 8-2 15,-4 9-1-15,2-1-3 16,2-4 6-16,9-7-8 0,9-3 4 15,6-2-2-15,2 0-5 16,-2 0 0-16,-6-11-1 16,-7-1-2-16,-14 4-1 15,-7-2 4 1,-15 3-5-16,-12 1 4 0,-11 2-2 16,-13 1 0-1,-9-2-1-15,-10 0 10 0,-5-1-4 16,-7 0 8-16,-5-2-3 15,-8 3-3-15,-4 1-4 16,-11 2 1-16,-6 0-2 16,-4 2 2-16,-6 0 1 15,-1 0-3-15,-2 0-1 16,-1 0 5-16,-2 0-5 16,5 0-1-16,-3 0-3 15,-1 0 7-15,-1 0-2 16,2 0-4-16,1 0 11 15,-3 0-2-15,0 0-3 16,1 0 1-16,4 0-1 16,1 0-2-16,3 0 4 15,6 0-3-15,1 0 6 16,2 0 1-16,3 0-2 16,-1 0-2-16,2 0-1 15,0 0 2-15,-3 0-2 16,2 0 1-16,1 0 1 15,0 0-1-15,0 0 0 16,0 2-1-16,0-2 0 16,-1 0-2-16,1 2-1 0,-4-2 2 15,0 1-3-15,-5-1 2 16,2 3-2 0,-4-2 1-16,0 1 1 0,-2 0 1 15,-2 0 0-15,-4 0 0 16,-1 0 0-16,0-2-1 15,-4 2 0-15,0-2-1 16,0 0 0-16,1 0 0 16,-3 0-2-16,0 0 2 15,0 0-3-15,0 0-2 16,0 0-11-16,0-2-47 16,-5-13-89-16,-18 1-146 15,-11 3-399-15</inkml:trace>
  <inkml:trace contextRef="#ctx0" brushRef="#br0" timeOffset="12735.58">18215 8499 905 0,'0'0'13'0,"0"0"15"16,176-16 6-16,-91 8-9 15,-1 1-9-15,-3 1-8 0,-7 2-7 16,-8 2 1-16,-12 2 3 16,-13 0-1-16,-13 0-4 15,-16 0-10-15,-12 0-75 16,0 0-37-16,-24 0-117 16,-18 0-346-16</inkml:trace>
  <inkml:trace contextRef="#ctx0" brushRef="#br0" timeOffset="35966.92">6108 12734 299 0,'-9'0'11'0,"5"0"0"16,0 0 30-16,2 0 28 15,2 0 21-15,0 0-12 16,0 0-2-16,0 0-1 16,0 0-12-16,0 0-4 15,0 0 0-15,0 0-20 16,0 0-11-16,0 0-6 16,0 0-9-16,0 0-2 15,0 0-6-15,4 0 1 16,11 0 5-16,2 0-1 15,5 0 4-15,3 0-9 16,3 0 12-16,0 0 5 16,2 0-14-16,-2 0 6 15,0 0-8-15,1 0-2 0,-3 0 3 16,2 0 4-16,2-1-13 16,2 1 10-16,0-4-10 15,2 2 8 1,5 0-5-16,-5 0 2 0,3 0 3 15,-2 0-3 1,-5 0-1-16,0 2 4 0,-1 0-4 16,2-2 1-16,-1 0 2 15,3 0-4-15,-4 2 4 16,4-2-1-16,0 0-2 16,-1 0 5-16,2 1-9 15,-4-2 5-15,2 2 4 16,1-1-10-16,-1 2 11 15,0-4-6-15,0 4 6 16,3-2-9-16,1 0 6 16,4 0-1-16,-2 0-3 15,3-2 3-15,1 2 0 16,0 2-1-16,0-1 0 16,0 1-1-16,-2 0-6 15,-1-3 10-15,1 3-5 16,-2 0-1-16,2 0 3 15,-3 0-2-15,-1-1-2 16,2 1 2-16,-6 0 1 16,-2 0 0-16,-3 0-4 15,-3 0 4-15,0 0-3 0,-4 0 0 16,-2 0 4 0,2 0-3-16,-3 0-1 15,2 0 2-15,-1 0-2 16,-1 0 1-16,0 0 0 15,-2 0 2-15,3 0-1 16,-6 0-2-16,4 0 4 0,-4 0-4 16,6 0 1-16,-4 0 1 15,4 0 0 1,3 0-1-16,1 0 1 0,-3 0-2 16,0 0 2-16,1 0 1 15,2 1-1-15,-4 3 1 16,2-4-2-16,4 0 2 15,0 4 0-15,1-2-3 16,5 0 3-16,2-2-3 16,4 2 2-16,0 0 4 15,3-2 3-15,1 0 5 16,-4 0-1-16,0 0-6 16,-2 2-5-16,-4 0 2 15,0 0 4-15,-5 1-3 16,1 0-6-16,0-2 9 15,-2 3-10-15,2-2 5 16,-2 2 2-16,-1-2-3 16,1 2 3-16,-2-2-3 15,-4 0 1-15,2 0 2 16,-4 0-6-16,-2-2 3 16,-1 1 0-16,2 2-1 15,2-3 8-15,-1 0-9 16,3 1 9-16,0-1-2 15,-1 0-4-15,0 0-1 16,-2 0 4-16,-1 0-4 16,-4 0 2-16,-1 0-6 15,-1 0 5-15,-4 0 3 0,1 0-4 16,-2 0 1-16,-2 0-6 16,3 0 5-16,-5 0 5 15,2 0-7-15,0 0 0 16,-2 0 6-16,2 0-6 15,-2 0 4-15,0 0-3 16,0 0-3-16,0 0 8 16,0 0-4-16,0 0-3 15,0 0 2-15,0 0 4 16,0 0-1-16,0 0-3 16,0 0 1-16,0 0-4 15,0 0 2-15,0 0 3 16,0 0-1-16,0 0-1 15,0 0 5-15,0 0-5 16,0 0-4-16,0 0 5 16,0 0 3-16,0 0-6 15,0 0 1-15,0 0 7 16,0 0-11-16,0 0 7 16,0 0-2-16,0 0-3 15,0 0 3-15,2 0 5 16,-2 0-5-16,0 0 1 15,0 0 0-15,0 0-2 16,0 0-1-16,0 0 1 16,0 0 7-16,0 0-9 15,0 0 0-15,0 0 9 16,0 0-7-16,0 0 2 16,0 0 0-16,0 0-2 15,0 0-1-15,0 0 6 16,0 0-8-16,0 0 10 15,0 0-10-15,0 0 8 16,0 0-3-16,0 0-1 0,0 0 1 16,0 0-2-16,0 0 1 15,0 0-2-15,0 0 0 16,0 0 8-16,0 0-7 16,0 0 0-16,0 0 2 15,0 0-2-15,0 0-4 16,0 0 8-16,0 0-4 15,0 0 0-15,0 0-5 16,0 0-17-16,0 0 6 16,2 0-8-16,3 0 3 15,1 0-2-15,3 0 17 16,3 0 2-16,2 0 4 16,0 5-4-16,0-4-1 15,0 1 0-15,-2 0 2 16,0 0 4-16,-1 0 2 15,-2 0 1-15,1 0-4 16,-3-2 2-16,2 2-1 16,1 0 1-16,-1 0-1 15,2-1 0-15,2 2 0 16,3-1-3-16,2-2 2 16,0 0 8-16,2 1-7 15,-4-1 1-15,1 0 0 0,-4 3-1 16,-3-3 2-1,1 1-5-15,-4-1 6 16,1 0-3-16,-1 2 0 0,-3-2-2 16,3 0-40-1,1 0-46-15,-3 0-38 0,-5-13-61 16,0-9-248-16</inkml:trace>
  <inkml:trace contextRef="#ctx0" brushRef="#br0" timeOffset="40647.82">19377 12916 237 0,'-19'0'-21'0,"1"0"7"16,1 0 11-16,2 0 1 0,-2 0 1 15,4 0 2 1,-2 2-3-16,0 4-2 0,2 0 5 16,0 4 3-16,1-3 3 15,0-1 5-15,2 0 23 16,6-2 22-16,-1-2 21 16,3 0 10-16,2-2-8 15,0 2 5-15,0-2 10 16,0 0-24-16,0 0-16 15,0 0-20-15,0 0-16 16,4 0-5-16,13 0 3 16,3 0 7-16,10 0-4 15,4 0-2-15,7 0 1 16,5 0 8-16,2-4-3 16,2-4-5-16,2-3-8 15,2 1 1-15,-7 2-3 16,-1-4-2-16,-4 7-6 15,-3-1 7-15,-5 2-10 16,-4 2 8-16,-4 0-6 16,-2 2 4-16,0 0-5 15,-1 0 3-15,3 0 1 16,4 0-9-16,2 0 13 16,5 0-8-16,0 0 0 15,6 0 2-15,-3-4-5 16,6 1 8-16,-1-1-7 15,3 0 7-15,-4 4-3 16,4-2-1-16,1 2-3 16,1 0 7-16,2 0-6 15,4 0 5-15,4 0-3 16,1 0-3-16,7 0 8 0,3 0-5 16,-2-2 0-16,4 0 4 15,-2-2-4 1,-4 2 2-16,-1 2 0 0,-6 0-2 15,-1 0 3-15,-5 0-2 16,-6 0-2-16,0 0 2 16,-7 4-1-16,0-2 2 15,-6 0-4-15,-5 0 2 16,-2 0 4-16,-5-2-6 16,-3 0 4-16,-3 2-1 15,-2 1-3-15,-5-3 5 16,0 4-3-16,0-2 0 15,-2 2 0-15,2-2 2 16,0 4 0-16,6-2-3 16,-2-2 0-16,6 3 2 15,1-3-1-15,3 2 3 16,4 2-2-16,0 0-1 16,4 0 1-16,-2-2-1 15,4-1 2-15,1 3-1 16,-1-2-5-16,0 2 8 15,4-4-4-15,-4 2 1 16,4-2 0-16,-3 2-2 16,3-4-1-16,0 0 6 15,-2 1-3-15,-4-1 1 16,5 3-1-16,-5-2-1 16,0-1 0-16,0 2 2 15,5-2-1-15,-1 4 0 16,-1-4-3-16,6 2 5 15,-3 0-4-15,4 0 5 0,-1-2-1 16,1 0 2 0,-3 0 9-16,0 0-8 15,-7 0-3-15,-4 0 1 0,-5 0-3 16,-7 0 2-16,-6 0 0 16,-2 2 1-16,-4-2 0 15,0 2-1-15,-2-2 0 16,2 2 1-16,-2-2-3 15,0 0 2-15,2 0 0 16,-1 0-1-16,-1 0 2 16,-2 0-2-16,3 0 0 15,-3 2-1-15,2-2 0 16,-2 0 4-16,2 0-7 16,0 2 7-16,-2-2-2 15,0 2-1-15,0-2 5 16,0 0-3-16,0 0 5 15,0 0 0-15,0 0-2 16,0 0-1-16,0 0-3 16,0 0-1-16,0 0 0 15,0 0-2-15,0 0 0 16,0 0 2-16,0 0-3 16,0 0 0-16,0 0 2 15,0 0 2-15,2 0-1 16,-2 0-3-16,0 0 2 15,0 0-1-15,0 0-1 16,0 0 5-16,0 0-5 16,0 0 1-16,0 0 0 0,0 0-1 15,0 0 3-15,0 0-2 16,0 0-2-16,0 0 4 16,0 0-3-16,0 0 2 15,0 0 0-15,0 0-2 16,0 0 2-16,0 0 0 15,0 0-2-15,0 0 2 16,0 0-4-16,0 0 7 16,0 0-2-16,0 0-2 15,0 0 1-15,0 0-2 16,0 0 4-16,0 0-2 16,0 0-2-16,0 0 4 15,0 0-3-15,0 0 0 16,0 0 1-16,0 0-2 15,0 0 4-15,0 0-2 16,0 0-3-16,0 0 8 16,0 0-4-16,0 0 2 15,0 0-2-15,2 0 0 16,-2 0 1-16,0 0-1 16,0 0 2-16,0 0-4 15,0 0 4-15,0 0-2 16,0 0-2-16,0 0 2 15,0 0 1-15,0 0-3 16,0 0 1-16,0 0-1 16,0 0 1-16,0 0 1 15,0 0-2-15,0 0 0 16,0 0 2-16,0 0-3 16,0 0 4-16,0 0-2 15,0 0-1-15,0 0 3 0,0 0-6 16,0 0 6-1,0 0-5-15,0 0 4 0,0 0 2 16,0 0-6-16,0 0 3 16,0 0 1-16,0 0-3 15,0 0 4-15,0 0-2 16,0 0 0-16,0 0 1 16,0 0-1-16,0 0-2 15,0 0 1-15,0 0 1 16,0 0 0-16,0 0-1 15,0 0-1-15,0 0 4 16,0 0-6-16,0 0 6 16,0 0-4-16,0 0 0 15,0 0 3-15,0 0-2 16,0 0 1-16,0 0-1 16,0 0 1-16,0 0-2 15,0 0 1-15,0 0-1 16,0 0 5-16,0 0-6 15,0 0 3-15,0 0-2 16,0 0 3-16,0 0-2 16,0 0 0-16,0 0-3 15,0 0 7-15,0 0-4 16,0 0 0-16,0 0 0 16,0 0 0-16,0 0 1 15,0 0-2-15,0 0 3 16,0 0-3-16,0 0 1 15,0 0 3-15,0 0-5 16,0 0 3-16,0 0-1 16,0 0-1-16,0 0 3 15,0 0-3-15,0 0 2 0,0 0 0 16,0 0-3 0,0 0 5-16,0 0-3 0,0 0-1 15,0 0 2-15,0 0 0 16,0 0-2-16,0 0 2 15,0 0 0-15,0 0 0 16,0 0 1-16,0 0-1 16,0 0-1-16,0 0-1 15,0 0 2-15,0 0 1 16,0 0-4-16,0 0 4 16,0 0-2-16,0 0-2 15,0 0 4-15,0 0-1 16,0 0-2-16,0 0 2 15,0 0-3-15,0 0 4 16,0 0-4-16,0 0 3 16,0 0-1-16,0 0 0 15,0 0 4-15,0 0-5 16,0 0-1-16,0 0 5 16,0 0-4-16,0 0 2 15,0 0-1-15,0 0 0 16,0 0 0-16,0 0 1 15,0 0-1-15,0 0-1 16,0 0 3-16,0 0-1 0,0 0-1 16,0 0 1-1,0 0 1-15,0 0-3 16,0 0 4-16,0 0-4 16,0 0 1-16,0 0 1 15,0 0 0-15,0 0-2 0,0 0 1 16,0 0 0-1,0 0 2-15,0 0-3 0,0 0 2 16,0 0 0 0,0 0-2-16,0 0 1 15,0 0 0-15,0 0 0 0,0 0 2 16,0 0-2-16,0 0-2 16,0 0 3-16,0 0-1 15,0 0 0-15,0 0 0 16,0 0 0-16,0 0 0 15,0 0-1-15,0 0 4 16,0 0-4-16,0 0 0 16,0 0 1-16,0 0 0 15,0 0 0-15,0 0-1 16,0 0 2-16,0 0-1 16,0 0-2-16,0 0 3 15,0 0 0-15,0 0-3 16,0 0 3-16,0 0 0 15,0 0-2-15,0 0 1 16,0 0-2-16,0 0 1 16,0 0 1-16,0 0-2 15,0 0 0-15,0 0-3 16,0 0-6-16,0 0-7 16,0 0-11-16,0-4-12 15,4-12-35-15,3-11-30 16,-7-6-81-16,0-4-211 15</inkml:trace>
  <inkml:trace contextRef="#ctx0" brushRef="#br0" timeOffset="41638.03">5753 11569 186 0,'0'-9'-57'15,"0"0"-3"-15,0 4 11 16,0-1 37-16,0 6 12 16,0 0 4-16,0 0 15 15,0 0-3-15,0 0-5 16,0 8-52-16</inkml:trace>
  <inkml:trace contextRef="#ctx0" brushRef="#br0" timeOffset="41816.51">5753 11569 624 0</inkml:trace>
  <inkml:trace contextRef="#ctx0" brushRef="#br0" timeOffset="42331.12">5753 11569 624 0,'13'-73'79'0,"-13"73"-23"0,0 0-15 0,6 0-17 0,5 0-9 15,10 0-5-15,7 13-4 16,10 7 9-16,6 8 10 15,8 4-6-15,-3 0-9 16,1 5 3-16,-5-2-2 16,-2-6 2-16,-6 0 0 15,-7-6-6-15,-2-3-3 16,-6-5-3-16,-6-3 0 0,-2-3 0 16,-4-3-8-16,-1 0-22 15,-7-2-23-15,0-2-31 16,-2-2-47-16,0 0 26 15,0 0 34-15,-11 0-25 16,-8-13-46-16,-6-1 38 16,-9-2 81-16,0 3 36 15,0 1 35-15,0 3 12 16,3 5 9-16,7 2-2 16,8 2-10-16,4 0-14 15,12 0 9-15,0 11-25 16,16 5-18-16,14 3 15 15,9 2 26-15,1-5 0 16,4 0-2-16,-2-5-9 16,-5-3-12-16,0-2 4 15,-7-2 0-15,-5-3-3 16,-3 1-6-16,-4 0 3 16,-4-2-6-16,-2 0-7 15,-4 0-5-15,-2 0 0 16,-1-11-4-16,-3-12-1 15,-2-12 8-15,0-6-5 16,0-5-1-16,-2-7-13 16,-13-3-42-16,-1 0-23 15,2 8-103-15,-4 11-103 16</inkml:trace>
  <inkml:trace contextRef="#ctx0" brushRef="#br0" timeOffset="48894.38">9478 11676 808 0,'-18'0'3'0,"3"0"-16"16,11-8 11-16,-1-27-25 15,5-12 56-15,0-14-9 16,0-21 14-16,0-14-19 16,12-15-8-16,8-9 2 15,4-17-1-15,2-14-6 16,2-14 7-16,7-11 6 16,1-14 3-16,8-11 2 15,9-18 2-15,14-14 9 16,12-10-17-16,12-13 14 15,15-15-20-15,9-13 1 16,14-5 11-16,15-7-3 16,16-4 1-16,12 2-3 15,3 2-6-15,2 11 4 16,0 12-7-16,-8 22-4 16,-12 20 12-16,-18 22-12 15,-10 31 8-15,-15 29 1 16,-15 27-7-16,-21 31-3 15,-20 25 2-15,-13 25-2 16,-19 20 4-16,-11 11-1 16,-4 7 14-16,-9 3 8 15,0 0-17-15,-2 0-6 16,0 1-16-16,-18 20-47 16,-18 11-36-16,-15 8-57 15,-19 13-27-15,-7-1-49 0,-13 0-95 16</inkml:trace>
  <inkml:trace contextRef="#ctx0" brushRef="#br0" timeOffset="49078.85">11528 5521 892 0,'0'0'65'0,"0"0"-59"16,118-137 13-16,-30 78 11 16,13 1 2-16,9 8-13 15,0 14 3-15,-11 8 0 16,-13 15-5-16,-21 9 1 15,-24 4-9-15,-29 39-6 16,-12 36-58-16,-45 32-62 16,-30 28-92-16,-30 30-260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1B8C58-07EF-404D-B457-37886CF22D71}" type="datetimeFigureOut">
              <a:rPr lang="en-NZ" smtClean="0"/>
              <a:t>9/08/2026</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14EF88-E836-44B1-9C0B-F43CD65EDBC6}" type="slidenum">
              <a:rPr lang="en-NZ" smtClean="0"/>
              <a:t>‹#›</a:t>
            </a:fld>
            <a:endParaRPr lang="en-NZ"/>
          </a:p>
        </p:txBody>
      </p:sp>
    </p:spTree>
    <p:extLst>
      <p:ext uri="{BB962C8B-B14F-4D97-AF65-F5344CB8AC3E}">
        <p14:creationId xmlns:p14="http://schemas.microsoft.com/office/powerpoint/2010/main" val="1894259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1</a:t>
            </a:fld>
            <a:endParaRPr lang="en-NZ"/>
          </a:p>
        </p:txBody>
      </p:sp>
    </p:spTree>
    <p:extLst>
      <p:ext uri="{BB962C8B-B14F-4D97-AF65-F5344CB8AC3E}">
        <p14:creationId xmlns:p14="http://schemas.microsoft.com/office/powerpoint/2010/main" val="2783450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Art and science</a:t>
            </a:r>
          </a:p>
        </p:txBody>
      </p:sp>
      <p:sp>
        <p:nvSpPr>
          <p:cNvPr id="4" name="Slide Number Placeholder 3"/>
          <p:cNvSpPr>
            <a:spLocks noGrp="1"/>
          </p:cNvSpPr>
          <p:nvPr>
            <p:ph type="sldNum" sz="quarter" idx="5"/>
          </p:nvPr>
        </p:nvSpPr>
        <p:spPr/>
        <p:txBody>
          <a:bodyPr/>
          <a:lstStyle/>
          <a:p>
            <a:fld id="{A514EF88-E836-44B1-9C0B-F43CD65EDBC6}" type="slidenum">
              <a:rPr lang="en-NZ" smtClean="0"/>
              <a:t>2</a:t>
            </a:fld>
            <a:endParaRPr lang="en-NZ"/>
          </a:p>
        </p:txBody>
      </p:sp>
    </p:spTree>
    <p:extLst>
      <p:ext uri="{BB962C8B-B14F-4D97-AF65-F5344CB8AC3E}">
        <p14:creationId xmlns:p14="http://schemas.microsoft.com/office/powerpoint/2010/main" val="1511948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9</a:t>
            </a:fld>
            <a:endParaRPr lang="en-NZ"/>
          </a:p>
        </p:txBody>
      </p:sp>
    </p:spTree>
    <p:extLst>
      <p:ext uri="{BB962C8B-B14F-4D97-AF65-F5344CB8AC3E}">
        <p14:creationId xmlns:p14="http://schemas.microsoft.com/office/powerpoint/2010/main" val="1675685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10</a:t>
            </a:fld>
            <a:endParaRPr lang="en-NZ"/>
          </a:p>
        </p:txBody>
      </p:sp>
    </p:spTree>
    <p:extLst>
      <p:ext uri="{BB962C8B-B14F-4D97-AF65-F5344CB8AC3E}">
        <p14:creationId xmlns:p14="http://schemas.microsoft.com/office/powerpoint/2010/main" val="2849201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solidFill>
                  <a:prstClr val="black"/>
                </a:solidFill>
              </a:rPr>
              <a:pPr>
                <a:defRPr/>
              </a:pPr>
              <a:t>13</a:t>
            </a:fld>
            <a:endParaRPr lang="en-US" dirty="0">
              <a:solidFill>
                <a:prstClr val="black"/>
              </a:solidFill>
            </a:endParaRPr>
          </a:p>
        </p:txBody>
      </p:sp>
    </p:spTree>
    <p:extLst>
      <p:ext uri="{BB962C8B-B14F-4D97-AF65-F5344CB8AC3E}">
        <p14:creationId xmlns:p14="http://schemas.microsoft.com/office/powerpoint/2010/main" val="10808383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2B2C9-5CDD-E8EE-F9C3-30E7776175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6501C-25B6-8C88-4CE3-E7AF774331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BBBC97-D75F-5F4A-9CE0-3A20D932C7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DEDED2-3A16-4D6C-66AE-7F57A2C495FA}"/>
              </a:ext>
            </a:extLst>
          </p:cNvPr>
          <p:cNvSpPr>
            <a:spLocks noGrp="1"/>
          </p:cNvSpPr>
          <p:nvPr>
            <p:ph type="sldNum" sz="quarter" idx="10"/>
          </p:nvPr>
        </p:nvSpPr>
        <p:spPr/>
        <p:txBody>
          <a:bodyPr/>
          <a:lstStyle/>
          <a:p>
            <a:pPr>
              <a:defRPr/>
            </a:pPr>
            <a:fld id="{75643CF3-3CBA-4666-8D1B-A3F17C5F892C}" type="slidenum">
              <a:rPr lang="en-US" smtClean="0">
                <a:solidFill>
                  <a:prstClr val="black"/>
                </a:solidFill>
              </a:rPr>
              <a:pPr>
                <a:defRPr/>
              </a:pPr>
              <a:t>15</a:t>
            </a:fld>
            <a:endParaRPr lang="en-US" dirty="0">
              <a:solidFill>
                <a:prstClr val="black"/>
              </a:solidFill>
            </a:endParaRPr>
          </a:p>
        </p:txBody>
      </p:sp>
    </p:spTree>
    <p:extLst>
      <p:ext uri="{BB962C8B-B14F-4D97-AF65-F5344CB8AC3E}">
        <p14:creationId xmlns:p14="http://schemas.microsoft.com/office/powerpoint/2010/main" val="3855337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5643CF3-3CBA-4666-8D1B-A3F17C5F892C}" type="slidenum">
              <a:rPr lang="en-US" smtClean="0">
                <a:solidFill>
                  <a:prstClr val="black"/>
                </a:solidFill>
              </a:rPr>
              <a:pPr>
                <a:defRPr/>
              </a:pPr>
              <a:t>16</a:t>
            </a:fld>
            <a:endParaRPr lang="en-US" dirty="0">
              <a:solidFill>
                <a:prstClr val="black"/>
              </a:solidFill>
            </a:endParaRPr>
          </a:p>
        </p:txBody>
      </p:sp>
    </p:spTree>
    <p:extLst>
      <p:ext uri="{BB962C8B-B14F-4D97-AF65-F5344CB8AC3E}">
        <p14:creationId xmlns:p14="http://schemas.microsoft.com/office/powerpoint/2010/main" val="2711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55044-279E-988B-F62E-E828F6E884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78A03-7D79-A882-B857-BCC6520A0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592FE3-4130-D810-D079-995DE2F326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D8E658-10B1-1532-FF08-FD587769F218}"/>
              </a:ext>
            </a:extLst>
          </p:cNvPr>
          <p:cNvSpPr>
            <a:spLocks noGrp="1"/>
          </p:cNvSpPr>
          <p:nvPr>
            <p:ph type="sldNum" sz="quarter" idx="10"/>
          </p:nvPr>
        </p:nvSpPr>
        <p:spPr/>
        <p:txBody>
          <a:bodyPr/>
          <a:lstStyle/>
          <a:p>
            <a:pPr>
              <a:defRPr/>
            </a:pPr>
            <a:fld id="{75643CF3-3CBA-4666-8D1B-A3F17C5F892C}" type="slidenum">
              <a:rPr lang="en-US" smtClean="0">
                <a:solidFill>
                  <a:prstClr val="black"/>
                </a:solidFill>
              </a:rPr>
              <a:pPr>
                <a:defRPr/>
              </a:pPr>
              <a:t>17</a:t>
            </a:fld>
            <a:endParaRPr lang="en-US" dirty="0">
              <a:solidFill>
                <a:prstClr val="black"/>
              </a:solidFill>
            </a:endParaRPr>
          </a:p>
        </p:txBody>
      </p:sp>
    </p:spTree>
    <p:extLst>
      <p:ext uri="{BB962C8B-B14F-4D97-AF65-F5344CB8AC3E}">
        <p14:creationId xmlns:p14="http://schemas.microsoft.com/office/powerpoint/2010/main" val="3819700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5B3CA-BDED-EFDD-5DAD-33E827C3B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5CE52-2F50-5270-14D3-8A7EA55BBB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5DBAD-7527-B4E9-A6D4-15E162C184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64460D-5508-8AD7-EDB7-1A72EC667D96}"/>
              </a:ext>
            </a:extLst>
          </p:cNvPr>
          <p:cNvSpPr>
            <a:spLocks noGrp="1"/>
          </p:cNvSpPr>
          <p:nvPr>
            <p:ph type="sldNum" sz="quarter" idx="10"/>
          </p:nvPr>
        </p:nvSpPr>
        <p:spPr/>
        <p:txBody>
          <a:bodyPr/>
          <a:lstStyle/>
          <a:p>
            <a:pPr>
              <a:defRPr/>
            </a:pPr>
            <a:fld id="{75643CF3-3CBA-4666-8D1B-A3F17C5F892C}" type="slidenum">
              <a:rPr lang="en-US" smtClean="0">
                <a:solidFill>
                  <a:prstClr val="black"/>
                </a:solidFill>
              </a:rPr>
              <a:pPr>
                <a:defRPr/>
              </a:pPr>
              <a:t>18</a:t>
            </a:fld>
            <a:endParaRPr lang="en-US" dirty="0">
              <a:solidFill>
                <a:prstClr val="black"/>
              </a:solidFill>
            </a:endParaRPr>
          </a:p>
        </p:txBody>
      </p:sp>
    </p:spTree>
    <p:extLst>
      <p:ext uri="{BB962C8B-B14F-4D97-AF65-F5344CB8AC3E}">
        <p14:creationId xmlns:p14="http://schemas.microsoft.com/office/powerpoint/2010/main" val="10619953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9BC8A-0D0C-866D-8AE1-EBD253FBE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9B8D63-8E83-A65D-E397-4814A0140E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938E0A-A2E1-1CD0-FD86-E9E28E5C8C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388204-B341-8031-3C4D-B8464EB6C6C4}"/>
              </a:ext>
            </a:extLst>
          </p:cNvPr>
          <p:cNvSpPr>
            <a:spLocks noGrp="1"/>
          </p:cNvSpPr>
          <p:nvPr>
            <p:ph type="sldNum" sz="quarter" idx="10"/>
          </p:nvPr>
        </p:nvSpPr>
        <p:spPr/>
        <p:txBody>
          <a:bodyPr/>
          <a:lstStyle/>
          <a:p>
            <a:pPr>
              <a:defRPr/>
            </a:pPr>
            <a:fld id="{75643CF3-3CBA-4666-8D1B-A3F17C5F892C}" type="slidenum">
              <a:rPr lang="en-US" smtClean="0">
                <a:solidFill>
                  <a:prstClr val="black"/>
                </a:solidFill>
              </a:rPr>
              <a:pPr>
                <a:defRPr/>
              </a:pPr>
              <a:t>19</a:t>
            </a:fld>
            <a:endParaRPr lang="en-US" dirty="0">
              <a:solidFill>
                <a:prstClr val="black"/>
              </a:solidFill>
            </a:endParaRPr>
          </a:p>
        </p:txBody>
      </p:sp>
    </p:spTree>
    <p:extLst>
      <p:ext uri="{BB962C8B-B14F-4D97-AF65-F5344CB8AC3E}">
        <p14:creationId xmlns:p14="http://schemas.microsoft.com/office/powerpoint/2010/main" val="2776075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EA50A-4714-8507-E54C-5327F5909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CA0EF-EA5C-0C9F-D67C-FF755C832F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5B09FE-DE1D-2AD3-48B3-419BE8CCD3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3F5463-D916-6B4C-2882-E477EA75B7B7}"/>
              </a:ext>
            </a:extLst>
          </p:cNvPr>
          <p:cNvSpPr>
            <a:spLocks noGrp="1"/>
          </p:cNvSpPr>
          <p:nvPr>
            <p:ph type="sldNum" sz="quarter" idx="10"/>
          </p:nvPr>
        </p:nvSpPr>
        <p:spPr/>
        <p:txBody>
          <a:bodyPr/>
          <a:lstStyle/>
          <a:p>
            <a:pPr>
              <a:defRPr/>
            </a:pPr>
            <a:fld id="{75643CF3-3CBA-4666-8D1B-A3F17C5F892C}" type="slidenum">
              <a:rPr lang="en-US" smtClean="0">
                <a:solidFill>
                  <a:prstClr val="black"/>
                </a:solidFill>
              </a:rPr>
              <a:pPr>
                <a:defRPr/>
              </a:pPr>
              <a:t>20</a:t>
            </a:fld>
            <a:endParaRPr lang="en-US" dirty="0">
              <a:solidFill>
                <a:prstClr val="black"/>
              </a:solidFill>
            </a:endParaRPr>
          </a:p>
        </p:txBody>
      </p:sp>
    </p:spTree>
    <p:extLst>
      <p:ext uri="{BB962C8B-B14F-4D97-AF65-F5344CB8AC3E}">
        <p14:creationId xmlns:p14="http://schemas.microsoft.com/office/powerpoint/2010/main" val="7604933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3231D-B9AC-5630-6896-148C14734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71E40-A07D-987C-10E3-1F64E3A7F1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F2679-FAD7-B360-3F56-B47077136A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4DAA489-D811-7531-6168-9AA224622B7B}"/>
              </a:ext>
            </a:extLst>
          </p:cNvPr>
          <p:cNvSpPr>
            <a:spLocks noGrp="1"/>
          </p:cNvSpPr>
          <p:nvPr>
            <p:ph type="sldNum" sz="quarter" idx="10"/>
          </p:nvPr>
        </p:nvSpPr>
        <p:spPr/>
        <p:txBody>
          <a:bodyPr/>
          <a:lstStyle/>
          <a:p>
            <a:pPr>
              <a:defRPr/>
            </a:pPr>
            <a:fld id="{75643CF3-3CBA-4666-8D1B-A3F17C5F892C}" type="slidenum">
              <a:rPr lang="en-US" smtClean="0">
                <a:solidFill>
                  <a:prstClr val="black"/>
                </a:solidFill>
              </a:rPr>
              <a:pPr>
                <a:defRPr/>
              </a:pPr>
              <a:t>21</a:t>
            </a:fld>
            <a:endParaRPr lang="en-US" dirty="0">
              <a:solidFill>
                <a:prstClr val="black"/>
              </a:solidFill>
            </a:endParaRPr>
          </a:p>
        </p:txBody>
      </p:sp>
    </p:spTree>
    <p:extLst>
      <p:ext uri="{BB962C8B-B14F-4D97-AF65-F5344CB8AC3E}">
        <p14:creationId xmlns:p14="http://schemas.microsoft.com/office/powerpoint/2010/main" val="17399329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24</a:t>
            </a:fld>
            <a:endParaRPr lang="en-NZ"/>
          </a:p>
        </p:txBody>
      </p:sp>
    </p:spTree>
    <p:extLst>
      <p:ext uri="{BB962C8B-B14F-4D97-AF65-F5344CB8AC3E}">
        <p14:creationId xmlns:p14="http://schemas.microsoft.com/office/powerpoint/2010/main" val="34202607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91B60-A5B0-A17E-E9FE-1E2C29B13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7597E-95A6-EF92-755E-47E8AF23A9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874B3-F84B-5939-EBC1-9ADE7AE85D7F}"/>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4CCA1132-C46D-7D86-8085-E9CDF194265F}"/>
              </a:ext>
            </a:extLst>
          </p:cNvPr>
          <p:cNvSpPr>
            <a:spLocks noGrp="1"/>
          </p:cNvSpPr>
          <p:nvPr>
            <p:ph type="sldNum" sz="quarter" idx="5"/>
          </p:nvPr>
        </p:nvSpPr>
        <p:spPr/>
        <p:txBody>
          <a:bodyPr/>
          <a:lstStyle/>
          <a:p>
            <a:fld id="{A514EF88-E836-44B1-9C0B-F43CD65EDBC6}" type="slidenum">
              <a:rPr lang="en-NZ" smtClean="0"/>
              <a:t>25</a:t>
            </a:fld>
            <a:endParaRPr lang="en-NZ"/>
          </a:p>
        </p:txBody>
      </p:sp>
    </p:spTree>
    <p:extLst>
      <p:ext uri="{BB962C8B-B14F-4D97-AF65-F5344CB8AC3E}">
        <p14:creationId xmlns:p14="http://schemas.microsoft.com/office/powerpoint/2010/main" val="32844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34</a:t>
            </a:fld>
            <a:endParaRPr lang="en-NZ"/>
          </a:p>
        </p:txBody>
      </p:sp>
    </p:spTree>
    <p:extLst>
      <p:ext uri="{BB962C8B-B14F-4D97-AF65-F5344CB8AC3E}">
        <p14:creationId xmlns:p14="http://schemas.microsoft.com/office/powerpoint/2010/main" val="4938457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35</a:t>
            </a:fld>
            <a:endParaRPr lang="en-NZ"/>
          </a:p>
        </p:txBody>
      </p:sp>
    </p:spTree>
    <p:extLst>
      <p:ext uri="{BB962C8B-B14F-4D97-AF65-F5344CB8AC3E}">
        <p14:creationId xmlns:p14="http://schemas.microsoft.com/office/powerpoint/2010/main" val="3244997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21B94-8838-A46A-50C0-5761023462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EF63F-37EA-BC1C-14FE-A68D162D7E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5E9E38-B423-7F9D-4736-BEEC83550963}"/>
              </a:ext>
            </a:extLst>
          </p:cNvPr>
          <p:cNvSpPr>
            <a:spLocks noGrp="1"/>
          </p:cNvSpPr>
          <p:nvPr>
            <p:ph type="body" idx="1"/>
          </p:nvPr>
        </p:nvSpPr>
        <p:spPr/>
        <p:txBody>
          <a:bodyPr/>
          <a:lstStyle/>
          <a:p>
            <a:endParaRPr lang="en-NZ" dirty="0"/>
          </a:p>
        </p:txBody>
      </p:sp>
      <p:sp>
        <p:nvSpPr>
          <p:cNvPr id="4" name="Slide Number Placeholder 3">
            <a:extLst>
              <a:ext uri="{FF2B5EF4-FFF2-40B4-BE49-F238E27FC236}">
                <a16:creationId xmlns:a16="http://schemas.microsoft.com/office/drawing/2014/main" id="{F3395ECB-BF35-2B53-4663-77C29E786D21}"/>
              </a:ext>
            </a:extLst>
          </p:cNvPr>
          <p:cNvSpPr>
            <a:spLocks noGrp="1"/>
          </p:cNvSpPr>
          <p:nvPr>
            <p:ph type="sldNum" sz="quarter" idx="5"/>
          </p:nvPr>
        </p:nvSpPr>
        <p:spPr/>
        <p:txBody>
          <a:bodyPr/>
          <a:lstStyle/>
          <a:p>
            <a:fld id="{A514EF88-E836-44B1-9C0B-F43CD65EDBC6}" type="slidenum">
              <a:rPr lang="en-NZ" smtClean="0"/>
              <a:t>36</a:t>
            </a:fld>
            <a:endParaRPr lang="en-NZ"/>
          </a:p>
        </p:txBody>
      </p:sp>
    </p:spTree>
    <p:extLst>
      <p:ext uri="{BB962C8B-B14F-4D97-AF65-F5344CB8AC3E}">
        <p14:creationId xmlns:p14="http://schemas.microsoft.com/office/powerpoint/2010/main" val="30550895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5"/>
          </p:nvPr>
        </p:nvSpPr>
        <p:spPr/>
        <p:txBody>
          <a:bodyPr/>
          <a:lstStyle/>
          <a:p>
            <a:fld id="{A514EF88-E836-44B1-9C0B-F43CD65EDBC6}" type="slidenum">
              <a:rPr lang="en-NZ" smtClean="0"/>
              <a:t>37</a:t>
            </a:fld>
            <a:endParaRPr lang="en-NZ"/>
          </a:p>
        </p:txBody>
      </p:sp>
    </p:spTree>
    <p:extLst>
      <p:ext uri="{BB962C8B-B14F-4D97-AF65-F5344CB8AC3E}">
        <p14:creationId xmlns:p14="http://schemas.microsoft.com/office/powerpoint/2010/main" val="1753832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0585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age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1460500" y="365125"/>
            <a:ext cx="10515600" cy="1325563"/>
          </a:xfrm>
          <a:prstGeom prst="rect">
            <a:avLst/>
          </a:prstGeom>
        </p:spPr>
        <p:txBody>
          <a:bodyPr vert="horz" lIns="91440" tIns="45720" rIns="91440" bIns="45720" rtlCol="0" anchor="ctr">
            <a:normAutofit/>
          </a:bodyPr>
          <a:lstStyle>
            <a:lvl1pPr>
              <a:defRPr>
                <a:solidFill>
                  <a:srgbClr val="F26522"/>
                </a:solidFill>
              </a:defRPr>
            </a:lvl1pPr>
          </a:lstStyle>
          <a:p>
            <a:r>
              <a:rPr lang="en-US" dirty="0"/>
              <a:t>Click to edit Master title style</a:t>
            </a:r>
            <a:endParaRPr lang="en-NZ" dirty="0"/>
          </a:p>
        </p:txBody>
      </p:sp>
      <p:sp>
        <p:nvSpPr>
          <p:cNvPr id="5" name="Text Placeholder 11"/>
          <p:cNvSpPr>
            <a:spLocks noGrp="1"/>
          </p:cNvSpPr>
          <p:nvPr>
            <p:ph type="body" sz="quarter" idx="13"/>
          </p:nvPr>
        </p:nvSpPr>
        <p:spPr>
          <a:xfrm>
            <a:off x="1460500" y="1844530"/>
            <a:ext cx="10515600" cy="4351338"/>
          </a:xfrm>
        </p:spPr>
        <p:txBody>
          <a:bodyPr/>
          <a:lstStyle>
            <a:lvl1pPr>
              <a:buClr>
                <a:srgbClr val="F58220"/>
              </a:buClr>
              <a:defRPr/>
            </a:lvl1pPr>
            <a:lvl2pPr>
              <a:buClr>
                <a:srgbClr val="F58220"/>
              </a:buClr>
              <a:defRPr/>
            </a:lvl2pPr>
            <a:lvl3pPr>
              <a:buClr>
                <a:srgbClr val="F58220"/>
              </a:buClr>
              <a:defRPr/>
            </a:lvl3pPr>
            <a:lvl4pPr>
              <a:buClr>
                <a:srgbClr val="F58220"/>
              </a:buClr>
              <a:defRPr/>
            </a:lvl4pPr>
            <a:lvl5pPr>
              <a:buClr>
                <a:srgbClr val="F5822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2872869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 page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6869868" y="2414156"/>
            <a:ext cx="4237844" cy="1325563"/>
          </a:xfrm>
          <a:prstGeom prst="rect">
            <a:avLst/>
          </a:prstGeom>
        </p:spPr>
        <p:txBody>
          <a:bodyPr vert="horz" lIns="91440" tIns="45720" rIns="91440" bIns="45720" rtlCol="0" anchor="ctr">
            <a:normAutofit/>
          </a:bodyPr>
          <a:lstStyle>
            <a:lvl1pPr>
              <a:defRPr sz="3600">
                <a:solidFill>
                  <a:srgbClr val="F26400"/>
                </a:solidFill>
              </a:defRPr>
            </a:lvl1pPr>
          </a:lstStyle>
          <a:p>
            <a:r>
              <a:rPr lang="en-US" dirty="0"/>
              <a:t>Click to edit Master title style</a:t>
            </a:r>
            <a:endParaRPr lang="en-NZ" dirty="0"/>
          </a:p>
        </p:txBody>
      </p:sp>
      <p:sp>
        <p:nvSpPr>
          <p:cNvPr id="5" name="Text Placeholder 11"/>
          <p:cNvSpPr>
            <a:spLocks noGrp="1"/>
          </p:cNvSpPr>
          <p:nvPr>
            <p:ph type="body" sz="quarter" idx="13"/>
          </p:nvPr>
        </p:nvSpPr>
        <p:spPr>
          <a:xfrm>
            <a:off x="6869868" y="3913172"/>
            <a:ext cx="4237844" cy="1063562"/>
          </a:xfrm>
        </p:spPr>
        <p:txBody>
          <a:bodyPr/>
          <a:lstStyle>
            <a:lvl1pPr marL="0" indent="0">
              <a:buClr>
                <a:srgbClr val="ED1C24"/>
              </a:buClr>
              <a:buNone/>
              <a:defRPr/>
            </a:lvl1pPr>
            <a:lvl2pPr>
              <a:buClr>
                <a:srgbClr val="ED1C24"/>
              </a:buClr>
              <a:defRPr/>
            </a:lvl2pPr>
            <a:lvl3pPr>
              <a:buClr>
                <a:srgbClr val="ED1C24"/>
              </a:buClr>
              <a:defRPr/>
            </a:lvl3pPr>
            <a:lvl4pPr>
              <a:buClr>
                <a:srgbClr val="ED1C24"/>
              </a:buClr>
              <a:defRPr/>
            </a:lvl4pPr>
            <a:lvl5pPr>
              <a:buClr>
                <a:srgbClr val="ED1C24"/>
              </a:buClr>
              <a:defRPr/>
            </a:lvl5pPr>
          </a:lstStyle>
          <a:p>
            <a:pPr lvl="0"/>
            <a:r>
              <a:rPr lang="en-US" dirty="0"/>
              <a:t>Click to edit Master text styles</a:t>
            </a:r>
          </a:p>
        </p:txBody>
      </p:sp>
    </p:spTree>
    <p:extLst>
      <p:ext uri="{BB962C8B-B14F-4D97-AF65-F5344CB8AC3E}">
        <p14:creationId xmlns:p14="http://schemas.microsoft.com/office/powerpoint/2010/main" val="780845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age - oran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40099"/>
            <a:ext cx="9182100" cy="2146301"/>
          </a:xfrm>
          <a:prstGeom prst="rect">
            <a:avLst/>
          </a:prstGeom>
          <a:solidFill>
            <a:srgbClr val="F26522">
              <a:alpha val="8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NZ" sz="800"/>
          </a:p>
        </p:txBody>
      </p:sp>
      <p:sp>
        <p:nvSpPr>
          <p:cNvPr id="5" name="Title 1"/>
          <p:cNvSpPr>
            <a:spLocks noGrp="1"/>
          </p:cNvSpPr>
          <p:nvPr>
            <p:ph type="title"/>
          </p:nvPr>
        </p:nvSpPr>
        <p:spPr>
          <a:xfrm>
            <a:off x="749300" y="3556000"/>
            <a:ext cx="8140700" cy="1277938"/>
          </a:xfrm>
        </p:spPr>
        <p:txBody>
          <a:bodyPr anchor="b"/>
          <a:lstStyle>
            <a:lvl1pPr>
              <a:defRPr>
                <a:solidFill>
                  <a:schemeClr val="bg1"/>
                </a:solidFill>
              </a:defRPr>
            </a:lvl1pPr>
          </a:lstStyle>
          <a:p>
            <a:r>
              <a:rPr lang="en-US" dirty="0"/>
              <a:t>Click to edit Master title style</a:t>
            </a:r>
            <a:endParaRPr lang="en-NZ" dirty="0"/>
          </a:p>
        </p:txBody>
      </p:sp>
      <p:sp>
        <p:nvSpPr>
          <p:cNvPr id="6" name="Subtitle 2"/>
          <p:cNvSpPr>
            <a:spLocks noGrp="1"/>
          </p:cNvSpPr>
          <p:nvPr>
            <p:ph type="subTitle" idx="1"/>
          </p:nvPr>
        </p:nvSpPr>
        <p:spPr>
          <a:xfrm>
            <a:off x="749300" y="4833938"/>
            <a:ext cx="8140700" cy="601662"/>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NZ"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778522" y="0"/>
            <a:ext cx="2007556" cy="1995055"/>
          </a:xfrm>
          <a:prstGeom prst="rect">
            <a:avLst/>
          </a:prstGeom>
        </p:spPr>
      </p:pic>
    </p:spTree>
    <p:extLst>
      <p:ext uri="{BB962C8B-B14F-4D97-AF65-F5344CB8AC3E}">
        <p14:creationId xmlns:p14="http://schemas.microsoft.com/office/powerpoint/2010/main" val="4128043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r>
              <a:rPr lang="en-NZ"/>
              <a:t>Information Technology Project Management, Seventh Edition</a:t>
            </a:r>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200" b="0" i="0">
                <a:solidFill>
                  <a:srgbClr val="595958"/>
                </a:solidFill>
                <a:latin typeface="Century Gothic"/>
                <a:cs typeface="Century Gothic"/>
              </a:defRPr>
            </a:lvl1pPr>
          </a:lstStyle>
          <a:p>
            <a:pPr marL="25400"/>
            <a:fld id="{81D60167-4931-47E6-BA6A-407CBD079E47}" type="slidenum">
              <a:rPr lang="en-NZ" smtClean="0"/>
              <a:pPr marL="25400"/>
              <a:t>‹#›</a:t>
            </a:fld>
            <a:endParaRPr lang="en-NZ" dirty="0"/>
          </a:p>
        </p:txBody>
      </p:sp>
    </p:spTree>
    <p:extLst>
      <p:ext uri="{BB962C8B-B14F-4D97-AF65-F5344CB8AC3E}">
        <p14:creationId xmlns:p14="http://schemas.microsoft.com/office/powerpoint/2010/main" val="3416468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prstGeom prst="rect">
            <a:avLst/>
          </a:prstGeom>
          <a:blipFill>
            <a:blip r:embed="rId2" cstate="print"/>
            <a:stretch>
              <a:fillRect/>
            </a:stretch>
          </a:blipFill>
        </p:spPr>
        <p:txBody>
          <a:bodyPr wrap="square" lIns="0" tIns="0" rIns="0" bIns="0" rtlCol="0"/>
          <a:lstStyle/>
          <a:p>
            <a:endParaRPr sz="1800"/>
          </a:p>
        </p:txBody>
      </p:sp>
      <p:sp>
        <p:nvSpPr>
          <p:cNvPr id="17" name="bk object 17"/>
          <p:cNvSpPr/>
          <p:nvPr/>
        </p:nvSpPr>
        <p:spPr>
          <a:xfrm>
            <a:off x="11277600" y="6500967"/>
            <a:ext cx="111760" cy="81280"/>
          </a:xfrm>
          <a:custGeom>
            <a:avLst/>
            <a:gdLst/>
            <a:ahLst/>
            <a:cxnLst/>
            <a:rect l="l" t="t" r="r" b="b"/>
            <a:pathLst>
              <a:path w="83820" h="81279">
                <a:moveTo>
                  <a:pt x="32295" y="0"/>
                </a:moveTo>
                <a:lnTo>
                  <a:pt x="19438" y="5417"/>
                </a:lnTo>
                <a:lnTo>
                  <a:pt x="9204" y="14588"/>
                </a:lnTo>
                <a:lnTo>
                  <a:pt x="2442" y="26666"/>
                </a:lnTo>
                <a:lnTo>
                  <a:pt x="0" y="40802"/>
                </a:lnTo>
                <a:lnTo>
                  <a:pt x="412" y="46652"/>
                </a:lnTo>
                <a:lnTo>
                  <a:pt x="36328" y="79943"/>
                </a:lnTo>
                <a:lnTo>
                  <a:pt x="53988" y="80924"/>
                </a:lnTo>
                <a:lnTo>
                  <a:pt x="65922" y="74939"/>
                </a:lnTo>
                <a:lnTo>
                  <a:pt x="75343" y="65274"/>
                </a:lnTo>
                <a:lnTo>
                  <a:pt x="81504" y="52477"/>
                </a:lnTo>
                <a:lnTo>
                  <a:pt x="83656" y="37096"/>
                </a:lnTo>
                <a:lnTo>
                  <a:pt x="80561" y="24915"/>
                </a:lnTo>
                <a:lnTo>
                  <a:pt x="73683" y="14486"/>
                </a:lnTo>
                <a:lnTo>
                  <a:pt x="63218" y="6438"/>
                </a:lnTo>
                <a:lnTo>
                  <a:pt x="49358" y="1400"/>
                </a:lnTo>
                <a:lnTo>
                  <a:pt x="32295" y="0"/>
                </a:lnTo>
                <a:close/>
              </a:path>
            </a:pathLst>
          </a:custGeom>
          <a:solidFill>
            <a:srgbClr val="808080"/>
          </a:solidFill>
        </p:spPr>
        <p:txBody>
          <a:bodyPr wrap="square" lIns="0" tIns="0" rIns="0" bIns="0" rtlCol="0"/>
          <a:lstStyle/>
          <a:p>
            <a:endParaRPr sz="1800"/>
          </a:p>
        </p:txBody>
      </p:sp>
      <p:sp>
        <p:nvSpPr>
          <p:cNvPr id="18" name="bk object 18"/>
          <p:cNvSpPr/>
          <p:nvPr/>
        </p:nvSpPr>
        <p:spPr>
          <a:xfrm>
            <a:off x="757935" y="6501089"/>
            <a:ext cx="113453" cy="80645"/>
          </a:xfrm>
          <a:custGeom>
            <a:avLst/>
            <a:gdLst/>
            <a:ahLst/>
            <a:cxnLst/>
            <a:rect l="l" t="t" r="r" b="b"/>
            <a:pathLst>
              <a:path w="85090" h="80645">
                <a:moveTo>
                  <a:pt x="32372" y="0"/>
                </a:moveTo>
                <a:lnTo>
                  <a:pt x="19470" y="5499"/>
                </a:lnTo>
                <a:lnTo>
                  <a:pt x="9213" y="14663"/>
                </a:lnTo>
                <a:lnTo>
                  <a:pt x="2443" y="26665"/>
                </a:lnTo>
                <a:lnTo>
                  <a:pt x="0" y="40681"/>
                </a:lnTo>
                <a:lnTo>
                  <a:pt x="696" y="48163"/>
                </a:lnTo>
                <a:lnTo>
                  <a:pt x="38078" y="79686"/>
                </a:lnTo>
                <a:lnTo>
                  <a:pt x="56139" y="80423"/>
                </a:lnTo>
                <a:lnTo>
                  <a:pt x="67845" y="74207"/>
                </a:lnTo>
                <a:lnTo>
                  <a:pt x="77044" y="64402"/>
                </a:lnTo>
                <a:lnTo>
                  <a:pt x="83022" y="51466"/>
                </a:lnTo>
                <a:lnTo>
                  <a:pt x="85060" y="35858"/>
                </a:lnTo>
                <a:lnTo>
                  <a:pt x="81650" y="24004"/>
                </a:lnTo>
                <a:lnTo>
                  <a:pt x="74509" y="13890"/>
                </a:lnTo>
                <a:lnTo>
                  <a:pt x="63804" y="6117"/>
                </a:lnTo>
                <a:lnTo>
                  <a:pt x="49703" y="1287"/>
                </a:lnTo>
                <a:lnTo>
                  <a:pt x="32372" y="0"/>
                </a:lnTo>
                <a:close/>
              </a:path>
            </a:pathLst>
          </a:custGeom>
          <a:solidFill>
            <a:srgbClr val="808080"/>
          </a:solidFill>
        </p:spPr>
        <p:txBody>
          <a:bodyPr wrap="square" lIns="0" tIns="0" rIns="0" bIns="0" rtlCol="0"/>
          <a:lstStyle/>
          <a:p>
            <a:endParaRPr sz="1800"/>
          </a:p>
        </p:txBody>
      </p:sp>
      <p:sp>
        <p:nvSpPr>
          <p:cNvPr id="19" name="bk object 19"/>
          <p:cNvSpPr/>
          <p:nvPr/>
        </p:nvSpPr>
        <p:spPr>
          <a:xfrm>
            <a:off x="2700527" y="504445"/>
            <a:ext cx="6786879" cy="1543811"/>
          </a:xfrm>
          <a:prstGeom prst="rect">
            <a:avLst/>
          </a:prstGeom>
          <a:blipFill>
            <a:blip r:embed="rId3" cstate="print"/>
            <a:stretch>
              <a:fillRect/>
            </a:stretch>
          </a:blipFill>
        </p:spPr>
        <p:txBody>
          <a:bodyPr wrap="square" lIns="0" tIns="0" rIns="0" bIns="0" rtlCol="0"/>
          <a:lstStyle/>
          <a:p>
            <a:endParaRPr sz="1800"/>
          </a:p>
        </p:txBody>
      </p:sp>
      <p:sp>
        <p:nvSpPr>
          <p:cNvPr id="2" name="Holder 2"/>
          <p:cNvSpPr>
            <a:spLocks noGrp="1"/>
          </p:cNvSpPr>
          <p:nvPr>
            <p:ph type="title"/>
          </p:nvPr>
        </p:nvSpPr>
        <p:spPr/>
        <p:txBody>
          <a:bodyPr lIns="0" tIns="0" rIns="0" bIns="0"/>
          <a:lstStyle>
            <a:lvl1pPr>
              <a:defRPr sz="5400" b="0" i="0">
                <a:solidFill>
                  <a:srgbClr val="2F5897"/>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r>
              <a:rPr lang="en-NZ"/>
              <a:t>Information Technology Project Management, Seventh Edition</a:t>
            </a:r>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p:txBody>
          <a:bodyPr lIns="0" tIns="0" rIns="0" bIns="0"/>
          <a:lstStyle>
            <a:lvl1pPr>
              <a:defRPr sz="1200" b="0" i="0">
                <a:solidFill>
                  <a:srgbClr val="595958"/>
                </a:solidFill>
                <a:latin typeface="Century Gothic"/>
                <a:cs typeface="Century Gothic"/>
              </a:defRPr>
            </a:lvl1pPr>
          </a:lstStyle>
          <a:p>
            <a:pPr marL="25400"/>
            <a:fld id="{81D60167-4931-47E6-BA6A-407CBD079E47}" type="slidenum">
              <a:rPr lang="en-NZ" smtClean="0"/>
              <a:pPr marL="25400"/>
              <a:t>‹#›</a:t>
            </a:fld>
            <a:endParaRPr lang="en-NZ" dirty="0"/>
          </a:p>
        </p:txBody>
      </p:sp>
    </p:spTree>
    <p:extLst>
      <p:ext uri="{BB962C8B-B14F-4D97-AF65-F5344CB8AC3E}">
        <p14:creationId xmlns:p14="http://schemas.microsoft.com/office/powerpoint/2010/main" val="503694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NZ"/>
              <a:t>Information Technology Project Management, Seventh Edition</a:t>
            </a:r>
            <a:endParaRPr lang="en-US"/>
          </a:p>
        </p:txBody>
      </p:sp>
      <p:sp>
        <p:nvSpPr>
          <p:cNvPr id="6" name="Slide Number Placeholder 5"/>
          <p:cNvSpPr>
            <a:spLocks noGrp="1"/>
          </p:cNvSpPr>
          <p:nvPr>
            <p:ph type="sldNum" sz="quarter" idx="12"/>
          </p:nvPr>
        </p:nvSpPr>
        <p:spPr/>
        <p:txBody>
          <a:bodyPr/>
          <a:lstStyle/>
          <a:p>
            <a:fld id="{053A41B1-A29B-0145-89E7-687432B81BB8}" type="slidenum">
              <a:rPr lang="en-US" smtClean="0"/>
              <a:t>‹#›</a:t>
            </a:fld>
            <a:endParaRPr lang="en-US"/>
          </a:p>
        </p:txBody>
      </p:sp>
    </p:spTree>
    <p:extLst>
      <p:ext uri="{BB962C8B-B14F-4D97-AF65-F5344CB8AC3E}">
        <p14:creationId xmlns:p14="http://schemas.microsoft.com/office/powerpoint/2010/main" val="30733040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NZ"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NZ" dirty="0"/>
          </a:p>
        </p:txBody>
      </p:sp>
    </p:spTree>
    <p:extLst>
      <p:ext uri="{BB962C8B-B14F-4D97-AF65-F5344CB8AC3E}">
        <p14:creationId xmlns:p14="http://schemas.microsoft.com/office/powerpoint/2010/main" val="3093605729"/>
      </p:ext>
    </p:extLst>
  </p:cSld>
  <p:clrMap bg1="lt1" tx1="dk1" bg2="lt2" tx2="dk2" accent1="accent1" accent2="accent2" accent3="accent3" accent4="accent4" accent5="accent5" accent6="accent6" hlink="hlink" folHlink="folHlink"/>
  <p:sldLayoutIdLst>
    <p:sldLayoutId id="2147483671" r:id="rId1"/>
    <p:sldLayoutId id="2147483668" r:id="rId2"/>
    <p:sldLayoutId id="2147483677" r:id="rId3"/>
    <p:sldLayoutId id="2147483663" r:id="rId4"/>
    <p:sldLayoutId id="2147483679" r:id="rId5"/>
    <p:sldLayoutId id="2147483680" r:id="rId6"/>
    <p:sldLayoutId id="2147483682" r:id="rId7"/>
  </p:sldLayoutIdLst>
  <p:hf sldNum="0" hdr="0" ftr="0" dt="0"/>
  <p:txStyles>
    <p:titleStyle>
      <a:lvl1pPr algn="l" defTabSz="914400" rtl="0" eaLnBrk="1" latinLnBrk="0" hangingPunct="1">
        <a:lnSpc>
          <a:spcPct val="90000"/>
        </a:lnSpc>
        <a:spcBef>
          <a:spcPct val="0"/>
        </a:spcBef>
        <a:buNone/>
        <a:defRPr sz="4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9.emf"/><Relationship Id="rId5" Type="http://schemas.openxmlformats.org/officeDocument/2006/relationships/oleObject" Target="../embeddings/oleObject1.bin"/><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1.jp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hemeOverride" Target="../theme/themeOverride3.xml"/><Relationship Id="rId4" Type="http://schemas.openxmlformats.org/officeDocument/2006/relationships/image" Target="../media/image1.jp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hemeOverride" Target="../theme/themeOverride4.xml"/><Relationship Id="rId4" Type="http://schemas.openxmlformats.org/officeDocument/2006/relationships/image" Target="../media/image1.jp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hemeOverride" Target="../theme/themeOverride5.xml"/><Relationship Id="rId4" Type="http://schemas.openxmlformats.org/officeDocument/2006/relationships/image" Target="../media/image1.jp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hemeOverride" Target="../theme/themeOverride6.xml"/><Relationship Id="rId4" Type="http://schemas.openxmlformats.org/officeDocument/2006/relationships/image" Target="../media/image1.jp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hemeOverride" Target="../theme/themeOverride7.xml"/><Relationship Id="rId4" Type="http://schemas.openxmlformats.org/officeDocument/2006/relationships/image" Target="../media/image1.jp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hemeOverride" Target="../theme/themeOverride8.xml"/><Relationship Id="rId4"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7788" y="4537307"/>
            <a:ext cx="8140700" cy="1277938"/>
          </a:xfrm>
        </p:spPr>
        <p:txBody>
          <a:bodyPr>
            <a:normAutofit fontScale="90000"/>
          </a:bodyPr>
          <a:lstStyle/>
          <a:p>
            <a:r>
              <a:rPr lang="en-US" sz="4800" dirty="0"/>
              <a:t>COMP507 IT Project Management</a:t>
            </a:r>
            <a:br>
              <a:rPr lang="en-US" sz="4800" dirty="0"/>
            </a:br>
            <a:r>
              <a:rPr lang="en-US" sz="4800" dirty="0"/>
              <a:t>Risk Management</a:t>
            </a:r>
            <a:br>
              <a:rPr lang="en-US" sz="4800" dirty="0"/>
            </a:br>
            <a:br>
              <a:rPr lang="en-US" sz="4800" dirty="0"/>
            </a:br>
            <a:r>
              <a:rPr lang="en-US" sz="2000" dirty="0"/>
              <a:t>Daniel</a:t>
            </a:r>
            <a:endParaRPr lang="en-NZ" sz="2000" dirty="0"/>
          </a:p>
        </p:txBody>
      </p:sp>
    </p:spTree>
    <p:extLst>
      <p:ext uri="{BB962C8B-B14F-4D97-AF65-F5344CB8AC3E}">
        <p14:creationId xmlns:p14="http://schemas.microsoft.com/office/powerpoint/2010/main" val="37704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89CA6-5B6D-49C6-B5AB-FD2EDB095F9C}"/>
              </a:ext>
            </a:extLst>
          </p:cNvPr>
          <p:cNvSpPr>
            <a:spLocks noGrp="1"/>
          </p:cNvSpPr>
          <p:nvPr>
            <p:ph type="title"/>
          </p:nvPr>
        </p:nvSpPr>
        <p:spPr/>
        <p:txBody>
          <a:bodyPr/>
          <a:lstStyle/>
          <a:p>
            <a:r>
              <a:rPr lang="en-NZ" dirty="0"/>
              <a:t>Agenda</a:t>
            </a:r>
          </a:p>
        </p:txBody>
      </p:sp>
      <p:sp>
        <p:nvSpPr>
          <p:cNvPr id="3" name="Text Placeholder 2">
            <a:extLst>
              <a:ext uri="{FF2B5EF4-FFF2-40B4-BE49-F238E27FC236}">
                <a16:creationId xmlns:a16="http://schemas.microsoft.com/office/drawing/2014/main" id="{346031E1-E1CB-4D30-AD2B-D2846019FEA9}"/>
              </a:ext>
            </a:extLst>
          </p:cNvPr>
          <p:cNvSpPr>
            <a:spLocks noGrp="1"/>
          </p:cNvSpPr>
          <p:nvPr>
            <p:ph type="body" sz="quarter" idx="13"/>
          </p:nvPr>
        </p:nvSpPr>
        <p:spPr/>
        <p:txBody>
          <a:bodyPr>
            <a:normAutofit/>
          </a:bodyPr>
          <a:lstStyle/>
          <a:p>
            <a:r>
              <a:rPr lang="en-NZ" sz="3200" dirty="0"/>
              <a:t>The Importance of Project Risk Management</a:t>
            </a:r>
          </a:p>
          <a:p>
            <a:pPr lvl="1"/>
            <a:r>
              <a:rPr lang="en-NZ" sz="2800" dirty="0"/>
              <a:t>Definition of risk (boils down to a probability/possibility…)</a:t>
            </a:r>
          </a:p>
          <a:p>
            <a:r>
              <a:rPr lang="en-NZ" sz="3200" dirty="0"/>
              <a:t>Major risk management processes: </a:t>
            </a:r>
          </a:p>
          <a:p>
            <a:pPr lvl="1"/>
            <a:r>
              <a:rPr lang="en-NZ" sz="2800" dirty="0"/>
              <a:t>Planning</a:t>
            </a:r>
          </a:p>
          <a:p>
            <a:pPr lvl="2"/>
            <a:r>
              <a:rPr lang="en-NZ" sz="2400" dirty="0"/>
              <a:t>Identifying</a:t>
            </a:r>
          </a:p>
          <a:p>
            <a:pPr lvl="2"/>
            <a:r>
              <a:rPr lang="en-NZ" sz="2400" dirty="0"/>
              <a:t>Planning risk responses</a:t>
            </a:r>
          </a:p>
          <a:p>
            <a:pPr lvl="1"/>
            <a:r>
              <a:rPr lang="en-NZ" sz="2800" dirty="0"/>
              <a:t>Implementing risk responses</a:t>
            </a:r>
          </a:p>
          <a:p>
            <a:pPr lvl="1"/>
            <a:r>
              <a:rPr lang="en-NZ" sz="2800" dirty="0"/>
              <a:t>Monitoring risk</a:t>
            </a:r>
          </a:p>
        </p:txBody>
      </p:sp>
    </p:spTree>
    <p:extLst>
      <p:ext uri="{BB962C8B-B14F-4D97-AF65-F5344CB8AC3E}">
        <p14:creationId xmlns:p14="http://schemas.microsoft.com/office/powerpoint/2010/main" val="3905284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DD1FB-9B48-4CD4-85FC-F8AA0BE4AF8D}"/>
              </a:ext>
            </a:extLst>
          </p:cNvPr>
          <p:cNvSpPr>
            <a:spLocks noGrp="1"/>
          </p:cNvSpPr>
          <p:nvPr>
            <p:ph type="title"/>
          </p:nvPr>
        </p:nvSpPr>
        <p:spPr/>
        <p:txBody>
          <a:bodyPr/>
          <a:lstStyle/>
          <a:p>
            <a:r>
              <a:rPr lang="en-US" dirty="0"/>
              <a:t>The Importance of Project Risk Management (1 of 5)</a:t>
            </a:r>
            <a:endParaRPr lang="en-NZ" dirty="0"/>
          </a:p>
        </p:txBody>
      </p:sp>
      <p:sp>
        <p:nvSpPr>
          <p:cNvPr id="3" name="Text Placeholder 2">
            <a:extLst>
              <a:ext uri="{FF2B5EF4-FFF2-40B4-BE49-F238E27FC236}">
                <a16:creationId xmlns:a16="http://schemas.microsoft.com/office/drawing/2014/main" id="{9E16216B-6F69-43CB-9C4B-B0FC5D23BC52}"/>
              </a:ext>
            </a:extLst>
          </p:cNvPr>
          <p:cNvSpPr>
            <a:spLocks noGrp="1"/>
          </p:cNvSpPr>
          <p:nvPr>
            <p:ph type="body" sz="quarter" idx="13"/>
          </p:nvPr>
        </p:nvSpPr>
        <p:spPr/>
        <p:txBody>
          <a:bodyPr>
            <a:normAutofit/>
          </a:bodyPr>
          <a:lstStyle/>
          <a:p>
            <a:r>
              <a:rPr lang="en-US" sz="3200" dirty="0"/>
              <a:t>Project risk management is the </a:t>
            </a:r>
            <a:r>
              <a:rPr lang="en-US" sz="3200" dirty="0">
                <a:solidFill>
                  <a:srgbClr val="FF0000"/>
                </a:solidFill>
              </a:rPr>
              <a:t>art and science </a:t>
            </a:r>
            <a:r>
              <a:rPr lang="en-US" sz="3200" dirty="0"/>
              <a:t>of identifying, analyzing, and responding to risk throughout the life of a project and in the best interests of meeting project objectives</a:t>
            </a:r>
          </a:p>
          <a:p>
            <a:pPr lvl="1"/>
            <a:r>
              <a:rPr lang="en-US" sz="2800" dirty="0"/>
              <a:t>Risk management is </a:t>
            </a:r>
            <a:r>
              <a:rPr lang="en-US" sz="2800" dirty="0">
                <a:solidFill>
                  <a:srgbClr val="FF0000"/>
                </a:solidFill>
              </a:rPr>
              <a:t>often overlooked </a:t>
            </a:r>
            <a:r>
              <a:rPr lang="en-US" sz="2800" dirty="0"/>
              <a:t>in projects, but it can help improve project success by helping select good projects, determining project scope, and developing realistic estimates</a:t>
            </a:r>
          </a:p>
          <a:p>
            <a:endParaRPr lang="en-NZ" sz="3200" dirty="0"/>
          </a:p>
        </p:txBody>
      </p:sp>
      <p:sp>
        <p:nvSpPr>
          <p:cNvPr id="4" name="TextBox 3">
            <a:extLst>
              <a:ext uri="{FF2B5EF4-FFF2-40B4-BE49-F238E27FC236}">
                <a16:creationId xmlns:a16="http://schemas.microsoft.com/office/drawing/2014/main" id="{90F604B0-51EE-446E-9627-0FCA88B3998C}"/>
              </a:ext>
            </a:extLst>
          </p:cNvPr>
          <p:cNvSpPr txBox="1"/>
          <p:nvPr/>
        </p:nvSpPr>
        <p:spPr>
          <a:xfrm>
            <a:off x="1849659" y="5432697"/>
            <a:ext cx="9737281" cy="523220"/>
          </a:xfrm>
          <a:prstGeom prst="rect">
            <a:avLst/>
          </a:prstGeom>
          <a:noFill/>
        </p:spPr>
        <p:txBody>
          <a:bodyPr wrap="none" rtlCol="0">
            <a:spAutoFit/>
          </a:bodyPr>
          <a:lstStyle/>
          <a:p>
            <a:r>
              <a:rPr lang="en-NZ" sz="2800" i="1" dirty="0">
                <a:solidFill>
                  <a:srgbClr val="0089CF"/>
                </a:solidFill>
              </a:rPr>
              <a:t>Analogy: a baby does not see risk; an old man sees too much risk…</a:t>
            </a:r>
          </a:p>
        </p:txBody>
      </p:sp>
    </p:spTree>
    <p:extLst>
      <p:ext uri="{BB962C8B-B14F-4D97-AF65-F5344CB8AC3E}">
        <p14:creationId xmlns:p14="http://schemas.microsoft.com/office/powerpoint/2010/main" val="1486086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E2FD0-2AAE-4FFD-8122-EF6638304297}"/>
              </a:ext>
            </a:extLst>
          </p:cNvPr>
          <p:cNvSpPr>
            <a:spLocks noGrp="1"/>
          </p:cNvSpPr>
          <p:nvPr>
            <p:ph type="title"/>
          </p:nvPr>
        </p:nvSpPr>
        <p:spPr/>
        <p:txBody>
          <a:bodyPr/>
          <a:lstStyle/>
          <a:p>
            <a:r>
              <a:rPr lang="en-US" dirty="0"/>
              <a:t>The Importance of Project Risk Management (4 of 5): what is risk?</a:t>
            </a:r>
            <a:endParaRPr lang="en-NZ" dirty="0"/>
          </a:p>
        </p:txBody>
      </p:sp>
      <p:sp>
        <p:nvSpPr>
          <p:cNvPr id="3" name="Text Placeholder 2">
            <a:extLst>
              <a:ext uri="{FF2B5EF4-FFF2-40B4-BE49-F238E27FC236}">
                <a16:creationId xmlns:a16="http://schemas.microsoft.com/office/drawing/2014/main" id="{5D722680-2AF1-4714-AFBF-FDBC2DD84D67}"/>
              </a:ext>
            </a:extLst>
          </p:cNvPr>
          <p:cNvSpPr>
            <a:spLocks noGrp="1"/>
          </p:cNvSpPr>
          <p:nvPr>
            <p:ph type="body" sz="quarter" idx="13"/>
          </p:nvPr>
        </p:nvSpPr>
        <p:spPr/>
        <p:txBody>
          <a:bodyPr/>
          <a:lstStyle/>
          <a:p>
            <a:r>
              <a:rPr lang="en-US" dirty="0"/>
              <a:t>A dictionary definition of risk is “the possibility/probability of loss or injury”</a:t>
            </a:r>
          </a:p>
          <a:p>
            <a:pPr lvl="1"/>
            <a:r>
              <a:rPr lang="en-US" dirty="0"/>
              <a:t>General definition of project risk: an </a:t>
            </a:r>
            <a:r>
              <a:rPr lang="en-US" b="1" u="sng" dirty="0">
                <a:highlight>
                  <a:srgbClr val="FFFF00"/>
                </a:highlight>
              </a:rPr>
              <a:t>uncertainty</a:t>
            </a:r>
            <a:r>
              <a:rPr lang="en-US" dirty="0"/>
              <a:t> that can have a </a:t>
            </a:r>
            <a:r>
              <a:rPr lang="en-US" dirty="0">
                <a:solidFill>
                  <a:srgbClr val="FF0000"/>
                </a:solidFill>
                <a:highlight>
                  <a:srgbClr val="FFFF00"/>
                </a:highlight>
              </a:rPr>
              <a:t>negative or positive</a:t>
            </a:r>
            <a:r>
              <a:rPr lang="en-US" dirty="0">
                <a:highlight>
                  <a:srgbClr val="FFFF00"/>
                </a:highlight>
              </a:rPr>
              <a:t> </a:t>
            </a:r>
            <a:r>
              <a:rPr lang="en-US" dirty="0"/>
              <a:t>effect on meeting project objectives</a:t>
            </a:r>
          </a:p>
          <a:p>
            <a:pPr lvl="1"/>
            <a:r>
              <a:rPr lang="en-US" dirty="0">
                <a:highlight>
                  <a:srgbClr val="FFFF00"/>
                </a:highlight>
              </a:rPr>
              <a:t>Managing negative risks </a:t>
            </a:r>
            <a:r>
              <a:rPr lang="en-US" dirty="0"/>
              <a:t>involves </a:t>
            </a:r>
            <a:r>
              <a:rPr lang="en-US" u="sng" dirty="0">
                <a:highlight>
                  <a:srgbClr val="FFFF00"/>
                </a:highlight>
              </a:rPr>
              <a:t>several possible actions </a:t>
            </a:r>
            <a:r>
              <a:rPr lang="en-US" dirty="0"/>
              <a:t>that project managers can take to </a:t>
            </a:r>
            <a:r>
              <a:rPr lang="en-US" dirty="0">
                <a:highlight>
                  <a:srgbClr val="FFFF00"/>
                </a:highlight>
              </a:rPr>
              <a:t>avoid, lessen, change, or accept</a:t>
            </a:r>
            <a:r>
              <a:rPr lang="en-US" dirty="0"/>
              <a:t> the potential effects of risks on their projects</a:t>
            </a:r>
          </a:p>
          <a:p>
            <a:pPr lvl="1"/>
            <a:r>
              <a:rPr lang="en-US" dirty="0">
                <a:highlight>
                  <a:srgbClr val="FFFF00"/>
                </a:highlight>
              </a:rPr>
              <a:t>Positive risk management </a:t>
            </a:r>
            <a:r>
              <a:rPr lang="en-US" dirty="0"/>
              <a:t>is like investing in </a:t>
            </a:r>
            <a:r>
              <a:rPr lang="en-US" dirty="0">
                <a:highlight>
                  <a:srgbClr val="FFFF00"/>
                </a:highlight>
              </a:rPr>
              <a:t>opportunities</a:t>
            </a:r>
          </a:p>
          <a:p>
            <a:endParaRPr lang="en-NZ" dirty="0"/>
          </a:p>
        </p:txBody>
      </p:sp>
      <p:sp>
        <p:nvSpPr>
          <p:cNvPr id="4" name="TextBox 3">
            <a:extLst>
              <a:ext uri="{FF2B5EF4-FFF2-40B4-BE49-F238E27FC236}">
                <a16:creationId xmlns:a16="http://schemas.microsoft.com/office/drawing/2014/main" id="{16D28A45-E444-4A2D-8347-ACA232322443}"/>
              </a:ext>
            </a:extLst>
          </p:cNvPr>
          <p:cNvSpPr txBox="1"/>
          <p:nvPr/>
        </p:nvSpPr>
        <p:spPr>
          <a:xfrm>
            <a:off x="1755888" y="5241761"/>
            <a:ext cx="8901952" cy="954107"/>
          </a:xfrm>
          <a:prstGeom prst="rect">
            <a:avLst/>
          </a:prstGeom>
          <a:noFill/>
        </p:spPr>
        <p:txBody>
          <a:bodyPr wrap="square" rtlCol="0">
            <a:spAutoFit/>
          </a:bodyPr>
          <a:lstStyle/>
          <a:p>
            <a:r>
              <a:rPr lang="en-NZ" sz="2800" i="1" dirty="0">
                <a:solidFill>
                  <a:srgbClr val="FF0000"/>
                </a:solidFill>
                <a:highlight>
                  <a:srgbClr val="FFFF00"/>
                </a:highlight>
              </a:rPr>
              <a:t>Expected Value </a:t>
            </a:r>
            <a:r>
              <a:rPr lang="en-NZ" sz="2800" i="1" dirty="0">
                <a:solidFill>
                  <a:srgbClr val="0089CF"/>
                </a:solidFill>
              </a:rPr>
              <a:t>plays a role here in deciding if a risk is positive or negative…</a:t>
            </a:r>
          </a:p>
        </p:txBody>
      </p:sp>
    </p:spTree>
    <p:extLst>
      <p:ext uri="{BB962C8B-B14F-4D97-AF65-F5344CB8AC3E}">
        <p14:creationId xmlns:p14="http://schemas.microsoft.com/office/powerpoint/2010/main" val="3758369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E84F0-4E08-42D1-BC2D-C5E6BDEC15C5}"/>
              </a:ext>
            </a:extLst>
          </p:cNvPr>
          <p:cNvSpPr>
            <a:spLocks noGrp="1"/>
          </p:cNvSpPr>
          <p:nvPr>
            <p:ph type="title"/>
          </p:nvPr>
        </p:nvSpPr>
        <p:spPr/>
        <p:txBody>
          <a:bodyPr/>
          <a:lstStyle/>
          <a:p>
            <a:r>
              <a:rPr lang="en-US" dirty="0"/>
              <a:t>Project risk management processes</a:t>
            </a:r>
          </a:p>
        </p:txBody>
      </p:sp>
      <p:sp>
        <p:nvSpPr>
          <p:cNvPr id="3" name="Text Placeholder 2">
            <a:extLst>
              <a:ext uri="{FF2B5EF4-FFF2-40B4-BE49-F238E27FC236}">
                <a16:creationId xmlns:a16="http://schemas.microsoft.com/office/drawing/2014/main" id="{1C6FFC88-1ADD-4D42-A422-82287471ADE6}"/>
              </a:ext>
            </a:extLst>
          </p:cNvPr>
          <p:cNvSpPr>
            <a:spLocks noGrp="1"/>
          </p:cNvSpPr>
          <p:nvPr>
            <p:ph type="body" sz="quarter" idx="13"/>
          </p:nvPr>
        </p:nvSpPr>
        <p:spPr>
          <a:xfrm>
            <a:off x="1340757" y="1605043"/>
            <a:ext cx="10515600" cy="4752213"/>
          </a:xfrm>
        </p:spPr>
        <p:txBody>
          <a:bodyPr>
            <a:normAutofit fontScale="92500" lnSpcReduction="10000"/>
          </a:bodyPr>
          <a:lstStyle/>
          <a:p>
            <a:r>
              <a:rPr lang="en-NZ" dirty="0">
                <a:solidFill>
                  <a:srgbClr val="FF0000"/>
                </a:solidFill>
              </a:rPr>
              <a:t>Planning</a:t>
            </a:r>
            <a:r>
              <a:rPr lang="en-NZ" dirty="0"/>
              <a:t> risk management: deciding how to approach and plan the risk management activities for the project</a:t>
            </a:r>
          </a:p>
          <a:p>
            <a:pPr lvl="1"/>
            <a:r>
              <a:rPr lang="en-NZ" dirty="0">
                <a:solidFill>
                  <a:srgbClr val="FF0000"/>
                </a:solidFill>
              </a:rPr>
              <a:t>Identifying</a:t>
            </a:r>
            <a:r>
              <a:rPr lang="en-NZ" dirty="0"/>
              <a:t> risks: determining which risks are likely to affect a project and documenting the characteristics of each</a:t>
            </a:r>
          </a:p>
          <a:p>
            <a:pPr lvl="1"/>
            <a:r>
              <a:rPr lang="en-NZ" dirty="0"/>
              <a:t>Performing </a:t>
            </a:r>
            <a:r>
              <a:rPr lang="en-NZ" dirty="0">
                <a:solidFill>
                  <a:srgbClr val="FF0000"/>
                </a:solidFill>
              </a:rPr>
              <a:t>qualitative</a:t>
            </a:r>
            <a:r>
              <a:rPr lang="en-NZ" dirty="0"/>
              <a:t> risk analysis: prioritizing risks based on their probability and impact of occurrence</a:t>
            </a:r>
          </a:p>
          <a:p>
            <a:pPr lvl="1"/>
            <a:r>
              <a:rPr lang="en-NZ" dirty="0"/>
              <a:t>Performing </a:t>
            </a:r>
            <a:r>
              <a:rPr lang="en-NZ" dirty="0">
                <a:solidFill>
                  <a:srgbClr val="FF0000"/>
                </a:solidFill>
              </a:rPr>
              <a:t>quantitative</a:t>
            </a:r>
            <a:r>
              <a:rPr lang="en-NZ" dirty="0"/>
              <a:t> risk analysis: numerically estimating the effects of risks on project objectives</a:t>
            </a:r>
          </a:p>
          <a:p>
            <a:pPr lvl="1"/>
            <a:r>
              <a:rPr lang="en-NZ" dirty="0">
                <a:solidFill>
                  <a:srgbClr val="FF0000"/>
                </a:solidFill>
              </a:rPr>
              <a:t>Planning</a:t>
            </a:r>
            <a:r>
              <a:rPr lang="en-NZ" dirty="0"/>
              <a:t> risk </a:t>
            </a:r>
            <a:r>
              <a:rPr lang="en-NZ" dirty="0">
                <a:solidFill>
                  <a:srgbClr val="FF0000"/>
                </a:solidFill>
              </a:rPr>
              <a:t>responses</a:t>
            </a:r>
            <a:r>
              <a:rPr lang="en-NZ" dirty="0"/>
              <a:t>: taking steps to enhance opportunities and reduce threats to meeting project objectives</a:t>
            </a:r>
          </a:p>
          <a:p>
            <a:r>
              <a:rPr lang="en-NZ" dirty="0">
                <a:solidFill>
                  <a:srgbClr val="FF0000"/>
                </a:solidFill>
              </a:rPr>
              <a:t>Implementing</a:t>
            </a:r>
            <a:r>
              <a:rPr lang="en-NZ" dirty="0"/>
              <a:t> risk </a:t>
            </a:r>
            <a:r>
              <a:rPr lang="en-NZ" dirty="0">
                <a:solidFill>
                  <a:srgbClr val="FF0000"/>
                </a:solidFill>
              </a:rPr>
              <a:t>responses</a:t>
            </a:r>
            <a:r>
              <a:rPr lang="en-NZ" dirty="0"/>
              <a:t>: implementing the risk response plans</a:t>
            </a:r>
          </a:p>
          <a:p>
            <a:r>
              <a:rPr lang="en-NZ" dirty="0">
                <a:solidFill>
                  <a:srgbClr val="FF0000"/>
                </a:solidFill>
              </a:rPr>
              <a:t>Monitoring</a:t>
            </a:r>
            <a:r>
              <a:rPr lang="en-NZ" dirty="0"/>
              <a:t> risk: monitoring identified and residual risks, identifying new risks, carrying out risk response plans, and evaluating the effectiveness of risk strategies throughout the life of the project</a:t>
            </a:r>
          </a:p>
          <a:p>
            <a:endParaRPr lang="en-NZ" sz="2400" dirty="0"/>
          </a:p>
        </p:txBody>
      </p:sp>
    </p:spTree>
    <p:extLst>
      <p:ext uri="{BB962C8B-B14F-4D97-AF65-F5344CB8AC3E}">
        <p14:creationId xmlns:p14="http://schemas.microsoft.com/office/powerpoint/2010/main" val="3810076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4BB52-A5B9-4AF9-AC5C-519B7A148873}"/>
              </a:ext>
            </a:extLst>
          </p:cNvPr>
          <p:cNvSpPr>
            <a:spLocks noGrp="1"/>
          </p:cNvSpPr>
          <p:nvPr>
            <p:ph type="title"/>
          </p:nvPr>
        </p:nvSpPr>
        <p:spPr/>
        <p:txBody>
          <a:bodyPr/>
          <a:lstStyle/>
          <a:p>
            <a:r>
              <a:rPr lang="en-US" dirty="0"/>
              <a:t>Planning Risk Management (1 of 3)</a:t>
            </a:r>
            <a:endParaRPr lang="en-NZ" dirty="0"/>
          </a:p>
        </p:txBody>
      </p:sp>
      <p:sp>
        <p:nvSpPr>
          <p:cNvPr id="3" name="Text Placeholder 2">
            <a:extLst>
              <a:ext uri="{FF2B5EF4-FFF2-40B4-BE49-F238E27FC236}">
                <a16:creationId xmlns:a16="http://schemas.microsoft.com/office/drawing/2014/main" id="{245DEFFC-A6F4-4DF4-BBAB-BC82CD1342CC}"/>
              </a:ext>
            </a:extLst>
          </p:cNvPr>
          <p:cNvSpPr>
            <a:spLocks noGrp="1"/>
          </p:cNvSpPr>
          <p:nvPr>
            <p:ph type="body" sz="quarter" idx="13"/>
          </p:nvPr>
        </p:nvSpPr>
        <p:spPr/>
        <p:txBody>
          <a:bodyPr/>
          <a:lstStyle/>
          <a:p>
            <a:r>
              <a:rPr lang="en-US" dirty="0"/>
              <a:t>Main output of this process is a </a:t>
            </a:r>
            <a:r>
              <a:rPr lang="en-US" dirty="0">
                <a:solidFill>
                  <a:srgbClr val="FF0000"/>
                </a:solidFill>
              </a:rPr>
              <a:t>risk management plan </a:t>
            </a:r>
          </a:p>
          <a:p>
            <a:pPr lvl="1"/>
            <a:r>
              <a:rPr lang="en-US" dirty="0"/>
              <a:t>Documents the procedures for managing risk throughout a project</a:t>
            </a:r>
          </a:p>
          <a:p>
            <a:r>
              <a:rPr lang="en-US" dirty="0"/>
              <a:t>The project team should review project documents as well as corporate risk management </a:t>
            </a:r>
            <a:r>
              <a:rPr lang="en-US" dirty="0">
                <a:solidFill>
                  <a:srgbClr val="FF0000"/>
                </a:solidFill>
              </a:rPr>
              <a:t>policies</a:t>
            </a:r>
            <a:r>
              <a:rPr lang="en-US" dirty="0"/>
              <a:t>, risk </a:t>
            </a:r>
            <a:r>
              <a:rPr lang="en-US" dirty="0">
                <a:solidFill>
                  <a:srgbClr val="FF0000"/>
                </a:solidFill>
              </a:rPr>
              <a:t>categories</a:t>
            </a:r>
            <a:r>
              <a:rPr lang="en-US" dirty="0"/>
              <a:t>, </a:t>
            </a:r>
            <a:r>
              <a:rPr lang="en-US" dirty="0">
                <a:solidFill>
                  <a:srgbClr val="FF0000"/>
                </a:solidFill>
              </a:rPr>
              <a:t>lessons-learned </a:t>
            </a:r>
            <a:r>
              <a:rPr lang="en-US" dirty="0"/>
              <a:t>reports from past projects, and </a:t>
            </a:r>
            <a:r>
              <a:rPr lang="en-US" dirty="0">
                <a:solidFill>
                  <a:srgbClr val="FF0000"/>
                </a:solidFill>
              </a:rPr>
              <a:t>templates</a:t>
            </a:r>
            <a:r>
              <a:rPr lang="en-US" dirty="0"/>
              <a:t> for creating a risk management plan</a:t>
            </a:r>
          </a:p>
          <a:p>
            <a:pPr lvl="1"/>
            <a:r>
              <a:rPr lang="en-US" dirty="0"/>
              <a:t>It is also important to review the risk tolerances of various stakeholders</a:t>
            </a:r>
          </a:p>
          <a:p>
            <a:endParaRPr lang="en-NZ" dirty="0"/>
          </a:p>
        </p:txBody>
      </p:sp>
    </p:spTree>
    <p:extLst>
      <p:ext uri="{BB962C8B-B14F-4D97-AF65-F5344CB8AC3E}">
        <p14:creationId xmlns:p14="http://schemas.microsoft.com/office/powerpoint/2010/main" val="4036742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D0C2D-BFF2-C441-EBAE-5087842DCD0F}"/>
              </a:ext>
            </a:extLst>
          </p:cNvPr>
          <p:cNvSpPr>
            <a:spLocks noGrp="1"/>
          </p:cNvSpPr>
          <p:nvPr>
            <p:ph type="title"/>
          </p:nvPr>
        </p:nvSpPr>
        <p:spPr/>
        <p:txBody>
          <a:bodyPr/>
          <a:lstStyle/>
          <a:p>
            <a:r>
              <a:rPr lang="en-NZ" dirty="0"/>
              <a:t>Take a Template Approach</a:t>
            </a:r>
          </a:p>
        </p:txBody>
      </p:sp>
      <p:pic>
        <p:nvPicPr>
          <p:cNvPr id="5" name="Picture 4">
            <a:extLst>
              <a:ext uri="{FF2B5EF4-FFF2-40B4-BE49-F238E27FC236}">
                <a16:creationId xmlns:a16="http://schemas.microsoft.com/office/drawing/2014/main" id="{4FD84064-66D3-38A0-AD0C-53A705D98FFC}"/>
              </a:ext>
            </a:extLst>
          </p:cNvPr>
          <p:cNvPicPr>
            <a:picLocks noChangeAspect="1"/>
          </p:cNvPicPr>
          <p:nvPr/>
        </p:nvPicPr>
        <p:blipFill>
          <a:blip r:embed="rId2"/>
          <a:stretch>
            <a:fillRect/>
          </a:stretch>
        </p:blipFill>
        <p:spPr>
          <a:xfrm>
            <a:off x="1145540" y="1928310"/>
            <a:ext cx="10731500" cy="2762762"/>
          </a:xfrm>
          <a:prstGeom prst="rect">
            <a:avLst/>
          </a:prstGeom>
        </p:spPr>
      </p:pic>
      <p:sp>
        <p:nvSpPr>
          <p:cNvPr id="6" name="TextBox 5">
            <a:extLst>
              <a:ext uri="{FF2B5EF4-FFF2-40B4-BE49-F238E27FC236}">
                <a16:creationId xmlns:a16="http://schemas.microsoft.com/office/drawing/2014/main" id="{C204F3EF-71C9-77DA-31C3-9A67490B72FA}"/>
              </a:ext>
            </a:extLst>
          </p:cNvPr>
          <p:cNvSpPr txBox="1"/>
          <p:nvPr/>
        </p:nvSpPr>
        <p:spPr>
          <a:xfrm>
            <a:off x="1980281" y="5273394"/>
            <a:ext cx="7351005" cy="646331"/>
          </a:xfrm>
          <a:prstGeom prst="rect">
            <a:avLst/>
          </a:prstGeom>
          <a:noFill/>
        </p:spPr>
        <p:txBody>
          <a:bodyPr wrap="square">
            <a:spAutoFit/>
          </a:bodyPr>
          <a:lstStyle/>
          <a:p>
            <a:r>
              <a:rPr lang="en-NZ" dirty="0">
                <a:solidFill>
                  <a:srgbClr val="0089CF"/>
                </a:solidFill>
              </a:rPr>
              <a:t>Example Template: https://community.net.nz/resources/nz-navigator-trust/example-risk-management-plan/</a:t>
            </a:r>
          </a:p>
        </p:txBody>
      </p:sp>
    </p:spTree>
    <p:extLst>
      <p:ext uri="{BB962C8B-B14F-4D97-AF65-F5344CB8AC3E}">
        <p14:creationId xmlns:p14="http://schemas.microsoft.com/office/powerpoint/2010/main" val="2626998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A1867-C168-4165-80EB-CFF63C095B8C}"/>
              </a:ext>
            </a:extLst>
          </p:cNvPr>
          <p:cNvSpPr>
            <a:spLocks noGrp="1"/>
          </p:cNvSpPr>
          <p:nvPr>
            <p:ph type="title"/>
          </p:nvPr>
        </p:nvSpPr>
        <p:spPr/>
        <p:txBody>
          <a:bodyPr/>
          <a:lstStyle/>
          <a:p>
            <a:r>
              <a:rPr lang="en-US" dirty="0"/>
              <a:t>Planning Risk Management (2 of 3)</a:t>
            </a:r>
            <a:endParaRPr lang="en-NZ" dirty="0"/>
          </a:p>
        </p:txBody>
      </p:sp>
      <p:sp>
        <p:nvSpPr>
          <p:cNvPr id="3" name="Text Placeholder 2">
            <a:extLst>
              <a:ext uri="{FF2B5EF4-FFF2-40B4-BE49-F238E27FC236}">
                <a16:creationId xmlns:a16="http://schemas.microsoft.com/office/drawing/2014/main" id="{58BE1B56-FA48-4B46-936E-996F0FD6E2D9}"/>
              </a:ext>
            </a:extLst>
          </p:cNvPr>
          <p:cNvSpPr>
            <a:spLocks noGrp="1"/>
          </p:cNvSpPr>
          <p:nvPr>
            <p:ph type="body" sz="quarter" idx="13"/>
          </p:nvPr>
        </p:nvSpPr>
        <p:spPr/>
        <p:txBody>
          <a:bodyPr/>
          <a:lstStyle/>
          <a:p>
            <a:r>
              <a:rPr lang="en-US" dirty="0"/>
              <a:t>Additional plans</a:t>
            </a:r>
          </a:p>
          <a:p>
            <a:pPr lvl="1"/>
            <a:r>
              <a:rPr lang="en-US" dirty="0">
                <a:solidFill>
                  <a:srgbClr val="FF0000"/>
                </a:solidFill>
              </a:rPr>
              <a:t>Contingency plans</a:t>
            </a:r>
            <a:r>
              <a:rPr lang="en-US" dirty="0"/>
              <a:t>: predefined actions that the project team will take if an </a:t>
            </a:r>
            <a:r>
              <a:rPr lang="en-US" dirty="0">
                <a:solidFill>
                  <a:srgbClr val="FF0000"/>
                </a:solidFill>
              </a:rPr>
              <a:t>identified</a:t>
            </a:r>
            <a:r>
              <a:rPr lang="en-US" dirty="0"/>
              <a:t> risk event occurs</a:t>
            </a:r>
          </a:p>
          <a:p>
            <a:pPr lvl="1"/>
            <a:r>
              <a:rPr lang="en-US" dirty="0">
                <a:solidFill>
                  <a:srgbClr val="FF0000"/>
                </a:solidFill>
              </a:rPr>
              <a:t>Fallback plans</a:t>
            </a:r>
            <a:r>
              <a:rPr lang="en-US" dirty="0"/>
              <a:t>: developed for risks that have a high impact on meeting project objectives, and are put into effect </a:t>
            </a:r>
            <a:r>
              <a:rPr lang="en-US" dirty="0">
                <a:solidFill>
                  <a:srgbClr val="FF0000"/>
                </a:solidFill>
              </a:rPr>
              <a:t>if attempts to reduce the risk are not effective</a:t>
            </a:r>
          </a:p>
          <a:p>
            <a:pPr lvl="1"/>
            <a:r>
              <a:rPr lang="en-US" dirty="0">
                <a:solidFill>
                  <a:srgbClr val="FF0000"/>
                </a:solidFill>
              </a:rPr>
              <a:t>Contingency reserves</a:t>
            </a:r>
            <a:r>
              <a:rPr lang="en-US" dirty="0"/>
              <a:t> or allowances: funds included in the cost baseline that can be used to mitigate cost or schedule overruns if </a:t>
            </a:r>
            <a:r>
              <a:rPr lang="en-US" dirty="0">
                <a:solidFill>
                  <a:srgbClr val="FF0000"/>
                </a:solidFill>
              </a:rPr>
              <a:t>known risks </a:t>
            </a:r>
            <a:r>
              <a:rPr lang="en-US" dirty="0"/>
              <a:t>occur</a:t>
            </a:r>
          </a:p>
          <a:p>
            <a:pPr lvl="1"/>
            <a:r>
              <a:rPr lang="en-US" dirty="0">
                <a:solidFill>
                  <a:srgbClr val="FF0000"/>
                </a:solidFill>
              </a:rPr>
              <a:t>Management reserves</a:t>
            </a:r>
            <a:r>
              <a:rPr lang="en-US" dirty="0"/>
              <a:t>: funds held for </a:t>
            </a:r>
            <a:r>
              <a:rPr lang="en-US" dirty="0">
                <a:solidFill>
                  <a:srgbClr val="FF0000"/>
                </a:solidFill>
              </a:rPr>
              <a:t>unknown risks </a:t>
            </a:r>
            <a:r>
              <a:rPr lang="en-US" dirty="0"/>
              <a:t>that are used for management control purposes</a:t>
            </a:r>
          </a:p>
          <a:p>
            <a:endParaRPr lang="en-NZ" dirty="0"/>
          </a:p>
        </p:txBody>
      </p:sp>
    </p:spTree>
    <p:extLst>
      <p:ext uri="{BB962C8B-B14F-4D97-AF65-F5344CB8AC3E}">
        <p14:creationId xmlns:p14="http://schemas.microsoft.com/office/powerpoint/2010/main" val="3164279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50C2A-8C4E-41FC-84A4-3019DB9D89FF}"/>
              </a:ext>
            </a:extLst>
          </p:cNvPr>
          <p:cNvSpPr>
            <a:spLocks noGrp="1"/>
          </p:cNvSpPr>
          <p:nvPr>
            <p:ph type="title"/>
          </p:nvPr>
        </p:nvSpPr>
        <p:spPr>
          <a:xfrm>
            <a:off x="1098118" y="102311"/>
            <a:ext cx="10525140" cy="1020763"/>
          </a:xfrm>
        </p:spPr>
        <p:txBody>
          <a:bodyPr/>
          <a:lstStyle/>
          <a:p>
            <a:r>
              <a:rPr lang="en-US" dirty="0"/>
              <a:t>Planning Risk Management (3a of 3)</a:t>
            </a:r>
            <a:endParaRPr lang="en-NZ" dirty="0"/>
          </a:p>
        </p:txBody>
      </p:sp>
      <p:graphicFrame>
        <p:nvGraphicFramePr>
          <p:cNvPr id="4" name="Content Placeholder 2">
            <a:extLst>
              <a:ext uri="{FF2B5EF4-FFF2-40B4-BE49-F238E27FC236}">
                <a16:creationId xmlns:a16="http://schemas.microsoft.com/office/drawing/2014/main" id="{89048A32-6A7E-488A-B285-653239977492}"/>
              </a:ext>
            </a:extLst>
          </p:cNvPr>
          <p:cNvGraphicFramePr>
            <a:graphicFrameLocks/>
          </p:cNvGraphicFramePr>
          <p:nvPr>
            <p:extLst>
              <p:ext uri="{D42A27DB-BD31-4B8C-83A1-F6EECF244321}">
                <p14:modId xmlns:p14="http://schemas.microsoft.com/office/powerpoint/2010/main" val="1648039842"/>
              </p:ext>
            </p:extLst>
          </p:nvPr>
        </p:nvGraphicFramePr>
        <p:xfrm>
          <a:off x="1498930" y="1123074"/>
          <a:ext cx="9723516" cy="6954564"/>
        </p:xfrm>
        <a:graphic>
          <a:graphicData uri="http://schemas.openxmlformats.org/drawingml/2006/table">
            <a:tbl>
              <a:tblPr firstRow="1" bandRow="1">
                <a:tableStyleId>{5C22544A-7EE6-4342-B048-85BDC9FD1C3A}</a:tableStyleId>
              </a:tblPr>
              <a:tblGrid>
                <a:gridCol w="2587741">
                  <a:extLst>
                    <a:ext uri="{9D8B030D-6E8A-4147-A177-3AD203B41FA5}">
                      <a16:colId xmlns:a16="http://schemas.microsoft.com/office/drawing/2014/main" val="1223947794"/>
                    </a:ext>
                  </a:extLst>
                </a:gridCol>
                <a:gridCol w="7135775">
                  <a:extLst>
                    <a:ext uri="{9D8B030D-6E8A-4147-A177-3AD203B41FA5}">
                      <a16:colId xmlns:a16="http://schemas.microsoft.com/office/drawing/2014/main" val="3677561090"/>
                    </a:ext>
                  </a:extLst>
                </a:gridCol>
              </a:tblGrid>
              <a:tr h="315146">
                <a:tc>
                  <a:txBody>
                    <a:bodyPr/>
                    <a:lstStyle/>
                    <a:p>
                      <a:r>
                        <a:rPr lang="en-US" dirty="0"/>
                        <a:t>Topic</a:t>
                      </a:r>
                    </a:p>
                  </a:txBody>
                  <a:tcPr/>
                </a:tc>
                <a:tc>
                  <a:txBody>
                    <a:bodyPr/>
                    <a:lstStyle/>
                    <a:p>
                      <a:r>
                        <a:rPr lang="en-US" dirty="0"/>
                        <a:t>Questions to Answer</a:t>
                      </a:r>
                    </a:p>
                  </a:txBody>
                  <a:tcPr/>
                </a:tc>
                <a:extLst>
                  <a:ext uri="{0D108BD9-81ED-4DB2-BD59-A6C34878D82A}">
                    <a16:rowId xmlns:a16="http://schemas.microsoft.com/office/drawing/2014/main" val="2231001142"/>
                  </a:ext>
                </a:extLst>
              </a:tr>
              <a:tr h="551506">
                <a:tc>
                  <a:txBody>
                    <a:bodyPr/>
                    <a:lstStyle/>
                    <a:p>
                      <a:r>
                        <a:rPr lang="en-US" dirty="0"/>
                        <a:t>Methodology</a:t>
                      </a:r>
                    </a:p>
                  </a:txBody>
                  <a:tcPr/>
                </a:tc>
                <a:tc>
                  <a:txBody>
                    <a:bodyPr/>
                    <a:lstStyle/>
                    <a:p>
                      <a:r>
                        <a:rPr lang="en-US" dirty="0"/>
                        <a:t>How will risk management be performed on this project?</a:t>
                      </a:r>
                      <a:r>
                        <a:rPr lang="en-US" baseline="0" dirty="0"/>
                        <a:t> </a:t>
                      </a:r>
                      <a:r>
                        <a:rPr lang="en-US" dirty="0"/>
                        <a:t>What tools and data sources are available and applicable?</a:t>
                      </a:r>
                    </a:p>
                  </a:txBody>
                  <a:tcPr/>
                </a:tc>
                <a:extLst>
                  <a:ext uri="{0D108BD9-81ED-4DB2-BD59-A6C34878D82A}">
                    <a16:rowId xmlns:a16="http://schemas.microsoft.com/office/drawing/2014/main" val="4168830128"/>
                  </a:ext>
                </a:extLst>
              </a:tr>
              <a:tr h="688362">
                <a:tc>
                  <a:txBody>
                    <a:bodyPr/>
                    <a:lstStyle/>
                    <a:p>
                      <a:r>
                        <a:rPr lang="en-US" dirty="0"/>
                        <a:t>Roles and responsibilities</a:t>
                      </a:r>
                    </a:p>
                  </a:txBody>
                  <a:tcPr/>
                </a:tc>
                <a:tc>
                  <a:txBody>
                    <a:bodyPr/>
                    <a:lstStyle/>
                    <a:p>
                      <a:r>
                        <a:rPr lang="en-US" dirty="0"/>
                        <a:t>Which people are responsible for implementing specific</a:t>
                      </a:r>
                      <a:r>
                        <a:rPr lang="en-US" baseline="0" dirty="0"/>
                        <a:t> </a:t>
                      </a:r>
                      <a:r>
                        <a:rPr lang="en-US" dirty="0"/>
                        <a:t>tasks and providing deliverables related to risk</a:t>
                      </a:r>
                      <a:r>
                        <a:rPr lang="en-US" baseline="0" dirty="0"/>
                        <a:t> </a:t>
                      </a:r>
                      <a:r>
                        <a:rPr lang="en-US" dirty="0"/>
                        <a:t>management?</a:t>
                      </a:r>
                    </a:p>
                  </a:txBody>
                  <a:tcPr/>
                </a:tc>
                <a:extLst>
                  <a:ext uri="{0D108BD9-81ED-4DB2-BD59-A6C34878D82A}">
                    <a16:rowId xmlns:a16="http://schemas.microsoft.com/office/drawing/2014/main" val="3444349498"/>
                  </a:ext>
                </a:extLst>
              </a:tr>
              <a:tr h="551506">
                <a:tc>
                  <a:txBody>
                    <a:bodyPr/>
                    <a:lstStyle/>
                    <a:p>
                      <a:r>
                        <a:rPr lang="en-US" dirty="0"/>
                        <a:t>Budget and schedule</a:t>
                      </a:r>
                    </a:p>
                  </a:txBody>
                  <a:tcPr/>
                </a:tc>
                <a:tc>
                  <a:txBody>
                    <a:bodyPr/>
                    <a:lstStyle/>
                    <a:p>
                      <a:r>
                        <a:rPr lang="en-US" dirty="0"/>
                        <a:t>What are the estimated costs and schedules for performing</a:t>
                      </a:r>
                      <a:r>
                        <a:rPr lang="en-US" baseline="0" dirty="0"/>
                        <a:t> </a:t>
                      </a:r>
                      <a:r>
                        <a:rPr lang="en-US" dirty="0"/>
                        <a:t>risk-related activities?</a:t>
                      </a:r>
                    </a:p>
                  </a:txBody>
                  <a:tcPr/>
                </a:tc>
                <a:extLst>
                  <a:ext uri="{0D108BD9-81ED-4DB2-BD59-A6C34878D82A}">
                    <a16:rowId xmlns:a16="http://schemas.microsoft.com/office/drawing/2014/main" val="569988794"/>
                  </a:ext>
                </a:extLst>
              </a:tr>
              <a:tr h="894870">
                <a:tc>
                  <a:txBody>
                    <a:bodyPr/>
                    <a:lstStyle/>
                    <a:p>
                      <a:r>
                        <a:rPr lang="en-US" dirty="0"/>
                        <a:t>Risk categories</a:t>
                      </a:r>
                    </a:p>
                  </a:txBody>
                  <a:tcPr/>
                </a:tc>
                <a:tc>
                  <a:txBody>
                    <a:bodyPr/>
                    <a:lstStyle/>
                    <a:p>
                      <a:r>
                        <a:rPr lang="en-US" dirty="0"/>
                        <a:t>What are the main categories of risks that should be</a:t>
                      </a:r>
                      <a:r>
                        <a:rPr lang="en-US" baseline="0" dirty="0"/>
                        <a:t> </a:t>
                      </a:r>
                      <a:r>
                        <a:rPr lang="en-US" dirty="0"/>
                        <a:t>addressed on this project? Is there a risk breakdown</a:t>
                      </a:r>
                      <a:r>
                        <a:rPr lang="en-US" baseline="0" dirty="0"/>
                        <a:t> </a:t>
                      </a:r>
                      <a:r>
                        <a:rPr lang="en-US" dirty="0"/>
                        <a:t>structure for the project? (See the information on risk</a:t>
                      </a:r>
                    </a:p>
                    <a:p>
                      <a:r>
                        <a:rPr lang="en-US" dirty="0"/>
                        <a:t>breakdown structures later in this chapter.)</a:t>
                      </a:r>
                    </a:p>
                  </a:txBody>
                  <a:tcPr/>
                </a:tc>
                <a:extLst>
                  <a:ext uri="{0D108BD9-81ED-4DB2-BD59-A6C34878D82A}">
                    <a16:rowId xmlns:a16="http://schemas.microsoft.com/office/drawing/2014/main" val="1198460781"/>
                  </a:ext>
                </a:extLst>
              </a:tr>
              <a:tr h="894870">
                <a:tc>
                  <a:txBody>
                    <a:bodyPr/>
                    <a:lstStyle/>
                    <a:p>
                      <a:r>
                        <a:rPr lang="en-US" dirty="0"/>
                        <a:t>Risk probability and impact</a:t>
                      </a:r>
                    </a:p>
                  </a:txBody>
                  <a:tcPr/>
                </a:tc>
                <a:tc>
                  <a:txBody>
                    <a:bodyPr/>
                    <a:lstStyle/>
                    <a:p>
                      <a:r>
                        <a:rPr lang="en-US" dirty="0"/>
                        <a:t>How will the probabilities and impacts of risk items be</a:t>
                      </a:r>
                      <a:r>
                        <a:rPr lang="en-US" baseline="0" dirty="0"/>
                        <a:t> </a:t>
                      </a:r>
                      <a:r>
                        <a:rPr lang="en-US" dirty="0"/>
                        <a:t>assessed? What scoring and interpretation methods will</a:t>
                      </a:r>
                      <a:r>
                        <a:rPr lang="en-US" baseline="0" dirty="0"/>
                        <a:t> </a:t>
                      </a:r>
                      <a:r>
                        <a:rPr lang="en-US" dirty="0"/>
                        <a:t>be used for the qualitative and quantitative analysis of</a:t>
                      </a:r>
                      <a:r>
                        <a:rPr lang="en-US" baseline="0" dirty="0"/>
                        <a:t> </a:t>
                      </a:r>
                      <a:r>
                        <a:rPr lang="en-US" dirty="0"/>
                        <a:t>risks? How will the probability and impact matrix be</a:t>
                      </a:r>
                      <a:r>
                        <a:rPr lang="en-US" baseline="0" dirty="0"/>
                        <a:t> </a:t>
                      </a:r>
                      <a:r>
                        <a:rPr lang="en-US" dirty="0"/>
                        <a:t>developed?</a:t>
                      </a:r>
                    </a:p>
                  </a:txBody>
                  <a:tcPr/>
                </a:tc>
                <a:extLst>
                  <a:ext uri="{0D108BD9-81ED-4DB2-BD59-A6C34878D82A}">
                    <a16:rowId xmlns:a16="http://schemas.microsoft.com/office/drawing/2014/main" val="1093031775"/>
                  </a:ext>
                </a:extLst>
              </a:tr>
              <a:tr h="688362">
                <a:tc>
                  <a:txBody>
                    <a:bodyPr/>
                    <a:lstStyle/>
                    <a:p>
                      <a:r>
                        <a:rPr lang="en-US" dirty="0"/>
                        <a:t>Revised stakeholders’</a:t>
                      </a:r>
                    </a:p>
                    <a:p>
                      <a:r>
                        <a:rPr lang="en-US" dirty="0"/>
                        <a:t>tolerances</a:t>
                      </a:r>
                    </a:p>
                  </a:txBody>
                  <a:tcPr/>
                </a:tc>
                <a:tc>
                  <a:txBody>
                    <a:bodyPr/>
                    <a:lstStyle/>
                    <a:p>
                      <a:r>
                        <a:rPr lang="en-US" dirty="0"/>
                        <a:t>Have stakeholders’ tolerances for risk changed? How will</a:t>
                      </a:r>
                      <a:r>
                        <a:rPr lang="en-US" baseline="0" dirty="0"/>
                        <a:t> </a:t>
                      </a:r>
                      <a:r>
                        <a:rPr lang="en-US" dirty="0"/>
                        <a:t>those changes affect the project?</a:t>
                      </a:r>
                    </a:p>
                  </a:txBody>
                  <a:tcPr/>
                </a:tc>
                <a:extLst>
                  <a:ext uri="{0D108BD9-81ED-4DB2-BD59-A6C34878D82A}">
                    <a16:rowId xmlns:a16="http://schemas.microsoft.com/office/drawing/2014/main" val="2580755885"/>
                  </a:ext>
                </a:extLst>
              </a:tr>
              <a:tr h="688362">
                <a:tc>
                  <a:txBody>
                    <a:bodyPr/>
                    <a:lstStyle/>
                    <a:p>
                      <a:r>
                        <a:rPr lang="en-US" dirty="0"/>
                        <a:t>Tracking</a:t>
                      </a:r>
                    </a:p>
                  </a:txBody>
                  <a:tcPr/>
                </a:tc>
                <a:tc>
                  <a:txBody>
                    <a:bodyPr/>
                    <a:lstStyle/>
                    <a:p>
                      <a:r>
                        <a:rPr lang="en-US" dirty="0"/>
                        <a:t>How will the team track risk management activities? How</a:t>
                      </a:r>
                      <a:r>
                        <a:rPr lang="en-US" baseline="0" dirty="0"/>
                        <a:t> </a:t>
                      </a:r>
                      <a:r>
                        <a:rPr lang="en-US" dirty="0"/>
                        <a:t>will lessons learned be documented and shared? How will</a:t>
                      </a:r>
                      <a:r>
                        <a:rPr lang="en-US" baseline="0" dirty="0"/>
                        <a:t> </a:t>
                      </a:r>
                      <a:r>
                        <a:rPr lang="en-US" dirty="0"/>
                        <a:t>risk management processes be audited?</a:t>
                      </a:r>
                    </a:p>
                  </a:txBody>
                  <a:tcPr/>
                </a:tc>
                <a:extLst>
                  <a:ext uri="{0D108BD9-81ED-4DB2-BD59-A6C34878D82A}">
                    <a16:rowId xmlns:a16="http://schemas.microsoft.com/office/drawing/2014/main" val="1152219970"/>
                  </a:ext>
                </a:extLst>
              </a:tr>
              <a:tr h="551506">
                <a:tc>
                  <a:txBody>
                    <a:bodyPr/>
                    <a:lstStyle/>
                    <a:p>
                      <a:r>
                        <a:rPr lang="en-US" dirty="0"/>
                        <a:t>Risk documentation</a:t>
                      </a:r>
                    </a:p>
                  </a:txBody>
                  <a:tcPr/>
                </a:tc>
                <a:tc>
                  <a:txBody>
                    <a:bodyPr/>
                    <a:lstStyle/>
                    <a:p>
                      <a:r>
                        <a:rPr lang="en-US" dirty="0"/>
                        <a:t>What reporting formats and processes will be used for risk</a:t>
                      </a:r>
                      <a:r>
                        <a:rPr lang="en-US" baseline="0" dirty="0"/>
                        <a:t> </a:t>
                      </a:r>
                      <a:r>
                        <a:rPr lang="en-US" dirty="0"/>
                        <a:t>management activities?</a:t>
                      </a:r>
                    </a:p>
                  </a:txBody>
                  <a:tcPr/>
                </a:tc>
                <a:extLst>
                  <a:ext uri="{0D108BD9-81ED-4DB2-BD59-A6C34878D82A}">
                    <a16:rowId xmlns:a16="http://schemas.microsoft.com/office/drawing/2014/main" val="3053615675"/>
                  </a:ext>
                </a:extLst>
              </a:tr>
            </a:tbl>
          </a:graphicData>
        </a:graphic>
      </p:graphicFrame>
    </p:spTree>
    <p:extLst>
      <p:ext uri="{BB962C8B-B14F-4D97-AF65-F5344CB8AC3E}">
        <p14:creationId xmlns:p14="http://schemas.microsoft.com/office/powerpoint/2010/main" val="1126413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50C2A-8C4E-41FC-84A4-3019DB9D89FF}"/>
              </a:ext>
            </a:extLst>
          </p:cNvPr>
          <p:cNvSpPr>
            <a:spLocks noGrp="1"/>
          </p:cNvSpPr>
          <p:nvPr>
            <p:ph type="title"/>
          </p:nvPr>
        </p:nvSpPr>
        <p:spPr>
          <a:xfrm>
            <a:off x="1098118" y="102311"/>
            <a:ext cx="10525140" cy="1020763"/>
          </a:xfrm>
        </p:spPr>
        <p:txBody>
          <a:bodyPr/>
          <a:lstStyle/>
          <a:p>
            <a:r>
              <a:rPr lang="en-US" dirty="0"/>
              <a:t>Planning Risk Management (3b of 3)</a:t>
            </a:r>
            <a:endParaRPr lang="en-NZ" dirty="0"/>
          </a:p>
        </p:txBody>
      </p:sp>
      <p:graphicFrame>
        <p:nvGraphicFramePr>
          <p:cNvPr id="3" name="Table 2">
            <a:extLst>
              <a:ext uri="{FF2B5EF4-FFF2-40B4-BE49-F238E27FC236}">
                <a16:creationId xmlns:a16="http://schemas.microsoft.com/office/drawing/2014/main" id="{7E736725-5BB9-4655-DFD4-B5D430378DF0}"/>
              </a:ext>
            </a:extLst>
          </p:cNvPr>
          <p:cNvGraphicFramePr>
            <a:graphicFrameLocks noGrp="1"/>
          </p:cNvGraphicFramePr>
          <p:nvPr>
            <p:extLst>
              <p:ext uri="{D42A27DB-BD31-4B8C-83A1-F6EECF244321}">
                <p14:modId xmlns:p14="http://schemas.microsoft.com/office/powerpoint/2010/main" val="3265152180"/>
              </p:ext>
            </p:extLst>
          </p:nvPr>
        </p:nvGraphicFramePr>
        <p:xfrm>
          <a:off x="1983834" y="938948"/>
          <a:ext cx="8753707" cy="5633748"/>
        </p:xfrm>
        <a:graphic>
          <a:graphicData uri="http://schemas.openxmlformats.org/drawingml/2006/table">
            <a:tbl>
              <a:tblPr>
                <a:tableStyleId>{616DA210-FB5B-4158-B5E0-FEB733F419BA}</a:tableStyleId>
              </a:tblPr>
              <a:tblGrid>
                <a:gridCol w="2058709">
                  <a:extLst>
                    <a:ext uri="{9D8B030D-6E8A-4147-A177-3AD203B41FA5}">
                      <a16:colId xmlns:a16="http://schemas.microsoft.com/office/drawing/2014/main" val="2370780916"/>
                    </a:ext>
                  </a:extLst>
                </a:gridCol>
                <a:gridCol w="6694998">
                  <a:extLst>
                    <a:ext uri="{9D8B030D-6E8A-4147-A177-3AD203B41FA5}">
                      <a16:colId xmlns:a16="http://schemas.microsoft.com/office/drawing/2014/main" val="4010947858"/>
                    </a:ext>
                  </a:extLst>
                </a:gridCol>
              </a:tblGrid>
              <a:tr h="136077">
                <a:tc>
                  <a:txBody>
                    <a:bodyPr/>
                    <a:lstStyle/>
                    <a:p>
                      <a:pPr algn="ctr" fontAlgn="t">
                        <a:buNone/>
                      </a:pPr>
                      <a:r>
                        <a:rPr lang="en-NZ" sz="1200" b="1" u="none" strike="noStrike">
                          <a:effectLst/>
                        </a:rPr>
                        <a:t>Topic</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ctr" fontAlgn="t">
                        <a:buNone/>
                      </a:pPr>
                      <a:r>
                        <a:rPr lang="en-NZ" sz="1200" b="1" u="none" strike="noStrike" dirty="0">
                          <a:effectLst/>
                        </a:rPr>
                        <a:t>Questions to Answer</a:t>
                      </a:r>
                      <a:endParaRPr lang="en-NZ" sz="1200" b="1" i="0" u="none" strike="noStrike" dirty="0">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1148704187"/>
                  </a:ext>
                </a:extLst>
              </a:tr>
              <a:tr h="348593">
                <a:tc>
                  <a:txBody>
                    <a:bodyPr/>
                    <a:lstStyle/>
                    <a:p>
                      <a:pPr algn="l" fontAlgn="t">
                        <a:buNone/>
                      </a:pPr>
                      <a:r>
                        <a:rPr lang="en-NZ" sz="1200" u="none" strike="noStrike">
                          <a:effectLst/>
                        </a:rPr>
                        <a:t>Tracking</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How will the team track risk management activities? How will lessons learned be documented and shared? How will risk management processes be audited?</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3410855434"/>
                  </a:ext>
                </a:extLst>
              </a:tr>
              <a:tr h="234663">
                <a:tc>
                  <a:txBody>
                    <a:bodyPr/>
                    <a:lstStyle/>
                    <a:p>
                      <a:pPr algn="l" fontAlgn="t">
                        <a:buNone/>
                      </a:pPr>
                      <a:r>
                        <a:rPr lang="en-NZ" sz="1200" u="none" strike="noStrike">
                          <a:effectLst/>
                        </a:rPr>
                        <a:t>Risk documentation</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What reporting formats and processes will be used for risk management activities?</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1814198188"/>
                  </a:ext>
                </a:extLst>
              </a:tr>
              <a:tr h="237533">
                <a:tc>
                  <a:txBody>
                    <a:bodyPr/>
                    <a:lstStyle/>
                    <a:p>
                      <a:pPr algn="l" fontAlgn="t">
                        <a:buNone/>
                      </a:pPr>
                      <a:r>
                        <a:rPr lang="en-NZ" sz="1200" u="none" strike="noStrike">
                          <a:effectLst/>
                        </a:rPr>
                        <a:t>Roles and responsibilities</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Who owns the risk process? Who owns each risk? Who updates the risk register? Who escalates risks to the sponsor/supervisor?</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798678789"/>
                  </a:ext>
                </a:extLst>
              </a:tr>
              <a:tr h="348593">
                <a:tc>
                  <a:txBody>
                    <a:bodyPr/>
                    <a:lstStyle/>
                    <a:p>
                      <a:pPr algn="l" fontAlgn="t">
                        <a:buNone/>
                      </a:pPr>
                      <a:r>
                        <a:rPr lang="en-NZ" sz="1200" u="none" strike="noStrike">
                          <a:effectLst/>
                        </a:rPr>
                        <a:t>Risk categories</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What categories will be used to organise risks (scope, schedule, cost, quality, people, stakeholder, technical, security/privacy, suppliers)? Will an RBS (Risk Breakdown Structure) be used?</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3752360095"/>
                  </a:ext>
                </a:extLst>
              </a:tr>
              <a:tr h="348593">
                <a:tc>
                  <a:txBody>
                    <a:bodyPr/>
                    <a:lstStyle/>
                    <a:p>
                      <a:pPr algn="l" fontAlgn="t">
                        <a:buNone/>
                      </a:pPr>
                      <a:r>
                        <a:rPr lang="en-NZ" sz="1200" u="none" strike="noStrike">
                          <a:effectLst/>
                        </a:rPr>
                        <a:t>Definitions and thresholds</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How will likelihood and impact be defined (Low/Med/High or 1–5)? What thresholds define “High risk”? When does a risk require escalation?</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35223796"/>
                  </a:ext>
                </a:extLst>
              </a:tr>
              <a:tr h="234663">
                <a:tc>
                  <a:txBody>
                    <a:bodyPr/>
                    <a:lstStyle/>
                    <a:p>
                      <a:pPr algn="l" fontAlgn="t">
                        <a:buNone/>
                      </a:pPr>
                      <a:r>
                        <a:rPr lang="en-NZ" sz="1200" u="none" strike="noStrike">
                          <a:effectLst/>
                        </a:rPr>
                        <a:t>Probability–impact matrix</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What matrix will be used to prioritise risks? How will the team calculate risk rating (e.g., likelihood × impact)?</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2909236476"/>
                  </a:ext>
                </a:extLst>
              </a:tr>
              <a:tr h="348593">
                <a:tc>
                  <a:txBody>
                    <a:bodyPr/>
                    <a:lstStyle/>
                    <a:p>
                      <a:pPr algn="l" fontAlgn="t">
                        <a:buNone/>
                      </a:pPr>
                      <a:r>
                        <a:rPr lang="en-NZ" sz="1200" u="none" strike="noStrike">
                          <a:effectLst/>
                        </a:rPr>
                        <a:t>Risk appetite and tolerance</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How much risk is acceptable? What risks are “non-negotiable” (e.g., privacy/security)? What trade-offs are allowed between scope, time, and quality?</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381266503"/>
                  </a:ext>
                </a:extLst>
              </a:tr>
              <a:tr h="348593">
                <a:tc>
                  <a:txBody>
                    <a:bodyPr/>
                    <a:lstStyle/>
                    <a:p>
                      <a:pPr algn="l" fontAlgn="t">
                        <a:buNone/>
                      </a:pPr>
                      <a:r>
                        <a:rPr lang="en-NZ" sz="1200" u="none" strike="noStrike">
                          <a:effectLst/>
                        </a:rPr>
                        <a:t>Review cadence</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How often will risks be reviewed (weekly team meeting, weekly mentor meeting)? When will the register be updated? When will risks be re-scored?</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3161271625"/>
                  </a:ext>
                </a:extLst>
              </a:tr>
              <a:tr h="348593">
                <a:tc>
                  <a:txBody>
                    <a:bodyPr/>
                    <a:lstStyle/>
                    <a:p>
                      <a:pPr algn="l" fontAlgn="t">
                        <a:buNone/>
                      </a:pPr>
                      <a:r>
                        <a:rPr lang="en-NZ" sz="1200" u="none" strike="noStrike">
                          <a:effectLst/>
                        </a:rPr>
                        <a:t>Escalation path</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When should risks be escalated, and to whom (client sponsor, supervisor, platform/security teams)? What is the escalation timeframe?</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1844646462"/>
                  </a:ext>
                </a:extLst>
              </a:tr>
              <a:tr h="348593">
                <a:tc>
                  <a:txBody>
                    <a:bodyPr/>
                    <a:lstStyle/>
                    <a:p>
                      <a:pPr algn="l" fontAlgn="t">
                        <a:buNone/>
                      </a:pPr>
                      <a:r>
                        <a:rPr lang="en-NZ" sz="1200" u="none" strike="noStrike">
                          <a:effectLst/>
                        </a:rPr>
                        <a:t>Risk response planning</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What response strategies will be used (avoid, mitigate, transfer, accept)? How will actions be assigned and scheduled? How will contingency plans be defined?</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3596914362"/>
                  </a:ext>
                </a:extLst>
              </a:tr>
              <a:tr h="237533">
                <a:tc>
                  <a:txBody>
                    <a:bodyPr/>
                    <a:lstStyle/>
                    <a:p>
                      <a:pPr algn="l" fontAlgn="t">
                        <a:buNone/>
                      </a:pPr>
                      <a:r>
                        <a:rPr lang="en-NZ" sz="1200" u="none" strike="noStrike">
                          <a:effectLst/>
                        </a:rPr>
                        <a:t>Risk triggers and early warning signs</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dirty="0">
                          <a:effectLst/>
                        </a:rPr>
                        <a:t>What triggers will be recorded for each major risk? How will the team detect early warning signs before risks become issues?</a:t>
                      </a:r>
                      <a:endParaRPr lang="en-NZ" sz="1200" b="0" i="0" u="none" strike="noStrike" dirty="0">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307690728"/>
                  </a:ext>
                </a:extLst>
              </a:tr>
              <a:tr h="348593">
                <a:tc>
                  <a:txBody>
                    <a:bodyPr/>
                    <a:lstStyle/>
                    <a:p>
                      <a:pPr algn="l" fontAlgn="t">
                        <a:buNone/>
                      </a:pPr>
                      <a:r>
                        <a:rPr lang="en-NZ" sz="1200" u="none" strike="noStrike">
                          <a:effectLst/>
                        </a:rPr>
                        <a:t>Integration with schedule/WBS</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How will mitigation actions be converted into tasks in the WBS/schedule? How will the team track completion of mitigation actions?</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2154225375"/>
                  </a:ext>
                </a:extLst>
              </a:tr>
              <a:tr h="237533">
                <a:tc>
                  <a:txBody>
                    <a:bodyPr/>
                    <a:lstStyle/>
                    <a:p>
                      <a:pPr algn="l" fontAlgn="t">
                        <a:buNone/>
                      </a:pPr>
                      <a:r>
                        <a:rPr lang="en-NZ" sz="1200" u="none" strike="noStrike">
                          <a:effectLst/>
                        </a:rPr>
                        <a:t>Risk-to-issue handover</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What happens when a risk occurs? How will it be moved into the issue register? Who updates the issue log and assigns actions?</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1168711126"/>
                  </a:ext>
                </a:extLst>
              </a:tr>
              <a:tr h="348593">
                <a:tc>
                  <a:txBody>
                    <a:bodyPr/>
                    <a:lstStyle/>
                    <a:p>
                      <a:pPr algn="l" fontAlgn="t">
                        <a:buNone/>
                      </a:pPr>
                      <a:r>
                        <a:rPr lang="en-NZ" sz="1200" u="none" strike="noStrike">
                          <a:effectLst/>
                        </a:rPr>
                        <a:t>Tools and templates</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a:effectLst/>
                        </a:rPr>
                        <a:t>What tools will be used (risk register template, issue register template, dashboard, meeting minutes)? Where will risk evidence be stored (portfolio location)?</a:t>
                      </a:r>
                      <a:endParaRPr lang="en-NZ" sz="1200" b="0" i="0" u="none" strike="noStrike">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725138204"/>
                  </a:ext>
                </a:extLst>
              </a:tr>
              <a:tr h="348593">
                <a:tc>
                  <a:txBody>
                    <a:bodyPr/>
                    <a:lstStyle/>
                    <a:p>
                      <a:pPr algn="l" fontAlgn="t">
                        <a:buNone/>
                      </a:pPr>
                      <a:r>
                        <a:rPr lang="en-NZ" sz="1200" u="none" strike="noStrike">
                          <a:effectLst/>
                        </a:rPr>
                        <a:t>Metrics and reporting</a:t>
                      </a:r>
                      <a:endParaRPr lang="en-NZ" sz="1200" b="1" i="0" u="none" strike="noStrike">
                        <a:solidFill>
                          <a:srgbClr val="000000"/>
                        </a:solidFill>
                        <a:effectLst/>
                        <a:latin typeface="Times New Roman" panose="02020603050405020304" pitchFamily="18" charset="0"/>
                      </a:endParaRPr>
                    </a:p>
                  </a:txBody>
                  <a:tcPr marL="6371" marR="6371" marT="6371" marB="0"/>
                </a:tc>
                <a:tc>
                  <a:txBody>
                    <a:bodyPr/>
                    <a:lstStyle/>
                    <a:p>
                      <a:pPr algn="l" fontAlgn="t">
                        <a:buNone/>
                      </a:pPr>
                      <a:r>
                        <a:rPr lang="en-NZ" sz="1200" u="none" strike="noStrike" dirty="0">
                          <a:effectLst/>
                        </a:rPr>
                        <a:t>What metrics will be used (high risks count, overdue actions, risk exposure trend, risks converted to issues)? How will risk status be reported to stakeholders?</a:t>
                      </a:r>
                      <a:endParaRPr lang="en-NZ" sz="1200" b="0" i="0" u="none" strike="noStrike" dirty="0">
                        <a:solidFill>
                          <a:srgbClr val="000000"/>
                        </a:solidFill>
                        <a:effectLst/>
                        <a:latin typeface="Times New Roman" panose="02020603050405020304" pitchFamily="18" charset="0"/>
                      </a:endParaRPr>
                    </a:p>
                  </a:txBody>
                  <a:tcPr marL="6371" marR="6371" marT="6371" marB="0"/>
                </a:tc>
                <a:extLst>
                  <a:ext uri="{0D108BD9-81ED-4DB2-BD59-A6C34878D82A}">
                    <a16:rowId xmlns:a16="http://schemas.microsoft.com/office/drawing/2014/main" val="2870030660"/>
                  </a:ext>
                </a:extLst>
              </a:tr>
            </a:tbl>
          </a:graphicData>
        </a:graphic>
      </p:graphicFrame>
    </p:spTree>
    <p:extLst>
      <p:ext uri="{BB962C8B-B14F-4D97-AF65-F5344CB8AC3E}">
        <p14:creationId xmlns:p14="http://schemas.microsoft.com/office/powerpoint/2010/main" val="2520114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5EC51-231E-4E7C-8C4F-E2D2107C540A}"/>
              </a:ext>
            </a:extLst>
          </p:cNvPr>
          <p:cNvSpPr>
            <a:spLocks noGrp="1"/>
          </p:cNvSpPr>
          <p:nvPr>
            <p:ph type="title"/>
          </p:nvPr>
        </p:nvSpPr>
        <p:spPr/>
        <p:txBody>
          <a:bodyPr/>
          <a:lstStyle/>
          <a:p>
            <a:r>
              <a:rPr lang="en-NZ" dirty="0"/>
              <a:t>Common risk categories/sources </a:t>
            </a:r>
            <a:r>
              <a:rPr lang="en-US" dirty="0"/>
              <a:t>(1 of 3)</a:t>
            </a:r>
            <a:endParaRPr lang="en-NZ" dirty="0"/>
          </a:p>
        </p:txBody>
      </p:sp>
      <p:sp>
        <p:nvSpPr>
          <p:cNvPr id="3" name="Text Placeholder 2">
            <a:extLst>
              <a:ext uri="{FF2B5EF4-FFF2-40B4-BE49-F238E27FC236}">
                <a16:creationId xmlns:a16="http://schemas.microsoft.com/office/drawing/2014/main" id="{003BF676-617B-440B-9222-E8F424260CC4}"/>
              </a:ext>
            </a:extLst>
          </p:cNvPr>
          <p:cNvSpPr>
            <a:spLocks noGrp="1"/>
          </p:cNvSpPr>
          <p:nvPr>
            <p:ph type="body" sz="quarter" idx="13"/>
          </p:nvPr>
        </p:nvSpPr>
        <p:spPr/>
        <p:txBody>
          <a:bodyPr>
            <a:normAutofit fontScale="92500"/>
          </a:bodyPr>
          <a:lstStyle/>
          <a:p>
            <a:r>
              <a:rPr lang="en-US" dirty="0"/>
              <a:t>Several studies show that IT projects share some common sources of risk</a:t>
            </a:r>
          </a:p>
          <a:p>
            <a:pPr lvl="1"/>
            <a:r>
              <a:rPr lang="en-US" dirty="0"/>
              <a:t>The Standish Group developed an IT success potential scoring sheet based on potential risks</a:t>
            </a:r>
          </a:p>
          <a:p>
            <a:r>
              <a:rPr lang="en-US" dirty="0"/>
              <a:t>Other broad </a:t>
            </a:r>
            <a:r>
              <a:rPr lang="en-US" dirty="0">
                <a:solidFill>
                  <a:srgbClr val="FF0000"/>
                </a:solidFill>
              </a:rPr>
              <a:t>categories</a:t>
            </a:r>
            <a:r>
              <a:rPr lang="en-US" dirty="0"/>
              <a:t> of risk help identify potential risks</a:t>
            </a:r>
          </a:p>
          <a:p>
            <a:pPr lvl="1"/>
            <a:r>
              <a:rPr lang="en-US" dirty="0"/>
              <a:t>Market risk</a:t>
            </a:r>
          </a:p>
          <a:p>
            <a:pPr lvl="1"/>
            <a:r>
              <a:rPr lang="en-US" dirty="0"/>
              <a:t>Financial risk</a:t>
            </a:r>
          </a:p>
          <a:p>
            <a:pPr lvl="1"/>
            <a:r>
              <a:rPr lang="en-US" dirty="0"/>
              <a:t>Technology risk</a:t>
            </a:r>
          </a:p>
          <a:p>
            <a:pPr lvl="1"/>
            <a:r>
              <a:rPr lang="en-US" dirty="0"/>
              <a:t>People risk</a:t>
            </a:r>
          </a:p>
          <a:p>
            <a:pPr lvl="1"/>
            <a:r>
              <a:rPr lang="en-US" dirty="0"/>
              <a:t>Structure/process risk</a:t>
            </a:r>
          </a:p>
          <a:p>
            <a:r>
              <a:rPr lang="en-US" dirty="0"/>
              <a:t>A risk breakdown structure is a hierarchy of potential risk categories for a project</a:t>
            </a:r>
          </a:p>
          <a:p>
            <a:endParaRPr lang="en-NZ" dirty="0"/>
          </a:p>
        </p:txBody>
      </p:sp>
    </p:spTree>
    <p:extLst>
      <p:ext uri="{BB962C8B-B14F-4D97-AF65-F5344CB8AC3E}">
        <p14:creationId xmlns:p14="http://schemas.microsoft.com/office/powerpoint/2010/main" val="3731990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3881C-996D-4D2F-907B-59B0F70C8277}"/>
              </a:ext>
            </a:extLst>
          </p:cNvPr>
          <p:cNvSpPr>
            <a:spLocks noGrp="1"/>
          </p:cNvSpPr>
          <p:nvPr>
            <p:ph type="title"/>
          </p:nvPr>
        </p:nvSpPr>
        <p:spPr/>
        <p:txBody>
          <a:bodyPr/>
          <a:lstStyle/>
          <a:p>
            <a:r>
              <a:rPr lang="en-NZ" dirty="0"/>
              <a:t>Common risk categories/sources </a:t>
            </a:r>
            <a:r>
              <a:rPr lang="en-US" dirty="0"/>
              <a:t>(2 of 3)</a:t>
            </a:r>
            <a:endParaRPr lang="en-NZ" dirty="0"/>
          </a:p>
        </p:txBody>
      </p:sp>
      <p:pic>
        <p:nvPicPr>
          <p:cNvPr id="4" name="Picture 3" descr="Image illustrates a breakdown structure for an IT project. &#10;">
            <a:extLst>
              <a:ext uri="{FF2B5EF4-FFF2-40B4-BE49-F238E27FC236}">
                <a16:creationId xmlns:a16="http://schemas.microsoft.com/office/drawing/2014/main" id="{E91F6351-8A5A-468F-9A37-615CFC824C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79831" y="1792923"/>
            <a:ext cx="8519031" cy="4699952"/>
          </a:xfrm>
          <a:prstGeom prst="rect">
            <a:avLst/>
          </a:prstGeom>
        </p:spPr>
      </p:pic>
    </p:spTree>
    <p:extLst>
      <p:ext uri="{BB962C8B-B14F-4D97-AF65-F5344CB8AC3E}">
        <p14:creationId xmlns:p14="http://schemas.microsoft.com/office/powerpoint/2010/main" val="23181819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normAutofit/>
          </a:bodyPr>
          <a:lstStyle/>
          <a:p>
            <a:r>
              <a:rPr lang="en-US" dirty="0">
                <a:solidFill>
                  <a:schemeClr val="accent2"/>
                </a:solidFill>
              </a:rPr>
              <a:t>Common Sources of Risk in Information Technology Projects</a:t>
            </a:r>
          </a:p>
        </p:txBody>
      </p:sp>
      <p:sp>
        <p:nvSpPr>
          <p:cNvPr id="30723" name="Rectangle 3"/>
          <p:cNvSpPr>
            <a:spLocks noGrp="1" noChangeArrowheads="1"/>
          </p:cNvSpPr>
          <p:nvPr>
            <p:ph idx="1"/>
          </p:nvPr>
        </p:nvSpPr>
        <p:spPr>
          <a:xfrm>
            <a:off x="2209800" y="2590800"/>
            <a:ext cx="2990850" cy="2533650"/>
          </a:xfrm>
        </p:spPr>
        <p:txBody>
          <a:bodyPr/>
          <a:lstStyle/>
          <a:p>
            <a:pPr marL="0" indent="0">
              <a:spcBef>
                <a:spcPct val="100000"/>
              </a:spcBef>
              <a:buNone/>
            </a:pPr>
            <a:r>
              <a:rPr lang="en-US" dirty="0"/>
              <a:t>The Standish Group developed an IT success potential scoring sheet based on potential risks</a:t>
            </a:r>
          </a:p>
        </p:txBody>
      </p:sp>
      <p:sp>
        <p:nvSpPr>
          <p:cNvPr id="6" name="Slide Number Placeholder 5"/>
          <p:cNvSpPr>
            <a:spLocks noGrp="1"/>
          </p:cNvSpPr>
          <p:nvPr>
            <p:ph type="sldNum" sz="quarter" idx="12"/>
          </p:nvPr>
        </p:nvSpPr>
        <p:spPr/>
        <p:txBody>
          <a:bodyPr/>
          <a:lstStyle/>
          <a:p>
            <a:pPr>
              <a:defRPr/>
            </a:pPr>
            <a:endParaRPr lang="en-US" dirty="0">
              <a:solidFill>
                <a:prstClr val="black"/>
              </a:solidFill>
            </a:endParaRPr>
          </a:p>
        </p:txBody>
      </p:sp>
      <p:graphicFrame>
        <p:nvGraphicFramePr>
          <p:cNvPr id="7" name="Object 2"/>
          <p:cNvGraphicFramePr>
            <a:graphicFrameLocks noChangeAspect="1"/>
          </p:cNvGraphicFramePr>
          <p:nvPr/>
        </p:nvGraphicFramePr>
        <p:xfrm>
          <a:off x="5200650" y="2025794"/>
          <a:ext cx="5486400" cy="4222606"/>
        </p:xfrm>
        <a:graphic>
          <a:graphicData uri="http://schemas.openxmlformats.org/presentationml/2006/ole">
            <mc:AlternateContent xmlns:mc="http://schemas.openxmlformats.org/markup-compatibility/2006">
              <mc:Choice xmlns:v="urn:schemas-microsoft-com:vml" Requires="v">
                <p:oleObj name="Document" r:id="rId5" imgW="5655898" imgH="3280753" progId="Word.Document.8">
                  <p:embed/>
                </p:oleObj>
              </mc:Choice>
              <mc:Fallback>
                <p:oleObj name="Document" r:id="rId5" imgW="5655898" imgH="3280753" progId="Word.Document.8">
                  <p:embed/>
                  <p:pic>
                    <p:nvPicPr>
                      <p:cNvPr id="7" name="Object 2"/>
                      <p:cNvPicPr>
                        <a:picLocks noChangeAspect="1" noChangeArrowheads="1"/>
                      </p:cNvPicPr>
                      <p:nvPr/>
                    </p:nvPicPr>
                    <p:blipFill>
                      <a:blip r:embed="rId6">
                        <a:extLst>
                          <a:ext uri="{28A0092B-C50C-407E-A947-70E740481C1C}">
                            <a14:useLocalDpi xmlns:a14="http://schemas.microsoft.com/office/drawing/2010/main" val="0"/>
                          </a:ext>
                        </a:extLst>
                      </a:blip>
                      <a:srcRect l="12888" r="11508"/>
                      <a:stretch>
                        <a:fillRect/>
                      </a:stretch>
                    </p:blipFill>
                    <p:spPr bwMode="auto">
                      <a:xfrm>
                        <a:off x="5200650" y="2025794"/>
                        <a:ext cx="5486400" cy="422260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981565045"/>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B7970-1056-464F-A6E4-0A55232FB58D}"/>
              </a:ext>
            </a:extLst>
          </p:cNvPr>
          <p:cNvSpPr>
            <a:spLocks noGrp="1"/>
          </p:cNvSpPr>
          <p:nvPr>
            <p:ph type="title"/>
          </p:nvPr>
        </p:nvSpPr>
        <p:spPr>
          <a:xfrm>
            <a:off x="1460500" y="190954"/>
            <a:ext cx="10515600" cy="1325563"/>
          </a:xfrm>
        </p:spPr>
        <p:txBody>
          <a:bodyPr>
            <a:normAutofit/>
          </a:bodyPr>
          <a:lstStyle/>
          <a:p>
            <a:r>
              <a:rPr lang="en-NZ" sz="4000" dirty="0"/>
              <a:t>Common risk categories/sources </a:t>
            </a:r>
            <a:r>
              <a:rPr lang="en-US" sz="4000" dirty="0"/>
              <a:t>(3 of 3) - ITPM</a:t>
            </a:r>
            <a:endParaRPr lang="en-NZ" sz="4000" dirty="0"/>
          </a:p>
        </p:txBody>
      </p:sp>
      <p:graphicFrame>
        <p:nvGraphicFramePr>
          <p:cNvPr id="4" name="Content Placeholder 5">
            <a:extLst>
              <a:ext uri="{FF2B5EF4-FFF2-40B4-BE49-F238E27FC236}">
                <a16:creationId xmlns:a16="http://schemas.microsoft.com/office/drawing/2014/main" id="{E5B41437-7577-4124-9AF1-63050882D862}"/>
              </a:ext>
            </a:extLst>
          </p:cNvPr>
          <p:cNvGraphicFramePr>
            <a:graphicFrameLocks/>
          </p:cNvGraphicFramePr>
          <p:nvPr>
            <p:extLst>
              <p:ext uri="{D42A27DB-BD31-4B8C-83A1-F6EECF244321}">
                <p14:modId xmlns:p14="http://schemas.microsoft.com/office/powerpoint/2010/main" val="1944011846"/>
              </p:ext>
            </p:extLst>
          </p:nvPr>
        </p:nvGraphicFramePr>
        <p:xfrm>
          <a:off x="1460500" y="1213268"/>
          <a:ext cx="10515600" cy="5136273"/>
        </p:xfrm>
        <a:graphic>
          <a:graphicData uri="http://schemas.openxmlformats.org/drawingml/2006/table">
            <a:tbl>
              <a:tblPr firstRow="1" bandRow="1">
                <a:tableStyleId>{5C22544A-7EE6-4342-B048-85BDC9FD1C3A}</a:tableStyleId>
              </a:tblPr>
              <a:tblGrid>
                <a:gridCol w="1836239">
                  <a:extLst>
                    <a:ext uri="{9D8B030D-6E8A-4147-A177-3AD203B41FA5}">
                      <a16:colId xmlns:a16="http://schemas.microsoft.com/office/drawing/2014/main" val="3999090192"/>
                    </a:ext>
                  </a:extLst>
                </a:gridCol>
                <a:gridCol w="8679361">
                  <a:extLst>
                    <a:ext uri="{9D8B030D-6E8A-4147-A177-3AD203B41FA5}">
                      <a16:colId xmlns:a16="http://schemas.microsoft.com/office/drawing/2014/main" val="2064636848"/>
                    </a:ext>
                  </a:extLst>
                </a:gridCol>
              </a:tblGrid>
              <a:tr h="353941">
                <a:tc>
                  <a:txBody>
                    <a:bodyPr/>
                    <a:lstStyle/>
                    <a:p>
                      <a:r>
                        <a:rPr lang="en-US" dirty="0"/>
                        <a:t>Knowledge Area</a:t>
                      </a:r>
                    </a:p>
                  </a:txBody>
                  <a:tcPr/>
                </a:tc>
                <a:tc>
                  <a:txBody>
                    <a:bodyPr/>
                    <a:lstStyle/>
                    <a:p>
                      <a:r>
                        <a:rPr lang="en-US" dirty="0"/>
                        <a:t>Risk Conditions</a:t>
                      </a:r>
                    </a:p>
                  </a:txBody>
                  <a:tcPr/>
                </a:tc>
                <a:extLst>
                  <a:ext uri="{0D108BD9-81ED-4DB2-BD59-A6C34878D82A}">
                    <a16:rowId xmlns:a16="http://schemas.microsoft.com/office/drawing/2014/main" val="489509523"/>
                  </a:ext>
                </a:extLst>
              </a:tr>
              <a:tr h="619397">
                <a:tc>
                  <a:txBody>
                    <a:bodyPr/>
                    <a:lstStyle/>
                    <a:p>
                      <a:r>
                        <a:rPr lang="en-US" dirty="0"/>
                        <a:t>Integration</a:t>
                      </a:r>
                    </a:p>
                  </a:txBody>
                  <a:tcPr/>
                </a:tc>
                <a:tc>
                  <a:txBody>
                    <a:bodyPr/>
                    <a:lstStyle/>
                    <a:p>
                      <a:r>
                        <a:rPr lang="en-US" dirty="0"/>
                        <a:t>Inadequate planning; poor resource allocation; poor integration</a:t>
                      </a:r>
                      <a:r>
                        <a:rPr lang="en-US" baseline="0" dirty="0"/>
                        <a:t> </a:t>
                      </a:r>
                      <a:r>
                        <a:rPr lang="en-US" dirty="0"/>
                        <a:t>management; lack of post-project review</a:t>
                      </a:r>
                    </a:p>
                  </a:txBody>
                  <a:tcPr/>
                </a:tc>
                <a:extLst>
                  <a:ext uri="{0D108BD9-81ED-4DB2-BD59-A6C34878D82A}">
                    <a16:rowId xmlns:a16="http://schemas.microsoft.com/office/drawing/2014/main" val="2782684606"/>
                  </a:ext>
                </a:extLst>
              </a:tr>
              <a:tr h="353941">
                <a:tc>
                  <a:txBody>
                    <a:bodyPr/>
                    <a:lstStyle/>
                    <a:p>
                      <a:r>
                        <a:rPr lang="en-US" dirty="0"/>
                        <a:t>Scope</a:t>
                      </a:r>
                    </a:p>
                  </a:txBody>
                  <a:tcPr/>
                </a:tc>
                <a:tc>
                  <a:txBody>
                    <a:bodyPr/>
                    <a:lstStyle/>
                    <a:p>
                      <a:r>
                        <a:rPr lang="en-US" dirty="0"/>
                        <a:t>Poor definition of scope or work packages; incomplete definition</a:t>
                      </a:r>
                    </a:p>
                  </a:txBody>
                  <a:tcPr/>
                </a:tc>
                <a:extLst>
                  <a:ext uri="{0D108BD9-81ED-4DB2-BD59-A6C34878D82A}">
                    <a16:rowId xmlns:a16="http://schemas.microsoft.com/office/drawing/2014/main" val="305383120"/>
                  </a:ext>
                </a:extLst>
              </a:tr>
              <a:tr h="619397">
                <a:tc>
                  <a:txBody>
                    <a:bodyPr/>
                    <a:lstStyle/>
                    <a:p>
                      <a:r>
                        <a:rPr lang="en-US" dirty="0"/>
                        <a:t>Time</a:t>
                      </a:r>
                    </a:p>
                  </a:txBody>
                  <a:tcPr/>
                </a:tc>
                <a:tc>
                  <a:txBody>
                    <a:bodyPr/>
                    <a:lstStyle/>
                    <a:p>
                      <a:r>
                        <a:rPr lang="en-US" dirty="0"/>
                        <a:t>Errors in estimating time or resource availability; errors in determining</a:t>
                      </a:r>
                      <a:r>
                        <a:rPr lang="en-US" baseline="0" dirty="0"/>
                        <a:t> </a:t>
                      </a:r>
                      <a:r>
                        <a:rPr lang="en-US" dirty="0"/>
                        <a:t>the critical path; poor allocation and management of float;</a:t>
                      </a:r>
                      <a:r>
                        <a:rPr lang="en-US" baseline="0" dirty="0"/>
                        <a:t> </a:t>
                      </a:r>
                      <a:r>
                        <a:rPr lang="en-US" dirty="0"/>
                        <a:t>early release of competitive products</a:t>
                      </a:r>
                    </a:p>
                  </a:txBody>
                  <a:tcPr/>
                </a:tc>
                <a:extLst>
                  <a:ext uri="{0D108BD9-81ED-4DB2-BD59-A6C34878D82A}">
                    <a16:rowId xmlns:a16="http://schemas.microsoft.com/office/drawing/2014/main" val="185792894"/>
                  </a:ext>
                </a:extLst>
              </a:tr>
              <a:tr h="353941">
                <a:tc>
                  <a:txBody>
                    <a:bodyPr/>
                    <a:lstStyle/>
                    <a:p>
                      <a:r>
                        <a:rPr lang="en-US" dirty="0"/>
                        <a:t>Cost</a:t>
                      </a:r>
                    </a:p>
                  </a:txBody>
                  <a:tcPr/>
                </a:tc>
                <a:tc>
                  <a:txBody>
                    <a:bodyPr/>
                    <a:lstStyle/>
                    <a:p>
                      <a:r>
                        <a:rPr lang="en-US" dirty="0"/>
                        <a:t>Estimating errors; inadequate productivity, cost, change, or</a:t>
                      </a:r>
                      <a:r>
                        <a:rPr lang="en-US" baseline="0" dirty="0"/>
                        <a:t> c</a:t>
                      </a:r>
                      <a:r>
                        <a:rPr lang="en-US" dirty="0"/>
                        <a:t>ontingency</a:t>
                      </a:r>
                    </a:p>
                  </a:txBody>
                  <a:tcPr/>
                </a:tc>
                <a:extLst>
                  <a:ext uri="{0D108BD9-81ED-4DB2-BD59-A6C34878D82A}">
                    <a16:rowId xmlns:a16="http://schemas.microsoft.com/office/drawing/2014/main" val="2507006862"/>
                  </a:ext>
                </a:extLst>
              </a:tr>
              <a:tr h="619397">
                <a:tc>
                  <a:txBody>
                    <a:bodyPr/>
                    <a:lstStyle/>
                    <a:p>
                      <a:r>
                        <a:rPr lang="en-US" dirty="0"/>
                        <a:t>Quality</a:t>
                      </a:r>
                    </a:p>
                  </a:txBody>
                  <a:tcPr/>
                </a:tc>
                <a:tc>
                  <a:txBody>
                    <a:bodyPr/>
                    <a:lstStyle/>
                    <a:p>
                      <a:r>
                        <a:rPr lang="en-US" dirty="0"/>
                        <a:t>Poor attitude toward quality; substandard design, materials, and</a:t>
                      </a:r>
                      <a:r>
                        <a:rPr lang="en-US" baseline="0" dirty="0"/>
                        <a:t> </a:t>
                      </a:r>
                      <a:r>
                        <a:rPr lang="en-US" dirty="0"/>
                        <a:t>workmanship; inadequate quality assurance program</a:t>
                      </a:r>
                    </a:p>
                  </a:txBody>
                  <a:tcPr/>
                </a:tc>
                <a:extLst>
                  <a:ext uri="{0D108BD9-81ED-4DB2-BD59-A6C34878D82A}">
                    <a16:rowId xmlns:a16="http://schemas.microsoft.com/office/drawing/2014/main" val="3877011161"/>
                  </a:ext>
                </a:extLst>
              </a:tr>
              <a:tr h="619397">
                <a:tc>
                  <a:txBody>
                    <a:bodyPr/>
                    <a:lstStyle/>
                    <a:p>
                      <a:r>
                        <a:rPr lang="en-US" dirty="0"/>
                        <a:t>Human resource</a:t>
                      </a:r>
                    </a:p>
                  </a:txBody>
                  <a:tcPr/>
                </a:tc>
                <a:tc>
                  <a:txBody>
                    <a:bodyPr/>
                    <a:lstStyle/>
                    <a:p>
                      <a:r>
                        <a:rPr lang="en-US" dirty="0"/>
                        <a:t>Poor conflict management; poor project organization and definition</a:t>
                      </a:r>
                      <a:r>
                        <a:rPr lang="en-US" baseline="0" dirty="0"/>
                        <a:t> </a:t>
                      </a:r>
                      <a:r>
                        <a:rPr lang="en-US" dirty="0"/>
                        <a:t>of responsibilities; absence of leadership</a:t>
                      </a:r>
                    </a:p>
                  </a:txBody>
                  <a:tcPr/>
                </a:tc>
                <a:extLst>
                  <a:ext uri="{0D108BD9-81ED-4DB2-BD59-A6C34878D82A}">
                    <a16:rowId xmlns:a16="http://schemas.microsoft.com/office/drawing/2014/main" val="1083115850"/>
                  </a:ext>
                </a:extLst>
              </a:tr>
              <a:tr h="353941">
                <a:tc>
                  <a:txBody>
                    <a:bodyPr/>
                    <a:lstStyle/>
                    <a:p>
                      <a:r>
                        <a:rPr lang="en-US" dirty="0"/>
                        <a:t>Communications</a:t>
                      </a:r>
                    </a:p>
                  </a:txBody>
                  <a:tcPr/>
                </a:tc>
                <a:tc>
                  <a:txBody>
                    <a:bodyPr/>
                    <a:lstStyle/>
                    <a:p>
                      <a:r>
                        <a:rPr lang="en-US" dirty="0"/>
                        <a:t>Carelessness in planning or communicating</a:t>
                      </a:r>
                    </a:p>
                  </a:txBody>
                  <a:tcPr/>
                </a:tc>
                <a:extLst>
                  <a:ext uri="{0D108BD9-81ED-4DB2-BD59-A6C34878D82A}">
                    <a16:rowId xmlns:a16="http://schemas.microsoft.com/office/drawing/2014/main" val="2557276551"/>
                  </a:ext>
                </a:extLst>
              </a:tr>
              <a:tr h="353941">
                <a:tc>
                  <a:txBody>
                    <a:bodyPr/>
                    <a:lstStyle/>
                    <a:p>
                      <a:r>
                        <a:rPr lang="en-US" dirty="0"/>
                        <a:t>Risk</a:t>
                      </a:r>
                    </a:p>
                  </a:txBody>
                  <a:tcPr/>
                </a:tc>
                <a:tc>
                  <a:txBody>
                    <a:bodyPr/>
                    <a:lstStyle/>
                    <a:p>
                      <a:r>
                        <a:rPr lang="en-US" dirty="0"/>
                        <a:t>Ignoring risk; unclear analysis of risk; poor insurance management</a:t>
                      </a:r>
                    </a:p>
                  </a:txBody>
                  <a:tcPr/>
                </a:tc>
                <a:extLst>
                  <a:ext uri="{0D108BD9-81ED-4DB2-BD59-A6C34878D82A}">
                    <a16:rowId xmlns:a16="http://schemas.microsoft.com/office/drawing/2014/main" val="98630385"/>
                  </a:ext>
                </a:extLst>
              </a:tr>
              <a:tr h="353941">
                <a:tc>
                  <a:txBody>
                    <a:bodyPr/>
                    <a:lstStyle/>
                    <a:p>
                      <a:r>
                        <a:rPr lang="en-US" dirty="0"/>
                        <a:t>Procurement</a:t>
                      </a:r>
                    </a:p>
                  </a:txBody>
                  <a:tcPr/>
                </a:tc>
                <a:tc>
                  <a:txBody>
                    <a:bodyPr/>
                    <a:lstStyle/>
                    <a:p>
                      <a:r>
                        <a:rPr lang="en-US" dirty="0"/>
                        <a:t>Unenforceable conditions or contract clauses; adversarial relations</a:t>
                      </a:r>
                    </a:p>
                  </a:txBody>
                  <a:tcPr/>
                </a:tc>
                <a:extLst>
                  <a:ext uri="{0D108BD9-81ED-4DB2-BD59-A6C34878D82A}">
                    <a16:rowId xmlns:a16="http://schemas.microsoft.com/office/drawing/2014/main" val="3477560905"/>
                  </a:ext>
                </a:extLst>
              </a:tr>
              <a:tr h="381393">
                <a:tc>
                  <a:txBody>
                    <a:bodyPr/>
                    <a:lstStyle/>
                    <a:p>
                      <a:r>
                        <a:rPr lang="en-US" dirty="0"/>
                        <a:t>Stakeholders</a:t>
                      </a:r>
                    </a:p>
                  </a:txBody>
                  <a:tcPr/>
                </a:tc>
                <a:tc>
                  <a:txBody>
                    <a:bodyPr/>
                    <a:lstStyle/>
                    <a:p>
                      <a:r>
                        <a:rPr lang="en-US" dirty="0"/>
                        <a:t>Lack of consultation with key stakeholder; poor sponsor</a:t>
                      </a:r>
                      <a:r>
                        <a:rPr lang="en-US" baseline="0" dirty="0"/>
                        <a:t> e</a:t>
                      </a:r>
                      <a:r>
                        <a:rPr lang="en-US" dirty="0"/>
                        <a:t>ngagement</a:t>
                      </a:r>
                    </a:p>
                  </a:txBody>
                  <a:tcPr/>
                </a:tc>
                <a:extLst>
                  <a:ext uri="{0D108BD9-81ED-4DB2-BD59-A6C34878D82A}">
                    <a16:rowId xmlns:a16="http://schemas.microsoft.com/office/drawing/2014/main" val="2191427825"/>
                  </a:ext>
                </a:extLst>
              </a:tr>
            </a:tbl>
          </a:graphicData>
        </a:graphic>
      </p:graphicFrame>
      <p:sp>
        <p:nvSpPr>
          <p:cNvPr id="5" name="Rectangle 4">
            <a:extLst>
              <a:ext uri="{FF2B5EF4-FFF2-40B4-BE49-F238E27FC236}">
                <a16:creationId xmlns:a16="http://schemas.microsoft.com/office/drawing/2014/main" id="{EDDA8146-20AE-4F67-90E8-40B711AF2D41}"/>
              </a:ext>
            </a:extLst>
          </p:cNvPr>
          <p:cNvSpPr/>
          <p:nvPr/>
        </p:nvSpPr>
        <p:spPr>
          <a:xfrm>
            <a:off x="1460500" y="6333908"/>
            <a:ext cx="10257065" cy="369332"/>
          </a:xfrm>
          <a:prstGeom prst="rect">
            <a:avLst/>
          </a:prstGeom>
        </p:spPr>
        <p:txBody>
          <a:bodyPr wrap="square">
            <a:spAutoFit/>
          </a:bodyPr>
          <a:lstStyle/>
          <a:p>
            <a:r>
              <a:rPr lang="en-US" dirty="0"/>
              <a:t>Table 11-3 Potential negative risk conditions associated with each knowledge area</a:t>
            </a:r>
          </a:p>
        </p:txBody>
      </p:sp>
    </p:spTree>
    <p:extLst>
      <p:ext uri="{BB962C8B-B14F-4D97-AF65-F5344CB8AC3E}">
        <p14:creationId xmlns:p14="http://schemas.microsoft.com/office/powerpoint/2010/main" val="230383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C2BA8ABC-E2CD-974A-1B68-C75117527651}"/>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470C96CF-56D0-F9B1-C532-438ED62FE199}"/>
              </a:ext>
            </a:extLst>
          </p:cNvPr>
          <p:cNvSpPr>
            <a:spLocks noGrp="1" noChangeArrowheads="1"/>
          </p:cNvSpPr>
          <p:nvPr>
            <p:ph type="title"/>
          </p:nvPr>
        </p:nvSpPr>
        <p:spPr>
          <a:xfrm>
            <a:off x="838199" y="365125"/>
            <a:ext cx="11182815" cy="1325563"/>
          </a:xfrm>
        </p:spPr>
        <p:txBody>
          <a:bodyPr>
            <a:normAutofit/>
          </a:bodyPr>
          <a:lstStyle/>
          <a:p>
            <a:r>
              <a:rPr lang="en-US" dirty="0">
                <a:solidFill>
                  <a:schemeClr val="accent2">
                    <a:lumMod val="75000"/>
                  </a:schemeClr>
                </a:solidFill>
              </a:rPr>
              <a:t>Activity One:</a:t>
            </a:r>
            <a:r>
              <a:rPr lang="en-NZ" dirty="0">
                <a:solidFill>
                  <a:schemeClr val="accent2">
                    <a:lumMod val="75000"/>
                  </a:schemeClr>
                </a:solidFill>
              </a:rPr>
              <a:t>University Student Services App</a:t>
            </a:r>
            <a:endParaRPr lang="en-US" dirty="0">
              <a:solidFill>
                <a:schemeClr val="accent2">
                  <a:lumMod val="75000"/>
                </a:schemeClr>
              </a:solidFill>
            </a:endParaRPr>
          </a:p>
        </p:txBody>
      </p:sp>
      <p:sp>
        <p:nvSpPr>
          <p:cNvPr id="6" name="Slide Number Placeholder 5">
            <a:extLst>
              <a:ext uri="{FF2B5EF4-FFF2-40B4-BE49-F238E27FC236}">
                <a16:creationId xmlns:a16="http://schemas.microsoft.com/office/drawing/2014/main" id="{BDE8BFD0-262F-6BF2-CBD5-367D128B5273}"/>
              </a:ext>
            </a:extLst>
          </p:cNvPr>
          <p:cNvSpPr>
            <a:spLocks noGrp="1"/>
          </p:cNvSpPr>
          <p:nvPr>
            <p:ph type="sldNum" sz="quarter" idx="12"/>
          </p:nvPr>
        </p:nvSpPr>
        <p:spPr/>
        <p:txBody>
          <a:bodyPr/>
          <a:lstStyle/>
          <a:p>
            <a:pPr>
              <a:defRPr/>
            </a:pPr>
            <a:endParaRPr lang="en-US" dirty="0">
              <a:solidFill>
                <a:prstClr val="black"/>
              </a:solidFill>
            </a:endParaRPr>
          </a:p>
        </p:txBody>
      </p:sp>
      <p:sp>
        <p:nvSpPr>
          <p:cNvPr id="3" name="Content Placeholder 2">
            <a:extLst>
              <a:ext uri="{FF2B5EF4-FFF2-40B4-BE49-F238E27FC236}">
                <a16:creationId xmlns:a16="http://schemas.microsoft.com/office/drawing/2014/main" id="{600F75A4-7B5E-3502-C08E-9165B6980045}"/>
              </a:ext>
            </a:extLst>
          </p:cNvPr>
          <p:cNvSpPr>
            <a:spLocks noGrp="1"/>
          </p:cNvSpPr>
          <p:nvPr>
            <p:ph idx="1"/>
          </p:nvPr>
        </p:nvSpPr>
        <p:spPr>
          <a:xfrm>
            <a:off x="1204332" y="1435332"/>
            <a:ext cx="11073160" cy="4351338"/>
          </a:xfrm>
        </p:spPr>
        <p:txBody>
          <a:bodyPr>
            <a:normAutofit fontScale="85000" lnSpcReduction="20000"/>
          </a:bodyPr>
          <a:lstStyle/>
          <a:p>
            <a:pPr marL="0" indent="0">
              <a:buNone/>
            </a:pPr>
            <a:r>
              <a:rPr lang="en-NZ" dirty="0"/>
              <a:t>A project team has been asked to develop a Student Services mobile application for a university within 14 weeks. The app will provide timetables, notifications, appointments, and selected academic information. The four-person team has web-development experience but no previous production mobile-development experience. Several university departments have different expectations for the first release, and some requirements may change after student feedback. The app must integrate with two existing systems, but one has incomplete documentation and API access has not yet been approved. The team has chosen a new mobile framework that nobody has used before. One of the strongest developers will also be unavailable for two weeks. The app will handle personal student information, but no security specialist has reviewed the solution. The client has also requested additional features, including push notifications and online payments, without changing the deadline. The team has not yet finalised its testing approach or agreed how often the client will review completed work.</a:t>
            </a:r>
          </a:p>
          <a:p>
            <a:pPr marL="0" indent="0">
              <a:buNone/>
            </a:pPr>
            <a:r>
              <a:rPr lang="en-NZ" b="1" dirty="0"/>
              <a:t>Task: </a:t>
            </a:r>
            <a:r>
              <a:rPr lang="en-NZ" dirty="0"/>
              <a:t>Read the case study and identify the project risks and classify each risk under the appropriate Project Management Knowledge Area using the provided risk conditions table.</a:t>
            </a:r>
          </a:p>
        </p:txBody>
      </p:sp>
    </p:spTree>
    <p:extLst>
      <p:ext uri="{BB962C8B-B14F-4D97-AF65-F5344CB8AC3E}">
        <p14:creationId xmlns:p14="http://schemas.microsoft.com/office/powerpoint/2010/main" val="2978333229"/>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2362200" y="228600"/>
            <a:ext cx="8229600" cy="1143000"/>
          </a:xfrm>
        </p:spPr>
        <p:txBody>
          <a:bodyPr>
            <a:normAutofit fontScale="90000"/>
          </a:bodyPr>
          <a:lstStyle/>
          <a:p>
            <a:r>
              <a:rPr lang="en-US" b="1" dirty="0">
                <a:solidFill>
                  <a:schemeClr val="accent2"/>
                </a:solidFill>
              </a:rPr>
              <a:t>Planning Process Group:</a:t>
            </a:r>
            <a:br>
              <a:rPr lang="en-US" b="1" dirty="0">
                <a:solidFill>
                  <a:schemeClr val="accent2"/>
                </a:solidFill>
              </a:rPr>
            </a:br>
            <a:r>
              <a:rPr lang="en-US" dirty="0">
                <a:solidFill>
                  <a:schemeClr val="accent2"/>
                </a:solidFill>
              </a:rPr>
              <a:t>Identifying Risks</a:t>
            </a:r>
          </a:p>
        </p:txBody>
      </p:sp>
      <p:sp>
        <p:nvSpPr>
          <p:cNvPr id="36867" name="Rectangle 3"/>
          <p:cNvSpPr>
            <a:spLocks noGrp="1" noChangeArrowheads="1"/>
          </p:cNvSpPr>
          <p:nvPr>
            <p:ph idx="1"/>
          </p:nvPr>
        </p:nvSpPr>
        <p:spPr>
          <a:xfrm>
            <a:off x="2133600" y="1646238"/>
            <a:ext cx="8077200" cy="3916362"/>
          </a:xfrm>
        </p:spPr>
        <p:txBody>
          <a:bodyPr/>
          <a:lstStyle/>
          <a:p>
            <a:pPr>
              <a:spcBef>
                <a:spcPct val="55000"/>
              </a:spcBef>
            </a:pPr>
            <a:r>
              <a:rPr lang="en-US" dirty="0"/>
              <a:t>Identifying risks is the process of understanding what potential events might hurt or enhance a particular project</a:t>
            </a:r>
          </a:p>
          <a:p>
            <a:pPr>
              <a:spcBef>
                <a:spcPct val="55000"/>
              </a:spcBef>
            </a:pPr>
            <a:r>
              <a:rPr lang="en-US" dirty="0"/>
              <a:t>Risk identification tools and techniques include:</a:t>
            </a:r>
          </a:p>
          <a:p>
            <a:pPr lvl="1">
              <a:spcBef>
                <a:spcPts val="0"/>
              </a:spcBef>
            </a:pPr>
            <a:r>
              <a:rPr lang="en-US" dirty="0"/>
              <a:t>Brainstorming- think smash</a:t>
            </a:r>
          </a:p>
          <a:p>
            <a:pPr lvl="1">
              <a:spcBef>
                <a:spcPts val="0"/>
              </a:spcBef>
            </a:pPr>
            <a:r>
              <a:rPr lang="en-US" dirty="0"/>
              <a:t>The Delphi Technique</a:t>
            </a:r>
          </a:p>
          <a:p>
            <a:pPr lvl="1">
              <a:spcBef>
                <a:spcPts val="0"/>
              </a:spcBef>
            </a:pPr>
            <a:r>
              <a:rPr lang="en-US" dirty="0"/>
              <a:t>Interviewing</a:t>
            </a:r>
          </a:p>
          <a:p>
            <a:pPr lvl="1">
              <a:spcBef>
                <a:spcPts val="0"/>
              </a:spcBef>
            </a:pPr>
            <a:r>
              <a:rPr lang="en-US" dirty="0"/>
              <a:t>SWOT analysis</a:t>
            </a:r>
          </a:p>
        </p:txBody>
      </p:sp>
      <p:sp>
        <p:nvSpPr>
          <p:cNvPr id="6" name="Slide Number Placeholder 5"/>
          <p:cNvSpPr>
            <a:spLocks noGrp="1"/>
          </p:cNvSpPr>
          <p:nvPr>
            <p:ph type="sldNum" sz="quarter" idx="12"/>
          </p:nvPr>
        </p:nvSpPr>
        <p:spPr/>
        <p:txBody>
          <a:bodyPr/>
          <a:lstStyle/>
          <a:p>
            <a:pPr>
              <a:defRPr/>
            </a:pPr>
            <a:endParaRPr lang="en-US" dirty="0">
              <a:solidFill>
                <a:prstClr val="black"/>
              </a:solidFill>
            </a:endParaRPr>
          </a:p>
        </p:txBody>
      </p:sp>
    </p:spTree>
    <p:extLst>
      <p:ext uri="{BB962C8B-B14F-4D97-AF65-F5344CB8AC3E}">
        <p14:creationId xmlns:p14="http://schemas.microsoft.com/office/powerpoint/2010/main" val="3873555878"/>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0B3FDFBB-AC58-2308-3FB0-0063781B6E18}"/>
            </a:ext>
          </a:extLst>
        </p:cNvPr>
        <p:cNvGrpSpPr/>
        <p:nvPr/>
      </p:nvGrpSpPr>
      <p:grpSpPr>
        <a:xfrm>
          <a:off x="0" y="0"/>
          <a:ext cx="0" cy="0"/>
          <a:chOff x="0" y="0"/>
          <a:chExt cx="0" cy="0"/>
        </a:xfrm>
      </p:grpSpPr>
      <p:sp>
        <p:nvSpPr>
          <p:cNvPr id="36866" name="Rectangle 2">
            <a:extLst>
              <a:ext uri="{FF2B5EF4-FFF2-40B4-BE49-F238E27FC236}">
                <a16:creationId xmlns:a16="http://schemas.microsoft.com/office/drawing/2014/main" id="{09109933-5E2D-A969-B11B-0E86D291A524}"/>
              </a:ext>
            </a:extLst>
          </p:cNvPr>
          <p:cNvSpPr>
            <a:spLocks noGrp="1" noChangeArrowheads="1"/>
          </p:cNvSpPr>
          <p:nvPr>
            <p:ph type="title"/>
          </p:nvPr>
        </p:nvSpPr>
        <p:spPr>
          <a:xfrm>
            <a:off x="2362200" y="366623"/>
            <a:ext cx="8229600" cy="1143000"/>
          </a:xfrm>
        </p:spPr>
        <p:txBody>
          <a:bodyPr>
            <a:normAutofit fontScale="90000"/>
          </a:bodyPr>
          <a:lstStyle/>
          <a:p>
            <a:r>
              <a:rPr lang="en-US" b="1" dirty="0">
                <a:solidFill>
                  <a:schemeClr val="accent2"/>
                </a:solidFill>
              </a:rPr>
              <a:t>Planning Process Group:</a:t>
            </a:r>
            <a:br>
              <a:rPr lang="en-US" b="1" dirty="0">
                <a:solidFill>
                  <a:schemeClr val="accent2"/>
                </a:solidFill>
              </a:rPr>
            </a:br>
            <a:r>
              <a:rPr lang="en-US" dirty="0">
                <a:solidFill>
                  <a:schemeClr val="accent2"/>
                </a:solidFill>
              </a:rPr>
              <a:t>Think Smash Workshop</a:t>
            </a:r>
            <a:br>
              <a:rPr lang="en-US" dirty="0"/>
            </a:br>
            <a:endParaRPr lang="en-US" dirty="0"/>
          </a:p>
        </p:txBody>
      </p:sp>
      <p:sp>
        <p:nvSpPr>
          <p:cNvPr id="36867" name="Rectangle 3">
            <a:extLst>
              <a:ext uri="{FF2B5EF4-FFF2-40B4-BE49-F238E27FC236}">
                <a16:creationId xmlns:a16="http://schemas.microsoft.com/office/drawing/2014/main" id="{C75F68C2-E550-88E5-11CE-6A0C9617F5A3}"/>
              </a:ext>
            </a:extLst>
          </p:cNvPr>
          <p:cNvSpPr>
            <a:spLocks noGrp="1" noChangeArrowheads="1"/>
          </p:cNvSpPr>
          <p:nvPr>
            <p:ph idx="1"/>
          </p:nvPr>
        </p:nvSpPr>
        <p:spPr>
          <a:xfrm>
            <a:off x="2133600" y="1646238"/>
            <a:ext cx="8077200" cy="3916362"/>
          </a:xfrm>
        </p:spPr>
        <p:txBody>
          <a:bodyPr>
            <a:normAutofit/>
          </a:bodyPr>
          <a:lstStyle/>
          <a:p>
            <a:pPr>
              <a:spcBef>
                <a:spcPct val="55000"/>
              </a:spcBef>
            </a:pPr>
            <a:r>
              <a:rPr lang="en-NZ" sz="2400" dirty="0"/>
              <a:t>Get the whole team in a room and list everything that could go wrong (or right) across scope, time, cost, quality, people, tools, client, and approvals.</a:t>
            </a:r>
          </a:p>
          <a:p>
            <a:pPr>
              <a:spcBef>
                <a:spcPct val="55000"/>
              </a:spcBef>
            </a:pPr>
            <a:r>
              <a:rPr lang="en-NZ" sz="2400" dirty="0"/>
              <a:t>Write down what you’re relying on (client availability, access, tools, skills). Any assumption that might not be true becomes a risk.</a:t>
            </a:r>
          </a:p>
          <a:p>
            <a:pPr>
              <a:spcBef>
                <a:spcPct val="55000"/>
              </a:spcBef>
            </a:pPr>
            <a:r>
              <a:rPr lang="en-NZ" sz="2400" dirty="0"/>
              <a:t>Identify gaps in team skills; treat missing capability as a risk and plan upskilling.</a:t>
            </a:r>
            <a:endParaRPr lang="en-US" sz="2400" dirty="0"/>
          </a:p>
        </p:txBody>
      </p:sp>
      <p:sp>
        <p:nvSpPr>
          <p:cNvPr id="6" name="Slide Number Placeholder 5">
            <a:extLst>
              <a:ext uri="{FF2B5EF4-FFF2-40B4-BE49-F238E27FC236}">
                <a16:creationId xmlns:a16="http://schemas.microsoft.com/office/drawing/2014/main" id="{481BFF59-CDD2-5297-76F0-E96B1B0E1AD4}"/>
              </a:ext>
            </a:extLst>
          </p:cNvPr>
          <p:cNvSpPr>
            <a:spLocks noGrp="1"/>
          </p:cNvSpPr>
          <p:nvPr>
            <p:ph type="sldNum" sz="quarter" idx="12"/>
          </p:nvPr>
        </p:nvSpPr>
        <p:spPr/>
        <p:txBody>
          <a:bodyPr/>
          <a:lstStyle/>
          <a:p>
            <a:pPr>
              <a:defRPr/>
            </a:pPr>
            <a:endParaRPr lang="en-US" dirty="0">
              <a:solidFill>
                <a:prstClr val="black"/>
              </a:solidFill>
            </a:endParaRPr>
          </a:p>
        </p:txBody>
      </p:sp>
    </p:spTree>
    <p:extLst>
      <p:ext uri="{BB962C8B-B14F-4D97-AF65-F5344CB8AC3E}">
        <p14:creationId xmlns:p14="http://schemas.microsoft.com/office/powerpoint/2010/main" val="1689636233"/>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77B60D2E-DA5F-0879-8C46-4AFD54B8BB04}"/>
            </a:ext>
          </a:extLst>
        </p:cNvPr>
        <p:cNvGrpSpPr/>
        <p:nvPr/>
      </p:nvGrpSpPr>
      <p:grpSpPr>
        <a:xfrm>
          <a:off x="0" y="0"/>
          <a:ext cx="0" cy="0"/>
          <a:chOff x="0" y="0"/>
          <a:chExt cx="0" cy="0"/>
        </a:xfrm>
      </p:grpSpPr>
      <p:sp>
        <p:nvSpPr>
          <p:cNvPr id="36866" name="Rectangle 2">
            <a:extLst>
              <a:ext uri="{FF2B5EF4-FFF2-40B4-BE49-F238E27FC236}">
                <a16:creationId xmlns:a16="http://schemas.microsoft.com/office/drawing/2014/main" id="{B89B80EF-8BC7-D067-D48B-78E53F413C11}"/>
              </a:ext>
            </a:extLst>
          </p:cNvPr>
          <p:cNvSpPr>
            <a:spLocks noGrp="1" noChangeArrowheads="1"/>
          </p:cNvSpPr>
          <p:nvPr>
            <p:ph type="title"/>
          </p:nvPr>
        </p:nvSpPr>
        <p:spPr>
          <a:xfrm>
            <a:off x="2413958" y="582283"/>
            <a:ext cx="8229600" cy="1143000"/>
          </a:xfrm>
        </p:spPr>
        <p:txBody>
          <a:bodyPr>
            <a:normAutofit fontScale="90000"/>
          </a:bodyPr>
          <a:lstStyle/>
          <a:p>
            <a:r>
              <a:rPr lang="en-US" b="1" dirty="0">
                <a:solidFill>
                  <a:schemeClr val="accent2"/>
                </a:solidFill>
              </a:rPr>
              <a:t>Planning Process Group: </a:t>
            </a:r>
            <a:r>
              <a:rPr lang="en-US" dirty="0">
                <a:solidFill>
                  <a:schemeClr val="accent2"/>
                </a:solidFill>
              </a:rPr>
              <a:t>SWOT analysis</a:t>
            </a:r>
            <a:br>
              <a:rPr lang="en-US" dirty="0"/>
            </a:br>
            <a:br>
              <a:rPr lang="en-US" dirty="0"/>
            </a:br>
            <a:endParaRPr lang="en-US" dirty="0"/>
          </a:p>
        </p:txBody>
      </p:sp>
      <p:sp>
        <p:nvSpPr>
          <p:cNvPr id="36867" name="Rectangle 3">
            <a:extLst>
              <a:ext uri="{FF2B5EF4-FFF2-40B4-BE49-F238E27FC236}">
                <a16:creationId xmlns:a16="http://schemas.microsoft.com/office/drawing/2014/main" id="{E48A29C3-C41A-D97F-7DFC-2D969394B3B6}"/>
              </a:ext>
            </a:extLst>
          </p:cNvPr>
          <p:cNvSpPr>
            <a:spLocks noGrp="1" noChangeArrowheads="1"/>
          </p:cNvSpPr>
          <p:nvPr>
            <p:ph idx="1"/>
          </p:nvPr>
        </p:nvSpPr>
        <p:spPr>
          <a:xfrm>
            <a:off x="2057400" y="1055224"/>
            <a:ext cx="8077200" cy="3916362"/>
          </a:xfrm>
        </p:spPr>
        <p:txBody>
          <a:bodyPr>
            <a:noAutofit/>
          </a:bodyPr>
          <a:lstStyle/>
          <a:p>
            <a:pPr>
              <a:spcBef>
                <a:spcPct val="55000"/>
              </a:spcBef>
            </a:pPr>
            <a:r>
              <a:rPr lang="en-NZ" sz="2400" dirty="0"/>
              <a:t>SWOT = Strengths, Weaknesses, Opportunities, Threats (use it to surface risks early).</a:t>
            </a:r>
          </a:p>
          <a:p>
            <a:pPr>
              <a:spcBef>
                <a:spcPct val="55000"/>
              </a:spcBef>
            </a:pPr>
            <a:r>
              <a:rPr lang="en-NZ" sz="2400" dirty="0"/>
              <a:t>Strengths (internal positives): What advantages help delivery? (e.g., strong skills, good client access). Risk use: identify strengths you must protect.</a:t>
            </a:r>
          </a:p>
          <a:p>
            <a:pPr>
              <a:spcBef>
                <a:spcPct val="55000"/>
              </a:spcBef>
            </a:pPr>
            <a:r>
              <a:rPr lang="en-NZ" sz="2400" dirty="0"/>
              <a:t>Weaknesses (internal negatives): What internal gaps could hurt delivery? (e.g., low skill in a tool, poor availability). These often become risks if not addressed.</a:t>
            </a:r>
          </a:p>
          <a:p>
            <a:pPr>
              <a:spcBef>
                <a:spcPct val="55000"/>
              </a:spcBef>
            </a:pPr>
            <a:r>
              <a:rPr lang="en-NZ" sz="2400" dirty="0"/>
              <a:t>Opportunities (external positives): What outside factors could help the project? (e.g., client provides templates, free tool access). Convert to positive risks you can exploit.</a:t>
            </a:r>
          </a:p>
          <a:p>
            <a:pPr>
              <a:spcBef>
                <a:spcPct val="55000"/>
              </a:spcBef>
            </a:pPr>
            <a:r>
              <a:rPr lang="en-NZ" sz="2400" dirty="0"/>
              <a:t>Threats (external negatives): What outside factors could block the project? (e.g., delayed approvals, data access limits, stakeholder resistance). These are your major risks.</a:t>
            </a:r>
            <a:endParaRPr lang="en-US" sz="2400" dirty="0"/>
          </a:p>
        </p:txBody>
      </p:sp>
      <p:sp>
        <p:nvSpPr>
          <p:cNvPr id="6" name="Slide Number Placeholder 5">
            <a:extLst>
              <a:ext uri="{FF2B5EF4-FFF2-40B4-BE49-F238E27FC236}">
                <a16:creationId xmlns:a16="http://schemas.microsoft.com/office/drawing/2014/main" id="{0512E11F-AC79-DED9-1FEA-A125C23F0627}"/>
              </a:ext>
            </a:extLst>
          </p:cNvPr>
          <p:cNvSpPr>
            <a:spLocks noGrp="1"/>
          </p:cNvSpPr>
          <p:nvPr>
            <p:ph type="sldNum" sz="quarter" idx="12"/>
          </p:nvPr>
        </p:nvSpPr>
        <p:spPr/>
        <p:txBody>
          <a:bodyPr/>
          <a:lstStyle/>
          <a:p>
            <a:pPr>
              <a:defRPr/>
            </a:pPr>
            <a:endParaRPr lang="en-US" dirty="0">
              <a:solidFill>
                <a:prstClr val="black"/>
              </a:solidFill>
            </a:endParaRPr>
          </a:p>
        </p:txBody>
      </p:sp>
    </p:spTree>
    <p:extLst>
      <p:ext uri="{BB962C8B-B14F-4D97-AF65-F5344CB8AC3E}">
        <p14:creationId xmlns:p14="http://schemas.microsoft.com/office/powerpoint/2010/main" val="756342472"/>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409C8D28-E8A3-47A2-FF58-E394DEE1900B}"/>
            </a:ext>
          </a:extLst>
        </p:cNvPr>
        <p:cNvGrpSpPr/>
        <p:nvPr/>
      </p:nvGrpSpPr>
      <p:grpSpPr>
        <a:xfrm>
          <a:off x="0" y="0"/>
          <a:ext cx="0" cy="0"/>
          <a:chOff x="0" y="0"/>
          <a:chExt cx="0" cy="0"/>
        </a:xfrm>
      </p:grpSpPr>
      <p:sp>
        <p:nvSpPr>
          <p:cNvPr id="36866" name="Rectangle 2">
            <a:extLst>
              <a:ext uri="{FF2B5EF4-FFF2-40B4-BE49-F238E27FC236}">
                <a16:creationId xmlns:a16="http://schemas.microsoft.com/office/drawing/2014/main" id="{B455CC1E-8AE9-10B4-56B0-BF7343FCE77C}"/>
              </a:ext>
            </a:extLst>
          </p:cNvPr>
          <p:cNvSpPr>
            <a:spLocks noGrp="1" noChangeArrowheads="1"/>
          </p:cNvSpPr>
          <p:nvPr>
            <p:ph type="title"/>
          </p:nvPr>
        </p:nvSpPr>
        <p:spPr>
          <a:xfrm>
            <a:off x="2413958" y="582283"/>
            <a:ext cx="8229600" cy="1143000"/>
          </a:xfrm>
        </p:spPr>
        <p:txBody>
          <a:bodyPr>
            <a:normAutofit fontScale="90000"/>
          </a:bodyPr>
          <a:lstStyle/>
          <a:p>
            <a:r>
              <a:rPr lang="en-US" b="1" dirty="0">
                <a:solidFill>
                  <a:schemeClr val="accent2"/>
                </a:solidFill>
              </a:rPr>
              <a:t>Planning Process Group: </a:t>
            </a:r>
            <a:r>
              <a:rPr lang="en-US" dirty="0">
                <a:solidFill>
                  <a:schemeClr val="accent2"/>
                </a:solidFill>
              </a:rPr>
              <a:t>SWOT analysis</a:t>
            </a:r>
            <a:br>
              <a:rPr lang="en-US" dirty="0"/>
            </a:br>
            <a:br>
              <a:rPr lang="en-US" dirty="0"/>
            </a:br>
            <a:endParaRPr lang="en-US" dirty="0"/>
          </a:p>
        </p:txBody>
      </p:sp>
      <p:sp>
        <p:nvSpPr>
          <p:cNvPr id="36867" name="Rectangle 3">
            <a:extLst>
              <a:ext uri="{FF2B5EF4-FFF2-40B4-BE49-F238E27FC236}">
                <a16:creationId xmlns:a16="http://schemas.microsoft.com/office/drawing/2014/main" id="{755E981A-8493-6195-5768-2E6290C7D7C7}"/>
              </a:ext>
            </a:extLst>
          </p:cNvPr>
          <p:cNvSpPr>
            <a:spLocks noGrp="1" noChangeArrowheads="1"/>
          </p:cNvSpPr>
          <p:nvPr>
            <p:ph idx="1"/>
          </p:nvPr>
        </p:nvSpPr>
        <p:spPr>
          <a:xfrm>
            <a:off x="2057400" y="1055224"/>
            <a:ext cx="8077200" cy="3916362"/>
          </a:xfrm>
        </p:spPr>
        <p:txBody>
          <a:bodyPr>
            <a:noAutofit/>
          </a:bodyPr>
          <a:lstStyle/>
          <a:p>
            <a:pPr>
              <a:spcBef>
                <a:spcPct val="55000"/>
              </a:spcBef>
            </a:pPr>
            <a:r>
              <a:rPr lang="en-NZ" sz="2400" dirty="0"/>
              <a:t>SWOT = Strengths, Weaknesses, Opportunities, Threats (use it to surface risks early).</a:t>
            </a:r>
          </a:p>
          <a:p>
            <a:pPr>
              <a:spcBef>
                <a:spcPct val="55000"/>
              </a:spcBef>
            </a:pPr>
            <a:r>
              <a:rPr lang="en-NZ" sz="2400" dirty="0"/>
              <a:t>Strengths (internal positives): What advantages help delivery? (e.g., strong skills, good client access). Risk use: identify strengths you must protect.</a:t>
            </a:r>
          </a:p>
          <a:p>
            <a:pPr>
              <a:spcBef>
                <a:spcPct val="55000"/>
              </a:spcBef>
            </a:pPr>
            <a:r>
              <a:rPr lang="en-NZ" sz="2400" dirty="0"/>
              <a:t>Weaknesses (internal negatives): What internal gaps could hurt delivery? (e.g., low skill in a tool, poor availability). These often become risks if not addressed.</a:t>
            </a:r>
          </a:p>
          <a:p>
            <a:pPr>
              <a:spcBef>
                <a:spcPct val="55000"/>
              </a:spcBef>
            </a:pPr>
            <a:r>
              <a:rPr lang="en-NZ" sz="2400" dirty="0"/>
              <a:t>Opportunities (external positives): What outside factors could help the project? (e.g., client provides templates, free tool access). Convert to positive risks you can exploit.</a:t>
            </a:r>
          </a:p>
          <a:p>
            <a:pPr>
              <a:spcBef>
                <a:spcPct val="55000"/>
              </a:spcBef>
            </a:pPr>
            <a:r>
              <a:rPr lang="en-NZ" sz="2400" dirty="0"/>
              <a:t>Threats (external negatives): What outside factors could block the project? (e.g., delayed approvals, data access limits, stakeholder resistance). These are your major risks.</a:t>
            </a:r>
            <a:endParaRPr lang="en-US" sz="2400" dirty="0"/>
          </a:p>
        </p:txBody>
      </p:sp>
      <p:sp>
        <p:nvSpPr>
          <p:cNvPr id="6" name="Slide Number Placeholder 5">
            <a:extLst>
              <a:ext uri="{FF2B5EF4-FFF2-40B4-BE49-F238E27FC236}">
                <a16:creationId xmlns:a16="http://schemas.microsoft.com/office/drawing/2014/main" id="{57294B08-3063-44EE-65D3-547C198F4A07}"/>
              </a:ext>
            </a:extLst>
          </p:cNvPr>
          <p:cNvSpPr>
            <a:spLocks noGrp="1"/>
          </p:cNvSpPr>
          <p:nvPr>
            <p:ph type="sldNum" sz="quarter" idx="12"/>
          </p:nvPr>
        </p:nvSpPr>
        <p:spPr/>
        <p:txBody>
          <a:bodyPr/>
          <a:lstStyle/>
          <a:p>
            <a:pPr>
              <a:defRPr/>
            </a:pPr>
            <a:endParaRPr lang="en-US" dirty="0">
              <a:solidFill>
                <a:prstClr val="black"/>
              </a:solidFill>
            </a:endParaRPr>
          </a:p>
        </p:txBody>
      </p:sp>
    </p:spTree>
    <p:extLst>
      <p:ext uri="{BB962C8B-B14F-4D97-AF65-F5344CB8AC3E}">
        <p14:creationId xmlns:p14="http://schemas.microsoft.com/office/powerpoint/2010/main" val="3866937975"/>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2EC12958-23AB-2620-1FA7-DFC1F8B25D22}"/>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21EB2965-0CBB-19A9-5E4E-01F498646697}"/>
              </a:ext>
            </a:extLst>
          </p:cNvPr>
          <p:cNvSpPr>
            <a:spLocks noGrp="1" noChangeArrowheads="1"/>
          </p:cNvSpPr>
          <p:nvPr>
            <p:ph type="title"/>
          </p:nvPr>
        </p:nvSpPr>
        <p:spPr>
          <a:xfrm>
            <a:off x="838199" y="365125"/>
            <a:ext cx="11182815" cy="1325563"/>
          </a:xfrm>
        </p:spPr>
        <p:txBody>
          <a:bodyPr>
            <a:normAutofit/>
          </a:bodyPr>
          <a:lstStyle/>
          <a:p>
            <a:r>
              <a:rPr lang="en-US" dirty="0">
                <a:solidFill>
                  <a:schemeClr val="accent2">
                    <a:lumMod val="75000"/>
                  </a:schemeClr>
                </a:solidFill>
              </a:rPr>
              <a:t>Activity Two:</a:t>
            </a:r>
            <a:r>
              <a:rPr lang="en-NZ" dirty="0">
                <a:solidFill>
                  <a:schemeClr val="accent2">
                    <a:lumMod val="75000"/>
                  </a:schemeClr>
                </a:solidFill>
              </a:rPr>
              <a:t>University Student Services App</a:t>
            </a:r>
            <a:endParaRPr lang="en-US" dirty="0">
              <a:solidFill>
                <a:schemeClr val="accent2">
                  <a:lumMod val="75000"/>
                </a:schemeClr>
              </a:solidFill>
            </a:endParaRPr>
          </a:p>
        </p:txBody>
      </p:sp>
      <p:sp>
        <p:nvSpPr>
          <p:cNvPr id="6" name="Slide Number Placeholder 5">
            <a:extLst>
              <a:ext uri="{FF2B5EF4-FFF2-40B4-BE49-F238E27FC236}">
                <a16:creationId xmlns:a16="http://schemas.microsoft.com/office/drawing/2014/main" id="{E694E51C-3684-55F8-9038-92F69DB2C9AA}"/>
              </a:ext>
            </a:extLst>
          </p:cNvPr>
          <p:cNvSpPr>
            <a:spLocks noGrp="1"/>
          </p:cNvSpPr>
          <p:nvPr>
            <p:ph type="sldNum" sz="quarter" idx="12"/>
          </p:nvPr>
        </p:nvSpPr>
        <p:spPr/>
        <p:txBody>
          <a:bodyPr/>
          <a:lstStyle/>
          <a:p>
            <a:pPr>
              <a:defRPr/>
            </a:pPr>
            <a:endParaRPr lang="en-US" dirty="0">
              <a:solidFill>
                <a:prstClr val="black"/>
              </a:solidFill>
            </a:endParaRPr>
          </a:p>
        </p:txBody>
      </p:sp>
      <p:sp>
        <p:nvSpPr>
          <p:cNvPr id="3" name="Content Placeholder 2">
            <a:extLst>
              <a:ext uri="{FF2B5EF4-FFF2-40B4-BE49-F238E27FC236}">
                <a16:creationId xmlns:a16="http://schemas.microsoft.com/office/drawing/2014/main" id="{14E2FDE7-7EEE-666A-740D-50C7FB18EB39}"/>
              </a:ext>
            </a:extLst>
          </p:cNvPr>
          <p:cNvSpPr>
            <a:spLocks noGrp="1"/>
          </p:cNvSpPr>
          <p:nvPr>
            <p:ph idx="1"/>
          </p:nvPr>
        </p:nvSpPr>
        <p:spPr>
          <a:xfrm>
            <a:off x="1204332" y="1825625"/>
            <a:ext cx="11073160" cy="4351338"/>
          </a:xfrm>
        </p:spPr>
        <p:txBody>
          <a:bodyPr>
            <a:normAutofit fontScale="85000" lnSpcReduction="20000"/>
          </a:bodyPr>
          <a:lstStyle/>
          <a:p>
            <a:pPr marL="0" indent="0">
              <a:buNone/>
            </a:pPr>
            <a:r>
              <a:rPr lang="en-NZ" sz="3600" dirty="0"/>
              <a:t>A student team is developing a </a:t>
            </a:r>
            <a:r>
              <a:rPr lang="en-NZ" sz="3600" b="1" dirty="0"/>
              <a:t>mobile app for university student services</a:t>
            </a:r>
            <a:r>
              <a:rPr lang="en-NZ" sz="3600" dirty="0"/>
              <a:t>. The project has strong management support, access to the university IT team, and an early prototype that received positive student feedback. However, the team has limited mobile-development experience, a short 14-week timeframe, and some difficulties integrating with existing university systems. The university sees opportunities to expand the app with more digital services in the future. At the same time, the project may be affected by cybersecurity threats, privacy requirements, and changes in third-party technologies.</a:t>
            </a:r>
          </a:p>
          <a:p>
            <a:pPr marL="0" indent="0">
              <a:buNone/>
            </a:pPr>
            <a:r>
              <a:rPr lang="en-NZ" sz="3600" dirty="0"/>
              <a:t>Task: Identify at least </a:t>
            </a:r>
            <a:r>
              <a:rPr lang="en-NZ" sz="3600" b="1" dirty="0"/>
              <a:t>three items</a:t>
            </a:r>
            <a:r>
              <a:rPr lang="en-NZ" sz="3600" dirty="0"/>
              <a:t> for each dimension of the SWOT analysis</a:t>
            </a:r>
          </a:p>
          <a:p>
            <a:endParaRPr lang="en-NZ" dirty="0"/>
          </a:p>
        </p:txBody>
      </p:sp>
    </p:spTree>
    <p:extLst>
      <p:ext uri="{BB962C8B-B14F-4D97-AF65-F5344CB8AC3E}">
        <p14:creationId xmlns:p14="http://schemas.microsoft.com/office/powerpoint/2010/main" val="1418620357"/>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a:extLst>
            <a:ext uri="{FF2B5EF4-FFF2-40B4-BE49-F238E27FC236}">
              <a16:creationId xmlns:a16="http://schemas.microsoft.com/office/drawing/2014/main" id="{E1AACEA2-A9B3-D829-33C8-6768B9570FC2}"/>
            </a:ext>
          </a:extLst>
        </p:cNvPr>
        <p:cNvGrpSpPr/>
        <p:nvPr/>
      </p:nvGrpSpPr>
      <p:grpSpPr>
        <a:xfrm>
          <a:off x="0" y="0"/>
          <a:ext cx="0" cy="0"/>
          <a:chOff x="0" y="0"/>
          <a:chExt cx="0" cy="0"/>
        </a:xfrm>
      </p:grpSpPr>
      <p:sp>
        <p:nvSpPr>
          <p:cNvPr id="36866" name="Rectangle 2">
            <a:extLst>
              <a:ext uri="{FF2B5EF4-FFF2-40B4-BE49-F238E27FC236}">
                <a16:creationId xmlns:a16="http://schemas.microsoft.com/office/drawing/2014/main" id="{5A17D29D-E4E6-1399-A57F-4EDEDA0E9119}"/>
              </a:ext>
            </a:extLst>
          </p:cNvPr>
          <p:cNvSpPr>
            <a:spLocks noGrp="1" noChangeArrowheads="1"/>
          </p:cNvSpPr>
          <p:nvPr>
            <p:ph type="title"/>
          </p:nvPr>
        </p:nvSpPr>
        <p:spPr>
          <a:xfrm>
            <a:off x="2362200" y="228600"/>
            <a:ext cx="8229600" cy="1143000"/>
          </a:xfrm>
        </p:spPr>
        <p:txBody>
          <a:bodyPr>
            <a:normAutofit fontScale="90000"/>
          </a:bodyPr>
          <a:lstStyle/>
          <a:p>
            <a:r>
              <a:rPr lang="en-US" b="1" dirty="0">
                <a:solidFill>
                  <a:schemeClr val="accent2"/>
                </a:solidFill>
              </a:rPr>
              <a:t>Planning Process Group: Interviews</a:t>
            </a:r>
            <a:endParaRPr lang="en-US" dirty="0">
              <a:solidFill>
                <a:schemeClr val="accent2"/>
              </a:solidFill>
            </a:endParaRPr>
          </a:p>
        </p:txBody>
      </p:sp>
      <p:sp>
        <p:nvSpPr>
          <p:cNvPr id="36867" name="Rectangle 3">
            <a:extLst>
              <a:ext uri="{FF2B5EF4-FFF2-40B4-BE49-F238E27FC236}">
                <a16:creationId xmlns:a16="http://schemas.microsoft.com/office/drawing/2014/main" id="{2F7F2E1D-30BA-B89C-7975-D75735C2582D}"/>
              </a:ext>
            </a:extLst>
          </p:cNvPr>
          <p:cNvSpPr>
            <a:spLocks noGrp="1" noChangeArrowheads="1"/>
          </p:cNvSpPr>
          <p:nvPr>
            <p:ph idx="1"/>
          </p:nvPr>
        </p:nvSpPr>
        <p:spPr>
          <a:xfrm>
            <a:off x="2057400" y="1470819"/>
            <a:ext cx="8077200" cy="3916362"/>
          </a:xfrm>
        </p:spPr>
        <p:txBody>
          <a:bodyPr>
            <a:noAutofit/>
          </a:bodyPr>
          <a:lstStyle/>
          <a:p>
            <a:pPr>
              <a:spcBef>
                <a:spcPct val="55000"/>
              </a:spcBef>
            </a:pPr>
            <a:r>
              <a:rPr lang="en-NZ" sz="2000" dirty="0"/>
              <a:t>Interview key stakeholders early (sponsor, client contact, users, IT/platform, privacy/security, mentor).</a:t>
            </a:r>
          </a:p>
          <a:p>
            <a:pPr>
              <a:spcBef>
                <a:spcPct val="55000"/>
              </a:spcBef>
            </a:pPr>
            <a:r>
              <a:rPr lang="en-NZ" sz="2000" dirty="0"/>
              <a:t>Ask “What could stop this project from succeeding?” (biggest blockers).</a:t>
            </a:r>
          </a:p>
          <a:p>
            <a:pPr>
              <a:spcBef>
                <a:spcPct val="55000"/>
              </a:spcBef>
            </a:pPr>
            <a:r>
              <a:rPr lang="en-NZ" sz="2000" dirty="0"/>
              <a:t>Ask “What usually goes wrong in projects like this?” (past failure patterns).</a:t>
            </a:r>
          </a:p>
          <a:p>
            <a:pPr>
              <a:spcBef>
                <a:spcPct val="55000"/>
              </a:spcBef>
            </a:pPr>
            <a:r>
              <a:rPr lang="en-NZ" sz="2000" dirty="0"/>
              <a:t>Ask “What assumptions are we making that might be wrong?” (turn assumptions into risks).</a:t>
            </a:r>
          </a:p>
          <a:p>
            <a:pPr>
              <a:spcBef>
                <a:spcPct val="55000"/>
              </a:spcBef>
            </a:pPr>
            <a:r>
              <a:rPr lang="en-NZ" sz="2000" dirty="0"/>
              <a:t>Ask “What approvals, access, or data do we depend on?” (dependency risks).Ask “What would cause delays?” (schedule and availability risks).</a:t>
            </a:r>
          </a:p>
          <a:p>
            <a:pPr>
              <a:spcBef>
                <a:spcPct val="55000"/>
              </a:spcBef>
            </a:pPr>
            <a:r>
              <a:rPr lang="en-NZ" sz="2000" dirty="0"/>
              <a:t>Ask “What quality problems do you worry about?” (defects, usability, reliability).</a:t>
            </a:r>
          </a:p>
          <a:p>
            <a:pPr>
              <a:spcBef>
                <a:spcPct val="55000"/>
              </a:spcBef>
            </a:pPr>
            <a:r>
              <a:rPr lang="en-NZ" sz="2000" dirty="0"/>
              <a:t>Ask “What privacy/security concerns must we meet?” (compliance risks).</a:t>
            </a:r>
          </a:p>
          <a:p>
            <a:pPr>
              <a:spcBef>
                <a:spcPct val="55000"/>
              </a:spcBef>
            </a:pPr>
            <a:r>
              <a:rPr lang="en-NZ" sz="2000" dirty="0"/>
              <a:t>Ask “What does success look like—and what would disappoint you?” (expectation and acceptance risks).</a:t>
            </a:r>
            <a:endParaRPr lang="en-US" sz="2000" dirty="0"/>
          </a:p>
        </p:txBody>
      </p:sp>
      <p:sp>
        <p:nvSpPr>
          <p:cNvPr id="6" name="Slide Number Placeholder 5">
            <a:extLst>
              <a:ext uri="{FF2B5EF4-FFF2-40B4-BE49-F238E27FC236}">
                <a16:creationId xmlns:a16="http://schemas.microsoft.com/office/drawing/2014/main" id="{AF2DAAA2-AAB8-B3F5-CA81-20A889E9D7CE}"/>
              </a:ext>
            </a:extLst>
          </p:cNvPr>
          <p:cNvSpPr>
            <a:spLocks noGrp="1"/>
          </p:cNvSpPr>
          <p:nvPr>
            <p:ph type="sldNum" sz="quarter" idx="12"/>
          </p:nvPr>
        </p:nvSpPr>
        <p:spPr/>
        <p:txBody>
          <a:bodyPr/>
          <a:lstStyle/>
          <a:p>
            <a:pPr>
              <a:defRPr/>
            </a:pPr>
            <a:endParaRPr lang="en-US" dirty="0">
              <a:solidFill>
                <a:prstClr val="black"/>
              </a:solidFill>
            </a:endParaRPr>
          </a:p>
        </p:txBody>
      </p:sp>
    </p:spTree>
    <p:extLst>
      <p:ext uri="{BB962C8B-B14F-4D97-AF65-F5344CB8AC3E}">
        <p14:creationId xmlns:p14="http://schemas.microsoft.com/office/powerpoint/2010/main" val="1800426178"/>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D2103-E2D7-4211-B01B-7DBFD18D6408}"/>
              </a:ext>
            </a:extLst>
          </p:cNvPr>
          <p:cNvSpPr>
            <a:spLocks noGrp="1"/>
          </p:cNvSpPr>
          <p:nvPr>
            <p:ph type="title"/>
          </p:nvPr>
        </p:nvSpPr>
        <p:spPr/>
        <p:txBody>
          <a:bodyPr/>
          <a:lstStyle/>
          <a:p>
            <a:r>
              <a:rPr lang="en-US" dirty="0"/>
              <a:t>The Risk Register (1 of 4)</a:t>
            </a:r>
            <a:endParaRPr lang="en-NZ" dirty="0"/>
          </a:p>
        </p:txBody>
      </p:sp>
      <p:sp>
        <p:nvSpPr>
          <p:cNvPr id="3" name="Text Placeholder 2">
            <a:extLst>
              <a:ext uri="{FF2B5EF4-FFF2-40B4-BE49-F238E27FC236}">
                <a16:creationId xmlns:a16="http://schemas.microsoft.com/office/drawing/2014/main" id="{85285FE1-C33F-41EA-BA85-173E81DE8D80}"/>
              </a:ext>
            </a:extLst>
          </p:cNvPr>
          <p:cNvSpPr>
            <a:spLocks noGrp="1"/>
          </p:cNvSpPr>
          <p:nvPr>
            <p:ph type="body" sz="quarter" idx="13"/>
          </p:nvPr>
        </p:nvSpPr>
        <p:spPr/>
        <p:txBody>
          <a:bodyPr/>
          <a:lstStyle/>
          <a:p>
            <a:r>
              <a:rPr lang="en-US" dirty="0"/>
              <a:t>Important output of the risk identification process </a:t>
            </a:r>
          </a:p>
          <a:p>
            <a:pPr lvl="1"/>
            <a:r>
              <a:rPr lang="en-US" dirty="0">
                <a:solidFill>
                  <a:srgbClr val="FF0000"/>
                </a:solidFill>
              </a:rPr>
              <a:t>List of identified risks </a:t>
            </a:r>
            <a:r>
              <a:rPr lang="en-US" dirty="0"/>
              <a:t>and other information needed to begin creating a risk register</a:t>
            </a:r>
          </a:p>
          <a:p>
            <a:pPr lvl="1"/>
            <a:r>
              <a:rPr lang="en-US" dirty="0"/>
              <a:t>Risk events refer to specific, uncertain events that may occur to the detriment or enhancement of the project</a:t>
            </a:r>
          </a:p>
          <a:p>
            <a:endParaRPr lang="en-NZ" dirty="0"/>
          </a:p>
        </p:txBody>
      </p:sp>
    </p:spTree>
    <p:extLst>
      <p:ext uri="{BB962C8B-B14F-4D97-AF65-F5344CB8AC3E}">
        <p14:creationId xmlns:p14="http://schemas.microsoft.com/office/powerpoint/2010/main" val="2824615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A3431-6A7E-46FC-9B83-C9D9FBEC4276}"/>
              </a:ext>
            </a:extLst>
          </p:cNvPr>
          <p:cNvSpPr>
            <a:spLocks noGrp="1"/>
          </p:cNvSpPr>
          <p:nvPr>
            <p:ph type="title"/>
          </p:nvPr>
        </p:nvSpPr>
        <p:spPr/>
        <p:txBody>
          <a:bodyPr/>
          <a:lstStyle/>
          <a:p>
            <a:r>
              <a:rPr lang="en-US" dirty="0"/>
              <a:t>The Risk Register (2 of 4)</a:t>
            </a:r>
            <a:endParaRPr lang="en-NZ" dirty="0"/>
          </a:p>
        </p:txBody>
      </p:sp>
      <p:sp>
        <p:nvSpPr>
          <p:cNvPr id="3" name="Text Placeholder 2">
            <a:extLst>
              <a:ext uri="{FF2B5EF4-FFF2-40B4-BE49-F238E27FC236}">
                <a16:creationId xmlns:a16="http://schemas.microsoft.com/office/drawing/2014/main" id="{4F5C0874-6559-4E37-978F-743D30DD2E45}"/>
              </a:ext>
            </a:extLst>
          </p:cNvPr>
          <p:cNvSpPr>
            <a:spLocks noGrp="1"/>
          </p:cNvSpPr>
          <p:nvPr>
            <p:ph type="body" sz="quarter" idx="13"/>
          </p:nvPr>
        </p:nvSpPr>
        <p:spPr/>
        <p:txBody>
          <a:bodyPr>
            <a:normAutofit lnSpcReduction="10000"/>
          </a:bodyPr>
          <a:lstStyle/>
          <a:p>
            <a:r>
              <a:rPr lang="en-US" dirty="0"/>
              <a:t>Risk register contents</a:t>
            </a:r>
          </a:p>
          <a:p>
            <a:pPr lvl="1"/>
            <a:r>
              <a:rPr lang="en-US" dirty="0"/>
              <a:t>Identification number for each risk event</a:t>
            </a:r>
          </a:p>
          <a:p>
            <a:pPr lvl="1"/>
            <a:r>
              <a:rPr lang="en-US" dirty="0"/>
              <a:t>Rank for each risk event</a:t>
            </a:r>
          </a:p>
          <a:p>
            <a:pPr lvl="1"/>
            <a:r>
              <a:rPr lang="en-US" dirty="0"/>
              <a:t>Name of each risk event</a:t>
            </a:r>
          </a:p>
          <a:p>
            <a:pPr lvl="1"/>
            <a:r>
              <a:rPr lang="en-US" dirty="0"/>
              <a:t>Description of each risk event</a:t>
            </a:r>
          </a:p>
          <a:p>
            <a:pPr lvl="1"/>
            <a:r>
              <a:rPr lang="en-US" dirty="0"/>
              <a:t>Category under which each risk event falls</a:t>
            </a:r>
          </a:p>
          <a:p>
            <a:pPr lvl="1"/>
            <a:r>
              <a:rPr lang="en-US" dirty="0"/>
              <a:t>Root cause of each risk</a:t>
            </a:r>
          </a:p>
          <a:p>
            <a:pPr lvl="1"/>
            <a:r>
              <a:rPr lang="en-US" dirty="0"/>
              <a:t>Triggers for each risk; indicators or symptoms of actual risk events</a:t>
            </a:r>
          </a:p>
          <a:p>
            <a:pPr lvl="1"/>
            <a:r>
              <a:rPr lang="en-US" dirty="0"/>
              <a:t>Potential responses to each risk</a:t>
            </a:r>
          </a:p>
          <a:p>
            <a:pPr lvl="1"/>
            <a:r>
              <a:rPr lang="en-US" dirty="0"/>
              <a:t>Risk owner or person who will own or take responsibility for each risk</a:t>
            </a:r>
          </a:p>
          <a:p>
            <a:pPr lvl="1"/>
            <a:r>
              <a:rPr lang="en-US" dirty="0"/>
              <a:t>Probability and impact of each risk occurring</a:t>
            </a:r>
          </a:p>
          <a:p>
            <a:pPr lvl="1"/>
            <a:r>
              <a:rPr lang="en-US" dirty="0"/>
              <a:t>Status of each risk</a:t>
            </a:r>
          </a:p>
          <a:p>
            <a:endParaRPr lang="en-NZ" dirty="0"/>
          </a:p>
        </p:txBody>
      </p:sp>
    </p:spTree>
    <p:extLst>
      <p:ext uri="{BB962C8B-B14F-4D97-AF65-F5344CB8AC3E}">
        <p14:creationId xmlns:p14="http://schemas.microsoft.com/office/powerpoint/2010/main" val="27283877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1D5E4-C880-409C-B9F1-D94745EEEE57}"/>
              </a:ext>
            </a:extLst>
          </p:cNvPr>
          <p:cNvSpPr>
            <a:spLocks noGrp="1"/>
          </p:cNvSpPr>
          <p:nvPr>
            <p:ph type="title"/>
          </p:nvPr>
        </p:nvSpPr>
        <p:spPr/>
        <p:txBody>
          <a:bodyPr/>
          <a:lstStyle/>
          <a:p>
            <a:r>
              <a:rPr lang="en-US" dirty="0"/>
              <a:t>The Risk Register (3 of 4) </a:t>
            </a:r>
            <a:endParaRPr lang="en-NZ" dirty="0"/>
          </a:p>
        </p:txBody>
      </p:sp>
      <p:graphicFrame>
        <p:nvGraphicFramePr>
          <p:cNvPr id="4" name="Content Placeholder 1">
            <a:extLst>
              <a:ext uri="{FF2B5EF4-FFF2-40B4-BE49-F238E27FC236}">
                <a16:creationId xmlns:a16="http://schemas.microsoft.com/office/drawing/2014/main" id="{05AD825E-D707-4A8D-BFB8-6140345B0876}"/>
              </a:ext>
            </a:extLst>
          </p:cNvPr>
          <p:cNvGraphicFramePr>
            <a:graphicFrameLocks/>
          </p:cNvGraphicFramePr>
          <p:nvPr>
            <p:extLst>
              <p:ext uri="{D42A27DB-BD31-4B8C-83A1-F6EECF244321}">
                <p14:modId xmlns:p14="http://schemas.microsoft.com/office/powerpoint/2010/main" val="1147193268"/>
              </p:ext>
            </p:extLst>
          </p:nvPr>
        </p:nvGraphicFramePr>
        <p:xfrm>
          <a:off x="1436913" y="1573886"/>
          <a:ext cx="10515601" cy="1958588"/>
        </p:xfrm>
        <a:graphic>
          <a:graphicData uri="http://schemas.openxmlformats.org/drawingml/2006/table">
            <a:tbl>
              <a:tblPr firstRow="1" bandRow="1">
                <a:tableStyleId>{5C22544A-7EE6-4342-B048-85BDC9FD1C3A}</a:tableStyleId>
              </a:tblPr>
              <a:tblGrid>
                <a:gridCol w="612845">
                  <a:extLst>
                    <a:ext uri="{9D8B030D-6E8A-4147-A177-3AD203B41FA5}">
                      <a16:colId xmlns:a16="http://schemas.microsoft.com/office/drawing/2014/main" val="2505686690"/>
                    </a:ext>
                  </a:extLst>
                </a:gridCol>
                <a:gridCol w="634559">
                  <a:extLst>
                    <a:ext uri="{9D8B030D-6E8A-4147-A177-3AD203B41FA5}">
                      <a16:colId xmlns:a16="http://schemas.microsoft.com/office/drawing/2014/main" val="3876591815"/>
                    </a:ext>
                  </a:extLst>
                </a:gridCol>
                <a:gridCol w="570720">
                  <a:extLst>
                    <a:ext uri="{9D8B030D-6E8A-4147-A177-3AD203B41FA5}">
                      <a16:colId xmlns:a16="http://schemas.microsoft.com/office/drawing/2014/main" val="3634639921"/>
                    </a:ext>
                  </a:extLst>
                </a:gridCol>
                <a:gridCol w="1235953">
                  <a:extLst>
                    <a:ext uri="{9D8B030D-6E8A-4147-A177-3AD203B41FA5}">
                      <a16:colId xmlns:a16="http://schemas.microsoft.com/office/drawing/2014/main" val="600033992"/>
                    </a:ext>
                  </a:extLst>
                </a:gridCol>
                <a:gridCol w="1099701">
                  <a:extLst>
                    <a:ext uri="{9D8B030D-6E8A-4147-A177-3AD203B41FA5}">
                      <a16:colId xmlns:a16="http://schemas.microsoft.com/office/drawing/2014/main" val="1752816799"/>
                    </a:ext>
                  </a:extLst>
                </a:gridCol>
                <a:gridCol w="739986">
                  <a:extLst>
                    <a:ext uri="{9D8B030D-6E8A-4147-A177-3AD203B41FA5}">
                      <a16:colId xmlns:a16="http://schemas.microsoft.com/office/drawing/2014/main" val="1108986903"/>
                    </a:ext>
                  </a:extLst>
                </a:gridCol>
                <a:gridCol w="688597">
                  <a:extLst>
                    <a:ext uri="{9D8B030D-6E8A-4147-A177-3AD203B41FA5}">
                      <a16:colId xmlns:a16="http://schemas.microsoft.com/office/drawing/2014/main" val="3640227374"/>
                    </a:ext>
                  </a:extLst>
                </a:gridCol>
                <a:gridCol w="1120257">
                  <a:extLst>
                    <a:ext uri="{9D8B030D-6E8A-4147-A177-3AD203B41FA5}">
                      <a16:colId xmlns:a16="http://schemas.microsoft.com/office/drawing/2014/main" val="1984739339"/>
                    </a:ext>
                  </a:extLst>
                </a:gridCol>
                <a:gridCol w="779841">
                  <a:extLst>
                    <a:ext uri="{9D8B030D-6E8A-4147-A177-3AD203B41FA5}">
                      <a16:colId xmlns:a16="http://schemas.microsoft.com/office/drawing/2014/main" val="1535526502"/>
                    </a:ext>
                  </a:extLst>
                </a:gridCol>
                <a:gridCol w="1285953">
                  <a:extLst>
                    <a:ext uri="{9D8B030D-6E8A-4147-A177-3AD203B41FA5}">
                      <a16:colId xmlns:a16="http://schemas.microsoft.com/office/drawing/2014/main" val="3455736920"/>
                    </a:ext>
                  </a:extLst>
                </a:gridCol>
                <a:gridCol w="883872">
                  <a:extLst>
                    <a:ext uri="{9D8B030D-6E8A-4147-A177-3AD203B41FA5}">
                      <a16:colId xmlns:a16="http://schemas.microsoft.com/office/drawing/2014/main" val="591515266"/>
                    </a:ext>
                  </a:extLst>
                </a:gridCol>
                <a:gridCol w="863317">
                  <a:extLst>
                    <a:ext uri="{9D8B030D-6E8A-4147-A177-3AD203B41FA5}">
                      <a16:colId xmlns:a16="http://schemas.microsoft.com/office/drawing/2014/main" val="1901474018"/>
                    </a:ext>
                  </a:extLst>
                </a:gridCol>
              </a:tblGrid>
              <a:tr h="861308">
                <a:tc>
                  <a:txBody>
                    <a:bodyPr/>
                    <a:lstStyle/>
                    <a:p>
                      <a:r>
                        <a:rPr lang="en-US" sz="1600" dirty="0"/>
                        <a:t>No.</a:t>
                      </a:r>
                    </a:p>
                  </a:txBody>
                  <a:tcPr/>
                </a:tc>
                <a:tc>
                  <a:txBody>
                    <a:bodyPr/>
                    <a:lstStyle/>
                    <a:p>
                      <a:r>
                        <a:rPr lang="en-US" sz="1600" dirty="0"/>
                        <a:t>Rank</a:t>
                      </a:r>
                    </a:p>
                  </a:txBody>
                  <a:tcPr/>
                </a:tc>
                <a:tc>
                  <a:txBody>
                    <a:bodyPr/>
                    <a:lstStyle/>
                    <a:p>
                      <a:r>
                        <a:rPr lang="en-US" sz="1600" dirty="0"/>
                        <a:t>Risk</a:t>
                      </a:r>
                    </a:p>
                  </a:txBody>
                  <a:tcPr/>
                </a:tc>
                <a:tc>
                  <a:txBody>
                    <a:bodyPr/>
                    <a:lstStyle/>
                    <a:p>
                      <a:r>
                        <a:rPr lang="en-US" sz="1600" dirty="0"/>
                        <a:t>Description</a:t>
                      </a:r>
                    </a:p>
                  </a:txBody>
                  <a:tcPr/>
                </a:tc>
                <a:tc>
                  <a:txBody>
                    <a:bodyPr/>
                    <a:lstStyle/>
                    <a:p>
                      <a:r>
                        <a:rPr lang="en-US" sz="1600" dirty="0"/>
                        <a:t>Category</a:t>
                      </a:r>
                    </a:p>
                  </a:txBody>
                  <a:tcPr/>
                </a:tc>
                <a:tc>
                  <a:txBody>
                    <a:bodyPr/>
                    <a:lstStyle/>
                    <a:p>
                      <a:r>
                        <a:rPr lang="en-US" sz="1600" dirty="0"/>
                        <a:t>Root Cause</a:t>
                      </a:r>
                    </a:p>
                  </a:txBody>
                  <a:tcPr/>
                </a:tc>
                <a:tc>
                  <a:txBody>
                    <a:bodyPr/>
                    <a:lstStyle/>
                    <a:p>
                      <a:r>
                        <a:rPr lang="en-US" sz="1600" dirty="0"/>
                        <a:t>Triggers</a:t>
                      </a:r>
                    </a:p>
                  </a:txBody>
                  <a:tcPr/>
                </a:tc>
                <a:tc>
                  <a:txBody>
                    <a:bodyPr/>
                    <a:lstStyle/>
                    <a:p>
                      <a:r>
                        <a:rPr lang="en-US" sz="1600" dirty="0"/>
                        <a:t>Potential Responses</a:t>
                      </a:r>
                    </a:p>
                  </a:txBody>
                  <a:tcPr/>
                </a:tc>
                <a:tc>
                  <a:txBody>
                    <a:bodyPr/>
                    <a:lstStyle/>
                    <a:p>
                      <a:r>
                        <a:rPr lang="en-US" sz="1600" dirty="0"/>
                        <a:t>Risk Owner</a:t>
                      </a:r>
                    </a:p>
                  </a:txBody>
                  <a:tcPr/>
                </a:tc>
                <a:tc>
                  <a:txBody>
                    <a:bodyPr/>
                    <a:lstStyle/>
                    <a:p>
                      <a:r>
                        <a:rPr lang="en-US" sz="1600" dirty="0"/>
                        <a:t>Probability</a:t>
                      </a:r>
                    </a:p>
                  </a:txBody>
                  <a:tcPr/>
                </a:tc>
                <a:tc>
                  <a:txBody>
                    <a:bodyPr/>
                    <a:lstStyle/>
                    <a:p>
                      <a:r>
                        <a:rPr lang="en-US" sz="1600" dirty="0"/>
                        <a:t>Impact</a:t>
                      </a:r>
                    </a:p>
                  </a:txBody>
                  <a:tcPr/>
                </a:tc>
                <a:tc>
                  <a:txBody>
                    <a:bodyPr/>
                    <a:lstStyle/>
                    <a:p>
                      <a:r>
                        <a:rPr lang="en-US" sz="1600" dirty="0"/>
                        <a:t>Status</a:t>
                      </a:r>
                    </a:p>
                  </a:txBody>
                  <a:tcPr/>
                </a:tc>
                <a:extLst>
                  <a:ext uri="{0D108BD9-81ED-4DB2-BD59-A6C34878D82A}">
                    <a16:rowId xmlns:a16="http://schemas.microsoft.com/office/drawing/2014/main" val="1772635112"/>
                  </a:ext>
                </a:extLst>
              </a:tr>
              <a:tr h="344523">
                <a:tc>
                  <a:txBody>
                    <a:bodyPr/>
                    <a:lstStyle/>
                    <a:p>
                      <a:r>
                        <a:rPr lang="en-US" sz="1800" dirty="0"/>
                        <a:t>R44</a:t>
                      </a:r>
                    </a:p>
                  </a:txBody>
                  <a:tcPr/>
                </a:tc>
                <a:tc>
                  <a:txBody>
                    <a:bodyPr/>
                    <a:lstStyle/>
                    <a:p>
                      <a:r>
                        <a:rPr lang="en-US" sz="1800" dirty="0"/>
                        <a:t>1</a:t>
                      </a:r>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extLst>
                  <a:ext uri="{0D108BD9-81ED-4DB2-BD59-A6C34878D82A}">
                    <a16:rowId xmlns:a16="http://schemas.microsoft.com/office/drawing/2014/main" val="3933313664"/>
                  </a:ext>
                </a:extLst>
              </a:tr>
              <a:tr h="344523">
                <a:tc>
                  <a:txBody>
                    <a:bodyPr/>
                    <a:lstStyle/>
                    <a:p>
                      <a:r>
                        <a:rPr lang="en-US" sz="1800" dirty="0"/>
                        <a:t>R21</a:t>
                      </a:r>
                    </a:p>
                  </a:txBody>
                  <a:tcPr/>
                </a:tc>
                <a:tc>
                  <a:txBody>
                    <a:bodyPr/>
                    <a:lstStyle/>
                    <a:p>
                      <a:r>
                        <a:rPr lang="en-US" sz="1800" dirty="0"/>
                        <a:t>2</a:t>
                      </a:r>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extLst>
                  <a:ext uri="{0D108BD9-81ED-4DB2-BD59-A6C34878D82A}">
                    <a16:rowId xmlns:a16="http://schemas.microsoft.com/office/drawing/2014/main" val="4050897370"/>
                  </a:ext>
                </a:extLst>
              </a:tr>
              <a:tr h="344523">
                <a:tc>
                  <a:txBody>
                    <a:bodyPr/>
                    <a:lstStyle/>
                    <a:p>
                      <a:r>
                        <a:rPr lang="en-US" sz="1800" dirty="0"/>
                        <a:t>R7</a:t>
                      </a:r>
                    </a:p>
                  </a:txBody>
                  <a:tcPr/>
                </a:tc>
                <a:tc>
                  <a:txBody>
                    <a:bodyPr/>
                    <a:lstStyle/>
                    <a:p>
                      <a:r>
                        <a:rPr lang="en-US" sz="1800" dirty="0"/>
                        <a:t>3</a:t>
                      </a:r>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tc>
                  <a:txBody>
                    <a:bodyPr/>
                    <a:lstStyle/>
                    <a:p>
                      <a:endParaRPr lang="en-US" sz="1800" dirty="0"/>
                    </a:p>
                  </a:txBody>
                  <a:tcPr/>
                </a:tc>
                <a:extLst>
                  <a:ext uri="{0D108BD9-81ED-4DB2-BD59-A6C34878D82A}">
                    <a16:rowId xmlns:a16="http://schemas.microsoft.com/office/drawing/2014/main" val="3419966001"/>
                  </a:ext>
                </a:extLst>
              </a:tr>
            </a:tbl>
          </a:graphicData>
        </a:graphic>
      </p:graphicFrame>
      <p:sp>
        <p:nvSpPr>
          <p:cNvPr id="5" name="Rectangle 4">
            <a:extLst>
              <a:ext uri="{FF2B5EF4-FFF2-40B4-BE49-F238E27FC236}">
                <a16:creationId xmlns:a16="http://schemas.microsoft.com/office/drawing/2014/main" id="{6EC7C8C7-A292-494D-8C1E-7566AD31BE03}"/>
              </a:ext>
            </a:extLst>
          </p:cNvPr>
          <p:cNvSpPr/>
          <p:nvPr/>
        </p:nvSpPr>
        <p:spPr>
          <a:xfrm>
            <a:off x="4976255" y="6061988"/>
            <a:ext cx="4058162" cy="430887"/>
          </a:xfrm>
          <a:prstGeom prst="rect">
            <a:avLst/>
          </a:prstGeom>
        </p:spPr>
        <p:txBody>
          <a:bodyPr wrap="none">
            <a:spAutoFit/>
          </a:bodyPr>
          <a:lstStyle/>
          <a:p>
            <a:r>
              <a:rPr lang="en-US" dirty="0"/>
              <a:t>Table 11-4 Sample risk register</a:t>
            </a:r>
          </a:p>
        </p:txBody>
      </p:sp>
    </p:spTree>
    <p:extLst>
      <p:ext uri="{BB962C8B-B14F-4D97-AF65-F5344CB8AC3E}">
        <p14:creationId xmlns:p14="http://schemas.microsoft.com/office/powerpoint/2010/main" val="16464122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69C60-61F3-C49B-B338-6B0088BCB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31831-6F9E-8373-10E9-D654C2D77C56}"/>
              </a:ext>
            </a:extLst>
          </p:cNvPr>
          <p:cNvSpPr>
            <a:spLocks noGrp="1"/>
          </p:cNvSpPr>
          <p:nvPr>
            <p:ph type="title"/>
          </p:nvPr>
        </p:nvSpPr>
        <p:spPr/>
        <p:txBody>
          <a:bodyPr/>
          <a:lstStyle/>
          <a:p>
            <a:r>
              <a:rPr lang="en-US" dirty="0"/>
              <a:t>Activity Three: </a:t>
            </a:r>
            <a:r>
              <a:rPr lang="en-NZ" dirty="0"/>
              <a:t>Identify Risks and Develop a Risk Register</a:t>
            </a:r>
          </a:p>
        </p:txBody>
      </p:sp>
      <p:sp>
        <p:nvSpPr>
          <p:cNvPr id="6" name="TextBox 5">
            <a:extLst>
              <a:ext uri="{FF2B5EF4-FFF2-40B4-BE49-F238E27FC236}">
                <a16:creationId xmlns:a16="http://schemas.microsoft.com/office/drawing/2014/main" id="{33B11E3F-2E80-36AF-4C1A-B3D6687DE7B5}"/>
              </a:ext>
            </a:extLst>
          </p:cNvPr>
          <p:cNvSpPr txBox="1"/>
          <p:nvPr/>
        </p:nvSpPr>
        <p:spPr>
          <a:xfrm>
            <a:off x="1229421" y="1675239"/>
            <a:ext cx="10825047" cy="4524315"/>
          </a:xfrm>
          <a:prstGeom prst="rect">
            <a:avLst/>
          </a:prstGeom>
          <a:noFill/>
        </p:spPr>
        <p:txBody>
          <a:bodyPr wrap="square">
            <a:spAutoFit/>
          </a:bodyPr>
          <a:lstStyle/>
          <a:p>
            <a:pPr>
              <a:buNone/>
            </a:pPr>
            <a:r>
              <a:rPr lang="en-NZ" sz="2400" dirty="0"/>
              <a:t>A project team has 12 weeks to develop an online booking system for a healthcare organisation. The system will allow customers to create accounts, book and cancel appointments, make online payments, and receive appointment reminders. The client expects the system to be ready before the start of a new service launch. During planning, the team discovers that the client has not finalised the payment requirements, and the project depends on integration with an external payment provider. One developer has limited experience with the selected technology, while another developer is working on two projects at the same time. The client is also frequently unavailable to review completed work and confirm requirements. The system will store personal customer and appointment information, but security and privacy testing have not yet been planned. The team has also not agreed on a backup approach if the external payment integration is delayed or fails.</a:t>
            </a:r>
          </a:p>
        </p:txBody>
      </p:sp>
    </p:spTree>
    <p:extLst>
      <p:ext uri="{BB962C8B-B14F-4D97-AF65-F5344CB8AC3E}">
        <p14:creationId xmlns:p14="http://schemas.microsoft.com/office/powerpoint/2010/main" val="2480793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57618-21FF-4665-B5E8-7F4093021C79}"/>
              </a:ext>
            </a:extLst>
          </p:cNvPr>
          <p:cNvSpPr>
            <a:spLocks noGrp="1"/>
          </p:cNvSpPr>
          <p:nvPr>
            <p:ph type="title"/>
          </p:nvPr>
        </p:nvSpPr>
        <p:spPr/>
        <p:txBody>
          <a:bodyPr/>
          <a:lstStyle/>
          <a:p>
            <a:r>
              <a:rPr lang="en-US" dirty="0"/>
              <a:t>Performing Qualitative Risk Analysis</a:t>
            </a:r>
            <a:endParaRPr lang="en-NZ" dirty="0"/>
          </a:p>
        </p:txBody>
      </p:sp>
      <p:sp>
        <p:nvSpPr>
          <p:cNvPr id="3" name="Text Placeholder 2">
            <a:extLst>
              <a:ext uri="{FF2B5EF4-FFF2-40B4-BE49-F238E27FC236}">
                <a16:creationId xmlns:a16="http://schemas.microsoft.com/office/drawing/2014/main" id="{211B672C-78F8-49CF-993B-600C47598649}"/>
              </a:ext>
            </a:extLst>
          </p:cNvPr>
          <p:cNvSpPr>
            <a:spLocks noGrp="1"/>
          </p:cNvSpPr>
          <p:nvPr>
            <p:ph type="body" sz="quarter" idx="13"/>
          </p:nvPr>
        </p:nvSpPr>
        <p:spPr/>
        <p:txBody>
          <a:bodyPr/>
          <a:lstStyle/>
          <a:p>
            <a:r>
              <a:rPr lang="en-US" dirty="0"/>
              <a:t>Assess the likelihood and impact of identified risks to </a:t>
            </a:r>
            <a:r>
              <a:rPr lang="en-US" dirty="0">
                <a:solidFill>
                  <a:srgbClr val="FF0000"/>
                </a:solidFill>
              </a:rPr>
              <a:t>determine their magnitude and priority</a:t>
            </a:r>
          </a:p>
          <a:p>
            <a:r>
              <a:rPr lang="en-US" dirty="0"/>
              <a:t>Risk quantification tools and techniques  </a:t>
            </a:r>
          </a:p>
          <a:p>
            <a:pPr lvl="1"/>
            <a:r>
              <a:rPr lang="en-US" dirty="0"/>
              <a:t>Probability/impact matrixes</a:t>
            </a:r>
          </a:p>
          <a:p>
            <a:pPr lvl="1"/>
            <a:r>
              <a:rPr lang="en-US" dirty="0"/>
              <a:t>The top ten risk item tracking</a:t>
            </a:r>
          </a:p>
          <a:p>
            <a:pPr lvl="1"/>
            <a:r>
              <a:rPr lang="en-US" dirty="0"/>
              <a:t>Expert judgment</a:t>
            </a:r>
          </a:p>
          <a:p>
            <a:endParaRPr lang="en-NZ" dirty="0"/>
          </a:p>
        </p:txBody>
      </p:sp>
    </p:spTree>
    <p:extLst>
      <p:ext uri="{BB962C8B-B14F-4D97-AF65-F5344CB8AC3E}">
        <p14:creationId xmlns:p14="http://schemas.microsoft.com/office/powerpoint/2010/main" val="2647075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79EA6-FF5F-4D0B-A32D-C73F2664C41F}"/>
              </a:ext>
            </a:extLst>
          </p:cNvPr>
          <p:cNvSpPr>
            <a:spLocks noGrp="1"/>
          </p:cNvSpPr>
          <p:nvPr>
            <p:ph type="title"/>
          </p:nvPr>
        </p:nvSpPr>
        <p:spPr/>
        <p:txBody>
          <a:bodyPr/>
          <a:lstStyle/>
          <a:p>
            <a:r>
              <a:rPr lang="en-US" dirty="0"/>
              <a:t>Using Probability/Impact Matrixes to Calculate Risk Factors (1 of 3)</a:t>
            </a:r>
            <a:endParaRPr lang="en-NZ" dirty="0"/>
          </a:p>
        </p:txBody>
      </p:sp>
      <p:sp>
        <p:nvSpPr>
          <p:cNvPr id="3" name="Text Placeholder 2">
            <a:extLst>
              <a:ext uri="{FF2B5EF4-FFF2-40B4-BE49-F238E27FC236}">
                <a16:creationId xmlns:a16="http://schemas.microsoft.com/office/drawing/2014/main" id="{31438C50-0B92-4FC1-883B-9514589BAE02}"/>
              </a:ext>
            </a:extLst>
          </p:cNvPr>
          <p:cNvSpPr>
            <a:spLocks noGrp="1"/>
          </p:cNvSpPr>
          <p:nvPr>
            <p:ph type="body" sz="quarter" idx="13"/>
          </p:nvPr>
        </p:nvSpPr>
        <p:spPr/>
        <p:txBody>
          <a:bodyPr/>
          <a:lstStyle/>
          <a:p>
            <a:r>
              <a:rPr lang="en-US" dirty="0"/>
              <a:t>Lists relative probability of a risk occurring on one side of a matrix or axis on a chart and the relative impact of the risk occurring </a:t>
            </a:r>
          </a:p>
          <a:p>
            <a:pPr lvl="1"/>
            <a:r>
              <a:rPr lang="en-US" dirty="0"/>
              <a:t>List the risks and </a:t>
            </a:r>
            <a:r>
              <a:rPr lang="en-US" dirty="0">
                <a:solidFill>
                  <a:srgbClr val="FF0000"/>
                </a:solidFill>
              </a:rPr>
              <a:t>then label each one as high, medium, or low</a:t>
            </a:r>
            <a:r>
              <a:rPr lang="en-US" dirty="0"/>
              <a:t> in terms of its probability of occurrence and its impact if it did occur</a:t>
            </a:r>
          </a:p>
          <a:p>
            <a:r>
              <a:rPr lang="en-US" dirty="0"/>
              <a:t>Calculates risk factors</a:t>
            </a:r>
          </a:p>
          <a:p>
            <a:pPr lvl="1"/>
            <a:r>
              <a:rPr lang="en-US" dirty="0"/>
              <a:t>Numbers that represent the overall risk of specific events based on their probability of occurring and the consequences to the project if they do occur</a:t>
            </a:r>
          </a:p>
          <a:p>
            <a:endParaRPr lang="en-NZ" dirty="0"/>
          </a:p>
        </p:txBody>
      </p:sp>
    </p:spTree>
    <p:extLst>
      <p:ext uri="{BB962C8B-B14F-4D97-AF65-F5344CB8AC3E}">
        <p14:creationId xmlns:p14="http://schemas.microsoft.com/office/powerpoint/2010/main" val="16496323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6B90-FD3D-4816-BFDD-CF93FB9B4AFF}"/>
              </a:ext>
            </a:extLst>
          </p:cNvPr>
          <p:cNvSpPr>
            <a:spLocks noGrp="1"/>
          </p:cNvSpPr>
          <p:nvPr>
            <p:ph type="title"/>
          </p:nvPr>
        </p:nvSpPr>
        <p:spPr/>
        <p:txBody>
          <a:bodyPr/>
          <a:lstStyle/>
          <a:p>
            <a:r>
              <a:rPr lang="en-US" dirty="0"/>
              <a:t>Using Probability/Impact Matrixes to Calculate Risk Factors (2 of 3)</a:t>
            </a:r>
            <a:endParaRPr lang="en-NZ" dirty="0"/>
          </a:p>
        </p:txBody>
      </p:sp>
      <p:pic>
        <p:nvPicPr>
          <p:cNvPr id="4" name="Picture 3" descr="Image displays a probability/impact matrix categorizing risks as high, medium, or low. &#10;">
            <a:extLst>
              <a:ext uri="{FF2B5EF4-FFF2-40B4-BE49-F238E27FC236}">
                <a16:creationId xmlns:a16="http://schemas.microsoft.com/office/drawing/2014/main" id="{C7F0B44A-45E1-4948-910E-9D9D7C0673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161273" y="1747201"/>
            <a:ext cx="6622807" cy="4745674"/>
          </a:xfrm>
          <a:prstGeom prst="rect">
            <a:avLst/>
          </a:prstGeom>
        </p:spPr>
      </p:pic>
    </p:spTree>
    <p:extLst>
      <p:ext uri="{BB962C8B-B14F-4D97-AF65-F5344CB8AC3E}">
        <p14:creationId xmlns:p14="http://schemas.microsoft.com/office/powerpoint/2010/main" val="26888263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83237-9FF8-4DBB-932F-726248895BB3}"/>
              </a:ext>
            </a:extLst>
          </p:cNvPr>
          <p:cNvSpPr>
            <a:spLocks noGrp="1"/>
          </p:cNvSpPr>
          <p:nvPr>
            <p:ph type="title"/>
          </p:nvPr>
        </p:nvSpPr>
        <p:spPr/>
        <p:txBody>
          <a:bodyPr/>
          <a:lstStyle/>
          <a:p>
            <a:r>
              <a:rPr lang="en-US" dirty="0"/>
              <a:t>Using Probability/Impact Matrixes to Calculate Risk Factors (3 of 3)</a:t>
            </a:r>
            <a:endParaRPr lang="en-NZ" dirty="0"/>
          </a:p>
        </p:txBody>
      </p:sp>
      <p:pic>
        <p:nvPicPr>
          <p:cNvPr id="4" name="Picture 3" descr="Image displays a chart graphing potential technologies as high, medium, or low risk, based on the probability of failure and consequences of failure.&#10;">
            <a:extLst>
              <a:ext uri="{FF2B5EF4-FFF2-40B4-BE49-F238E27FC236}">
                <a16:creationId xmlns:a16="http://schemas.microsoft.com/office/drawing/2014/main" id="{F8757D0A-CACB-4826-B6E7-A52B233269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41806" y="2122714"/>
            <a:ext cx="5903930" cy="4199703"/>
          </a:xfrm>
          <a:prstGeom prst="rect">
            <a:avLst/>
          </a:prstGeom>
        </p:spPr>
      </p:pic>
    </p:spTree>
    <p:extLst>
      <p:ext uri="{BB962C8B-B14F-4D97-AF65-F5344CB8AC3E}">
        <p14:creationId xmlns:p14="http://schemas.microsoft.com/office/powerpoint/2010/main" val="36774339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0193-372A-41F2-994A-752960ED7467}"/>
              </a:ext>
            </a:extLst>
          </p:cNvPr>
          <p:cNvSpPr>
            <a:spLocks noGrp="1"/>
          </p:cNvSpPr>
          <p:nvPr>
            <p:ph type="title"/>
          </p:nvPr>
        </p:nvSpPr>
        <p:spPr/>
        <p:txBody>
          <a:bodyPr/>
          <a:lstStyle/>
          <a:p>
            <a:r>
              <a:rPr lang="en-US" dirty="0"/>
              <a:t>Top Ten Risk Item Tracking (1 of 2)</a:t>
            </a:r>
            <a:endParaRPr lang="en-NZ" dirty="0"/>
          </a:p>
        </p:txBody>
      </p:sp>
      <p:sp>
        <p:nvSpPr>
          <p:cNvPr id="3" name="Text Placeholder 2">
            <a:extLst>
              <a:ext uri="{FF2B5EF4-FFF2-40B4-BE49-F238E27FC236}">
                <a16:creationId xmlns:a16="http://schemas.microsoft.com/office/drawing/2014/main" id="{DF4EBB25-7236-459E-980A-DE5B655FBAF0}"/>
              </a:ext>
            </a:extLst>
          </p:cNvPr>
          <p:cNvSpPr>
            <a:spLocks noGrp="1"/>
          </p:cNvSpPr>
          <p:nvPr>
            <p:ph type="body" sz="quarter" idx="13"/>
          </p:nvPr>
        </p:nvSpPr>
        <p:spPr/>
        <p:txBody>
          <a:bodyPr/>
          <a:lstStyle/>
          <a:p>
            <a:r>
              <a:rPr lang="en-US" dirty="0"/>
              <a:t>Qualitative risk analysis tool that helps to identify risks and maintain an awareness of risks throughout the life of a project</a:t>
            </a:r>
          </a:p>
          <a:p>
            <a:pPr lvl="1"/>
            <a:r>
              <a:rPr lang="en-US" dirty="0"/>
              <a:t>Involves establishing </a:t>
            </a:r>
            <a:r>
              <a:rPr lang="en-US" dirty="0">
                <a:solidFill>
                  <a:srgbClr val="FF0000"/>
                </a:solidFill>
              </a:rPr>
              <a:t>a periodic review </a:t>
            </a:r>
            <a:r>
              <a:rPr lang="en-US" dirty="0"/>
              <a:t>of the top ten project risk items</a:t>
            </a:r>
          </a:p>
          <a:p>
            <a:pPr lvl="1"/>
            <a:r>
              <a:rPr lang="en-US" dirty="0"/>
              <a:t>Includes the current ranking, previous ranking, number of times the risk appears on the list over a period of time, and a summary of progress made in resolving the risk item</a:t>
            </a:r>
          </a:p>
          <a:p>
            <a:r>
              <a:rPr lang="en-US" dirty="0"/>
              <a:t>A watch list is a list of risks that are low priority, but are still identified as potential risks</a:t>
            </a:r>
          </a:p>
          <a:p>
            <a:pPr lvl="1"/>
            <a:r>
              <a:rPr lang="en-US" dirty="0"/>
              <a:t>Qualitative analysis can also identify risks that should be evaluated quantitatively</a:t>
            </a:r>
          </a:p>
          <a:p>
            <a:endParaRPr lang="en-NZ"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A6D2D4A-79AF-4086-9BB4-3A454F0591D1}"/>
                  </a:ext>
                </a:extLst>
              </p14:cNvPr>
              <p14:cNvContentPartPr/>
              <p14:nvPr/>
            </p14:nvContentPartPr>
            <p14:xfrm>
              <a:off x="2071080" y="1361520"/>
              <a:ext cx="6246720" cy="3320280"/>
            </p14:xfrm>
          </p:contentPart>
        </mc:Choice>
        <mc:Fallback xmlns="">
          <p:pic>
            <p:nvPicPr>
              <p:cNvPr id="4" name="Ink 3">
                <a:extLst>
                  <a:ext uri="{FF2B5EF4-FFF2-40B4-BE49-F238E27FC236}">
                    <a16:creationId xmlns:a16="http://schemas.microsoft.com/office/drawing/2014/main" id="{3A6D2D4A-79AF-4086-9BB4-3A454F0591D1}"/>
                  </a:ext>
                </a:extLst>
              </p:cNvPr>
              <p:cNvPicPr/>
              <p:nvPr/>
            </p:nvPicPr>
            <p:blipFill>
              <a:blip r:embed="rId3"/>
              <a:stretch>
                <a:fillRect/>
              </a:stretch>
            </p:blipFill>
            <p:spPr>
              <a:xfrm>
                <a:off x="2061720" y="1352160"/>
                <a:ext cx="6265440" cy="3339000"/>
              </a:xfrm>
              <a:prstGeom prst="rect">
                <a:avLst/>
              </a:prstGeom>
            </p:spPr>
          </p:pic>
        </mc:Fallback>
      </mc:AlternateContent>
    </p:spTree>
    <p:extLst>
      <p:ext uri="{BB962C8B-B14F-4D97-AF65-F5344CB8AC3E}">
        <p14:creationId xmlns:p14="http://schemas.microsoft.com/office/powerpoint/2010/main" val="2398510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F01AC-0515-4B56-B794-97FDB2578C94}"/>
              </a:ext>
            </a:extLst>
          </p:cNvPr>
          <p:cNvSpPr>
            <a:spLocks noGrp="1"/>
          </p:cNvSpPr>
          <p:nvPr>
            <p:ph type="title"/>
          </p:nvPr>
        </p:nvSpPr>
        <p:spPr/>
        <p:txBody>
          <a:bodyPr/>
          <a:lstStyle/>
          <a:p>
            <a:r>
              <a:rPr lang="en-US" dirty="0"/>
              <a:t>Top Ten Risk Item Tracking (2 of 2)</a:t>
            </a:r>
            <a:endParaRPr lang="en-NZ" dirty="0"/>
          </a:p>
        </p:txBody>
      </p:sp>
      <p:graphicFrame>
        <p:nvGraphicFramePr>
          <p:cNvPr id="4" name="Content Placeholder 2">
            <a:extLst>
              <a:ext uri="{FF2B5EF4-FFF2-40B4-BE49-F238E27FC236}">
                <a16:creationId xmlns:a16="http://schemas.microsoft.com/office/drawing/2014/main" id="{98299E9E-0851-470C-95A5-8E47E120B411}"/>
              </a:ext>
            </a:extLst>
          </p:cNvPr>
          <p:cNvGraphicFramePr>
            <a:graphicFrameLocks/>
          </p:cNvGraphicFramePr>
          <p:nvPr>
            <p:extLst>
              <p:ext uri="{D42A27DB-BD31-4B8C-83A1-F6EECF244321}">
                <p14:modId xmlns:p14="http://schemas.microsoft.com/office/powerpoint/2010/main" val="3574486994"/>
              </p:ext>
            </p:extLst>
          </p:nvPr>
        </p:nvGraphicFramePr>
        <p:xfrm>
          <a:off x="1251855" y="1294436"/>
          <a:ext cx="10515601" cy="5029200"/>
        </p:xfrm>
        <a:graphic>
          <a:graphicData uri="http://schemas.openxmlformats.org/drawingml/2006/table">
            <a:tbl>
              <a:tblPr firstRow="1" bandRow="1">
                <a:tableStyleId>{5C22544A-7EE6-4342-B048-85BDC9FD1C3A}</a:tableStyleId>
              </a:tblPr>
              <a:tblGrid>
                <a:gridCol w="1363972">
                  <a:extLst>
                    <a:ext uri="{9D8B030D-6E8A-4147-A177-3AD203B41FA5}">
                      <a16:colId xmlns:a16="http://schemas.microsoft.com/office/drawing/2014/main" val="2080471912"/>
                    </a:ext>
                  </a:extLst>
                </a:gridCol>
                <a:gridCol w="1664509">
                  <a:extLst>
                    <a:ext uri="{9D8B030D-6E8A-4147-A177-3AD203B41FA5}">
                      <a16:colId xmlns:a16="http://schemas.microsoft.com/office/drawing/2014/main" val="945219258"/>
                    </a:ext>
                  </a:extLst>
                </a:gridCol>
                <a:gridCol w="1756982">
                  <a:extLst>
                    <a:ext uri="{9D8B030D-6E8A-4147-A177-3AD203B41FA5}">
                      <a16:colId xmlns:a16="http://schemas.microsoft.com/office/drawing/2014/main" val="2112938277"/>
                    </a:ext>
                  </a:extLst>
                </a:gridCol>
                <a:gridCol w="1357498">
                  <a:extLst>
                    <a:ext uri="{9D8B030D-6E8A-4147-A177-3AD203B41FA5}">
                      <a16:colId xmlns:a16="http://schemas.microsoft.com/office/drawing/2014/main" val="3055675102"/>
                    </a:ext>
                  </a:extLst>
                </a:gridCol>
                <a:gridCol w="4372640">
                  <a:extLst>
                    <a:ext uri="{9D8B030D-6E8A-4147-A177-3AD203B41FA5}">
                      <a16:colId xmlns:a16="http://schemas.microsoft.com/office/drawing/2014/main" val="1568437128"/>
                    </a:ext>
                  </a:extLst>
                </a:gridCol>
              </a:tblGrid>
              <a:tr h="889287">
                <a:tc>
                  <a:txBody>
                    <a:bodyPr/>
                    <a:lstStyle/>
                    <a:p>
                      <a:endParaRPr lang="en-US" dirty="0">
                        <a:solidFill>
                          <a:schemeClr val="bg1"/>
                        </a:solidFill>
                      </a:endParaRPr>
                    </a:p>
                  </a:txBody>
                  <a:tcPr/>
                </a:tc>
                <a:tc>
                  <a:txBody>
                    <a:bodyPr/>
                    <a:lstStyle/>
                    <a:p>
                      <a:r>
                        <a:rPr lang="en-US" dirty="0">
                          <a:solidFill>
                            <a:schemeClr val="bg1"/>
                          </a:solidFill>
                        </a:rPr>
                        <a:t>Monthly Ranking</a:t>
                      </a:r>
                    </a:p>
                  </a:txBody>
                  <a:tcPr/>
                </a:tc>
                <a:tc>
                  <a:txBody>
                    <a:bodyPr/>
                    <a:lstStyle/>
                    <a:p>
                      <a:r>
                        <a:rPr lang="en-US" dirty="0">
                          <a:solidFill>
                            <a:schemeClr val="bg1"/>
                          </a:solidFill>
                        </a:rPr>
                        <a:t>Monthly Ranking</a:t>
                      </a:r>
                    </a:p>
                  </a:txBody>
                  <a:tcPr/>
                </a:tc>
                <a:tc>
                  <a:txBody>
                    <a:bodyPr/>
                    <a:lstStyle/>
                    <a:p>
                      <a:r>
                        <a:rPr lang="en-US" dirty="0">
                          <a:solidFill>
                            <a:schemeClr val="bg1"/>
                          </a:solidFill>
                        </a:rPr>
                        <a:t>Monthly Ranking</a:t>
                      </a:r>
                    </a:p>
                    <a:p>
                      <a:endParaRPr lang="en-US" dirty="0">
                        <a:solidFill>
                          <a:schemeClr val="bg1"/>
                        </a:solidFill>
                      </a:endParaRPr>
                    </a:p>
                  </a:txBody>
                  <a:tcPr/>
                </a:tc>
                <a:tc>
                  <a:txBody>
                    <a:bodyPr/>
                    <a:lstStyle/>
                    <a:p>
                      <a:endParaRPr lang="en-US" dirty="0">
                        <a:solidFill>
                          <a:schemeClr val="bg1"/>
                        </a:solidFill>
                      </a:endParaRPr>
                    </a:p>
                  </a:txBody>
                  <a:tcPr/>
                </a:tc>
                <a:extLst>
                  <a:ext uri="{0D108BD9-81ED-4DB2-BD59-A6C34878D82A}">
                    <a16:rowId xmlns:a16="http://schemas.microsoft.com/office/drawing/2014/main" val="1618211379"/>
                  </a:ext>
                </a:extLst>
              </a:tr>
              <a:tr h="889287">
                <a:tc>
                  <a:txBody>
                    <a:bodyPr/>
                    <a:lstStyle/>
                    <a:p>
                      <a:r>
                        <a:rPr lang="en-US" dirty="0">
                          <a:solidFill>
                            <a:schemeClr val="bg1"/>
                          </a:solidFill>
                        </a:rPr>
                        <a:t>Risk Event</a:t>
                      </a:r>
                    </a:p>
                  </a:txBody>
                  <a:tcPr>
                    <a:solidFill>
                      <a:schemeClr val="accent1"/>
                    </a:solidFill>
                  </a:tcPr>
                </a:tc>
                <a:tc>
                  <a:txBody>
                    <a:bodyPr/>
                    <a:lstStyle/>
                    <a:p>
                      <a:r>
                        <a:rPr lang="en-US" dirty="0">
                          <a:solidFill>
                            <a:schemeClr val="bg1"/>
                          </a:solidFill>
                        </a:rPr>
                        <a:t>Rank This</a:t>
                      </a:r>
                      <a:r>
                        <a:rPr lang="en-US" baseline="0" dirty="0">
                          <a:solidFill>
                            <a:schemeClr val="bg1"/>
                          </a:solidFill>
                        </a:rPr>
                        <a:t> </a:t>
                      </a:r>
                      <a:r>
                        <a:rPr lang="en-US" dirty="0">
                          <a:solidFill>
                            <a:schemeClr val="bg1"/>
                          </a:solidFill>
                        </a:rPr>
                        <a:t>Month</a:t>
                      </a:r>
                    </a:p>
                  </a:txBody>
                  <a:tcPr>
                    <a:solidFill>
                      <a:schemeClr val="accent1"/>
                    </a:solidFill>
                  </a:tcPr>
                </a:tc>
                <a:tc>
                  <a:txBody>
                    <a:bodyPr/>
                    <a:lstStyle/>
                    <a:p>
                      <a:r>
                        <a:rPr lang="en-US" dirty="0">
                          <a:solidFill>
                            <a:schemeClr val="bg1"/>
                          </a:solidFill>
                        </a:rPr>
                        <a:t>Rank Last</a:t>
                      </a:r>
                      <a:r>
                        <a:rPr lang="en-US" baseline="0" dirty="0">
                          <a:solidFill>
                            <a:schemeClr val="bg1"/>
                          </a:solidFill>
                        </a:rPr>
                        <a:t> </a:t>
                      </a:r>
                      <a:r>
                        <a:rPr lang="en-US" dirty="0">
                          <a:solidFill>
                            <a:schemeClr val="bg1"/>
                          </a:solidFill>
                        </a:rPr>
                        <a:t>Month</a:t>
                      </a:r>
                    </a:p>
                  </a:txBody>
                  <a:tcPr>
                    <a:solidFill>
                      <a:schemeClr val="accent1"/>
                    </a:solidFill>
                  </a:tcPr>
                </a:tc>
                <a:tc>
                  <a:txBody>
                    <a:bodyPr/>
                    <a:lstStyle/>
                    <a:p>
                      <a:r>
                        <a:rPr lang="en-US" dirty="0">
                          <a:solidFill>
                            <a:schemeClr val="bg1"/>
                          </a:solidFill>
                        </a:rPr>
                        <a:t>Number of</a:t>
                      </a:r>
                      <a:r>
                        <a:rPr lang="en-US" baseline="0" dirty="0">
                          <a:solidFill>
                            <a:schemeClr val="bg1"/>
                          </a:solidFill>
                        </a:rPr>
                        <a:t> </a:t>
                      </a:r>
                      <a:r>
                        <a:rPr lang="en-US" dirty="0">
                          <a:solidFill>
                            <a:schemeClr val="bg1"/>
                          </a:solidFill>
                        </a:rPr>
                        <a:t>Months in</a:t>
                      </a:r>
                      <a:r>
                        <a:rPr lang="en-US" baseline="0" dirty="0">
                          <a:solidFill>
                            <a:schemeClr val="bg1"/>
                          </a:solidFill>
                        </a:rPr>
                        <a:t> </a:t>
                      </a:r>
                      <a:r>
                        <a:rPr lang="en-US" dirty="0">
                          <a:solidFill>
                            <a:schemeClr val="bg1"/>
                          </a:solidFill>
                        </a:rPr>
                        <a:t>Top Ten</a:t>
                      </a:r>
                    </a:p>
                  </a:txBody>
                  <a:tcPr>
                    <a:solidFill>
                      <a:schemeClr val="accent1"/>
                    </a:solidFill>
                  </a:tcPr>
                </a:tc>
                <a:tc>
                  <a:txBody>
                    <a:bodyPr/>
                    <a:lstStyle/>
                    <a:p>
                      <a:r>
                        <a:rPr lang="en-US" dirty="0">
                          <a:solidFill>
                            <a:schemeClr val="bg1"/>
                          </a:solidFill>
                        </a:rPr>
                        <a:t>Risk Resolution Progress</a:t>
                      </a:r>
                    </a:p>
                  </a:txBody>
                  <a:tcPr>
                    <a:solidFill>
                      <a:schemeClr val="accent1"/>
                    </a:solidFill>
                  </a:tcPr>
                </a:tc>
                <a:extLst>
                  <a:ext uri="{0D108BD9-81ED-4DB2-BD59-A6C34878D82A}">
                    <a16:rowId xmlns:a16="http://schemas.microsoft.com/office/drawing/2014/main" val="3800946636"/>
                  </a:ext>
                </a:extLst>
              </a:tr>
              <a:tr h="622501">
                <a:tc>
                  <a:txBody>
                    <a:bodyPr/>
                    <a:lstStyle/>
                    <a:p>
                      <a:r>
                        <a:rPr lang="en-US" dirty="0"/>
                        <a:t>Inadequate</a:t>
                      </a:r>
                    </a:p>
                    <a:p>
                      <a:r>
                        <a:rPr lang="en-US" dirty="0"/>
                        <a:t>planning</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4</a:t>
                      </a:r>
                    </a:p>
                  </a:txBody>
                  <a:tcPr/>
                </a:tc>
                <a:tc>
                  <a:txBody>
                    <a:bodyPr/>
                    <a:lstStyle/>
                    <a:p>
                      <a:r>
                        <a:rPr lang="en-US" dirty="0"/>
                        <a:t>Working on revising the</a:t>
                      </a:r>
                      <a:r>
                        <a:rPr lang="en-US" baseline="0" dirty="0"/>
                        <a:t> </a:t>
                      </a:r>
                      <a:r>
                        <a:rPr lang="en-US" dirty="0"/>
                        <a:t>entire project management</a:t>
                      </a:r>
                      <a:r>
                        <a:rPr lang="en-US" baseline="0" dirty="0"/>
                        <a:t> p</a:t>
                      </a:r>
                      <a:r>
                        <a:rPr lang="en-US" dirty="0"/>
                        <a:t>lan</a:t>
                      </a:r>
                    </a:p>
                  </a:txBody>
                  <a:tcPr/>
                </a:tc>
                <a:extLst>
                  <a:ext uri="{0D108BD9-81ED-4DB2-BD59-A6C34878D82A}">
                    <a16:rowId xmlns:a16="http://schemas.microsoft.com/office/drawing/2014/main" val="2002237800"/>
                  </a:ext>
                </a:extLst>
              </a:tr>
              <a:tr h="622501">
                <a:tc>
                  <a:txBody>
                    <a:bodyPr/>
                    <a:lstStyle/>
                    <a:p>
                      <a:r>
                        <a:rPr lang="en-US" dirty="0"/>
                        <a:t>Poor</a:t>
                      </a:r>
                    </a:p>
                    <a:p>
                      <a:r>
                        <a:rPr lang="en-US" dirty="0"/>
                        <a:t>definition</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3</a:t>
                      </a:r>
                    </a:p>
                  </a:txBody>
                  <a:tcPr/>
                </a:tc>
                <a:tc>
                  <a:txBody>
                    <a:bodyPr/>
                    <a:lstStyle/>
                    <a:p>
                      <a:r>
                        <a:rPr lang="en-US" dirty="0"/>
                        <a:t>Holding meetings with</a:t>
                      </a:r>
                      <a:r>
                        <a:rPr lang="en-US" baseline="0" dirty="0"/>
                        <a:t> </a:t>
                      </a:r>
                      <a:r>
                        <a:rPr lang="en-US" dirty="0"/>
                        <a:t>project customer and</a:t>
                      </a:r>
                      <a:r>
                        <a:rPr lang="en-US" baseline="0" dirty="0"/>
                        <a:t> </a:t>
                      </a:r>
                      <a:r>
                        <a:rPr lang="en-US" dirty="0"/>
                        <a:t>sponsor to clarify scope</a:t>
                      </a:r>
                    </a:p>
                  </a:txBody>
                  <a:tcPr/>
                </a:tc>
                <a:extLst>
                  <a:ext uri="{0D108BD9-81ED-4DB2-BD59-A6C34878D82A}">
                    <a16:rowId xmlns:a16="http://schemas.microsoft.com/office/drawing/2014/main" val="170979868"/>
                  </a:ext>
                </a:extLst>
              </a:tr>
              <a:tr h="622501">
                <a:tc>
                  <a:txBody>
                    <a:bodyPr/>
                    <a:lstStyle/>
                    <a:p>
                      <a:r>
                        <a:rPr lang="en-US" dirty="0"/>
                        <a:t>Absence of</a:t>
                      </a:r>
                    </a:p>
                    <a:p>
                      <a:r>
                        <a:rPr lang="en-US" dirty="0"/>
                        <a:t>leadership</a:t>
                      </a:r>
                    </a:p>
                  </a:txBody>
                  <a:tcPr/>
                </a:tc>
                <a:tc>
                  <a:txBody>
                    <a:bodyPr/>
                    <a:lstStyle/>
                    <a:p>
                      <a:pPr algn="ctr"/>
                      <a:r>
                        <a:rPr lang="en-US" dirty="0"/>
                        <a:t>3</a:t>
                      </a:r>
                    </a:p>
                  </a:txBody>
                  <a:tcPr/>
                </a:tc>
                <a:tc>
                  <a:txBody>
                    <a:bodyPr/>
                    <a:lstStyle/>
                    <a:p>
                      <a:pPr algn="ctr"/>
                      <a:r>
                        <a:rPr lang="en-US" dirty="0"/>
                        <a:t>1</a:t>
                      </a:r>
                    </a:p>
                  </a:txBody>
                  <a:tcPr/>
                </a:tc>
                <a:tc>
                  <a:txBody>
                    <a:bodyPr/>
                    <a:lstStyle/>
                    <a:p>
                      <a:pPr algn="ctr"/>
                      <a:r>
                        <a:rPr lang="en-US" dirty="0"/>
                        <a:t>2</a:t>
                      </a:r>
                    </a:p>
                  </a:txBody>
                  <a:tcPr/>
                </a:tc>
                <a:tc>
                  <a:txBody>
                    <a:bodyPr/>
                    <a:lstStyle/>
                    <a:p>
                      <a:r>
                        <a:rPr lang="en-US" dirty="0"/>
                        <a:t>Assigned a new project</a:t>
                      </a:r>
                      <a:r>
                        <a:rPr lang="en-US" baseline="0" dirty="0"/>
                        <a:t> </a:t>
                      </a:r>
                      <a:r>
                        <a:rPr lang="en-US" dirty="0"/>
                        <a:t>manager to lead the</a:t>
                      </a:r>
                      <a:r>
                        <a:rPr lang="en-US" baseline="0" dirty="0"/>
                        <a:t> </a:t>
                      </a:r>
                      <a:r>
                        <a:rPr lang="en-US" dirty="0"/>
                        <a:t>project after the previous</a:t>
                      </a:r>
                      <a:r>
                        <a:rPr lang="en-US" baseline="0" dirty="0"/>
                        <a:t> </a:t>
                      </a:r>
                      <a:r>
                        <a:rPr lang="en-US" dirty="0"/>
                        <a:t>one quit</a:t>
                      </a:r>
                    </a:p>
                  </a:txBody>
                  <a:tcPr/>
                </a:tc>
                <a:extLst>
                  <a:ext uri="{0D108BD9-81ED-4DB2-BD59-A6C34878D82A}">
                    <a16:rowId xmlns:a16="http://schemas.microsoft.com/office/drawing/2014/main" val="4237120695"/>
                  </a:ext>
                </a:extLst>
              </a:tr>
              <a:tr h="622501">
                <a:tc>
                  <a:txBody>
                    <a:bodyPr/>
                    <a:lstStyle/>
                    <a:p>
                      <a:r>
                        <a:rPr lang="en-US" dirty="0"/>
                        <a:t>Poor cost</a:t>
                      </a:r>
                    </a:p>
                    <a:p>
                      <a:r>
                        <a:rPr lang="en-US" dirty="0"/>
                        <a:t>estimates</a:t>
                      </a:r>
                    </a:p>
                  </a:txBody>
                  <a:tcPr/>
                </a:tc>
                <a:tc>
                  <a:txBody>
                    <a:bodyPr/>
                    <a:lstStyle/>
                    <a:p>
                      <a:pPr algn="ctr"/>
                      <a:r>
                        <a:rPr lang="en-US" dirty="0"/>
                        <a:t>4</a:t>
                      </a:r>
                    </a:p>
                  </a:txBody>
                  <a:tcPr/>
                </a:tc>
                <a:tc>
                  <a:txBody>
                    <a:bodyPr/>
                    <a:lstStyle/>
                    <a:p>
                      <a:pPr algn="ctr"/>
                      <a:r>
                        <a:rPr lang="en-US" dirty="0"/>
                        <a:t>4</a:t>
                      </a:r>
                    </a:p>
                  </a:txBody>
                  <a:tcPr/>
                </a:tc>
                <a:tc>
                  <a:txBody>
                    <a:bodyPr/>
                    <a:lstStyle/>
                    <a:p>
                      <a:pPr algn="ctr"/>
                      <a:r>
                        <a:rPr lang="en-US" dirty="0"/>
                        <a:t>3</a:t>
                      </a:r>
                    </a:p>
                  </a:txBody>
                  <a:tcPr/>
                </a:tc>
                <a:tc>
                  <a:txBody>
                    <a:bodyPr/>
                    <a:lstStyle/>
                    <a:p>
                      <a:r>
                        <a:rPr lang="en-US" dirty="0"/>
                        <a:t>Revising cost estimates</a:t>
                      </a:r>
                    </a:p>
                  </a:txBody>
                  <a:tcPr/>
                </a:tc>
                <a:extLst>
                  <a:ext uri="{0D108BD9-81ED-4DB2-BD59-A6C34878D82A}">
                    <a16:rowId xmlns:a16="http://schemas.microsoft.com/office/drawing/2014/main" val="1265943007"/>
                  </a:ext>
                </a:extLst>
              </a:tr>
              <a:tr h="622501">
                <a:tc>
                  <a:txBody>
                    <a:bodyPr/>
                    <a:lstStyle/>
                    <a:p>
                      <a:r>
                        <a:rPr lang="en-US" dirty="0"/>
                        <a:t>Poor time</a:t>
                      </a:r>
                    </a:p>
                    <a:p>
                      <a:r>
                        <a:rPr lang="en-US" dirty="0"/>
                        <a:t>estimates</a:t>
                      </a:r>
                    </a:p>
                  </a:txBody>
                  <a:tcPr/>
                </a:tc>
                <a:tc>
                  <a:txBody>
                    <a:bodyPr/>
                    <a:lstStyle/>
                    <a:p>
                      <a:pPr algn="ctr"/>
                      <a:r>
                        <a:rPr lang="en-US" dirty="0"/>
                        <a:t>5</a:t>
                      </a:r>
                    </a:p>
                  </a:txBody>
                  <a:tcPr/>
                </a:tc>
                <a:tc>
                  <a:txBody>
                    <a:bodyPr/>
                    <a:lstStyle/>
                    <a:p>
                      <a:pPr algn="ctr"/>
                      <a:r>
                        <a:rPr lang="en-US" dirty="0"/>
                        <a:t>5</a:t>
                      </a:r>
                    </a:p>
                  </a:txBody>
                  <a:tcPr/>
                </a:tc>
                <a:tc>
                  <a:txBody>
                    <a:bodyPr/>
                    <a:lstStyle/>
                    <a:p>
                      <a:pPr algn="ctr"/>
                      <a:r>
                        <a:rPr lang="en-US" dirty="0"/>
                        <a:t>3</a:t>
                      </a:r>
                    </a:p>
                  </a:txBody>
                  <a:tcPr/>
                </a:tc>
                <a:tc>
                  <a:txBody>
                    <a:bodyPr/>
                    <a:lstStyle/>
                    <a:p>
                      <a:r>
                        <a:rPr lang="en-US" dirty="0"/>
                        <a:t>Revising schedule</a:t>
                      </a:r>
                      <a:r>
                        <a:rPr lang="en-US" baseline="0" dirty="0"/>
                        <a:t> </a:t>
                      </a:r>
                      <a:r>
                        <a:rPr lang="en-US" dirty="0"/>
                        <a:t>estimates</a:t>
                      </a:r>
                    </a:p>
                  </a:txBody>
                  <a:tcPr/>
                </a:tc>
                <a:extLst>
                  <a:ext uri="{0D108BD9-81ED-4DB2-BD59-A6C34878D82A}">
                    <a16:rowId xmlns:a16="http://schemas.microsoft.com/office/drawing/2014/main" val="3415091538"/>
                  </a:ext>
                </a:extLst>
              </a:tr>
            </a:tbl>
          </a:graphicData>
        </a:graphic>
      </p:graphicFrame>
      <p:sp>
        <p:nvSpPr>
          <p:cNvPr id="5" name="Rectangle 4">
            <a:extLst>
              <a:ext uri="{FF2B5EF4-FFF2-40B4-BE49-F238E27FC236}">
                <a16:creationId xmlns:a16="http://schemas.microsoft.com/office/drawing/2014/main" id="{7298ADF0-D406-4964-B4F2-76DCEBFE50EF}"/>
              </a:ext>
            </a:extLst>
          </p:cNvPr>
          <p:cNvSpPr/>
          <p:nvPr/>
        </p:nvSpPr>
        <p:spPr>
          <a:xfrm>
            <a:off x="4296097" y="6378552"/>
            <a:ext cx="7229782" cy="430887"/>
          </a:xfrm>
          <a:prstGeom prst="rect">
            <a:avLst/>
          </a:prstGeom>
        </p:spPr>
        <p:txBody>
          <a:bodyPr wrap="square">
            <a:spAutoFit/>
          </a:bodyPr>
          <a:lstStyle/>
          <a:p>
            <a:r>
              <a:rPr lang="en-US" dirty="0"/>
              <a:t>Table 11-5 Example of top ten risk item tracking</a:t>
            </a:r>
          </a:p>
        </p:txBody>
      </p:sp>
    </p:spTree>
    <p:extLst>
      <p:ext uri="{BB962C8B-B14F-4D97-AF65-F5344CB8AC3E}">
        <p14:creationId xmlns:p14="http://schemas.microsoft.com/office/powerpoint/2010/main" val="22999099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95B32-A3D5-467A-8ED0-BDB63D619A62}"/>
              </a:ext>
            </a:extLst>
          </p:cNvPr>
          <p:cNvSpPr>
            <a:spLocks noGrp="1"/>
          </p:cNvSpPr>
          <p:nvPr>
            <p:ph type="title"/>
          </p:nvPr>
        </p:nvSpPr>
        <p:spPr/>
        <p:txBody>
          <a:bodyPr/>
          <a:lstStyle/>
          <a:p>
            <a:r>
              <a:rPr lang="en-US" dirty="0"/>
              <a:t>Performing Quantitative Risk Analysis</a:t>
            </a:r>
            <a:endParaRPr lang="en-NZ" dirty="0"/>
          </a:p>
        </p:txBody>
      </p:sp>
      <p:sp>
        <p:nvSpPr>
          <p:cNvPr id="3" name="Text Placeholder 2">
            <a:extLst>
              <a:ext uri="{FF2B5EF4-FFF2-40B4-BE49-F238E27FC236}">
                <a16:creationId xmlns:a16="http://schemas.microsoft.com/office/drawing/2014/main" id="{06DFD22E-A084-4A23-AA1E-3589BFD6E9D5}"/>
              </a:ext>
            </a:extLst>
          </p:cNvPr>
          <p:cNvSpPr>
            <a:spLocks noGrp="1"/>
          </p:cNvSpPr>
          <p:nvPr>
            <p:ph type="body" sz="quarter" idx="13"/>
          </p:nvPr>
        </p:nvSpPr>
        <p:spPr/>
        <p:txBody>
          <a:bodyPr/>
          <a:lstStyle/>
          <a:p>
            <a:r>
              <a:rPr lang="en-US" dirty="0"/>
              <a:t>Often follows qualitative risk analysis, but both can be done together</a:t>
            </a:r>
          </a:p>
          <a:p>
            <a:pPr lvl="1"/>
            <a:r>
              <a:rPr lang="en-US" dirty="0"/>
              <a:t>Large, complex projects involving leading edge technologies often require extensive quantitative risk analysis</a:t>
            </a:r>
          </a:p>
          <a:p>
            <a:r>
              <a:rPr lang="en-US" dirty="0"/>
              <a:t>Main techniques </a:t>
            </a:r>
          </a:p>
          <a:p>
            <a:pPr lvl="1"/>
            <a:r>
              <a:rPr lang="en-US" dirty="0"/>
              <a:t>Decision tree analysis (to calculate expected value)</a:t>
            </a:r>
          </a:p>
          <a:p>
            <a:pPr lvl="1"/>
            <a:r>
              <a:rPr lang="en-US" dirty="0"/>
              <a:t>Simulation</a:t>
            </a:r>
          </a:p>
          <a:p>
            <a:pPr lvl="1"/>
            <a:r>
              <a:rPr lang="en-US" dirty="0"/>
              <a:t>Sensitivity analysis</a:t>
            </a:r>
            <a:endParaRPr lang="en-NZ" dirty="0"/>
          </a:p>
        </p:txBody>
      </p:sp>
    </p:spTree>
    <p:extLst>
      <p:ext uri="{BB962C8B-B14F-4D97-AF65-F5344CB8AC3E}">
        <p14:creationId xmlns:p14="http://schemas.microsoft.com/office/powerpoint/2010/main" val="36895052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BD517-8E40-4BAE-AD9E-CB059FB57245}"/>
              </a:ext>
            </a:extLst>
          </p:cNvPr>
          <p:cNvSpPr>
            <a:spLocks noGrp="1"/>
          </p:cNvSpPr>
          <p:nvPr>
            <p:ph type="title"/>
          </p:nvPr>
        </p:nvSpPr>
        <p:spPr/>
        <p:txBody>
          <a:bodyPr/>
          <a:lstStyle/>
          <a:p>
            <a:r>
              <a:rPr lang="en-US" dirty="0"/>
              <a:t>Decision Trees and Expected Monetary Value (EMV) (1 of 2)</a:t>
            </a:r>
            <a:endParaRPr lang="en-NZ" dirty="0"/>
          </a:p>
        </p:txBody>
      </p:sp>
      <p:sp>
        <p:nvSpPr>
          <p:cNvPr id="3" name="Text Placeholder 2">
            <a:extLst>
              <a:ext uri="{FF2B5EF4-FFF2-40B4-BE49-F238E27FC236}">
                <a16:creationId xmlns:a16="http://schemas.microsoft.com/office/drawing/2014/main" id="{CA615E5E-076F-4CA2-8298-3581B4AF1772}"/>
              </a:ext>
            </a:extLst>
          </p:cNvPr>
          <p:cNvSpPr>
            <a:spLocks noGrp="1"/>
          </p:cNvSpPr>
          <p:nvPr>
            <p:ph type="body" sz="quarter" idx="13"/>
          </p:nvPr>
        </p:nvSpPr>
        <p:spPr/>
        <p:txBody>
          <a:bodyPr/>
          <a:lstStyle/>
          <a:p>
            <a:r>
              <a:rPr lang="en-US" dirty="0"/>
              <a:t>A decision tree is a diagramming analysis technique used to help select the best course of action in situations in which future outcomes are uncertain</a:t>
            </a:r>
          </a:p>
          <a:p>
            <a:pPr lvl="1"/>
            <a:r>
              <a:rPr lang="en-US" dirty="0">
                <a:solidFill>
                  <a:srgbClr val="FF0000"/>
                </a:solidFill>
              </a:rPr>
              <a:t>Estimated monetary value (EMV) is the product of a risk event probability and the risk event’s monetary value</a:t>
            </a:r>
          </a:p>
          <a:p>
            <a:pPr lvl="2"/>
            <a:r>
              <a:rPr lang="en-US" dirty="0"/>
              <a:t>You can draw a decision tree to help find the EMV</a:t>
            </a:r>
            <a:endParaRPr lang="en-NZ" dirty="0"/>
          </a:p>
        </p:txBody>
      </p:sp>
    </p:spTree>
    <p:extLst>
      <p:ext uri="{BB962C8B-B14F-4D97-AF65-F5344CB8AC3E}">
        <p14:creationId xmlns:p14="http://schemas.microsoft.com/office/powerpoint/2010/main" val="15254972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20290-3369-4CD6-9537-B10D52E9F601}"/>
              </a:ext>
            </a:extLst>
          </p:cNvPr>
          <p:cNvSpPr>
            <a:spLocks noGrp="1"/>
          </p:cNvSpPr>
          <p:nvPr>
            <p:ph type="title"/>
          </p:nvPr>
        </p:nvSpPr>
        <p:spPr/>
        <p:txBody>
          <a:bodyPr/>
          <a:lstStyle/>
          <a:p>
            <a:r>
              <a:rPr lang="en-US" dirty="0"/>
              <a:t>Decision Trees and Expected Monetary Value (EMV) (2 of 2)</a:t>
            </a:r>
            <a:endParaRPr lang="en-NZ" dirty="0"/>
          </a:p>
        </p:txBody>
      </p:sp>
      <p:pic>
        <p:nvPicPr>
          <p:cNvPr id="4" name="Picture 3" descr="Image illustrates an example of expected monetary value (EMV) using the issue of which project(s) an organization might pursue. &#10;">
            <a:extLst>
              <a:ext uri="{FF2B5EF4-FFF2-40B4-BE49-F238E27FC236}">
                <a16:creationId xmlns:a16="http://schemas.microsoft.com/office/drawing/2014/main" id="{C47531AE-EDF4-4154-9B6A-E063BF995B8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25349" y="2141799"/>
            <a:ext cx="5943600" cy="4128862"/>
          </a:xfrm>
          <a:prstGeom prst="rect">
            <a:avLst/>
          </a:prstGeom>
        </p:spPr>
      </p:pic>
      <p:sp>
        <p:nvSpPr>
          <p:cNvPr id="5" name="TextBox 4">
            <a:extLst>
              <a:ext uri="{FF2B5EF4-FFF2-40B4-BE49-F238E27FC236}">
                <a16:creationId xmlns:a16="http://schemas.microsoft.com/office/drawing/2014/main" id="{CE18BFA7-0BB0-4677-9A7A-7AAB2469A7EB}"/>
              </a:ext>
            </a:extLst>
          </p:cNvPr>
          <p:cNvSpPr txBox="1"/>
          <p:nvPr/>
        </p:nvSpPr>
        <p:spPr>
          <a:xfrm>
            <a:off x="7268949" y="1027906"/>
            <a:ext cx="4572000" cy="5693866"/>
          </a:xfrm>
          <a:prstGeom prst="rect">
            <a:avLst/>
          </a:prstGeom>
          <a:noFill/>
        </p:spPr>
        <p:txBody>
          <a:bodyPr wrap="square" rtlCol="0">
            <a:spAutoFit/>
          </a:bodyPr>
          <a:lstStyle/>
          <a:p>
            <a:pPr marL="457200" indent="-457200">
              <a:buFontTx/>
              <a:buChar char="-"/>
            </a:pPr>
            <a:r>
              <a:rPr lang="en-NZ" sz="2800" i="1" dirty="0">
                <a:solidFill>
                  <a:srgbClr val="0089CF"/>
                </a:solidFill>
              </a:rPr>
              <a:t>A project’s EMV is the </a:t>
            </a:r>
            <a:r>
              <a:rPr lang="en-NZ" sz="2800" i="1" dirty="0">
                <a:solidFill>
                  <a:srgbClr val="FF0000"/>
                </a:solidFill>
              </a:rPr>
              <a:t>expected value </a:t>
            </a:r>
            <a:r>
              <a:rPr lang="en-NZ" sz="2800" i="1" dirty="0">
                <a:solidFill>
                  <a:srgbClr val="0089CF"/>
                </a:solidFill>
              </a:rPr>
              <a:t>of a random var with weighted risk events </a:t>
            </a:r>
          </a:p>
          <a:p>
            <a:pPr marL="457200" indent="-457200">
              <a:buFontTx/>
              <a:buChar char="-"/>
            </a:pPr>
            <a:r>
              <a:rPr lang="en-NZ" sz="2800" b="1" i="1" dirty="0">
                <a:solidFill>
                  <a:srgbClr val="FF0000"/>
                </a:solidFill>
              </a:rPr>
              <a:t>A project’s EMV should be  equivalent to its contingency reserve</a:t>
            </a:r>
            <a:r>
              <a:rPr lang="en-NZ" sz="2800" b="1" i="1" dirty="0">
                <a:solidFill>
                  <a:srgbClr val="0089CF"/>
                </a:solidFill>
              </a:rPr>
              <a:t>: </a:t>
            </a:r>
            <a:r>
              <a:rPr lang="en-NZ" sz="2800" i="1" dirty="0">
                <a:solidFill>
                  <a:srgbClr val="0089CF"/>
                </a:solidFill>
              </a:rPr>
              <a:t>if EMV is positive, then the project has enough money for the risks, otherwise the project needs more money to mitigate the identified risks</a:t>
            </a:r>
          </a:p>
        </p:txBody>
      </p:sp>
    </p:spTree>
    <p:extLst>
      <p:ext uri="{BB962C8B-B14F-4D97-AF65-F5344CB8AC3E}">
        <p14:creationId xmlns:p14="http://schemas.microsoft.com/office/powerpoint/2010/main" val="3432823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E14FB-407D-0EF2-1328-8AB684682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876D5-AE01-1A2B-FB66-BEEEE36B7376}"/>
              </a:ext>
            </a:extLst>
          </p:cNvPr>
          <p:cNvSpPr>
            <a:spLocks noGrp="1"/>
          </p:cNvSpPr>
          <p:nvPr>
            <p:ph type="title"/>
          </p:nvPr>
        </p:nvSpPr>
        <p:spPr/>
        <p:txBody>
          <a:bodyPr/>
          <a:lstStyle/>
          <a:p>
            <a:r>
              <a:rPr lang="en-US" dirty="0"/>
              <a:t>Implementation: Risk Response techniques</a:t>
            </a:r>
            <a:endParaRPr lang="en-NZ" dirty="0"/>
          </a:p>
        </p:txBody>
      </p:sp>
      <p:sp>
        <p:nvSpPr>
          <p:cNvPr id="3" name="Text Placeholder 2">
            <a:extLst>
              <a:ext uri="{FF2B5EF4-FFF2-40B4-BE49-F238E27FC236}">
                <a16:creationId xmlns:a16="http://schemas.microsoft.com/office/drawing/2014/main" id="{B2E1F988-B274-A9B3-16CA-0E57459A1C51}"/>
              </a:ext>
            </a:extLst>
          </p:cNvPr>
          <p:cNvSpPr>
            <a:spLocks noGrp="1"/>
          </p:cNvSpPr>
          <p:nvPr>
            <p:ph type="body" sz="quarter" idx="13"/>
          </p:nvPr>
        </p:nvSpPr>
        <p:spPr/>
        <p:txBody>
          <a:bodyPr>
            <a:normAutofit/>
          </a:bodyPr>
          <a:lstStyle/>
          <a:p>
            <a:r>
              <a:rPr lang="en-NZ" b="1" dirty="0"/>
              <a:t>Owner Assignment (RACI-style clarity)</a:t>
            </a:r>
            <a:br>
              <a:rPr lang="en-NZ" dirty="0"/>
            </a:br>
            <a:r>
              <a:rPr lang="en-NZ" dirty="0"/>
              <a:t>Every key risk response must have one accountable owner who drives it, plus supporting roles if needed.</a:t>
            </a:r>
          </a:p>
          <a:p>
            <a:r>
              <a:rPr lang="en-NZ" b="1" dirty="0"/>
              <a:t>Weekly Risk Review Meeting (standing agenda item)</a:t>
            </a:r>
            <a:br>
              <a:rPr lang="en-NZ" dirty="0"/>
            </a:br>
            <a:r>
              <a:rPr lang="en-NZ" dirty="0"/>
              <a:t>In team and mentor meetings, review: top risks, what actions were completed, what’s overdue, what triggers are appearing, what must be escalated.</a:t>
            </a:r>
          </a:p>
          <a:p>
            <a:r>
              <a:rPr lang="en-NZ" b="1" dirty="0"/>
              <a:t>Change Control process </a:t>
            </a:r>
            <a:r>
              <a:rPr lang="en-NZ" dirty="0"/>
              <a:t>(when responses affect baselines)If a risk response changes scope/schedule/tools, raise a change request and update the baseline properly (scope statement, WBS, schedule).</a:t>
            </a:r>
          </a:p>
        </p:txBody>
      </p:sp>
    </p:spTree>
    <p:extLst>
      <p:ext uri="{BB962C8B-B14F-4D97-AF65-F5344CB8AC3E}">
        <p14:creationId xmlns:p14="http://schemas.microsoft.com/office/powerpoint/2010/main" val="2526728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AB85D-3A8F-88F6-69DE-3528683FC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A3068-5AF3-30EE-58CF-28E05FA7AAC6}"/>
              </a:ext>
            </a:extLst>
          </p:cNvPr>
          <p:cNvSpPr>
            <a:spLocks noGrp="1"/>
          </p:cNvSpPr>
          <p:nvPr>
            <p:ph type="title"/>
          </p:nvPr>
        </p:nvSpPr>
        <p:spPr/>
        <p:txBody>
          <a:bodyPr/>
          <a:lstStyle/>
          <a:p>
            <a:r>
              <a:rPr lang="en-US" dirty="0"/>
              <a:t>Implementation: </a:t>
            </a:r>
            <a:r>
              <a:rPr lang="en-NZ" dirty="0"/>
              <a:t>Owner Assignment (RACI-style clarity)</a:t>
            </a:r>
          </a:p>
        </p:txBody>
      </p:sp>
      <p:sp>
        <p:nvSpPr>
          <p:cNvPr id="3" name="Text Placeholder 2">
            <a:extLst>
              <a:ext uri="{FF2B5EF4-FFF2-40B4-BE49-F238E27FC236}">
                <a16:creationId xmlns:a16="http://schemas.microsoft.com/office/drawing/2014/main" id="{00312A79-2757-2E77-9DE1-1687D27124BA}"/>
              </a:ext>
            </a:extLst>
          </p:cNvPr>
          <p:cNvSpPr>
            <a:spLocks noGrp="1"/>
          </p:cNvSpPr>
          <p:nvPr>
            <p:ph type="body" sz="quarter" idx="13"/>
          </p:nvPr>
        </p:nvSpPr>
        <p:spPr/>
        <p:txBody>
          <a:bodyPr>
            <a:normAutofit fontScale="70000" lnSpcReduction="20000"/>
          </a:bodyPr>
          <a:lstStyle/>
          <a:p>
            <a:r>
              <a:rPr lang="en-NZ" dirty="0"/>
              <a:t>RACI = Responsible, Accountable, Consulted, Informed (who does the work, who owns the outcome, who gives input, who gets updates).</a:t>
            </a:r>
          </a:p>
          <a:p>
            <a:r>
              <a:rPr lang="en-NZ" dirty="0"/>
              <a:t>One Accountable per deliverable/task (single owner to prevent confusion and blame-shifting).Responsible can be multiple (several people can help do the work, but still report to the one Accountable).</a:t>
            </a:r>
          </a:p>
          <a:p>
            <a:r>
              <a:rPr lang="en-NZ" dirty="0"/>
              <a:t>Consulted = two-way communication (get input before decisions; record it).Informed = one-way communication (keep updated after decisions; no approval needed).</a:t>
            </a:r>
          </a:p>
          <a:p>
            <a:r>
              <a:rPr lang="en-NZ" dirty="0"/>
              <a:t>Use RACI for high-risk tasks (scope decisions, approvals, privacy/security, tool/hosting access, testing sign-off, handover).</a:t>
            </a:r>
          </a:p>
          <a:p>
            <a:r>
              <a:rPr lang="en-NZ" dirty="0"/>
              <a:t>Link RACI to WBS and schedule (every major task/work package has clear R/A/C/I).Reduce meeting confusion by stating </a:t>
            </a:r>
          </a:p>
          <a:p>
            <a:r>
              <a:rPr lang="en-NZ" dirty="0"/>
              <a:t>RACI at the start of key meetings (“who decides?” “who owns actions?”).</a:t>
            </a:r>
          </a:p>
          <a:p>
            <a:r>
              <a:rPr lang="en-NZ" dirty="0"/>
              <a:t>Update RACI when scope changes (new stakeholders or responsibilities = update roles immediately).</a:t>
            </a:r>
          </a:p>
          <a:p>
            <a:r>
              <a:rPr lang="en-NZ" dirty="0"/>
              <a:t>Store RACI in the portfolio and reference it in team contract / stakeholder management plan.</a:t>
            </a:r>
          </a:p>
        </p:txBody>
      </p:sp>
    </p:spTree>
    <p:extLst>
      <p:ext uri="{BB962C8B-B14F-4D97-AF65-F5344CB8AC3E}">
        <p14:creationId xmlns:p14="http://schemas.microsoft.com/office/powerpoint/2010/main" val="1647041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34FE0-2CD7-BB4D-D16E-DF8826BC8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F83F2C-59FE-B254-FDF0-C7F9E6477D25}"/>
              </a:ext>
            </a:extLst>
          </p:cNvPr>
          <p:cNvSpPr>
            <a:spLocks noGrp="1"/>
          </p:cNvSpPr>
          <p:nvPr>
            <p:ph type="title"/>
          </p:nvPr>
        </p:nvSpPr>
        <p:spPr/>
        <p:txBody>
          <a:bodyPr/>
          <a:lstStyle/>
          <a:p>
            <a:r>
              <a:rPr lang="en-US" dirty="0"/>
              <a:t>Monitoring of Risk</a:t>
            </a:r>
            <a:endParaRPr lang="en-NZ" dirty="0"/>
          </a:p>
        </p:txBody>
      </p:sp>
      <p:sp>
        <p:nvSpPr>
          <p:cNvPr id="3" name="Text Placeholder 2">
            <a:extLst>
              <a:ext uri="{FF2B5EF4-FFF2-40B4-BE49-F238E27FC236}">
                <a16:creationId xmlns:a16="http://schemas.microsoft.com/office/drawing/2014/main" id="{36FAF501-B3D8-006F-E468-D16A6A83793E}"/>
              </a:ext>
            </a:extLst>
          </p:cNvPr>
          <p:cNvSpPr>
            <a:spLocks noGrp="1"/>
          </p:cNvSpPr>
          <p:nvPr>
            <p:ph type="body" sz="quarter" idx="13"/>
          </p:nvPr>
        </p:nvSpPr>
        <p:spPr/>
        <p:txBody>
          <a:bodyPr>
            <a:normAutofit fontScale="92500" lnSpcReduction="20000"/>
          </a:bodyPr>
          <a:lstStyle/>
          <a:p>
            <a:r>
              <a:rPr lang="en-NZ" b="1" dirty="0"/>
              <a:t>Risk reassessment (weekly risk review)</a:t>
            </a:r>
            <a:br>
              <a:rPr lang="en-NZ" dirty="0"/>
            </a:br>
            <a:r>
              <a:rPr lang="en-NZ" dirty="0"/>
              <a:t>Re-check the risk list regularly: add new risks, remove irrelevant ones, update likelihood/impact, and re-rank priorities.</a:t>
            </a:r>
          </a:p>
          <a:p>
            <a:r>
              <a:rPr lang="en-NZ" b="1" dirty="0"/>
              <a:t>Risk audits</a:t>
            </a:r>
            <a:br>
              <a:rPr lang="en-NZ" dirty="0"/>
            </a:br>
            <a:r>
              <a:rPr lang="en-NZ" dirty="0"/>
              <a:t>A structured check that asks: </a:t>
            </a:r>
            <a:r>
              <a:rPr lang="en-NZ" i="1" dirty="0"/>
              <a:t>Are we actually doing the planned risk responses? Are they working? Are we tracking the right risks?</a:t>
            </a:r>
          </a:p>
          <a:p>
            <a:r>
              <a:rPr lang="en-NZ" b="1" dirty="0"/>
              <a:t>Reserve analysis</a:t>
            </a:r>
          </a:p>
          <a:p>
            <a:pPr marL="0" indent="0">
              <a:buNone/>
            </a:pPr>
            <a:r>
              <a:rPr lang="en-NZ" dirty="0"/>
              <a:t>    Check whether your time buffers/contingency reserves are still adequate, and whether they are being used up too early.</a:t>
            </a:r>
          </a:p>
          <a:p>
            <a:r>
              <a:rPr lang="en-NZ" b="1" dirty="0"/>
              <a:t>Risk response effectiveness checks</a:t>
            </a:r>
          </a:p>
          <a:p>
            <a:pPr marL="0" indent="0">
              <a:buNone/>
            </a:pPr>
            <a:r>
              <a:rPr lang="en-NZ" dirty="0"/>
              <a:t>   For each major risk, confirm whether mitigation actions reduced     likelihood/impact. If not, adjust the response plan.</a:t>
            </a:r>
          </a:p>
        </p:txBody>
      </p:sp>
    </p:spTree>
    <p:extLst>
      <p:ext uri="{BB962C8B-B14F-4D97-AF65-F5344CB8AC3E}">
        <p14:creationId xmlns:p14="http://schemas.microsoft.com/office/powerpoint/2010/main" val="2215265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Helia Core Medium"/>
        <a:ea typeface=""/>
        <a:cs typeface=""/>
      </a:majorFont>
      <a:minorFont>
        <a:latin typeface="Helia Core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DC9A5102B5B754D8551214860F4B512" ma:contentTypeVersion="1" ma:contentTypeDescription="Create a new document." ma:contentTypeScope="" ma:versionID="4d5bcd3236515693560183c71834b9ea">
  <xsd:schema xmlns:xsd="http://www.w3.org/2001/XMLSchema" xmlns:xs="http://www.w3.org/2001/XMLSchema" xmlns:p="http://schemas.microsoft.com/office/2006/metadata/properties" xmlns:ns1="http://schemas.microsoft.com/sharepoint/v3" targetNamespace="http://schemas.microsoft.com/office/2006/metadata/properties" ma:root="true" ma:fieldsID="6687c2d9dede78e24b8f92e044f97f8b"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47B4A22-418F-4834-9543-17CB4C005035}">
  <ds:schemaRefs>
    <ds:schemaRef ds:uri="http://schemas.microsoft.com/sharepoint/v3"/>
    <ds:schemaRef ds:uri="http://purl.org/dc/term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A437E481-44FE-4ABD-B795-DBD8244C6C74}">
  <ds:schemaRefs>
    <ds:schemaRef ds:uri="http://schemas.microsoft.com/sharepoint/v3/contenttype/forms"/>
  </ds:schemaRefs>
</ds:datastoreItem>
</file>

<file path=customXml/itemProps3.xml><?xml version="1.0" encoding="utf-8"?>
<ds:datastoreItem xmlns:ds="http://schemas.openxmlformats.org/officeDocument/2006/customXml" ds:itemID="{7B729C2A-8111-486E-BE4C-72E5BC6D9D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24542</TotalTime>
  <Words>3773</Words>
  <Application>Microsoft Office PowerPoint</Application>
  <PresentationFormat>Widescreen</PresentationFormat>
  <Paragraphs>321</Paragraphs>
  <Slides>37</Slides>
  <Notes>18</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4" baseType="lpstr">
      <vt:lpstr>Times New Roman</vt:lpstr>
      <vt:lpstr>Arial</vt:lpstr>
      <vt:lpstr>Century Gothic</vt:lpstr>
      <vt:lpstr>Palatino Linotype</vt:lpstr>
      <vt:lpstr>Calibri</vt:lpstr>
      <vt:lpstr>Office Theme</vt:lpstr>
      <vt:lpstr>Document</vt:lpstr>
      <vt:lpstr>COMP507 IT Project Management Risk Management  Daniel</vt:lpstr>
      <vt:lpstr>Agenda</vt:lpstr>
      <vt:lpstr>The Importance of Project Risk Management (1 of 5)</vt:lpstr>
      <vt:lpstr>The Importance of Project Risk Management (4 of 5): what is risk?</vt:lpstr>
      <vt:lpstr>Project risk management processes</vt:lpstr>
      <vt:lpstr>Planning Risk Management (1 of 3)</vt:lpstr>
      <vt:lpstr>Take a Template Approach</vt:lpstr>
      <vt:lpstr>Planning Risk Management (2 of 3)</vt:lpstr>
      <vt:lpstr>Planning Risk Management (3a of 3)</vt:lpstr>
      <vt:lpstr>Planning Risk Management (3b of 3)</vt:lpstr>
      <vt:lpstr>Common risk categories/sources (1 of 3)</vt:lpstr>
      <vt:lpstr>Common risk categories/sources (2 of 3)</vt:lpstr>
      <vt:lpstr>Common Sources of Risk in Information Technology Projects</vt:lpstr>
      <vt:lpstr>Common risk categories/sources (3 of 3) - ITPM</vt:lpstr>
      <vt:lpstr>Activity One:University Student Services App</vt:lpstr>
      <vt:lpstr>Planning Process Group: Identifying Risks</vt:lpstr>
      <vt:lpstr>Planning Process Group: Think Smash Workshop </vt:lpstr>
      <vt:lpstr>Planning Process Group: SWOT analysis  </vt:lpstr>
      <vt:lpstr>Planning Process Group: SWOT analysis  </vt:lpstr>
      <vt:lpstr>Activity Two:University Student Services App</vt:lpstr>
      <vt:lpstr>Planning Process Group: Interviews</vt:lpstr>
      <vt:lpstr>The Risk Register (1 of 4)</vt:lpstr>
      <vt:lpstr>The Risk Register (2 of 4)</vt:lpstr>
      <vt:lpstr>The Risk Register (3 of 4) </vt:lpstr>
      <vt:lpstr>Activity Three: Identify Risks and Develop a Risk Register</vt:lpstr>
      <vt:lpstr>Performing Qualitative Risk Analysis</vt:lpstr>
      <vt:lpstr>Using Probability/Impact Matrixes to Calculate Risk Factors (1 of 3)</vt:lpstr>
      <vt:lpstr>Using Probability/Impact Matrixes to Calculate Risk Factors (2 of 3)</vt:lpstr>
      <vt:lpstr>Using Probability/Impact Matrixes to Calculate Risk Factors (3 of 3)</vt:lpstr>
      <vt:lpstr>Top Ten Risk Item Tracking (1 of 2)</vt:lpstr>
      <vt:lpstr>Top Ten Risk Item Tracking (2 of 2)</vt:lpstr>
      <vt:lpstr>Performing Quantitative Risk Analysis</vt:lpstr>
      <vt:lpstr>Decision Trees and Expected Monetary Value (EMV) (1 of 2)</vt:lpstr>
      <vt:lpstr>Decision Trees and Expected Monetary Value (EMV) (2 of 2)</vt:lpstr>
      <vt:lpstr>Implementation: Risk Response techniques</vt:lpstr>
      <vt:lpstr>Implementation: Owner Assignment (RACI-style clarity)</vt:lpstr>
      <vt:lpstr>Monitoring of Risk</vt:lpstr>
    </vt:vector>
  </TitlesOfParts>
  <Company>AUT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dc:title>
  <dc:creator>stephen.thorpe@aut.ac.nz</dc:creator>
  <cp:lastModifiedBy>Taniela  Ana Vaipulu</cp:lastModifiedBy>
  <cp:revision>301</cp:revision>
  <dcterms:created xsi:type="dcterms:W3CDTF">2015-01-26T22:08:43Z</dcterms:created>
  <dcterms:modified xsi:type="dcterms:W3CDTF">2026-08-09T00:52:38Z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0x0101004DC9A5102B5B754D8551214860F4B512</vt:lpwstr>
  </property>
</Properties>
</file>