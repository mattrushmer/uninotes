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media/image2.jp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316" r:id="rId6"/>
    <p:sldId id="260" r:id="rId7"/>
    <p:sldId id="279" r:id="rId8"/>
    <p:sldId id="589" r:id="rId9"/>
    <p:sldId id="605" r:id="rId10"/>
    <p:sldId id="261" r:id="rId11"/>
    <p:sldId id="315" r:id="rId12"/>
    <p:sldId id="314" r:id="rId13"/>
    <p:sldId id="268" r:id="rId14"/>
    <p:sldId id="606" r:id="rId15"/>
    <p:sldId id="269" r:id="rId16"/>
    <p:sldId id="271" r:id="rId17"/>
    <p:sldId id="317" r:id="rId18"/>
    <p:sldId id="318" r:id="rId19"/>
    <p:sldId id="281" r:id="rId20"/>
    <p:sldId id="282" r:id="rId21"/>
    <p:sldId id="319" r:id="rId22"/>
    <p:sldId id="320" r:id="rId23"/>
    <p:sldId id="283" r:id="rId24"/>
    <p:sldId id="284" r:id="rId25"/>
    <p:sldId id="285" r:id="rId26"/>
    <p:sldId id="290" r:id="rId27"/>
    <p:sldId id="292" r:id="rId28"/>
    <p:sldId id="293" r:id="rId29"/>
    <p:sldId id="604" r:id="rId30"/>
    <p:sldId id="295" r:id="rId31"/>
    <p:sldId id="303" r:id="rId32"/>
    <p:sldId id="312" r:id="rId33"/>
    <p:sldId id="313" r:id="rId3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89718" autoAdjust="0"/>
  </p:normalViewPr>
  <p:slideViewPr>
    <p:cSldViewPr>
      <p:cViewPr varScale="1">
        <p:scale>
          <a:sx n="99" d="100"/>
          <a:sy n="99" d="100"/>
        </p:scale>
        <p:origin x="1032"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88F71E8-FD71-48AA-9638-408B72E05157}" type="datetimeFigureOut">
              <a:rPr lang="en-NZ" smtClean="0"/>
              <a:t>15/07/2026</a:t>
            </a:fld>
            <a:endParaRPr lang="en-NZ"/>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20532B9-E56D-4CAD-9AC6-3B52B6D9E667}" type="slidenum">
              <a:rPr lang="en-NZ" smtClean="0"/>
              <a:t>‹#›</a:t>
            </a:fld>
            <a:endParaRPr lang="en-NZ"/>
          </a:p>
        </p:txBody>
      </p:sp>
    </p:spTree>
    <p:extLst>
      <p:ext uri="{BB962C8B-B14F-4D97-AF65-F5344CB8AC3E}">
        <p14:creationId xmlns:p14="http://schemas.microsoft.com/office/powerpoint/2010/main" val="3651735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520532B9-E56D-4CAD-9AC6-3B52B6D9E667}" type="slidenum">
              <a:rPr lang="en-NZ" smtClean="0"/>
              <a:t>4</a:t>
            </a:fld>
            <a:endParaRPr lang="en-NZ"/>
          </a:p>
        </p:txBody>
      </p:sp>
    </p:spTree>
    <p:extLst>
      <p:ext uri="{BB962C8B-B14F-4D97-AF65-F5344CB8AC3E}">
        <p14:creationId xmlns:p14="http://schemas.microsoft.com/office/powerpoint/2010/main" val="3794919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9A942D2F-7C4E-4559-9F36-48B6C8BEE3DE}" type="slidenum">
              <a:rPr lang="en-NZ" smtClean="0"/>
              <a:t>5</a:t>
            </a:fld>
            <a:endParaRPr lang="en-NZ"/>
          </a:p>
        </p:txBody>
      </p:sp>
    </p:spTree>
    <p:extLst>
      <p:ext uri="{BB962C8B-B14F-4D97-AF65-F5344CB8AC3E}">
        <p14:creationId xmlns:p14="http://schemas.microsoft.com/office/powerpoint/2010/main" val="1998048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55675">
              <a:defRPr>
                <a:solidFill>
                  <a:schemeClr val="tx1"/>
                </a:solidFill>
                <a:latin typeface="Helia Core Book" pitchFamily="50" charset="0"/>
              </a:defRPr>
            </a:lvl1pPr>
            <a:lvl2pPr marL="742950" indent="-285750" defTabSz="955675">
              <a:defRPr>
                <a:solidFill>
                  <a:schemeClr val="tx1"/>
                </a:solidFill>
                <a:latin typeface="Helia Core Book" pitchFamily="50" charset="0"/>
              </a:defRPr>
            </a:lvl2pPr>
            <a:lvl3pPr marL="1143000" indent="-228600" defTabSz="955675">
              <a:defRPr>
                <a:solidFill>
                  <a:schemeClr val="tx1"/>
                </a:solidFill>
                <a:latin typeface="Helia Core Book" pitchFamily="50" charset="0"/>
              </a:defRPr>
            </a:lvl3pPr>
            <a:lvl4pPr marL="1600200" indent="-228600" defTabSz="955675">
              <a:defRPr>
                <a:solidFill>
                  <a:schemeClr val="tx1"/>
                </a:solidFill>
                <a:latin typeface="Helia Core Book" pitchFamily="50" charset="0"/>
              </a:defRPr>
            </a:lvl4pPr>
            <a:lvl5pPr marL="2057400" indent="-228600" defTabSz="955675">
              <a:defRPr>
                <a:solidFill>
                  <a:schemeClr val="tx1"/>
                </a:solidFill>
                <a:latin typeface="Helia Core Book" pitchFamily="50" charset="0"/>
              </a:defRPr>
            </a:lvl5pPr>
            <a:lvl6pPr marL="2514600" indent="-228600" defTabSz="955675" eaLnBrk="0" fontAlgn="base" hangingPunct="0">
              <a:spcBef>
                <a:spcPct val="0"/>
              </a:spcBef>
              <a:spcAft>
                <a:spcPct val="0"/>
              </a:spcAft>
              <a:defRPr>
                <a:solidFill>
                  <a:schemeClr val="tx1"/>
                </a:solidFill>
                <a:latin typeface="Helia Core Book" pitchFamily="50" charset="0"/>
              </a:defRPr>
            </a:lvl6pPr>
            <a:lvl7pPr marL="2971800" indent="-228600" defTabSz="955675" eaLnBrk="0" fontAlgn="base" hangingPunct="0">
              <a:spcBef>
                <a:spcPct val="0"/>
              </a:spcBef>
              <a:spcAft>
                <a:spcPct val="0"/>
              </a:spcAft>
              <a:defRPr>
                <a:solidFill>
                  <a:schemeClr val="tx1"/>
                </a:solidFill>
                <a:latin typeface="Helia Core Book" pitchFamily="50" charset="0"/>
              </a:defRPr>
            </a:lvl7pPr>
            <a:lvl8pPr marL="3429000" indent="-228600" defTabSz="955675" eaLnBrk="0" fontAlgn="base" hangingPunct="0">
              <a:spcBef>
                <a:spcPct val="0"/>
              </a:spcBef>
              <a:spcAft>
                <a:spcPct val="0"/>
              </a:spcAft>
              <a:defRPr>
                <a:solidFill>
                  <a:schemeClr val="tx1"/>
                </a:solidFill>
                <a:latin typeface="Helia Core Book" pitchFamily="50" charset="0"/>
              </a:defRPr>
            </a:lvl8pPr>
            <a:lvl9pPr marL="3886200" indent="-228600" defTabSz="955675" eaLnBrk="0" fontAlgn="base" hangingPunct="0">
              <a:spcBef>
                <a:spcPct val="0"/>
              </a:spcBef>
              <a:spcAft>
                <a:spcPct val="0"/>
              </a:spcAft>
              <a:defRPr>
                <a:solidFill>
                  <a:schemeClr val="tx1"/>
                </a:solidFill>
                <a:latin typeface="Helia Core Book" pitchFamily="50" charset="0"/>
              </a:defRPr>
            </a:lvl9pPr>
          </a:lstStyle>
          <a:p>
            <a:pPr fontAlgn="base">
              <a:spcBef>
                <a:spcPct val="0"/>
              </a:spcBef>
              <a:spcAft>
                <a:spcPct val="0"/>
              </a:spcAft>
            </a:pPr>
            <a:fld id="{45D74E67-0184-42DF-BBA3-20BBDB35B1B4}" type="slidenum">
              <a:rPr lang="en-US" altLang="en-US" sz="1300" smtClean="0">
                <a:latin typeface="Times New Roman" panose="02020603050405020304" pitchFamily="18" charset="0"/>
              </a:rPr>
              <a:pPr fontAlgn="base">
                <a:spcBef>
                  <a:spcPct val="0"/>
                </a:spcBef>
                <a:spcAft>
                  <a:spcPct val="0"/>
                </a:spcAft>
              </a:pPr>
              <a:t>8</a:t>
            </a:fld>
            <a:endParaRPr lang="en-US" altLang="en-US" sz="1300">
              <a:latin typeface="Times New Roman" panose="02020603050405020304" pitchFamily="18" charset="0"/>
            </a:endParaRPr>
          </a:p>
        </p:txBody>
      </p:sp>
      <p:sp>
        <p:nvSpPr>
          <p:cNvPr id="184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2" name="Header Placeholder 1"/>
          <p:cNvSpPr>
            <a:spLocks noGrp="1"/>
          </p:cNvSpPr>
          <p:nvPr>
            <p:ph type="hdr" sz="quarter"/>
          </p:nvPr>
        </p:nvSpPr>
        <p:spPr/>
        <p:txBody>
          <a:bodyPr/>
          <a:lstStyle/>
          <a:p>
            <a:pPr>
              <a:defRPr/>
            </a:pPr>
            <a:r>
              <a:rPr lang="en-NZ"/>
              <a:t>Information Security Technologies</a:t>
            </a:r>
          </a:p>
        </p:txBody>
      </p:sp>
      <p:sp>
        <p:nvSpPr>
          <p:cNvPr id="3" name="Footer Placeholder 2"/>
          <p:cNvSpPr>
            <a:spLocks noGrp="1"/>
          </p:cNvSpPr>
          <p:nvPr>
            <p:ph type="ftr" sz="quarter" idx="4"/>
          </p:nvPr>
        </p:nvSpPr>
        <p:spPr/>
        <p:txBody>
          <a:bodyPr/>
          <a:lstStyle/>
          <a:p>
            <a:pPr>
              <a:defRPr/>
            </a:pPr>
            <a:r>
              <a:rPr lang="en-NZ"/>
              <a:t>© Auckland University of Technology</a:t>
            </a:r>
          </a:p>
        </p:txBody>
      </p:sp>
    </p:spTree>
    <p:extLst>
      <p:ext uri="{BB962C8B-B14F-4D97-AF65-F5344CB8AC3E}">
        <p14:creationId xmlns:p14="http://schemas.microsoft.com/office/powerpoint/2010/main" val="3674008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E439D-A1DE-F103-22B0-612B4154BC50}"/>
            </a:ext>
          </a:extLst>
        </p:cNvPr>
        <p:cNvGrpSpPr/>
        <p:nvPr/>
      </p:nvGrpSpPr>
      <p:grpSpPr>
        <a:xfrm>
          <a:off x="0" y="0"/>
          <a:ext cx="0" cy="0"/>
          <a:chOff x="0" y="0"/>
          <a:chExt cx="0" cy="0"/>
        </a:xfrm>
      </p:grpSpPr>
      <p:sp>
        <p:nvSpPr>
          <p:cNvPr id="18434" name="Rectangle 7">
            <a:extLst>
              <a:ext uri="{FF2B5EF4-FFF2-40B4-BE49-F238E27FC236}">
                <a16:creationId xmlns:a16="http://schemas.microsoft.com/office/drawing/2014/main" id="{51750C35-1B35-6FEE-AA72-6B776D20F50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55675">
              <a:defRPr>
                <a:solidFill>
                  <a:schemeClr val="tx1"/>
                </a:solidFill>
                <a:latin typeface="Helia Core Book" pitchFamily="50" charset="0"/>
              </a:defRPr>
            </a:lvl1pPr>
            <a:lvl2pPr marL="742950" indent="-285750" defTabSz="955675">
              <a:defRPr>
                <a:solidFill>
                  <a:schemeClr val="tx1"/>
                </a:solidFill>
                <a:latin typeface="Helia Core Book" pitchFamily="50" charset="0"/>
              </a:defRPr>
            </a:lvl2pPr>
            <a:lvl3pPr marL="1143000" indent="-228600" defTabSz="955675">
              <a:defRPr>
                <a:solidFill>
                  <a:schemeClr val="tx1"/>
                </a:solidFill>
                <a:latin typeface="Helia Core Book" pitchFamily="50" charset="0"/>
              </a:defRPr>
            </a:lvl3pPr>
            <a:lvl4pPr marL="1600200" indent="-228600" defTabSz="955675">
              <a:defRPr>
                <a:solidFill>
                  <a:schemeClr val="tx1"/>
                </a:solidFill>
                <a:latin typeface="Helia Core Book" pitchFamily="50" charset="0"/>
              </a:defRPr>
            </a:lvl4pPr>
            <a:lvl5pPr marL="2057400" indent="-228600" defTabSz="955675">
              <a:defRPr>
                <a:solidFill>
                  <a:schemeClr val="tx1"/>
                </a:solidFill>
                <a:latin typeface="Helia Core Book" pitchFamily="50" charset="0"/>
              </a:defRPr>
            </a:lvl5pPr>
            <a:lvl6pPr marL="2514600" indent="-228600" defTabSz="955675" eaLnBrk="0" fontAlgn="base" hangingPunct="0">
              <a:spcBef>
                <a:spcPct val="0"/>
              </a:spcBef>
              <a:spcAft>
                <a:spcPct val="0"/>
              </a:spcAft>
              <a:defRPr>
                <a:solidFill>
                  <a:schemeClr val="tx1"/>
                </a:solidFill>
                <a:latin typeface="Helia Core Book" pitchFamily="50" charset="0"/>
              </a:defRPr>
            </a:lvl6pPr>
            <a:lvl7pPr marL="2971800" indent="-228600" defTabSz="955675" eaLnBrk="0" fontAlgn="base" hangingPunct="0">
              <a:spcBef>
                <a:spcPct val="0"/>
              </a:spcBef>
              <a:spcAft>
                <a:spcPct val="0"/>
              </a:spcAft>
              <a:defRPr>
                <a:solidFill>
                  <a:schemeClr val="tx1"/>
                </a:solidFill>
                <a:latin typeface="Helia Core Book" pitchFamily="50" charset="0"/>
              </a:defRPr>
            </a:lvl7pPr>
            <a:lvl8pPr marL="3429000" indent="-228600" defTabSz="955675" eaLnBrk="0" fontAlgn="base" hangingPunct="0">
              <a:spcBef>
                <a:spcPct val="0"/>
              </a:spcBef>
              <a:spcAft>
                <a:spcPct val="0"/>
              </a:spcAft>
              <a:defRPr>
                <a:solidFill>
                  <a:schemeClr val="tx1"/>
                </a:solidFill>
                <a:latin typeface="Helia Core Book" pitchFamily="50" charset="0"/>
              </a:defRPr>
            </a:lvl8pPr>
            <a:lvl9pPr marL="3886200" indent="-228600" defTabSz="955675" eaLnBrk="0" fontAlgn="base" hangingPunct="0">
              <a:spcBef>
                <a:spcPct val="0"/>
              </a:spcBef>
              <a:spcAft>
                <a:spcPct val="0"/>
              </a:spcAft>
              <a:defRPr>
                <a:solidFill>
                  <a:schemeClr val="tx1"/>
                </a:solidFill>
                <a:latin typeface="Helia Core Book" pitchFamily="50" charset="0"/>
              </a:defRPr>
            </a:lvl9pPr>
          </a:lstStyle>
          <a:p>
            <a:pPr fontAlgn="base">
              <a:spcBef>
                <a:spcPct val="0"/>
              </a:spcBef>
              <a:spcAft>
                <a:spcPct val="0"/>
              </a:spcAft>
            </a:pPr>
            <a:fld id="{45D74E67-0184-42DF-BBA3-20BBDB35B1B4}" type="slidenum">
              <a:rPr lang="en-US" altLang="en-US" sz="1300" smtClean="0">
                <a:latin typeface="Times New Roman" panose="02020603050405020304" pitchFamily="18" charset="0"/>
              </a:rPr>
              <a:pPr fontAlgn="base">
                <a:spcBef>
                  <a:spcPct val="0"/>
                </a:spcBef>
                <a:spcAft>
                  <a:spcPct val="0"/>
                </a:spcAft>
              </a:pPr>
              <a:t>9</a:t>
            </a:fld>
            <a:endParaRPr lang="en-US" altLang="en-US" sz="1300">
              <a:latin typeface="Times New Roman" panose="02020603050405020304" pitchFamily="18" charset="0"/>
            </a:endParaRPr>
          </a:p>
        </p:txBody>
      </p:sp>
      <p:sp>
        <p:nvSpPr>
          <p:cNvPr id="18435" name="Rectangle 2">
            <a:extLst>
              <a:ext uri="{FF2B5EF4-FFF2-40B4-BE49-F238E27FC236}">
                <a16:creationId xmlns:a16="http://schemas.microsoft.com/office/drawing/2014/main" id="{5364E61A-9367-857E-E26B-C69B6778B2B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6" name="Rectangle 3">
            <a:extLst>
              <a:ext uri="{FF2B5EF4-FFF2-40B4-BE49-F238E27FC236}">
                <a16:creationId xmlns:a16="http://schemas.microsoft.com/office/drawing/2014/main" id="{1DD1C54E-51CC-A11C-422F-D6A087966CD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2" name="Header Placeholder 1">
            <a:extLst>
              <a:ext uri="{FF2B5EF4-FFF2-40B4-BE49-F238E27FC236}">
                <a16:creationId xmlns:a16="http://schemas.microsoft.com/office/drawing/2014/main" id="{A2FFEB2F-F4E8-3AE5-A435-D072863D9105}"/>
              </a:ext>
            </a:extLst>
          </p:cNvPr>
          <p:cNvSpPr>
            <a:spLocks noGrp="1"/>
          </p:cNvSpPr>
          <p:nvPr>
            <p:ph type="hdr" sz="quarter"/>
          </p:nvPr>
        </p:nvSpPr>
        <p:spPr/>
        <p:txBody>
          <a:bodyPr/>
          <a:lstStyle/>
          <a:p>
            <a:pPr>
              <a:defRPr/>
            </a:pPr>
            <a:r>
              <a:rPr lang="en-NZ"/>
              <a:t>Information Security Technologies</a:t>
            </a:r>
          </a:p>
        </p:txBody>
      </p:sp>
      <p:sp>
        <p:nvSpPr>
          <p:cNvPr id="3" name="Footer Placeholder 2">
            <a:extLst>
              <a:ext uri="{FF2B5EF4-FFF2-40B4-BE49-F238E27FC236}">
                <a16:creationId xmlns:a16="http://schemas.microsoft.com/office/drawing/2014/main" id="{4F44FB02-CAE9-0100-5FA2-0D0094EC43D4}"/>
              </a:ext>
            </a:extLst>
          </p:cNvPr>
          <p:cNvSpPr>
            <a:spLocks noGrp="1"/>
          </p:cNvSpPr>
          <p:nvPr>
            <p:ph type="ftr" sz="quarter" idx="4"/>
          </p:nvPr>
        </p:nvSpPr>
        <p:spPr/>
        <p:txBody>
          <a:bodyPr/>
          <a:lstStyle/>
          <a:p>
            <a:pPr>
              <a:defRPr/>
            </a:pPr>
            <a:r>
              <a:rPr lang="en-NZ"/>
              <a:t>© Auckland University of Technology</a:t>
            </a:r>
          </a:p>
        </p:txBody>
      </p:sp>
    </p:spTree>
    <p:extLst>
      <p:ext uri="{BB962C8B-B14F-4D97-AF65-F5344CB8AC3E}">
        <p14:creationId xmlns:p14="http://schemas.microsoft.com/office/powerpoint/2010/main" val="1709058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520532B9-E56D-4CAD-9AC6-3B52B6D9E667}" type="slidenum">
              <a:rPr lang="en-NZ" smtClean="0"/>
              <a:t>18</a:t>
            </a:fld>
            <a:endParaRPr lang="en-NZ"/>
          </a:p>
        </p:txBody>
      </p:sp>
    </p:spTree>
    <p:extLst>
      <p:ext uri="{BB962C8B-B14F-4D97-AF65-F5344CB8AC3E}">
        <p14:creationId xmlns:p14="http://schemas.microsoft.com/office/powerpoint/2010/main" val="1900235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ACA67-27DB-A31A-EE0E-0B76C4B60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86037-D054-B088-1B40-78A20E1C7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80CC6-5065-5DBC-4132-D478AD68492A}"/>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43BB1D0D-3C9A-512D-8514-CDC15418C076}"/>
              </a:ext>
            </a:extLst>
          </p:cNvPr>
          <p:cNvSpPr>
            <a:spLocks noGrp="1"/>
          </p:cNvSpPr>
          <p:nvPr>
            <p:ph type="sldNum" sz="quarter" idx="5"/>
          </p:nvPr>
        </p:nvSpPr>
        <p:spPr/>
        <p:txBody>
          <a:bodyPr/>
          <a:lstStyle/>
          <a:p>
            <a:fld id="{520532B9-E56D-4CAD-9AC6-3B52B6D9E667}" type="slidenum">
              <a:rPr lang="en-NZ" smtClean="0"/>
              <a:t>21</a:t>
            </a:fld>
            <a:endParaRPr lang="en-NZ"/>
          </a:p>
        </p:txBody>
      </p:sp>
    </p:spTree>
    <p:extLst>
      <p:ext uri="{BB962C8B-B14F-4D97-AF65-F5344CB8AC3E}">
        <p14:creationId xmlns:p14="http://schemas.microsoft.com/office/powerpoint/2010/main" val="3014374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EA437-96B2-2213-CAF0-330678E3E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F087F-5619-9A86-0835-99FEC4B44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04DB6-BBAB-DC57-44C4-71A9BCA2CB5B}"/>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DDCD13B0-2B54-AD81-B965-3C6ACFFA080E}"/>
              </a:ext>
            </a:extLst>
          </p:cNvPr>
          <p:cNvSpPr>
            <a:spLocks noGrp="1"/>
          </p:cNvSpPr>
          <p:nvPr>
            <p:ph type="sldNum" sz="quarter" idx="5"/>
          </p:nvPr>
        </p:nvSpPr>
        <p:spPr/>
        <p:txBody>
          <a:bodyPr/>
          <a:lstStyle/>
          <a:p>
            <a:fld id="{520532B9-E56D-4CAD-9AC6-3B52B6D9E667}" type="slidenum">
              <a:rPr lang="en-NZ" smtClean="0"/>
              <a:t>22</a:t>
            </a:fld>
            <a:endParaRPr lang="en-NZ"/>
          </a:p>
        </p:txBody>
      </p:sp>
    </p:spTree>
    <p:extLst>
      <p:ext uri="{BB962C8B-B14F-4D97-AF65-F5344CB8AC3E}">
        <p14:creationId xmlns:p14="http://schemas.microsoft.com/office/powerpoint/2010/main" val="4264448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520532B9-E56D-4CAD-9AC6-3B52B6D9E667}" type="slidenum">
              <a:rPr lang="en-NZ" smtClean="0"/>
              <a:t>25</a:t>
            </a:fld>
            <a:endParaRPr lang="en-NZ"/>
          </a:p>
        </p:txBody>
      </p:sp>
    </p:spTree>
    <p:extLst>
      <p:ext uri="{BB962C8B-B14F-4D97-AF65-F5344CB8AC3E}">
        <p14:creationId xmlns:p14="http://schemas.microsoft.com/office/powerpoint/2010/main" val="2714679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520532B9-E56D-4CAD-9AC6-3B52B6D9E667}" type="slidenum">
              <a:rPr lang="en-NZ" smtClean="0"/>
              <a:t>28</a:t>
            </a:fld>
            <a:endParaRPr lang="en-NZ"/>
          </a:p>
        </p:txBody>
      </p:sp>
    </p:spTree>
    <p:extLst>
      <p:ext uri="{BB962C8B-B14F-4D97-AF65-F5344CB8AC3E}">
        <p14:creationId xmlns:p14="http://schemas.microsoft.com/office/powerpoint/2010/main" val="2691644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rgbClr val="F1642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1460500" y="365125"/>
            <a:ext cx="10515600" cy="1325563"/>
          </a:xfrm>
          <a:prstGeom prst="rect">
            <a:avLst/>
          </a:prstGeom>
        </p:spPr>
        <p:txBody>
          <a:bodyPr vert="horz" lIns="91440" tIns="45720" rIns="91440" bIns="45720" rtlCol="0" anchor="ctr">
            <a:normAutofit/>
          </a:bodyPr>
          <a:lstStyle>
            <a:lvl1pPr>
              <a:defRPr>
                <a:solidFill>
                  <a:srgbClr val="F26522"/>
                </a:solidFill>
              </a:defRPr>
            </a:lvl1pPr>
          </a:lstStyle>
          <a:p>
            <a:r>
              <a:rPr lang="en-US" dirty="0"/>
              <a:t>Click to edit Master title style</a:t>
            </a:r>
            <a:endParaRPr lang="en-NZ" dirty="0"/>
          </a:p>
        </p:txBody>
      </p:sp>
      <p:sp>
        <p:nvSpPr>
          <p:cNvPr id="5" name="Text Placeholder 11"/>
          <p:cNvSpPr>
            <a:spLocks noGrp="1"/>
          </p:cNvSpPr>
          <p:nvPr>
            <p:ph type="body" sz="quarter" idx="13"/>
          </p:nvPr>
        </p:nvSpPr>
        <p:spPr>
          <a:xfrm>
            <a:off x="1460500" y="1844530"/>
            <a:ext cx="10515600" cy="4351338"/>
          </a:xfrm>
        </p:spPr>
        <p:txBody>
          <a:bodyPr/>
          <a:lstStyle>
            <a:lvl1pPr>
              <a:buClr>
                <a:srgbClr val="F58220"/>
              </a:buClr>
              <a:defRPr/>
            </a:lvl1pPr>
            <a:lvl2pPr>
              <a:buClr>
                <a:srgbClr val="F58220"/>
              </a:buClr>
              <a:defRPr/>
            </a:lvl2pPr>
            <a:lvl3pPr>
              <a:buClr>
                <a:srgbClr val="F58220"/>
              </a:buClr>
              <a:defRPr/>
            </a:lvl3pPr>
            <a:lvl4pPr>
              <a:buClr>
                <a:srgbClr val="F58220"/>
              </a:buClr>
              <a:defRPr/>
            </a:lvl4pPr>
            <a:lvl5pPr>
              <a:buClr>
                <a:srgbClr val="F582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2328774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199" cy="6857997"/>
          </a:xfrm>
          <a:prstGeom prst="rect">
            <a:avLst/>
          </a:prstGeom>
        </p:spPr>
      </p:pic>
      <p:sp>
        <p:nvSpPr>
          <p:cNvPr id="2" name="Holder 2"/>
          <p:cNvSpPr>
            <a:spLocks noGrp="1"/>
          </p:cNvSpPr>
          <p:nvPr>
            <p:ph type="title"/>
          </p:nvPr>
        </p:nvSpPr>
        <p:spPr>
          <a:xfrm>
            <a:off x="1468374" y="169621"/>
            <a:ext cx="10264012" cy="1439087"/>
          </a:xfrm>
          <a:prstGeom prst="rect">
            <a:avLst/>
          </a:prstGeom>
        </p:spPr>
        <p:txBody>
          <a:bodyPr wrap="square" lIns="0" tIns="0" rIns="0" bIns="0">
            <a:spAutoFit/>
          </a:bodyPr>
          <a:lstStyle>
            <a:lvl1pPr>
              <a:defRPr sz="4400" b="1" i="0">
                <a:solidFill>
                  <a:srgbClr val="F16421"/>
                </a:solidFill>
                <a:latin typeface="Calibri"/>
                <a:cs typeface="Calibri"/>
              </a:defRPr>
            </a:lvl1pPr>
          </a:lstStyle>
          <a:p>
            <a:endParaRPr/>
          </a:p>
        </p:txBody>
      </p:sp>
      <p:sp>
        <p:nvSpPr>
          <p:cNvPr id="3" name="Holder 3"/>
          <p:cNvSpPr>
            <a:spLocks noGrp="1"/>
          </p:cNvSpPr>
          <p:nvPr>
            <p:ph type="body" idx="1"/>
          </p:nvPr>
        </p:nvSpPr>
        <p:spPr>
          <a:xfrm>
            <a:off x="1539366" y="1392453"/>
            <a:ext cx="10287635" cy="3735704"/>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png"/><Relationship Id="rId7" Type="http://schemas.openxmlformats.org/officeDocument/2006/relationships/image" Target="../media/image13.jpg"/><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jpg"/><Relationship Id="rId5" Type="http://schemas.openxmlformats.org/officeDocument/2006/relationships/image" Target="../media/image11.png"/><Relationship Id="rId10" Type="http://schemas.openxmlformats.org/officeDocument/2006/relationships/image" Target="../media/image16.jpg"/><Relationship Id="rId4" Type="http://schemas.openxmlformats.org/officeDocument/2006/relationships/image" Target="../media/image10.png"/><Relationship Id="rId9"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igi-global.com/gateway/article/398627"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igi-global.com/gateway/article/398627"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www.pmi.or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hyperlink" Target="https://www.igi-global.com/gateway/article/39862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1999" cy="6857997"/>
            </a:xfrm>
            <a:prstGeom prst="rect">
              <a:avLst/>
            </a:prstGeom>
          </p:spPr>
        </p:pic>
        <p:sp>
          <p:nvSpPr>
            <p:cNvPr id="4" name="object 4"/>
            <p:cNvSpPr/>
            <p:nvPr/>
          </p:nvSpPr>
          <p:spPr>
            <a:xfrm>
              <a:off x="0" y="3340608"/>
              <a:ext cx="9182100" cy="2146300"/>
            </a:xfrm>
            <a:custGeom>
              <a:avLst/>
              <a:gdLst/>
              <a:ahLst/>
              <a:cxnLst/>
              <a:rect l="l" t="t" r="r" b="b"/>
              <a:pathLst>
                <a:path w="9182100" h="2146300">
                  <a:moveTo>
                    <a:pt x="9182100" y="0"/>
                  </a:moveTo>
                  <a:lnTo>
                    <a:pt x="0" y="0"/>
                  </a:lnTo>
                  <a:lnTo>
                    <a:pt x="0" y="2145792"/>
                  </a:lnTo>
                  <a:lnTo>
                    <a:pt x="9182100" y="2145792"/>
                  </a:lnTo>
                  <a:lnTo>
                    <a:pt x="9182100" y="0"/>
                  </a:lnTo>
                  <a:close/>
                </a:path>
              </a:pathLst>
            </a:custGeom>
            <a:solidFill>
              <a:srgbClr val="F16421">
                <a:alpha val="79998"/>
              </a:srgbClr>
            </a:solidFill>
          </p:spPr>
          <p:txBody>
            <a:bodyPr wrap="square" lIns="0" tIns="0" rIns="0" bIns="0" rtlCol="0"/>
            <a:lstStyle/>
            <a:p>
              <a:endParaRPr/>
            </a:p>
          </p:txBody>
        </p:sp>
        <p:pic>
          <p:nvPicPr>
            <p:cNvPr id="5" name="object 5"/>
            <p:cNvPicPr/>
            <p:nvPr/>
          </p:nvPicPr>
          <p:blipFill>
            <a:blip r:embed="rId3" cstate="print"/>
            <a:stretch>
              <a:fillRect/>
            </a:stretch>
          </p:blipFill>
          <p:spPr>
            <a:xfrm>
              <a:off x="9777983" y="0"/>
              <a:ext cx="2008631" cy="1994915"/>
            </a:xfrm>
            <a:prstGeom prst="rect">
              <a:avLst/>
            </a:prstGeom>
          </p:spPr>
        </p:pic>
      </p:grpSp>
      <p:sp>
        <p:nvSpPr>
          <p:cNvPr id="6" name="object 6"/>
          <p:cNvSpPr txBox="1">
            <a:spLocks noGrp="1"/>
          </p:cNvSpPr>
          <p:nvPr>
            <p:ph type="title"/>
          </p:nvPr>
        </p:nvSpPr>
        <p:spPr>
          <a:xfrm>
            <a:off x="828243" y="3707129"/>
            <a:ext cx="7470775" cy="1184940"/>
          </a:xfrm>
          <a:prstGeom prst="rect">
            <a:avLst/>
          </a:prstGeom>
        </p:spPr>
        <p:txBody>
          <a:bodyPr vert="horz" wrap="square" lIns="0" tIns="81280" rIns="0" bIns="0" rtlCol="0">
            <a:spAutoFit/>
          </a:bodyPr>
          <a:lstStyle/>
          <a:p>
            <a:pPr marL="12700" marR="5080">
              <a:lnSpc>
                <a:spcPts val="4320"/>
              </a:lnSpc>
              <a:spcBef>
                <a:spcPts val="640"/>
              </a:spcBef>
            </a:pPr>
            <a:r>
              <a:rPr sz="4000" dirty="0">
                <a:solidFill>
                  <a:srgbClr val="FFFFFF"/>
                </a:solidFill>
              </a:rPr>
              <a:t>COMP507</a:t>
            </a:r>
            <a:r>
              <a:rPr sz="4000" spc="-145" dirty="0">
                <a:solidFill>
                  <a:srgbClr val="FFFFFF"/>
                </a:solidFill>
              </a:rPr>
              <a:t> </a:t>
            </a:r>
            <a:r>
              <a:rPr sz="4000" dirty="0">
                <a:solidFill>
                  <a:srgbClr val="FFFFFF"/>
                </a:solidFill>
              </a:rPr>
              <a:t>IT</a:t>
            </a:r>
            <a:r>
              <a:rPr sz="4000" spc="-150" dirty="0">
                <a:solidFill>
                  <a:srgbClr val="FFFFFF"/>
                </a:solidFill>
              </a:rPr>
              <a:t> </a:t>
            </a:r>
            <a:r>
              <a:rPr sz="4000" dirty="0">
                <a:solidFill>
                  <a:srgbClr val="FFFFFF"/>
                </a:solidFill>
              </a:rPr>
              <a:t>Project</a:t>
            </a:r>
            <a:r>
              <a:rPr sz="4000" spc="-125" dirty="0">
                <a:solidFill>
                  <a:srgbClr val="FFFFFF"/>
                </a:solidFill>
              </a:rPr>
              <a:t> </a:t>
            </a:r>
            <a:r>
              <a:rPr sz="4000" spc="-10" dirty="0">
                <a:solidFill>
                  <a:srgbClr val="FFFFFF"/>
                </a:solidFill>
              </a:rPr>
              <a:t>Management </a:t>
            </a:r>
            <a:r>
              <a:rPr sz="4000" dirty="0">
                <a:solidFill>
                  <a:srgbClr val="FFFFFF"/>
                </a:solidFill>
              </a:rPr>
              <a:t>PM</a:t>
            </a:r>
            <a:r>
              <a:rPr sz="4000" spc="-114" dirty="0">
                <a:solidFill>
                  <a:srgbClr val="FFFFFF"/>
                </a:solidFill>
              </a:rPr>
              <a:t> </a:t>
            </a:r>
            <a:r>
              <a:rPr sz="4000" dirty="0">
                <a:solidFill>
                  <a:srgbClr val="FFFFFF"/>
                </a:solidFill>
              </a:rPr>
              <a:t>Concepts,</a:t>
            </a:r>
            <a:r>
              <a:rPr sz="4000" spc="-100" dirty="0">
                <a:solidFill>
                  <a:srgbClr val="FFFFFF"/>
                </a:solidFill>
              </a:rPr>
              <a:t> </a:t>
            </a:r>
            <a:r>
              <a:rPr sz="4000" dirty="0">
                <a:solidFill>
                  <a:srgbClr val="FFFFFF"/>
                </a:solidFill>
              </a:rPr>
              <a:t>Phases</a:t>
            </a:r>
            <a:r>
              <a:rPr sz="4000" spc="-105" dirty="0">
                <a:solidFill>
                  <a:srgbClr val="FFFFFF"/>
                </a:solidFill>
              </a:rPr>
              <a:t> </a:t>
            </a:r>
            <a:r>
              <a:rPr sz="4000" dirty="0">
                <a:solidFill>
                  <a:srgbClr val="FFFFFF"/>
                </a:solidFill>
              </a:rPr>
              <a:t>and</a:t>
            </a:r>
            <a:r>
              <a:rPr sz="4000" spc="-105" dirty="0">
                <a:solidFill>
                  <a:srgbClr val="FFFFFF"/>
                </a:solidFill>
              </a:rPr>
              <a:t> </a:t>
            </a:r>
            <a:r>
              <a:rPr sz="4000" dirty="0">
                <a:solidFill>
                  <a:srgbClr val="FFFFFF"/>
                </a:solidFill>
              </a:rPr>
              <a:t>Life</a:t>
            </a:r>
            <a:r>
              <a:rPr sz="4000" spc="-114" dirty="0">
                <a:solidFill>
                  <a:srgbClr val="FFFFFF"/>
                </a:solidFill>
              </a:rPr>
              <a:t> </a:t>
            </a:r>
            <a:r>
              <a:rPr sz="4000" spc="-10" dirty="0">
                <a:solidFill>
                  <a:srgbClr val="FFFFFF"/>
                </a:solidFill>
              </a:rPr>
              <a:t>Cycle</a:t>
            </a:r>
            <a:endParaRPr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72871"/>
            <a:ext cx="4580255" cy="505908"/>
          </a:xfrm>
          <a:prstGeom prst="rect">
            <a:avLst/>
          </a:prstGeom>
        </p:spPr>
        <p:txBody>
          <a:bodyPr vert="horz" wrap="square" lIns="0" tIns="13335" rIns="0" bIns="0" rtlCol="0">
            <a:spAutoFit/>
          </a:bodyPr>
          <a:lstStyle/>
          <a:p>
            <a:pPr marL="12700">
              <a:lnSpc>
                <a:spcPct val="100000"/>
              </a:lnSpc>
              <a:spcBef>
                <a:spcPts val="105"/>
              </a:spcBef>
            </a:pPr>
            <a:r>
              <a:rPr sz="3200" dirty="0"/>
              <a:t>Learning</a:t>
            </a:r>
            <a:r>
              <a:rPr sz="3200" spc="-35" dirty="0"/>
              <a:t> </a:t>
            </a:r>
            <a:r>
              <a:rPr sz="3200" spc="-10" dirty="0"/>
              <a:t>Objectives</a:t>
            </a:r>
          </a:p>
        </p:txBody>
      </p:sp>
      <p:sp>
        <p:nvSpPr>
          <p:cNvPr id="3" name="object 3"/>
          <p:cNvSpPr txBox="1"/>
          <p:nvPr/>
        </p:nvSpPr>
        <p:spPr>
          <a:xfrm>
            <a:off x="1525511" y="1371600"/>
            <a:ext cx="10287000" cy="3707938"/>
          </a:xfrm>
          <a:prstGeom prst="rect">
            <a:avLst/>
          </a:prstGeom>
        </p:spPr>
        <p:txBody>
          <a:bodyPr vert="horz" wrap="square" lIns="0" tIns="53975" rIns="0" bIns="0" rtlCol="0">
            <a:spAutoFit/>
          </a:bodyPr>
          <a:lstStyle/>
          <a:p>
            <a:pPr marL="241300" marR="5080" indent="-228600">
              <a:lnSpc>
                <a:spcPts val="2590"/>
              </a:lnSpc>
              <a:spcBef>
                <a:spcPts val="425"/>
              </a:spcBef>
              <a:buClr>
                <a:srgbClr val="F5821F"/>
              </a:buClr>
              <a:buFont typeface="Arial"/>
              <a:buChar char="•"/>
              <a:tabLst>
                <a:tab pos="241300" algn="l"/>
              </a:tabLst>
            </a:pPr>
            <a:r>
              <a:rPr lang="en-NZ" sz="2800" dirty="0">
                <a:latin typeface="Calibri"/>
                <a:cs typeface="Calibri"/>
              </a:rPr>
              <a:t>Understand the principles of project management </a:t>
            </a:r>
          </a:p>
          <a:p>
            <a:pPr marL="241300" marR="5080" indent="-228600">
              <a:lnSpc>
                <a:spcPts val="2590"/>
              </a:lnSpc>
              <a:spcBef>
                <a:spcPts val="425"/>
              </a:spcBef>
              <a:buClr>
                <a:srgbClr val="F5821F"/>
              </a:buClr>
              <a:buFont typeface="Arial"/>
              <a:buChar char="•"/>
              <a:tabLst>
                <a:tab pos="241300" algn="l"/>
              </a:tabLst>
            </a:pPr>
            <a:r>
              <a:rPr sz="2800" dirty="0">
                <a:latin typeface="Calibri"/>
                <a:cs typeface="Calibri"/>
              </a:rPr>
              <a:t>Explain</a:t>
            </a:r>
            <a:r>
              <a:rPr sz="2800" spc="-50" dirty="0">
                <a:latin typeface="Calibri"/>
                <a:cs typeface="Calibri"/>
              </a:rPr>
              <a:t> </a:t>
            </a:r>
            <a:r>
              <a:rPr sz="2800" dirty="0">
                <a:latin typeface="Calibri"/>
                <a:cs typeface="Calibri"/>
              </a:rPr>
              <a:t>what</a:t>
            </a:r>
            <a:r>
              <a:rPr sz="2800" spc="-45"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project</a:t>
            </a:r>
            <a:r>
              <a:rPr sz="2800" spc="-40" dirty="0">
                <a:latin typeface="Calibri"/>
                <a:cs typeface="Calibri"/>
              </a:rPr>
              <a:t> </a:t>
            </a:r>
            <a:r>
              <a:rPr sz="2800" dirty="0">
                <a:latin typeface="Calibri"/>
                <a:cs typeface="Calibri"/>
              </a:rPr>
              <a:t>is,</a:t>
            </a:r>
            <a:r>
              <a:rPr sz="2800" spc="-30" dirty="0">
                <a:latin typeface="Calibri"/>
                <a:cs typeface="Calibri"/>
              </a:rPr>
              <a:t> </a:t>
            </a:r>
            <a:r>
              <a:rPr sz="2800" dirty="0">
                <a:latin typeface="Calibri"/>
                <a:cs typeface="Calibri"/>
              </a:rPr>
              <a:t>list</a:t>
            </a:r>
            <a:r>
              <a:rPr sz="2800" spc="-50" dirty="0">
                <a:latin typeface="Calibri"/>
                <a:cs typeface="Calibri"/>
              </a:rPr>
              <a:t> </a:t>
            </a:r>
            <a:r>
              <a:rPr sz="2800" dirty="0">
                <a:latin typeface="Calibri"/>
                <a:cs typeface="Calibri"/>
              </a:rPr>
              <a:t>various</a:t>
            </a:r>
            <a:r>
              <a:rPr sz="2800" spc="-35" dirty="0">
                <a:latin typeface="Calibri"/>
                <a:cs typeface="Calibri"/>
              </a:rPr>
              <a:t> </a:t>
            </a:r>
            <a:r>
              <a:rPr sz="2800" dirty="0">
                <a:latin typeface="Calibri"/>
                <a:cs typeface="Calibri"/>
              </a:rPr>
              <a:t>attributes</a:t>
            </a:r>
            <a:r>
              <a:rPr sz="2800" spc="-45" dirty="0">
                <a:latin typeface="Calibri"/>
                <a:cs typeface="Calibri"/>
              </a:rPr>
              <a:t> </a:t>
            </a:r>
            <a:r>
              <a:rPr sz="2800" dirty="0">
                <a:latin typeface="Calibri"/>
                <a:cs typeface="Calibri"/>
              </a:rPr>
              <a:t>of</a:t>
            </a:r>
            <a:r>
              <a:rPr sz="2800" spc="-40" dirty="0">
                <a:latin typeface="Calibri"/>
                <a:cs typeface="Calibri"/>
              </a:rPr>
              <a:t> </a:t>
            </a:r>
            <a:r>
              <a:rPr sz="2800" dirty="0">
                <a:latin typeface="Calibri"/>
                <a:cs typeface="Calibri"/>
              </a:rPr>
              <a:t>projects,</a:t>
            </a:r>
            <a:r>
              <a:rPr sz="2800" spc="-35" dirty="0">
                <a:latin typeface="Calibri"/>
                <a:cs typeface="Calibri"/>
              </a:rPr>
              <a:t> </a:t>
            </a:r>
            <a:r>
              <a:rPr sz="2800" spc="-10" dirty="0">
                <a:latin typeface="Calibri"/>
                <a:cs typeface="Calibri"/>
              </a:rPr>
              <a:t>describe </a:t>
            </a:r>
            <a:r>
              <a:rPr sz="2800" dirty="0">
                <a:latin typeface="Calibri"/>
                <a:cs typeface="Calibri"/>
              </a:rPr>
              <a:t>the</a:t>
            </a:r>
            <a:r>
              <a:rPr sz="2800" spc="-20" dirty="0">
                <a:latin typeface="Calibri"/>
                <a:cs typeface="Calibri"/>
              </a:rPr>
              <a:t> </a:t>
            </a:r>
            <a:r>
              <a:rPr sz="2800" dirty="0">
                <a:latin typeface="Calibri"/>
                <a:cs typeface="Calibri"/>
              </a:rPr>
              <a:t>triple</a:t>
            </a:r>
            <a:r>
              <a:rPr sz="2800" spc="-35" dirty="0">
                <a:latin typeface="Calibri"/>
                <a:cs typeface="Calibri"/>
              </a:rPr>
              <a:t> </a:t>
            </a:r>
            <a:r>
              <a:rPr sz="2800" spc="-10" dirty="0">
                <a:latin typeface="Calibri"/>
                <a:cs typeface="Calibri"/>
              </a:rPr>
              <a:t>constraint</a:t>
            </a:r>
            <a:r>
              <a:rPr sz="2800" spc="-40" dirty="0">
                <a:latin typeface="Calibri"/>
                <a:cs typeface="Calibri"/>
              </a:rPr>
              <a:t> </a:t>
            </a:r>
            <a:r>
              <a:rPr sz="2800" dirty="0">
                <a:latin typeface="Calibri"/>
                <a:cs typeface="Calibri"/>
              </a:rPr>
              <a:t>of</a:t>
            </a:r>
            <a:r>
              <a:rPr sz="2800" spc="-30" dirty="0">
                <a:latin typeface="Calibri"/>
                <a:cs typeface="Calibri"/>
              </a:rPr>
              <a:t> </a:t>
            </a:r>
            <a:r>
              <a:rPr sz="2800" dirty="0">
                <a:latin typeface="Calibri"/>
                <a:cs typeface="Calibri"/>
              </a:rPr>
              <a:t>project</a:t>
            </a:r>
            <a:r>
              <a:rPr sz="2800" spc="-30" dirty="0">
                <a:latin typeface="Calibri"/>
                <a:cs typeface="Calibri"/>
              </a:rPr>
              <a:t> </a:t>
            </a:r>
            <a:r>
              <a:rPr sz="2800" spc="-10" dirty="0">
                <a:latin typeface="Calibri"/>
                <a:cs typeface="Calibri"/>
              </a:rPr>
              <a:t>management</a:t>
            </a:r>
            <a:r>
              <a:rPr lang="en-NZ" sz="2800" spc="-10" dirty="0">
                <a:latin typeface="Calibri"/>
                <a:cs typeface="Calibri"/>
              </a:rPr>
              <a:t> and PM methodology </a:t>
            </a:r>
          </a:p>
          <a:p>
            <a:pPr marL="241300" marR="5080" indent="-228600">
              <a:lnSpc>
                <a:spcPts val="2590"/>
              </a:lnSpc>
              <a:spcBef>
                <a:spcPts val="425"/>
              </a:spcBef>
              <a:buClr>
                <a:srgbClr val="F5821F"/>
              </a:buClr>
              <a:buFont typeface="Arial"/>
              <a:buChar char="•"/>
              <a:tabLst>
                <a:tab pos="241300" algn="l"/>
              </a:tabLst>
            </a:pPr>
            <a:r>
              <a:rPr lang="en-NZ" sz="2800" spc="-10" dirty="0">
                <a:latin typeface="Calibri"/>
                <a:cs typeface="Calibri"/>
              </a:rPr>
              <a:t>Understand the difference between product and services</a:t>
            </a:r>
          </a:p>
          <a:p>
            <a:pPr marL="241300" marR="5080" indent="-228600">
              <a:lnSpc>
                <a:spcPts val="2590"/>
              </a:lnSpc>
              <a:spcBef>
                <a:spcPts val="425"/>
              </a:spcBef>
              <a:buClr>
                <a:srgbClr val="F5821F"/>
              </a:buClr>
              <a:buFont typeface="Arial"/>
              <a:buChar char="•"/>
              <a:tabLst>
                <a:tab pos="241300" algn="l"/>
              </a:tabLst>
            </a:pPr>
            <a:r>
              <a:rPr lang="en-NZ" sz="2800" spc="-10" dirty="0">
                <a:latin typeface="Calibri"/>
                <a:cs typeface="Calibri"/>
              </a:rPr>
              <a:t>Understand the product delivery lifecycle</a:t>
            </a:r>
          </a:p>
          <a:p>
            <a:pPr marL="241300" marR="5080" indent="-228600">
              <a:lnSpc>
                <a:spcPts val="2590"/>
              </a:lnSpc>
              <a:spcBef>
                <a:spcPts val="425"/>
              </a:spcBef>
              <a:buClr>
                <a:srgbClr val="F5821F"/>
              </a:buClr>
              <a:buFont typeface="Arial"/>
              <a:buChar char="•"/>
              <a:tabLst>
                <a:tab pos="241300" algn="l"/>
              </a:tabLst>
            </a:pPr>
            <a:r>
              <a:rPr lang="en-US" sz="2800" dirty="0">
                <a:latin typeface="Calibri"/>
                <a:cs typeface="Calibri"/>
              </a:rPr>
              <a:t>Explain the difference between traditional and iterative project management methods </a:t>
            </a:r>
          </a:p>
          <a:p>
            <a:pPr marL="241300" marR="5080" indent="-228600">
              <a:lnSpc>
                <a:spcPts val="2590"/>
              </a:lnSpc>
              <a:spcBef>
                <a:spcPts val="425"/>
              </a:spcBef>
              <a:buClr>
                <a:srgbClr val="F5821F"/>
              </a:buClr>
              <a:buFont typeface="Arial"/>
              <a:buChar char="•"/>
              <a:tabLst>
                <a:tab pos="241300" algn="l"/>
              </a:tabLst>
            </a:pPr>
            <a:r>
              <a:rPr sz="2800" dirty="0">
                <a:latin typeface="Calibri"/>
                <a:cs typeface="Calibri"/>
              </a:rPr>
              <a:t>Describe</a:t>
            </a:r>
            <a:r>
              <a:rPr sz="2800" spc="-35" dirty="0">
                <a:latin typeface="Calibri"/>
                <a:cs typeface="Calibri"/>
              </a:rPr>
              <a:t> </a:t>
            </a:r>
            <a:r>
              <a:rPr sz="2800" dirty="0">
                <a:latin typeface="Calibri"/>
                <a:cs typeface="Calibri"/>
              </a:rPr>
              <a:t>project</a:t>
            </a:r>
            <a:r>
              <a:rPr sz="2800" spc="-35" dirty="0">
                <a:latin typeface="Calibri"/>
                <a:cs typeface="Calibri"/>
              </a:rPr>
              <a:t> </a:t>
            </a:r>
            <a:r>
              <a:rPr sz="2800" dirty="0">
                <a:latin typeface="Calibri"/>
                <a:cs typeface="Calibri"/>
              </a:rPr>
              <a:t>management</a:t>
            </a:r>
            <a:r>
              <a:rPr sz="2800" spc="-50" dirty="0">
                <a:latin typeface="Calibri"/>
                <a:cs typeface="Calibri"/>
              </a:rPr>
              <a:t> </a:t>
            </a:r>
            <a:r>
              <a:rPr sz="2800" dirty="0">
                <a:latin typeface="Calibri"/>
                <a:cs typeface="Calibri"/>
              </a:rPr>
              <a:t>and</a:t>
            </a:r>
            <a:r>
              <a:rPr sz="2800" spc="-30" dirty="0">
                <a:latin typeface="Calibri"/>
                <a:cs typeface="Calibri"/>
              </a:rPr>
              <a:t> </a:t>
            </a:r>
            <a:r>
              <a:rPr sz="2800" dirty="0">
                <a:latin typeface="Calibri"/>
                <a:cs typeface="Calibri"/>
              </a:rPr>
              <a:t>key</a:t>
            </a:r>
            <a:r>
              <a:rPr sz="2800" spc="-45" dirty="0">
                <a:latin typeface="Calibri"/>
                <a:cs typeface="Calibri"/>
              </a:rPr>
              <a:t> </a:t>
            </a:r>
            <a:r>
              <a:rPr sz="2800" dirty="0">
                <a:latin typeface="Calibri"/>
                <a:cs typeface="Calibri"/>
              </a:rPr>
              <a:t>elements</a:t>
            </a:r>
            <a:r>
              <a:rPr sz="2800" spc="-40" dirty="0">
                <a:latin typeface="Calibri"/>
                <a:cs typeface="Calibri"/>
              </a:rPr>
              <a:t> </a:t>
            </a:r>
            <a:r>
              <a:rPr sz="2800" dirty="0">
                <a:latin typeface="Calibri"/>
                <a:cs typeface="Calibri"/>
              </a:rPr>
              <a:t>of</a:t>
            </a:r>
            <a:r>
              <a:rPr sz="2800" spc="-35" dirty="0">
                <a:latin typeface="Calibri"/>
                <a:cs typeface="Calibri"/>
              </a:rPr>
              <a:t> </a:t>
            </a:r>
            <a:r>
              <a:rPr sz="2800" dirty="0">
                <a:latin typeface="Calibri"/>
                <a:cs typeface="Calibri"/>
              </a:rPr>
              <a:t>a</a:t>
            </a:r>
            <a:r>
              <a:rPr sz="2800" spc="-25" dirty="0">
                <a:latin typeface="Calibri"/>
                <a:cs typeface="Calibri"/>
              </a:rPr>
              <a:t> </a:t>
            </a:r>
            <a:r>
              <a:rPr sz="2800" spc="-10" dirty="0">
                <a:latin typeface="Calibri"/>
                <a:cs typeface="Calibri"/>
              </a:rPr>
              <a:t>project </a:t>
            </a:r>
            <a:r>
              <a:rPr sz="2800" dirty="0">
                <a:latin typeface="Calibri"/>
                <a:cs typeface="Calibri"/>
              </a:rPr>
              <a:t>management</a:t>
            </a:r>
            <a:r>
              <a:rPr sz="2800" spc="-60" dirty="0">
                <a:latin typeface="Calibri"/>
                <a:cs typeface="Calibri"/>
              </a:rPr>
              <a:t> </a:t>
            </a:r>
            <a:r>
              <a:rPr sz="2800" spc="-10" dirty="0">
                <a:latin typeface="Calibri"/>
                <a:cs typeface="Calibri"/>
              </a:rPr>
              <a:t>framework</a:t>
            </a:r>
            <a:endParaRPr lang="en-NZ" sz="2800" spc="-10" dirty="0">
              <a:latin typeface="Calibri"/>
              <a:cs typeface="Calibri"/>
            </a:endParaRPr>
          </a:p>
          <a:p>
            <a:pPr marL="12700" marR="5080">
              <a:lnSpc>
                <a:spcPts val="2590"/>
              </a:lnSpc>
              <a:spcBef>
                <a:spcPts val="425"/>
              </a:spcBef>
              <a:buClr>
                <a:srgbClr val="F5821F"/>
              </a:buClr>
              <a:tabLst>
                <a:tab pos="241300" algn="l"/>
              </a:tabLst>
            </a:pPr>
            <a:endParaRPr sz="28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8374" y="169621"/>
            <a:ext cx="10264012" cy="505267"/>
          </a:xfrm>
          <a:prstGeom prst="rect">
            <a:avLst/>
          </a:prstGeom>
        </p:spPr>
        <p:txBody>
          <a:bodyPr vert="horz" wrap="square" lIns="0" tIns="12700" rIns="0" bIns="0" rtlCol="0">
            <a:spAutoFit/>
          </a:bodyPr>
          <a:lstStyle/>
          <a:p>
            <a:pPr marL="12700">
              <a:spcBef>
                <a:spcPts val="100"/>
              </a:spcBef>
            </a:pPr>
            <a:r>
              <a:rPr sz="3200" spc="-10" dirty="0"/>
              <a:t>Introduction</a:t>
            </a:r>
            <a:r>
              <a:rPr lang="en-NZ" sz="3200" spc="-10" dirty="0"/>
              <a:t>- </a:t>
            </a:r>
            <a:r>
              <a:rPr lang="en-NZ" sz="3200" spc="-20" dirty="0">
                <a:latin typeface="Calibri"/>
                <a:cs typeface="Calibri"/>
              </a:rPr>
              <a:t>Why PM (Project Management)? </a:t>
            </a:r>
            <a:endParaRPr sz="5400" spc="-10" dirty="0"/>
          </a:p>
        </p:txBody>
      </p:sp>
      <p:sp>
        <p:nvSpPr>
          <p:cNvPr id="4" name="Text Placeholder 3">
            <a:extLst>
              <a:ext uri="{FF2B5EF4-FFF2-40B4-BE49-F238E27FC236}">
                <a16:creationId xmlns:a16="http://schemas.microsoft.com/office/drawing/2014/main" id="{F3671C24-4C77-66BF-9C55-3C19EE40D80F}"/>
              </a:ext>
            </a:extLst>
          </p:cNvPr>
          <p:cNvSpPr>
            <a:spLocks noGrp="1"/>
          </p:cNvSpPr>
          <p:nvPr>
            <p:ph type="body" idx="1"/>
          </p:nvPr>
        </p:nvSpPr>
        <p:spPr>
          <a:xfrm>
            <a:off x="1539366" y="1392453"/>
            <a:ext cx="10287635" cy="5170646"/>
          </a:xfrm>
        </p:spPr>
        <p:txBody>
          <a:bodyPr/>
          <a:lstStyle/>
          <a:p>
            <a:pPr marL="457200" indent="-457200">
              <a:buClr>
                <a:srgbClr val="FFC000"/>
              </a:buClr>
              <a:buFont typeface="Arial" panose="020B0604020202020204" pitchFamily="34" charset="0"/>
              <a:buChar char="•"/>
            </a:pPr>
            <a:r>
              <a:rPr lang="en-NZ" dirty="0"/>
              <a:t>Ever-growing IT-dependent economy and for our day-to-day survival.</a:t>
            </a:r>
          </a:p>
          <a:p>
            <a:pPr marL="457200" indent="-457200">
              <a:buClr>
                <a:srgbClr val="FFC000"/>
              </a:buClr>
              <a:buFont typeface="Arial" panose="020B0604020202020204" pitchFamily="34" charset="0"/>
              <a:buChar char="•"/>
            </a:pPr>
            <a:r>
              <a:rPr lang="en-NZ" dirty="0"/>
              <a:t>Hence, the growing need for PM skills since IT/software products are developed through projects.  </a:t>
            </a:r>
          </a:p>
          <a:p>
            <a:pPr marL="457200" indent="-457200">
              <a:buClr>
                <a:srgbClr val="FFC000"/>
              </a:buClr>
              <a:buFont typeface="Arial" panose="020B0604020202020204" pitchFamily="34" charset="0"/>
              <a:buChar char="•"/>
            </a:pPr>
            <a:r>
              <a:rPr lang="en-NZ" dirty="0"/>
              <a:t>Worldwide IT spending was USD5.43 trillion in 2025, a 7% increase from 2024 spending (Gartner, 2025).</a:t>
            </a:r>
          </a:p>
          <a:p>
            <a:pPr marL="457200" indent="-457200">
              <a:buClr>
                <a:srgbClr val="FFC000"/>
              </a:buClr>
              <a:buFont typeface="Arial" panose="020B0604020202020204" pitchFamily="34" charset="0"/>
              <a:buChar char="•"/>
            </a:pPr>
            <a:r>
              <a:rPr lang="en-NZ" dirty="0"/>
              <a:t>The PMI reported that the number of ITPM-related jobs reached almost 40 million in 2025. </a:t>
            </a:r>
          </a:p>
          <a:p>
            <a:pPr marL="457200" indent="-457200">
              <a:buClr>
                <a:srgbClr val="FFC000"/>
              </a:buClr>
              <a:buFont typeface="Arial" panose="020B0604020202020204" pitchFamily="34" charset="0"/>
              <a:buChar char="•"/>
            </a:pPr>
            <a:r>
              <a:rPr lang="en-NZ" dirty="0"/>
              <a:t>By 2030, employers will need 88 million individuals working in project management-oriented roles (= significant growth) </a:t>
            </a:r>
          </a:p>
          <a:p>
            <a:pPr marL="457200" indent="-457200">
              <a:buClr>
                <a:srgbClr val="FFC000"/>
              </a:buClr>
              <a:buFont typeface="Arial" panose="020B0604020202020204" pitchFamily="34" charset="0"/>
              <a:buChar char="•"/>
            </a:pPr>
            <a:r>
              <a:rPr lang="en-NZ" dirty="0"/>
              <a:t>Still a huge demand for IT-skilled people</a:t>
            </a:r>
          </a:p>
          <a:p>
            <a:pPr marL="457200" indent="-457200">
              <a:buClr>
                <a:srgbClr val="FFC000"/>
              </a:buClr>
              <a:buFont typeface="Arial" panose="020B0604020202020204" pitchFamily="34" charset="0"/>
              <a:buChar char="•"/>
            </a:pPr>
            <a:endParaRPr lang="en-NZ"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0002" y="244856"/>
            <a:ext cx="8089900" cy="382156"/>
          </a:xfrm>
          <a:prstGeom prst="rect">
            <a:avLst/>
          </a:prstGeom>
        </p:spPr>
        <p:txBody>
          <a:bodyPr vert="horz" wrap="square" lIns="0" tIns="12700" rIns="0" bIns="0" rtlCol="0">
            <a:spAutoFit/>
          </a:bodyPr>
          <a:lstStyle/>
          <a:p>
            <a:pPr marL="12700">
              <a:lnSpc>
                <a:spcPct val="100000"/>
              </a:lnSpc>
              <a:spcBef>
                <a:spcPts val="100"/>
              </a:spcBef>
            </a:pPr>
            <a:r>
              <a:rPr sz="2400" dirty="0"/>
              <a:t>Motivation</a:t>
            </a:r>
            <a:r>
              <a:rPr sz="2400" spc="-85" dirty="0"/>
              <a:t> </a:t>
            </a:r>
            <a:r>
              <a:rPr sz="2400" dirty="0"/>
              <a:t>for</a:t>
            </a:r>
            <a:r>
              <a:rPr sz="2400" spc="-70" dirty="0"/>
              <a:t> </a:t>
            </a:r>
            <a:r>
              <a:rPr sz="2400" dirty="0"/>
              <a:t>Studying</a:t>
            </a:r>
            <a:r>
              <a:rPr sz="2400" spc="-70" dirty="0"/>
              <a:t> </a:t>
            </a:r>
            <a:r>
              <a:rPr sz="2400" dirty="0"/>
              <a:t>IT</a:t>
            </a:r>
            <a:r>
              <a:rPr sz="2400" spc="-85" dirty="0"/>
              <a:t> </a:t>
            </a:r>
            <a:r>
              <a:rPr sz="2400" spc="-10" dirty="0"/>
              <a:t>Projects</a:t>
            </a:r>
          </a:p>
        </p:txBody>
      </p:sp>
      <p:sp>
        <p:nvSpPr>
          <p:cNvPr id="3" name="object 3"/>
          <p:cNvSpPr txBox="1"/>
          <p:nvPr/>
        </p:nvSpPr>
        <p:spPr>
          <a:xfrm>
            <a:off x="1371600" y="990600"/>
            <a:ext cx="10151110" cy="4737194"/>
          </a:xfrm>
          <a:prstGeom prst="rect">
            <a:avLst/>
          </a:prstGeom>
        </p:spPr>
        <p:txBody>
          <a:bodyPr vert="horz" wrap="square" lIns="0" tIns="12700" rIns="0" bIns="0" rtlCol="0">
            <a:spAutoFit/>
          </a:bodyPr>
          <a:lstStyle/>
          <a:p>
            <a:pPr marL="240665" indent="-227965">
              <a:lnSpc>
                <a:spcPct val="100000"/>
              </a:lnSpc>
              <a:spcBef>
                <a:spcPts val="100"/>
              </a:spcBef>
              <a:buClr>
                <a:srgbClr val="F5821F"/>
              </a:buClr>
              <a:buFont typeface="Arial"/>
              <a:buChar char="•"/>
              <a:tabLst>
                <a:tab pos="240665" algn="l"/>
              </a:tabLst>
            </a:pPr>
            <a:r>
              <a:rPr sz="2400" dirty="0">
                <a:latin typeface="Calibri"/>
                <a:cs typeface="Calibri"/>
              </a:rPr>
              <a:t>IT</a:t>
            </a:r>
            <a:r>
              <a:rPr sz="2400" spc="-45" dirty="0">
                <a:latin typeface="Calibri"/>
                <a:cs typeface="Calibri"/>
              </a:rPr>
              <a:t> </a:t>
            </a:r>
            <a:r>
              <a:rPr sz="2400" dirty="0">
                <a:latin typeface="Calibri"/>
                <a:cs typeface="Calibri"/>
              </a:rPr>
              <a:t>projects</a:t>
            </a:r>
            <a:r>
              <a:rPr sz="2400" spc="-55" dirty="0">
                <a:latin typeface="Calibri"/>
                <a:cs typeface="Calibri"/>
              </a:rPr>
              <a:t> </a:t>
            </a:r>
            <a:r>
              <a:rPr sz="2400" dirty="0">
                <a:latin typeface="Calibri"/>
                <a:cs typeface="Calibri"/>
              </a:rPr>
              <a:t>have</a:t>
            </a:r>
            <a:r>
              <a:rPr sz="2400" spc="-35" dirty="0">
                <a:latin typeface="Calibri"/>
                <a:cs typeface="Calibri"/>
              </a:rPr>
              <a:t> </a:t>
            </a:r>
            <a:r>
              <a:rPr sz="2400" dirty="0">
                <a:latin typeface="Calibri"/>
                <a:cs typeface="Calibri"/>
              </a:rPr>
              <a:t>a</a:t>
            </a:r>
            <a:r>
              <a:rPr lang="en-NZ" sz="2400" dirty="0">
                <a:latin typeface="Calibri"/>
                <a:cs typeface="Calibri"/>
              </a:rPr>
              <a:t> pretty</a:t>
            </a:r>
            <a:r>
              <a:rPr sz="2400" spc="-40" dirty="0">
                <a:latin typeface="Calibri"/>
                <a:cs typeface="Calibri"/>
              </a:rPr>
              <a:t> </a:t>
            </a:r>
            <a:r>
              <a:rPr sz="2400" b="1" dirty="0">
                <a:latin typeface="Calibri"/>
                <a:cs typeface="Calibri"/>
              </a:rPr>
              <a:t>terrible</a:t>
            </a:r>
            <a:r>
              <a:rPr sz="2400" b="1" spc="-45" dirty="0">
                <a:latin typeface="Calibri"/>
                <a:cs typeface="Calibri"/>
              </a:rPr>
              <a:t> </a:t>
            </a:r>
            <a:r>
              <a:rPr lang="en-NZ" sz="2400" b="1" spc="-45" dirty="0">
                <a:latin typeface="Calibri"/>
                <a:cs typeface="Calibri"/>
              </a:rPr>
              <a:t>success </a:t>
            </a:r>
            <a:r>
              <a:rPr sz="2400" b="1" dirty="0">
                <a:latin typeface="Calibri"/>
                <a:cs typeface="Calibri"/>
              </a:rPr>
              <a:t>record</a:t>
            </a:r>
            <a:r>
              <a:rPr lang="en-NZ" sz="2400" b="1" dirty="0">
                <a:latin typeface="Calibri"/>
                <a:cs typeface="Calibri"/>
              </a:rPr>
              <a:t> </a:t>
            </a:r>
            <a:r>
              <a:rPr sz="2400" spc="-50" dirty="0">
                <a:latin typeface="Wingdings"/>
                <a:cs typeface="Wingdings"/>
              </a:rPr>
              <a:t></a:t>
            </a:r>
            <a:endParaRPr lang="en-NZ" sz="2400" spc="-50" dirty="0">
              <a:latin typeface="Wingdings"/>
              <a:cs typeface="Wingdings"/>
            </a:endParaRPr>
          </a:p>
          <a:p>
            <a:pPr marL="240665" indent="-227965">
              <a:lnSpc>
                <a:spcPct val="100000"/>
              </a:lnSpc>
              <a:spcBef>
                <a:spcPts val="100"/>
              </a:spcBef>
              <a:buClr>
                <a:srgbClr val="F5821F"/>
              </a:buClr>
              <a:buFont typeface="Arial"/>
              <a:buChar char="•"/>
              <a:tabLst>
                <a:tab pos="240665" algn="l"/>
              </a:tabLst>
            </a:pPr>
            <a:r>
              <a:rPr lang="en-NZ" sz="2000" dirty="0">
                <a:latin typeface="Calibri"/>
                <a:cs typeface="Calibri"/>
              </a:rPr>
              <a:t>66% of IT projects end in partial or total failure (Standish Group’s Annual CHAOS 2020) report</a:t>
            </a:r>
          </a:p>
          <a:p>
            <a:pPr marL="469900" lvl="3">
              <a:buClr>
                <a:srgbClr val="F5821F"/>
              </a:buClr>
              <a:tabLst>
                <a:tab pos="698500" algn="l"/>
              </a:tabLst>
            </a:pPr>
            <a:r>
              <a:rPr lang="en-NZ" dirty="0">
                <a:latin typeface="Calibri"/>
                <a:cs typeface="Calibri"/>
              </a:rPr>
              <a:t>31</a:t>
            </a:r>
            <a:r>
              <a:rPr lang="en-NZ" b="1" dirty="0">
                <a:latin typeface="Calibri"/>
                <a:cs typeface="Calibri"/>
              </a:rPr>
              <a:t>%</a:t>
            </a:r>
            <a:r>
              <a:rPr lang="en-NZ" b="1" spc="-50" dirty="0">
                <a:latin typeface="Calibri"/>
                <a:cs typeface="Calibri"/>
              </a:rPr>
              <a:t> </a:t>
            </a:r>
            <a:r>
              <a:rPr lang="en-NZ" dirty="0">
                <a:latin typeface="Calibri"/>
                <a:cs typeface="Calibri"/>
              </a:rPr>
              <a:t>of</a:t>
            </a:r>
            <a:r>
              <a:rPr lang="en-NZ" spc="-30" dirty="0">
                <a:latin typeface="Calibri"/>
                <a:cs typeface="Calibri"/>
              </a:rPr>
              <a:t> </a:t>
            </a:r>
            <a:r>
              <a:rPr lang="en-NZ" dirty="0">
                <a:latin typeface="Calibri"/>
                <a:cs typeface="Calibri"/>
              </a:rPr>
              <a:t>IT</a:t>
            </a:r>
            <a:r>
              <a:rPr lang="en-NZ" spc="-40" dirty="0">
                <a:latin typeface="Calibri"/>
                <a:cs typeface="Calibri"/>
              </a:rPr>
              <a:t> </a:t>
            </a:r>
            <a:r>
              <a:rPr lang="en-NZ" dirty="0">
                <a:latin typeface="Calibri"/>
                <a:cs typeface="Calibri"/>
              </a:rPr>
              <a:t>projects</a:t>
            </a:r>
            <a:r>
              <a:rPr lang="en-NZ" spc="-30" dirty="0">
                <a:latin typeface="Calibri"/>
                <a:cs typeface="Calibri"/>
              </a:rPr>
              <a:t> </a:t>
            </a:r>
            <a:r>
              <a:rPr lang="en-NZ" dirty="0">
                <a:latin typeface="Calibri"/>
                <a:cs typeface="Calibri"/>
              </a:rPr>
              <a:t>were</a:t>
            </a:r>
            <a:r>
              <a:rPr lang="en-NZ" spc="-40" dirty="0">
                <a:latin typeface="Calibri"/>
                <a:cs typeface="Calibri"/>
              </a:rPr>
              <a:t> </a:t>
            </a:r>
            <a:r>
              <a:rPr lang="en-NZ" dirty="0">
                <a:latin typeface="Calibri"/>
                <a:cs typeface="Calibri"/>
              </a:rPr>
              <a:t>cancelled</a:t>
            </a:r>
            <a:r>
              <a:rPr lang="en-NZ" spc="-35" dirty="0">
                <a:latin typeface="Calibri"/>
                <a:cs typeface="Calibri"/>
              </a:rPr>
              <a:t> </a:t>
            </a:r>
            <a:r>
              <a:rPr lang="en-NZ" dirty="0">
                <a:latin typeface="Calibri"/>
                <a:cs typeface="Calibri"/>
              </a:rPr>
              <a:t>before</a:t>
            </a:r>
            <a:r>
              <a:rPr lang="en-NZ" spc="-50" dirty="0">
                <a:latin typeface="Calibri"/>
                <a:cs typeface="Calibri"/>
              </a:rPr>
              <a:t> </a:t>
            </a:r>
            <a:r>
              <a:rPr lang="en-NZ" spc="-10" dirty="0">
                <a:latin typeface="Calibri"/>
                <a:cs typeface="Calibri"/>
              </a:rPr>
              <a:t>completion. </a:t>
            </a:r>
            <a:r>
              <a:rPr lang="en-NZ" b="1" spc="-10" dirty="0">
                <a:latin typeface="Calibri"/>
                <a:cs typeface="Calibri"/>
              </a:rPr>
              <a:t>35% </a:t>
            </a:r>
            <a:r>
              <a:rPr lang="en-NZ" spc="-10" dirty="0">
                <a:latin typeface="Calibri"/>
                <a:cs typeface="Calibri"/>
              </a:rPr>
              <a:t>were challenged projects (scope, time &amp; budget overruns)</a:t>
            </a:r>
          </a:p>
          <a:p>
            <a:pPr marL="469900" lvl="3">
              <a:buClr>
                <a:srgbClr val="F5821F"/>
              </a:buClr>
              <a:tabLst>
                <a:tab pos="698500" algn="l"/>
              </a:tabLst>
            </a:pPr>
            <a:r>
              <a:rPr lang="en-NZ" spc="-10" dirty="0">
                <a:latin typeface="Calibri"/>
                <a:cs typeface="Calibri"/>
              </a:rPr>
              <a:t>34</a:t>
            </a:r>
            <a:r>
              <a:rPr lang="en-NZ" b="1" spc="-10" dirty="0">
                <a:latin typeface="Calibri"/>
                <a:cs typeface="Calibri"/>
              </a:rPr>
              <a:t>%</a:t>
            </a:r>
            <a:r>
              <a:rPr lang="en-NZ" spc="-10" dirty="0">
                <a:latin typeface="Calibri"/>
                <a:cs typeface="Calibri"/>
              </a:rPr>
              <a:t> of projects delivered successfully (but not necessarily mutually agreed by different stakeholders)</a:t>
            </a:r>
          </a:p>
          <a:p>
            <a:pPr marL="240665" lvl="3" indent="-227965">
              <a:spcBef>
                <a:spcPts val="100"/>
              </a:spcBef>
              <a:buClr>
                <a:srgbClr val="F5821F"/>
              </a:buClr>
              <a:buFont typeface="Arial"/>
              <a:buChar char="•"/>
              <a:tabLst>
                <a:tab pos="240665" algn="l"/>
              </a:tabLst>
            </a:pPr>
            <a:r>
              <a:rPr lang="en-NZ" sz="2000" dirty="0">
                <a:latin typeface="Calibri"/>
                <a:cs typeface="Calibri"/>
              </a:rPr>
              <a:t>Only 2.5% of corporations consistently meet their targets for scope, time, and cost goals for projects. (PWC, 2017).</a:t>
            </a:r>
          </a:p>
          <a:p>
            <a:pPr marL="12700" lvl="3">
              <a:spcBef>
                <a:spcPts val="100"/>
              </a:spcBef>
              <a:buClr>
                <a:srgbClr val="F5821F"/>
              </a:buClr>
              <a:tabLst>
                <a:tab pos="240665" algn="l"/>
              </a:tabLst>
            </a:pPr>
            <a:endParaRPr lang="en-NZ" sz="2000" dirty="0">
              <a:latin typeface="Calibri"/>
              <a:cs typeface="Calibri"/>
            </a:endParaRPr>
          </a:p>
          <a:p>
            <a:pPr marL="12700" marR="5080" algn="l">
              <a:spcBef>
                <a:spcPts val="100"/>
              </a:spcBef>
              <a:buClr>
                <a:srgbClr val="F5821F"/>
              </a:buClr>
              <a:tabLst>
                <a:tab pos="240665" algn="l"/>
              </a:tabLst>
            </a:pPr>
            <a:r>
              <a:rPr lang="en-NZ" sz="2400" i="1" dirty="0">
                <a:latin typeface="Calibri"/>
                <a:cs typeface="Calibri"/>
              </a:rPr>
              <a:t>For almost 50 years of IT projects, many are still not delivered successfully.</a:t>
            </a:r>
          </a:p>
          <a:p>
            <a:pPr marL="12700" marR="5080" algn="l">
              <a:spcBef>
                <a:spcPts val="100"/>
              </a:spcBef>
              <a:buClr>
                <a:srgbClr val="F5821F"/>
              </a:buClr>
              <a:tabLst>
                <a:tab pos="240665" algn="l"/>
              </a:tabLst>
            </a:pPr>
            <a:endParaRPr lang="en-NZ" sz="2400" i="1" dirty="0">
              <a:latin typeface="Calibri"/>
              <a:cs typeface="Calibri"/>
            </a:endParaRPr>
          </a:p>
          <a:p>
            <a:pPr marL="12700" marR="5080" algn="l">
              <a:spcBef>
                <a:spcPts val="100"/>
              </a:spcBef>
              <a:buClr>
                <a:srgbClr val="F5821F"/>
              </a:buClr>
              <a:tabLst>
                <a:tab pos="240665" algn="l"/>
              </a:tabLst>
            </a:pPr>
            <a:r>
              <a:rPr lang="en-NZ" sz="2400" i="1" dirty="0">
                <a:latin typeface="Calibri"/>
                <a:cs typeface="Calibri"/>
              </a:rPr>
              <a:t>Four major reason for failed projects is </a:t>
            </a:r>
            <a:r>
              <a:rPr lang="en-NZ" sz="2400" b="1" i="1" dirty="0">
                <a:latin typeface="Calibri"/>
                <a:cs typeface="Calibri"/>
              </a:rPr>
              <a:t>(1) the lack of understanding and application of </a:t>
            </a:r>
            <a:r>
              <a:rPr lang="en-NZ" sz="2400" b="1" i="1" u="sng" dirty="0">
                <a:latin typeface="Calibri"/>
                <a:cs typeface="Calibri"/>
              </a:rPr>
              <a:t>PM methodologies</a:t>
            </a:r>
            <a:r>
              <a:rPr lang="en-NZ" sz="2400" b="1" i="1" dirty="0">
                <a:latin typeface="Calibri"/>
                <a:cs typeface="Calibri"/>
              </a:rPr>
              <a:t> (2) </a:t>
            </a:r>
            <a:r>
              <a:rPr lang="en-NZ" sz="2400" b="1" i="1" u="sng" dirty="0">
                <a:latin typeface="Calibri"/>
                <a:cs typeface="Calibri"/>
              </a:rPr>
              <a:t>project complexity</a:t>
            </a:r>
            <a:r>
              <a:rPr lang="en-NZ" sz="2400" b="1" i="1" dirty="0">
                <a:latin typeface="Calibri"/>
                <a:cs typeface="Calibri"/>
              </a:rPr>
              <a:t>, (3) </a:t>
            </a:r>
            <a:r>
              <a:rPr lang="en-NZ" sz="2400" b="1" i="1" u="sng" dirty="0">
                <a:latin typeface="Calibri"/>
                <a:cs typeface="Calibri"/>
              </a:rPr>
              <a:t>project challenges</a:t>
            </a:r>
            <a:r>
              <a:rPr lang="en-NZ" sz="2400" b="1" i="1" dirty="0">
                <a:latin typeface="Calibri"/>
                <a:cs typeface="Calibri"/>
              </a:rPr>
              <a:t>, and (4) </a:t>
            </a:r>
            <a:r>
              <a:rPr lang="en-NZ" sz="2400" b="1" i="1" u="sng" dirty="0">
                <a:latin typeface="Calibri"/>
                <a:cs typeface="Calibri"/>
              </a:rPr>
              <a:t>internal issues of projects</a:t>
            </a:r>
            <a:r>
              <a:rPr lang="en-NZ" sz="2400" b="1" i="1" dirty="0">
                <a:latin typeface="Calibri"/>
                <a:cs typeface="Calibri"/>
              </a:rPr>
              <a:t> </a:t>
            </a:r>
            <a:r>
              <a:rPr lang="en-NZ" sz="2400" dirty="0">
                <a:latin typeface="Calibri"/>
                <a:cs typeface="Calibri"/>
              </a:rPr>
              <a:t>(Vaipulu, 2026)</a:t>
            </a:r>
            <a:r>
              <a:rPr lang="en-NZ" sz="2400" i="1" dirty="0">
                <a:latin typeface="Calibri"/>
                <a:cs typeface="Calibri"/>
              </a:rPr>
              <a:t>. </a:t>
            </a:r>
          </a:p>
          <a:p>
            <a:pPr lvl="1">
              <a:lnSpc>
                <a:spcPct val="100000"/>
              </a:lnSpc>
              <a:spcBef>
                <a:spcPts val="15"/>
              </a:spcBef>
              <a:buClr>
                <a:srgbClr val="F5821F"/>
              </a:buClr>
              <a:buFont typeface="Arial"/>
              <a:buChar char="•"/>
            </a:pPr>
            <a:endParaRPr lang="en-NZ" sz="24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322BA-5C01-6E78-E2D3-6F8D71BD619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D536F16-8809-680E-19C0-4A81FA430BEC}"/>
              </a:ext>
            </a:extLst>
          </p:cNvPr>
          <p:cNvSpPr txBox="1">
            <a:spLocks noGrp="1"/>
          </p:cNvSpPr>
          <p:nvPr>
            <p:ph type="title"/>
          </p:nvPr>
        </p:nvSpPr>
        <p:spPr>
          <a:xfrm>
            <a:off x="1540002" y="244856"/>
            <a:ext cx="8089900" cy="382156"/>
          </a:xfrm>
          <a:prstGeom prst="rect">
            <a:avLst/>
          </a:prstGeom>
        </p:spPr>
        <p:txBody>
          <a:bodyPr vert="horz" wrap="square" lIns="0" tIns="12700" rIns="0" bIns="0" rtlCol="0">
            <a:spAutoFit/>
          </a:bodyPr>
          <a:lstStyle/>
          <a:p>
            <a:pPr marL="12700">
              <a:lnSpc>
                <a:spcPct val="100000"/>
              </a:lnSpc>
              <a:spcBef>
                <a:spcPts val="100"/>
              </a:spcBef>
            </a:pPr>
            <a:r>
              <a:rPr lang="en-NZ" sz="2400" dirty="0"/>
              <a:t>Principles of Project Management</a:t>
            </a:r>
            <a:endParaRPr sz="2400" spc="-10" dirty="0"/>
          </a:p>
        </p:txBody>
      </p:sp>
      <p:sp>
        <p:nvSpPr>
          <p:cNvPr id="3" name="object 3">
            <a:extLst>
              <a:ext uri="{FF2B5EF4-FFF2-40B4-BE49-F238E27FC236}">
                <a16:creationId xmlns:a16="http://schemas.microsoft.com/office/drawing/2014/main" id="{92866C27-03D8-8456-EA31-0FE1D6B606D5}"/>
              </a:ext>
            </a:extLst>
          </p:cNvPr>
          <p:cNvSpPr txBox="1"/>
          <p:nvPr/>
        </p:nvSpPr>
        <p:spPr>
          <a:xfrm>
            <a:off x="1540002" y="685800"/>
            <a:ext cx="10151110" cy="5429692"/>
          </a:xfrm>
          <a:prstGeom prst="rect">
            <a:avLst/>
          </a:prstGeom>
        </p:spPr>
        <p:txBody>
          <a:bodyPr vert="horz" wrap="square" lIns="0" tIns="12700" rIns="0" bIns="0" rtlCol="0">
            <a:spAutoFit/>
          </a:bodyPr>
          <a:lstStyle/>
          <a:p>
            <a:pPr marL="269875" lvl="1" indent="-269875">
              <a:lnSpc>
                <a:spcPct val="100000"/>
              </a:lnSpc>
              <a:spcBef>
                <a:spcPts val="15"/>
              </a:spcBef>
              <a:buClr>
                <a:srgbClr val="F5821F"/>
              </a:buClr>
              <a:buFont typeface="Arial"/>
              <a:buChar char="•"/>
            </a:pPr>
            <a:r>
              <a:rPr lang="en-NZ" sz="2200" b="1" dirty="0">
                <a:latin typeface="+mn-lt"/>
                <a:cs typeface="Calibri"/>
              </a:rPr>
              <a:t>Stewardship</a:t>
            </a:r>
            <a:r>
              <a:rPr lang="en-NZ" sz="2200" dirty="0">
                <a:latin typeface="+mn-lt"/>
                <a:cs typeface="Calibri"/>
              </a:rPr>
              <a:t>: </a:t>
            </a:r>
            <a:r>
              <a:rPr lang="en-US" sz="2200" dirty="0">
                <a:latin typeface="+mn-lt"/>
              </a:rPr>
              <a:t>Act ethically and responsibly to protect resources, trust, and outcomes</a:t>
            </a:r>
          </a:p>
          <a:p>
            <a:pPr marL="269875" lvl="1" indent="-269875">
              <a:lnSpc>
                <a:spcPct val="100000"/>
              </a:lnSpc>
              <a:spcBef>
                <a:spcPts val="15"/>
              </a:spcBef>
              <a:buClr>
                <a:srgbClr val="F5821F"/>
              </a:buClr>
              <a:buFont typeface="Arial"/>
              <a:buChar char="•"/>
            </a:pPr>
            <a:r>
              <a:rPr lang="en-NZ" sz="2200" b="1" dirty="0">
                <a:latin typeface="+mn-lt"/>
                <a:cs typeface="Calibri"/>
              </a:rPr>
              <a:t>Team</a:t>
            </a:r>
            <a:r>
              <a:rPr lang="en-NZ" sz="2200" dirty="0">
                <a:latin typeface="+mn-lt"/>
                <a:cs typeface="Calibri"/>
              </a:rPr>
              <a:t>: </a:t>
            </a:r>
            <a:r>
              <a:rPr lang="en-US" sz="2200" dirty="0">
                <a:latin typeface="+mn-lt"/>
              </a:rPr>
              <a:t>Build a collaborative, accountable team that delivers together</a:t>
            </a:r>
          </a:p>
          <a:p>
            <a:pPr marL="269875" lvl="1" indent="-269875">
              <a:lnSpc>
                <a:spcPct val="100000"/>
              </a:lnSpc>
              <a:spcBef>
                <a:spcPts val="15"/>
              </a:spcBef>
              <a:buClr>
                <a:srgbClr val="F5821F"/>
              </a:buClr>
              <a:buFont typeface="Arial"/>
              <a:buChar char="•"/>
            </a:pPr>
            <a:r>
              <a:rPr lang="en-NZ" sz="2200" b="1" dirty="0">
                <a:latin typeface="+mn-lt"/>
                <a:cs typeface="Calibri"/>
              </a:rPr>
              <a:t>Stakeholders: </a:t>
            </a:r>
            <a:r>
              <a:rPr lang="en-US" sz="2200" dirty="0">
                <a:latin typeface="+mn-lt"/>
              </a:rPr>
              <a:t>Engage the right people early and often to align expectations and support</a:t>
            </a:r>
          </a:p>
          <a:p>
            <a:pPr marL="269875" lvl="1" indent="-269875">
              <a:lnSpc>
                <a:spcPct val="100000"/>
              </a:lnSpc>
              <a:spcBef>
                <a:spcPts val="15"/>
              </a:spcBef>
              <a:buClr>
                <a:srgbClr val="F5821F"/>
              </a:buClr>
              <a:buFont typeface="Arial"/>
              <a:buChar char="•"/>
            </a:pPr>
            <a:r>
              <a:rPr lang="en-NZ" sz="2200" b="1" dirty="0">
                <a:latin typeface="+mn-lt"/>
                <a:cs typeface="Calibri"/>
              </a:rPr>
              <a:t>Value</a:t>
            </a:r>
            <a:r>
              <a:rPr lang="en-NZ" sz="2200" dirty="0">
                <a:latin typeface="+mn-lt"/>
                <a:cs typeface="Calibri"/>
              </a:rPr>
              <a:t>: </a:t>
            </a:r>
            <a:r>
              <a:rPr lang="en-US" sz="2200" dirty="0">
                <a:latin typeface="+mn-lt"/>
              </a:rPr>
              <a:t>Focus decisions on </a:t>
            </a:r>
            <a:r>
              <a:rPr lang="en-US" sz="2200" dirty="0" err="1">
                <a:latin typeface="+mn-lt"/>
              </a:rPr>
              <a:t>maximising</a:t>
            </a:r>
            <a:r>
              <a:rPr lang="en-US" sz="2200" dirty="0">
                <a:latin typeface="+mn-lt"/>
              </a:rPr>
              <a:t> benefits and measurable outcomes</a:t>
            </a:r>
          </a:p>
          <a:p>
            <a:pPr marL="269875" lvl="1" indent="-269875">
              <a:lnSpc>
                <a:spcPct val="100000"/>
              </a:lnSpc>
              <a:spcBef>
                <a:spcPts val="15"/>
              </a:spcBef>
              <a:buClr>
                <a:srgbClr val="F5821F"/>
              </a:buClr>
              <a:buFont typeface="Arial"/>
              <a:buChar char="•"/>
            </a:pPr>
            <a:r>
              <a:rPr lang="en-NZ" sz="2200" b="1" dirty="0">
                <a:latin typeface="+mn-lt"/>
                <a:cs typeface="Calibri"/>
              </a:rPr>
              <a:t>System Thinking</a:t>
            </a:r>
            <a:r>
              <a:rPr lang="en-NZ" sz="2200" dirty="0">
                <a:latin typeface="+mn-lt"/>
                <a:cs typeface="Calibri"/>
              </a:rPr>
              <a:t>: </a:t>
            </a:r>
            <a:r>
              <a:rPr lang="en-US" sz="2200" dirty="0">
                <a:latin typeface="+mn-lt"/>
              </a:rPr>
              <a:t>See the whole system: dependencies, constraints, and downstream impacts</a:t>
            </a:r>
          </a:p>
          <a:p>
            <a:pPr marL="269875" lvl="1" indent="-269875">
              <a:lnSpc>
                <a:spcPct val="100000"/>
              </a:lnSpc>
              <a:spcBef>
                <a:spcPts val="15"/>
              </a:spcBef>
              <a:buClr>
                <a:srgbClr val="F5821F"/>
              </a:buClr>
              <a:buFont typeface="Arial"/>
              <a:buChar char="•"/>
            </a:pPr>
            <a:r>
              <a:rPr lang="en-NZ" sz="2200" b="1" dirty="0">
                <a:latin typeface="+mn-lt"/>
                <a:cs typeface="Calibri"/>
              </a:rPr>
              <a:t>Leadership</a:t>
            </a:r>
            <a:r>
              <a:rPr lang="en-NZ" sz="2200" dirty="0">
                <a:latin typeface="+mn-lt"/>
                <a:cs typeface="Calibri"/>
              </a:rPr>
              <a:t>: </a:t>
            </a:r>
            <a:r>
              <a:rPr lang="en-US" sz="2200" dirty="0">
                <a:latin typeface="+mn-lt"/>
              </a:rPr>
              <a:t>Guide and enable people through direction, decisions, and support</a:t>
            </a:r>
          </a:p>
          <a:p>
            <a:pPr marL="269875" lvl="1" indent="-269875">
              <a:lnSpc>
                <a:spcPct val="100000"/>
              </a:lnSpc>
              <a:spcBef>
                <a:spcPts val="15"/>
              </a:spcBef>
              <a:buClr>
                <a:srgbClr val="F5821F"/>
              </a:buClr>
              <a:buFont typeface="Arial"/>
              <a:buChar char="•"/>
            </a:pPr>
            <a:r>
              <a:rPr lang="en-NZ" sz="2200" b="1" dirty="0">
                <a:latin typeface="+mn-lt"/>
                <a:cs typeface="Calibri"/>
              </a:rPr>
              <a:t>Tailoring</a:t>
            </a:r>
            <a:r>
              <a:rPr lang="en-NZ" sz="2200" dirty="0">
                <a:latin typeface="+mn-lt"/>
                <a:cs typeface="Calibri"/>
              </a:rPr>
              <a:t>: </a:t>
            </a:r>
            <a:r>
              <a:rPr lang="en-US" sz="2200" dirty="0">
                <a:latin typeface="+mn-lt"/>
              </a:rPr>
              <a:t>Fit the approach to the context, not a one-size-fits-all method</a:t>
            </a:r>
          </a:p>
          <a:p>
            <a:pPr marL="269875" lvl="1" indent="-269875">
              <a:lnSpc>
                <a:spcPct val="100000"/>
              </a:lnSpc>
              <a:spcBef>
                <a:spcPts val="15"/>
              </a:spcBef>
              <a:buClr>
                <a:srgbClr val="F5821F"/>
              </a:buClr>
              <a:buFont typeface="Arial"/>
              <a:buChar char="•"/>
            </a:pPr>
            <a:r>
              <a:rPr lang="en-NZ" sz="2200" b="1" dirty="0">
                <a:latin typeface="+mn-lt"/>
                <a:cs typeface="Calibri"/>
              </a:rPr>
              <a:t>Quality</a:t>
            </a:r>
            <a:r>
              <a:rPr lang="en-NZ" sz="2200" dirty="0">
                <a:latin typeface="+mn-lt"/>
                <a:cs typeface="Calibri"/>
              </a:rPr>
              <a:t>: </a:t>
            </a:r>
            <a:r>
              <a:rPr lang="en-US" sz="2200" dirty="0">
                <a:latin typeface="+mn-lt"/>
              </a:rPr>
              <a:t>Build quality in from the start; prevent defects, don’t inspect them later</a:t>
            </a:r>
          </a:p>
          <a:p>
            <a:pPr marL="269875" lvl="1" indent="-269875">
              <a:lnSpc>
                <a:spcPct val="100000"/>
              </a:lnSpc>
              <a:spcBef>
                <a:spcPts val="15"/>
              </a:spcBef>
              <a:buClr>
                <a:srgbClr val="F5821F"/>
              </a:buClr>
              <a:buFont typeface="Arial"/>
              <a:buChar char="•"/>
            </a:pPr>
            <a:r>
              <a:rPr lang="en-NZ" sz="2200" b="1" dirty="0">
                <a:latin typeface="+mn-lt"/>
                <a:cs typeface="Calibri"/>
              </a:rPr>
              <a:t>Complexity</a:t>
            </a:r>
            <a:r>
              <a:rPr lang="en-NZ" sz="2200" dirty="0">
                <a:latin typeface="+mn-lt"/>
                <a:cs typeface="Calibri"/>
              </a:rPr>
              <a:t>: </a:t>
            </a:r>
            <a:r>
              <a:rPr lang="en-US" sz="2200" dirty="0">
                <a:latin typeface="+mn-lt"/>
              </a:rPr>
              <a:t>Recognise complexity drivers and simplify, structure, or adapt to manage them</a:t>
            </a:r>
          </a:p>
          <a:p>
            <a:pPr marL="269875" lvl="1" indent="-269875">
              <a:lnSpc>
                <a:spcPct val="100000"/>
              </a:lnSpc>
              <a:spcBef>
                <a:spcPts val="15"/>
              </a:spcBef>
              <a:buClr>
                <a:srgbClr val="F5821F"/>
              </a:buClr>
              <a:buFont typeface="Arial"/>
              <a:buChar char="•"/>
            </a:pPr>
            <a:r>
              <a:rPr lang="en-NZ" sz="2200" b="1" dirty="0">
                <a:latin typeface="+mn-lt"/>
                <a:cs typeface="Calibri"/>
              </a:rPr>
              <a:t>Risk</a:t>
            </a:r>
            <a:r>
              <a:rPr lang="en-NZ" sz="2200" dirty="0">
                <a:latin typeface="+mn-lt"/>
                <a:cs typeface="Calibri"/>
              </a:rPr>
              <a:t>: </a:t>
            </a:r>
            <a:r>
              <a:rPr lang="en-US" sz="2200" dirty="0">
                <a:latin typeface="+mn-lt"/>
              </a:rPr>
              <a:t>Identify uncertainty early, reduce threats, and take informed opportunities.</a:t>
            </a:r>
          </a:p>
          <a:p>
            <a:pPr marL="269875" lvl="1" indent="-269875">
              <a:lnSpc>
                <a:spcPct val="100000"/>
              </a:lnSpc>
              <a:spcBef>
                <a:spcPts val="15"/>
              </a:spcBef>
              <a:buClr>
                <a:srgbClr val="F5821F"/>
              </a:buClr>
              <a:buFont typeface="Arial"/>
              <a:buChar char="•"/>
            </a:pPr>
            <a:r>
              <a:rPr lang="en-NZ" sz="2200" b="1" dirty="0">
                <a:latin typeface="+mn-lt"/>
                <a:cs typeface="Calibri"/>
              </a:rPr>
              <a:t>Adaptability and Resiliency</a:t>
            </a:r>
            <a:r>
              <a:rPr lang="en-NZ" sz="2200" dirty="0">
                <a:latin typeface="+mn-lt"/>
                <a:cs typeface="Calibri"/>
              </a:rPr>
              <a:t>: </a:t>
            </a:r>
            <a:r>
              <a:rPr lang="en-US" sz="2200" dirty="0">
                <a:latin typeface="+mn-lt"/>
              </a:rPr>
              <a:t>Respond fast to change and recover quickly from setbacks.</a:t>
            </a:r>
          </a:p>
          <a:p>
            <a:pPr marL="269875" lvl="1" indent="-269875">
              <a:lnSpc>
                <a:spcPct val="100000"/>
              </a:lnSpc>
              <a:spcBef>
                <a:spcPts val="15"/>
              </a:spcBef>
              <a:buClr>
                <a:srgbClr val="F5821F"/>
              </a:buClr>
              <a:buFont typeface="Arial"/>
              <a:buChar char="•"/>
            </a:pPr>
            <a:r>
              <a:rPr lang="en-NZ" sz="2200" b="1" dirty="0">
                <a:latin typeface="+mn-lt"/>
                <a:cs typeface="Calibri"/>
              </a:rPr>
              <a:t>Change: </a:t>
            </a:r>
            <a:r>
              <a:rPr lang="en-NZ" sz="2200" dirty="0">
                <a:latin typeface="+mn-lt"/>
                <a:cs typeface="Calibri"/>
              </a:rPr>
              <a:t>P</a:t>
            </a:r>
            <a:r>
              <a:rPr lang="en-US" sz="2200" dirty="0" err="1">
                <a:latin typeface="+mn-lt"/>
              </a:rPr>
              <a:t>repare</a:t>
            </a:r>
            <a:r>
              <a:rPr lang="en-US" sz="2200" dirty="0">
                <a:latin typeface="+mn-lt"/>
              </a:rPr>
              <a:t>, manage, and embed change so new outcomes stick.</a:t>
            </a:r>
            <a:endParaRPr lang="en-NZ" sz="2200" dirty="0">
              <a:latin typeface="+mn-lt"/>
              <a:cs typeface="Calibri"/>
            </a:endParaRPr>
          </a:p>
        </p:txBody>
      </p:sp>
    </p:spTree>
    <p:extLst>
      <p:ext uri="{BB962C8B-B14F-4D97-AF65-F5344CB8AC3E}">
        <p14:creationId xmlns:p14="http://schemas.microsoft.com/office/powerpoint/2010/main" val="123722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429895"/>
            <a:ext cx="8595234" cy="382797"/>
          </a:xfrm>
          <a:prstGeom prst="rect">
            <a:avLst/>
          </a:prstGeom>
        </p:spPr>
        <p:txBody>
          <a:bodyPr vert="horz" wrap="square" lIns="0" tIns="13335" rIns="0" bIns="0" rtlCol="0">
            <a:spAutoFit/>
          </a:bodyPr>
          <a:lstStyle/>
          <a:p>
            <a:pPr marL="12700">
              <a:lnSpc>
                <a:spcPct val="100000"/>
              </a:lnSpc>
              <a:spcBef>
                <a:spcPts val="105"/>
              </a:spcBef>
            </a:pPr>
            <a:r>
              <a:rPr sz="2400" dirty="0"/>
              <a:t>Measuring</a:t>
            </a:r>
            <a:r>
              <a:rPr lang="en-NZ" sz="2400" spc="-80" dirty="0"/>
              <a:t> p</a:t>
            </a:r>
            <a:r>
              <a:rPr lang="en-NZ" sz="2400" dirty="0"/>
              <a:t>rojects </a:t>
            </a:r>
            <a:r>
              <a:rPr sz="2400" spc="-10" dirty="0"/>
              <a:t>success</a:t>
            </a:r>
            <a:r>
              <a:rPr lang="en-NZ" sz="2400" spc="-10" dirty="0"/>
              <a:t>- triple</a:t>
            </a:r>
            <a:r>
              <a:rPr lang="en-NZ" sz="2400" dirty="0"/>
              <a:t> constraints </a:t>
            </a:r>
            <a:endParaRPr sz="2400" spc="-10" dirty="0"/>
          </a:p>
        </p:txBody>
      </p:sp>
      <p:sp>
        <p:nvSpPr>
          <p:cNvPr id="3" name="object 3"/>
          <p:cNvSpPr txBox="1">
            <a:spLocks noGrp="1"/>
          </p:cNvSpPr>
          <p:nvPr>
            <p:ph type="body" idx="1"/>
          </p:nvPr>
        </p:nvSpPr>
        <p:spPr>
          <a:xfrm>
            <a:off x="1508294" y="990600"/>
            <a:ext cx="10287635" cy="4515339"/>
          </a:xfrm>
          <a:prstGeom prst="rect">
            <a:avLst/>
          </a:prstGeom>
        </p:spPr>
        <p:txBody>
          <a:bodyPr vert="horz" wrap="square" lIns="0" tIns="97790" rIns="0" bIns="0" rtlCol="0">
            <a:spAutoFit/>
          </a:bodyPr>
          <a:lstStyle/>
          <a:p>
            <a:pPr marL="240665" indent="-227965">
              <a:spcBef>
                <a:spcPts val="675"/>
              </a:spcBef>
              <a:buClr>
                <a:srgbClr val="F5821F"/>
              </a:buClr>
              <a:buFont typeface="Arial"/>
              <a:buChar char="•"/>
              <a:tabLst>
                <a:tab pos="240665" algn="l"/>
              </a:tabLst>
            </a:pPr>
            <a:r>
              <a:rPr lang="en-NZ" sz="2400" u="sng" dirty="0"/>
              <a:t>Triple Constraint</a:t>
            </a:r>
            <a:r>
              <a:rPr lang="en-NZ" sz="2400" dirty="0"/>
              <a:t>- Scope (features),  Budget (cost), and Time (duration)- projects must meet these constraints. Known affectionately by project managers as </a:t>
            </a:r>
            <a:r>
              <a:rPr lang="en-NZ" sz="2400" i="1" dirty="0"/>
              <a:t>the iron triangle</a:t>
            </a:r>
            <a:r>
              <a:rPr lang="en-NZ" sz="2400" dirty="0"/>
              <a:t>.</a:t>
            </a:r>
          </a:p>
          <a:p>
            <a:pPr marL="240665" indent="-227965">
              <a:spcBef>
                <a:spcPts val="675"/>
              </a:spcBef>
              <a:buClr>
                <a:srgbClr val="F5821F"/>
              </a:buClr>
              <a:buFont typeface="Arial"/>
              <a:buChar char="•"/>
              <a:tabLst>
                <a:tab pos="240665" algn="l"/>
              </a:tabLst>
            </a:pPr>
            <a:r>
              <a:rPr lang="en-NZ" sz="2400" dirty="0"/>
              <a:t>The triple constraints </a:t>
            </a:r>
            <a:r>
              <a:rPr sz="2400" dirty="0"/>
              <a:t>define project success</a:t>
            </a:r>
            <a:r>
              <a:rPr lang="en-NZ" sz="2400" dirty="0"/>
              <a:t> </a:t>
            </a:r>
          </a:p>
          <a:p>
            <a:pPr marL="240665" indent="-227965">
              <a:spcBef>
                <a:spcPts val="675"/>
              </a:spcBef>
              <a:buClr>
                <a:srgbClr val="F5821F"/>
              </a:buClr>
              <a:buFont typeface="Arial"/>
              <a:buChar char="•"/>
              <a:tabLst>
                <a:tab pos="240665" algn="l"/>
              </a:tabLst>
            </a:pPr>
            <a:r>
              <a:rPr lang="en-NZ" sz="2400" dirty="0"/>
              <a:t>Different </a:t>
            </a:r>
            <a:r>
              <a:rPr lang="en-NZ" sz="2400" u="sng" dirty="0"/>
              <a:t>stakeholder</a:t>
            </a:r>
            <a:r>
              <a:rPr lang="en-NZ" sz="2400" dirty="0"/>
              <a:t> perspectives on scope,</a:t>
            </a:r>
            <a:r>
              <a:rPr lang="en-NZ" sz="2400" spc="-75" dirty="0"/>
              <a:t> </a:t>
            </a:r>
            <a:r>
              <a:rPr lang="en-NZ" sz="2400" dirty="0"/>
              <a:t>time,</a:t>
            </a:r>
            <a:r>
              <a:rPr lang="en-NZ" sz="2400" spc="-70" dirty="0"/>
              <a:t> </a:t>
            </a:r>
            <a:r>
              <a:rPr lang="en-NZ" sz="2400" dirty="0"/>
              <a:t>and</a:t>
            </a:r>
            <a:r>
              <a:rPr lang="en-NZ" sz="2400" spc="-60" dirty="0"/>
              <a:t> </a:t>
            </a:r>
            <a:r>
              <a:rPr lang="en-NZ" sz="2400" dirty="0"/>
              <a:t>cost</a:t>
            </a:r>
            <a:r>
              <a:rPr lang="en-NZ" sz="2400" spc="-70" dirty="0"/>
              <a:t> to identify </a:t>
            </a:r>
            <a:r>
              <a:rPr lang="en-NZ" sz="2400" b="1" u="sng" spc="-70" dirty="0"/>
              <a:t>the project success criteria </a:t>
            </a:r>
            <a:endParaRPr lang="en-NZ" sz="2400" b="1" u="sng" dirty="0"/>
          </a:p>
          <a:p>
            <a:pPr marL="641350" lvl="1" indent="-171450">
              <a:spcBef>
                <a:spcPts val="675"/>
              </a:spcBef>
              <a:buClr>
                <a:srgbClr val="F5821F"/>
              </a:buClr>
              <a:buFont typeface="Arial" panose="020B0604020202020204" pitchFamily="34" charset="0"/>
              <a:buChar char="•"/>
              <a:tabLst>
                <a:tab pos="240665" algn="l"/>
              </a:tabLst>
            </a:pPr>
            <a:r>
              <a:rPr lang="en-NZ" sz="2000" dirty="0"/>
              <a:t>  Project sponsor/client/customer</a:t>
            </a:r>
            <a:endParaRPr lang="en-NZ" sz="2000" spc="-10" dirty="0"/>
          </a:p>
          <a:p>
            <a:pPr marL="755650" lvl="1" indent="-285750">
              <a:spcBef>
                <a:spcPts val="675"/>
              </a:spcBef>
              <a:buClr>
                <a:srgbClr val="F5821F"/>
              </a:buClr>
              <a:buFont typeface="Arial" panose="020B0604020202020204" pitchFamily="34" charset="0"/>
              <a:buChar char="•"/>
              <a:tabLst>
                <a:tab pos="240665" algn="l"/>
              </a:tabLst>
            </a:pPr>
            <a:r>
              <a:rPr lang="en-NZ" sz="2000" spc="-10" dirty="0"/>
              <a:t>End-user </a:t>
            </a:r>
          </a:p>
          <a:p>
            <a:pPr marL="697865" lvl="1" indent="-227965">
              <a:spcBef>
                <a:spcPts val="675"/>
              </a:spcBef>
              <a:buClr>
                <a:srgbClr val="F5821F"/>
              </a:buClr>
              <a:buFont typeface="Arial"/>
              <a:buChar char="•"/>
              <a:tabLst>
                <a:tab pos="240665" algn="l"/>
              </a:tabLst>
            </a:pPr>
            <a:r>
              <a:rPr lang="en-NZ" sz="2000" spc="-10" dirty="0"/>
              <a:t> Project team </a:t>
            </a:r>
          </a:p>
          <a:p>
            <a:pPr marL="240665" indent="-227965">
              <a:spcBef>
                <a:spcPts val="675"/>
              </a:spcBef>
              <a:buClr>
                <a:srgbClr val="F5821F"/>
              </a:buClr>
              <a:buFont typeface="Arial"/>
              <a:buChar char="•"/>
              <a:tabLst>
                <a:tab pos="240665" algn="l"/>
              </a:tabLst>
            </a:pPr>
            <a:r>
              <a:rPr lang="en-NZ" sz="2400" spc="-10" dirty="0"/>
              <a:t>Must know how the project will be judged for success? Must have a mutual understanding of project success</a:t>
            </a:r>
            <a:endParaRPr sz="2400" spc="-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507" rIns="0" bIns="0" rtlCol="0">
            <a:spAutoFit/>
          </a:bodyPr>
          <a:lstStyle/>
          <a:p>
            <a:pPr marL="83185" marR="5080">
              <a:lnSpc>
                <a:spcPts val="4750"/>
              </a:lnSpc>
              <a:spcBef>
                <a:spcPts val="700"/>
              </a:spcBef>
            </a:pPr>
            <a:r>
              <a:rPr dirty="0"/>
              <a:t>Figure</a:t>
            </a:r>
            <a:r>
              <a:rPr spc="-90" dirty="0"/>
              <a:t> </a:t>
            </a:r>
            <a:r>
              <a:rPr dirty="0"/>
              <a:t>1-1</a:t>
            </a:r>
            <a:r>
              <a:rPr spc="-85" dirty="0"/>
              <a:t> </a:t>
            </a:r>
            <a:r>
              <a:rPr dirty="0"/>
              <a:t>The</a:t>
            </a:r>
            <a:r>
              <a:rPr spc="-105" dirty="0"/>
              <a:t> </a:t>
            </a:r>
            <a:r>
              <a:rPr spc="-10" dirty="0"/>
              <a:t>Triple</a:t>
            </a:r>
            <a:r>
              <a:rPr spc="-105" dirty="0"/>
              <a:t> </a:t>
            </a:r>
            <a:r>
              <a:rPr dirty="0"/>
              <a:t>Constraint</a:t>
            </a:r>
            <a:r>
              <a:rPr spc="-105" dirty="0"/>
              <a:t> </a:t>
            </a:r>
            <a:r>
              <a:rPr dirty="0"/>
              <a:t>of</a:t>
            </a:r>
            <a:r>
              <a:rPr spc="-85" dirty="0"/>
              <a:t> </a:t>
            </a:r>
            <a:r>
              <a:rPr spc="-10" dirty="0"/>
              <a:t>Project Management</a:t>
            </a:r>
          </a:p>
        </p:txBody>
      </p:sp>
      <p:pic>
        <p:nvPicPr>
          <p:cNvPr id="3" name="object 3"/>
          <p:cNvPicPr/>
          <p:nvPr/>
        </p:nvPicPr>
        <p:blipFill>
          <a:blip r:embed="rId2" cstate="print"/>
          <a:stretch>
            <a:fillRect/>
          </a:stretch>
        </p:blipFill>
        <p:spPr>
          <a:xfrm>
            <a:off x="5535167" y="905255"/>
            <a:ext cx="5196840" cy="59527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3"/>
          <p:cNvPicPr>
            <a:picLocks noChangeAspect="1"/>
          </p:cNvPicPr>
          <p:nvPr/>
        </p:nvPicPr>
        <p:blipFill>
          <a:blip r:embed="rId3">
            <a:extLst>
              <a:ext uri="{28A0092B-C50C-407E-A947-70E740481C1C}">
                <a14:useLocalDpi xmlns:a14="http://schemas.microsoft.com/office/drawing/2010/main" val="0"/>
              </a:ext>
            </a:extLst>
          </a:blip>
          <a:srcRect l="15079" r="3967"/>
          <a:stretch>
            <a:fillRect/>
          </a:stretch>
        </p:blipFill>
        <p:spPr bwMode="auto">
          <a:xfrm>
            <a:off x="1639888" y="1277938"/>
            <a:ext cx="6024562" cy="558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p:cNvSpPr>
            <a:spLocks noGrp="1" noChangeArrowheads="1"/>
          </p:cNvSpPr>
          <p:nvPr>
            <p:ph type="title"/>
          </p:nvPr>
        </p:nvSpPr>
        <p:spPr/>
        <p:txBody>
          <a:bodyPr/>
          <a:lstStyle/>
          <a:p>
            <a:r>
              <a:rPr lang="en-AU" altLang="en-US" dirty="0"/>
              <a:t>What is IT Project Management?</a:t>
            </a:r>
          </a:p>
        </p:txBody>
      </p:sp>
      <p:sp>
        <p:nvSpPr>
          <p:cNvPr id="17413" name="TextBox 1"/>
          <p:cNvSpPr txBox="1">
            <a:spLocks noChangeArrowheads="1"/>
          </p:cNvSpPr>
          <p:nvPr/>
        </p:nvSpPr>
        <p:spPr bwMode="auto">
          <a:xfrm>
            <a:off x="2944813" y="1825625"/>
            <a:ext cx="1460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ia Core Book" pitchFamily="50" charset="0"/>
              </a:defRPr>
            </a:lvl1pPr>
            <a:lvl2pPr marL="742950" indent="-285750">
              <a:defRPr>
                <a:solidFill>
                  <a:schemeClr val="tx1"/>
                </a:solidFill>
                <a:latin typeface="Helia Core Book" pitchFamily="50" charset="0"/>
              </a:defRPr>
            </a:lvl2pPr>
            <a:lvl3pPr marL="1143000" indent="-228600">
              <a:defRPr>
                <a:solidFill>
                  <a:schemeClr val="tx1"/>
                </a:solidFill>
                <a:latin typeface="Helia Core Book" pitchFamily="50" charset="0"/>
              </a:defRPr>
            </a:lvl3pPr>
            <a:lvl4pPr marL="1600200" indent="-228600">
              <a:defRPr>
                <a:solidFill>
                  <a:schemeClr val="tx1"/>
                </a:solidFill>
                <a:latin typeface="Helia Core Book" pitchFamily="50" charset="0"/>
              </a:defRPr>
            </a:lvl4pPr>
            <a:lvl5pPr marL="2057400" indent="-228600">
              <a:defRPr>
                <a:solidFill>
                  <a:schemeClr val="tx1"/>
                </a:solidFill>
                <a:latin typeface="Helia Core Book" pitchFamily="50" charset="0"/>
              </a:defRPr>
            </a:lvl5pPr>
            <a:lvl6pPr marL="2514600" indent="-228600" eaLnBrk="0" fontAlgn="base" hangingPunct="0">
              <a:spcBef>
                <a:spcPct val="0"/>
              </a:spcBef>
              <a:spcAft>
                <a:spcPct val="0"/>
              </a:spcAft>
              <a:defRPr>
                <a:solidFill>
                  <a:schemeClr val="tx1"/>
                </a:solidFill>
                <a:latin typeface="Helia Core Book" pitchFamily="50" charset="0"/>
              </a:defRPr>
            </a:lvl6pPr>
            <a:lvl7pPr marL="2971800" indent="-228600" eaLnBrk="0" fontAlgn="base" hangingPunct="0">
              <a:spcBef>
                <a:spcPct val="0"/>
              </a:spcBef>
              <a:spcAft>
                <a:spcPct val="0"/>
              </a:spcAft>
              <a:defRPr>
                <a:solidFill>
                  <a:schemeClr val="tx1"/>
                </a:solidFill>
                <a:latin typeface="Helia Core Book" pitchFamily="50" charset="0"/>
              </a:defRPr>
            </a:lvl7pPr>
            <a:lvl8pPr marL="3429000" indent="-228600" eaLnBrk="0" fontAlgn="base" hangingPunct="0">
              <a:spcBef>
                <a:spcPct val="0"/>
              </a:spcBef>
              <a:spcAft>
                <a:spcPct val="0"/>
              </a:spcAft>
              <a:defRPr>
                <a:solidFill>
                  <a:schemeClr val="tx1"/>
                </a:solidFill>
                <a:latin typeface="Helia Core Book" pitchFamily="50" charset="0"/>
              </a:defRPr>
            </a:lvl8pPr>
            <a:lvl9pPr marL="3886200" indent="-228600" eaLnBrk="0" fontAlgn="base" hangingPunct="0">
              <a:spcBef>
                <a:spcPct val="0"/>
              </a:spcBef>
              <a:spcAft>
                <a:spcPct val="0"/>
              </a:spcAft>
              <a:defRPr>
                <a:solidFill>
                  <a:schemeClr val="tx1"/>
                </a:solidFill>
                <a:latin typeface="Helia Core Book" pitchFamily="50" charset="0"/>
              </a:defRPr>
            </a:lvl9pPr>
          </a:lstStyle>
          <a:p>
            <a:r>
              <a:rPr lang="en-NZ" altLang="en-US">
                <a:latin typeface="Calibri" panose="020F0502020204030204" pitchFamily="34" charset="0"/>
              </a:rPr>
              <a:t>Project Scope</a:t>
            </a:r>
          </a:p>
        </p:txBody>
      </p:sp>
      <p:sp>
        <p:nvSpPr>
          <p:cNvPr id="17414" name="TextBox 5"/>
          <p:cNvSpPr txBox="1">
            <a:spLocks noChangeArrowheads="1"/>
          </p:cNvSpPr>
          <p:nvPr/>
        </p:nvSpPr>
        <p:spPr bwMode="auto">
          <a:xfrm>
            <a:off x="1639888" y="5872163"/>
            <a:ext cx="992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ia Core Book" pitchFamily="50" charset="0"/>
              </a:defRPr>
            </a:lvl1pPr>
            <a:lvl2pPr marL="742950" indent="-285750">
              <a:defRPr>
                <a:solidFill>
                  <a:schemeClr val="tx1"/>
                </a:solidFill>
                <a:latin typeface="Helia Core Book" pitchFamily="50" charset="0"/>
              </a:defRPr>
            </a:lvl2pPr>
            <a:lvl3pPr marL="1143000" indent="-228600">
              <a:defRPr>
                <a:solidFill>
                  <a:schemeClr val="tx1"/>
                </a:solidFill>
                <a:latin typeface="Helia Core Book" pitchFamily="50" charset="0"/>
              </a:defRPr>
            </a:lvl3pPr>
            <a:lvl4pPr marL="1600200" indent="-228600">
              <a:defRPr>
                <a:solidFill>
                  <a:schemeClr val="tx1"/>
                </a:solidFill>
                <a:latin typeface="Helia Core Book" pitchFamily="50" charset="0"/>
              </a:defRPr>
            </a:lvl4pPr>
            <a:lvl5pPr marL="2057400" indent="-228600">
              <a:defRPr>
                <a:solidFill>
                  <a:schemeClr val="tx1"/>
                </a:solidFill>
                <a:latin typeface="Helia Core Book" pitchFamily="50" charset="0"/>
              </a:defRPr>
            </a:lvl5pPr>
            <a:lvl6pPr marL="2514600" indent="-228600" eaLnBrk="0" fontAlgn="base" hangingPunct="0">
              <a:spcBef>
                <a:spcPct val="0"/>
              </a:spcBef>
              <a:spcAft>
                <a:spcPct val="0"/>
              </a:spcAft>
              <a:defRPr>
                <a:solidFill>
                  <a:schemeClr val="tx1"/>
                </a:solidFill>
                <a:latin typeface="Helia Core Book" pitchFamily="50" charset="0"/>
              </a:defRPr>
            </a:lvl6pPr>
            <a:lvl7pPr marL="2971800" indent="-228600" eaLnBrk="0" fontAlgn="base" hangingPunct="0">
              <a:spcBef>
                <a:spcPct val="0"/>
              </a:spcBef>
              <a:spcAft>
                <a:spcPct val="0"/>
              </a:spcAft>
              <a:defRPr>
                <a:solidFill>
                  <a:schemeClr val="tx1"/>
                </a:solidFill>
                <a:latin typeface="Helia Core Book" pitchFamily="50" charset="0"/>
              </a:defRPr>
            </a:lvl7pPr>
            <a:lvl8pPr marL="3429000" indent="-228600" eaLnBrk="0" fontAlgn="base" hangingPunct="0">
              <a:spcBef>
                <a:spcPct val="0"/>
              </a:spcBef>
              <a:spcAft>
                <a:spcPct val="0"/>
              </a:spcAft>
              <a:defRPr>
                <a:solidFill>
                  <a:schemeClr val="tx1"/>
                </a:solidFill>
                <a:latin typeface="Helia Core Book" pitchFamily="50" charset="0"/>
              </a:defRPr>
            </a:lvl8pPr>
            <a:lvl9pPr marL="3886200" indent="-228600" eaLnBrk="0" fontAlgn="base" hangingPunct="0">
              <a:spcBef>
                <a:spcPct val="0"/>
              </a:spcBef>
              <a:spcAft>
                <a:spcPct val="0"/>
              </a:spcAft>
              <a:defRPr>
                <a:solidFill>
                  <a:schemeClr val="tx1"/>
                </a:solidFill>
                <a:latin typeface="Helia Core Book" pitchFamily="50" charset="0"/>
              </a:defRPr>
            </a:lvl9pPr>
          </a:lstStyle>
          <a:p>
            <a:r>
              <a:rPr lang="en-NZ" altLang="en-US">
                <a:latin typeface="Calibri" panose="020F0502020204030204" pitchFamily="34" charset="0"/>
              </a:rPr>
              <a:t>Timeline</a:t>
            </a:r>
          </a:p>
        </p:txBody>
      </p:sp>
      <p:sp>
        <p:nvSpPr>
          <p:cNvPr id="17415" name="TextBox 6"/>
          <p:cNvSpPr txBox="1">
            <a:spLocks noChangeArrowheads="1"/>
          </p:cNvSpPr>
          <p:nvPr/>
        </p:nvSpPr>
        <p:spPr bwMode="auto">
          <a:xfrm>
            <a:off x="6438900" y="4652963"/>
            <a:ext cx="852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ia Core Book" pitchFamily="50" charset="0"/>
              </a:defRPr>
            </a:lvl1pPr>
            <a:lvl2pPr marL="742950" indent="-285750">
              <a:defRPr>
                <a:solidFill>
                  <a:schemeClr val="tx1"/>
                </a:solidFill>
                <a:latin typeface="Helia Core Book" pitchFamily="50" charset="0"/>
              </a:defRPr>
            </a:lvl2pPr>
            <a:lvl3pPr marL="1143000" indent="-228600">
              <a:defRPr>
                <a:solidFill>
                  <a:schemeClr val="tx1"/>
                </a:solidFill>
                <a:latin typeface="Helia Core Book" pitchFamily="50" charset="0"/>
              </a:defRPr>
            </a:lvl3pPr>
            <a:lvl4pPr marL="1600200" indent="-228600">
              <a:defRPr>
                <a:solidFill>
                  <a:schemeClr val="tx1"/>
                </a:solidFill>
                <a:latin typeface="Helia Core Book" pitchFamily="50" charset="0"/>
              </a:defRPr>
            </a:lvl4pPr>
            <a:lvl5pPr marL="2057400" indent="-228600">
              <a:defRPr>
                <a:solidFill>
                  <a:schemeClr val="tx1"/>
                </a:solidFill>
                <a:latin typeface="Helia Core Book" pitchFamily="50" charset="0"/>
              </a:defRPr>
            </a:lvl5pPr>
            <a:lvl6pPr marL="2514600" indent="-228600" eaLnBrk="0" fontAlgn="base" hangingPunct="0">
              <a:spcBef>
                <a:spcPct val="0"/>
              </a:spcBef>
              <a:spcAft>
                <a:spcPct val="0"/>
              </a:spcAft>
              <a:defRPr>
                <a:solidFill>
                  <a:schemeClr val="tx1"/>
                </a:solidFill>
                <a:latin typeface="Helia Core Book" pitchFamily="50" charset="0"/>
              </a:defRPr>
            </a:lvl6pPr>
            <a:lvl7pPr marL="2971800" indent="-228600" eaLnBrk="0" fontAlgn="base" hangingPunct="0">
              <a:spcBef>
                <a:spcPct val="0"/>
              </a:spcBef>
              <a:spcAft>
                <a:spcPct val="0"/>
              </a:spcAft>
              <a:defRPr>
                <a:solidFill>
                  <a:schemeClr val="tx1"/>
                </a:solidFill>
                <a:latin typeface="Helia Core Book" pitchFamily="50" charset="0"/>
              </a:defRPr>
            </a:lvl7pPr>
            <a:lvl8pPr marL="3429000" indent="-228600" eaLnBrk="0" fontAlgn="base" hangingPunct="0">
              <a:spcBef>
                <a:spcPct val="0"/>
              </a:spcBef>
              <a:spcAft>
                <a:spcPct val="0"/>
              </a:spcAft>
              <a:defRPr>
                <a:solidFill>
                  <a:schemeClr val="tx1"/>
                </a:solidFill>
                <a:latin typeface="Helia Core Book" pitchFamily="50" charset="0"/>
              </a:defRPr>
            </a:lvl8pPr>
            <a:lvl9pPr marL="3886200" indent="-228600" eaLnBrk="0" fontAlgn="base" hangingPunct="0">
              <a:spcBef>
                <a:spcPct val="0"/>
              </a:spcBef>
              <a:spcAft>
                <a:spcPct val="0"/>
              </a:spcAft>
              <a:defRPr>
                <a:solidFill>
                  <a:schemeClr val="tx1"/>
                </a:solidFill>
                <a:latin typeface="Helia Core Book" pitchFamily="50" charset="0"/>
              </a:defRPr>
            </a:lvl9pPr>
          </a:lstStyle>
          <a:p>
            <a:r>
              <a:rPr lang="en-NZ" altLang="en-US">
                <a:latin typeface="Calibri" panose="020F0502020204030204" pitchFamily="34" charset="0"/>
              </a:rPr>
              <a:t>Budget</a:t>
            </a:r>
          </a:p>
        </p:txBody>
      </p:sp>
    </p:spTree>
    <p:extLst>
      <p:ext uri="{BB962C8B-B14F-4D97-AF65-F5344CB8AC3E}">
        <p14:creationId xmlns:p14="http://schemas.microsoft.com/office/powerpoint/2010/main" val="330563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B758-9DC1-E512-18DC-1051BBBCE680}"/>
            </a:ext>
          </a:extLst>
        </p:cNvPr>
        <p:cNvGrpSpPr/>
        <p:nvPr/>
      </p:nvGrpSpPr>
      <p:grpSpPr>
        <a:xfrm>
          <a:off x="0" y="0"/>
          <a:ext cx="0" cy="0"/>
          <a:chOff x="0" y="0"/>
          <a:chExt cx="0" cy="0"/>
        </a:xfrm>
      </p:grpSpPr>
      <p:pic>
        <p:nvPicPr>
          <p:cNvPr id="17410" name="Picture 3">
            <a:extLst>
              <a:ext uri="{FF2B5EF4-FFF2-40B4-BE49-F238E27FC236}">
                <a16:creationId xmlns:a16="http://schemas.microsoft.com/office/drawing/2014/main" id="{E460A371-ED64-BB99-8788-F96F6D95E77B}"/>
              </a:ext>
            </a:extLst>
          </p:cNvPr>
          <p:cNvPicPr>
            <a:picLocks noChangeAspect="1"/>
          </p:cNvPicPr>
          <p:nvPr/>
        </p:nvPicPr>
        <p:blipFill>
          <a:blip r:embed="rId3">
            <a:extLst>
              <a:ext uri="{28A0092B-C50C-407E-A947-70E740481C1C}">
                <a14:useLocalDpi xmlns:a14="http://schemas.microsoft.com/office/drawing/2010/main" val="0"/>
              </a:ext>
            </a:extLst>
          </a:blip>
          <a:srcRect l="15079" r="3967"/>
          <a:stretch>
            <a:fillRect/>
          </a:stretch>
        </p:blipFill>
        <p:spPr bwMode="auto">
          <a:xfrm>
            <a:off x="1639888" y="1277938"/>
            <a:ext cx="6024562" cy="558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a:extLst>
              <a:ext uri="{FF2B5EF4-FFF2-40B4-BE49-F238E27FC236}">
                <a16:creationId xmlns:a16="http://schemas.microsoft.com/office/drawing/2014/main" id="{01ED5427-0E88-ACD1-067A-AFB55F8B5E0E}"/>
              </a:ext>
            </a:extLst>
          </p:cNvPr>
          <p:cNvSpPr>
            <a:spLocks noGrp="1" noChangeArrowheads="1"/>
          </p:cNvSpPr>
          <p:nvPr>
            <p:ph type="title"/>
          </p:nvPr>
        </p:nvSpPr>
        <p:spPr/>
        <p:txBody>
          <a:bodyPr/>
          <a:lstStyle/>
          <a:p>
            <a:r>
              <a:rPr lang="en-AU" altLang="en-US" dirty="0"/>
              <a:t>What is IT Project Management?</a:t>
            </a:r>
          </a:p>
        </p:txBody>
      </p:sp>
      <p:sp>
        <p:nvSpPr>
          <p:cNvPr id="17413" name="TextBox 1">
            <a:extLst>
              <a:ext uri="{FF2B5EF4-FFF2-40B4-BE49-F238E27FC236}">
                <a16:creationId xmlns:a16="http://schemas.microsoft.com/office/drawing/2014/main" id="{44493C94-93C5-7AE6-0468-5890C62062B0}"/>
              </a:ext>
            </a:extLst>
          </p:cNvPr>
          <p:cNvSpPr txBox="1">
            <a:spLocks noChangeArrowheads="1"/>
          </p:cNvSpPr>
          <p:nvPr/>
        </p:nvSpPr>
        <p:spPr bwMode="auto">
          <a:xfrm>
            <a:off x="2944813" y="1825625"/>
            <a:ext cx="1460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ia Core Book" pitchFamily="50" charset="0"/>
              </a:defRPr>
            </a:lvl1pPr>
            <a:lvl2pPr marL="742950" indent="-285750">
              <a:defRPr>
                <a:solidFill>
                  <a:schemeClr val="tx1"/>
                </a:solidFill>
                <a:latin typeface="Helia Core Book" pitchFamily="50" charset="0"/>
              </a:defRPr>
            </a:lvl2pPr>
            <a:lvl3pPr marL="1143000" indent="-228600">
              <a:defRPr>
                <a:solidFill>
                  <a:schemeClr val="tx1"/>
                </a:solidFill>
                <a:latin typeface="Helia Core Book" pitchFamily="50" charset="0"/>
              </a:defRPr>
            </a:lvl3pPr>
            <a:lvl4pPr marL="1600200" indent="-228600">
              <a:defRPr>
                <a:solidFill>
                  <a:schemeClr val="tx1"/>
                </a:solidFill>
                <a:latin typeface="Helia Core Book" pitchFamily="50" charset="0"/>
              </a:defRPr>
            </a:lvl4pPr>
            <a:lvl5pPr marL="2057400" indent="-228600">
              <a:defRPr>
                <a:solidFill>
                  <a:schemeClr val="tx1"/>
                </a:solidFill>
                <a:latin typeface="Helia Core Book" pitchFamily="50" charset="0"/>
              </a:defRPr>
            </a:lvl5pPr>
            <a:lvl6pPr marL="2514600" indent="-228600" eaLnBrk="0" fontAlgn="base" hangingPunct="0">
              <a:spcBef>
                <a:spcPct val="0"/>
              </a:spcBef>
              <a:spcAft>
                <a:spcPct val="0"/>
              </a:spcAft>
              <a:defRPr>
                <a:solidFill>
                  <a:schemeClr val="tx1"/>
                </a:solidFill>
                <a:latin typeface="Helia Core Book" pitchFamily="50" charset="0"/>
              </a:defRPr>
            </a:lvl6pPr>
            <a:lvl7pPr marL="2971800" indent="-228600" eaLnBrk="0" fontAlgn="base" hangingPunct="0">
              <a:spcBef>
                <a:spcPct val="0"/>
              </a:spcBef>
              <a:spcAft>
                <a:spcPct val="0"/>
              </a:spcAft>
              <a:defRPr>
                <a:solidFill>
                  <a:schemeClr val="tx1"/>
                </a:solidFill>
                <a:latin typeface="Helia Core Book" pitchFamily="50" charset="0"/>
              </a:defRPr>
            </a:lvl7pPr>
            <a:lvl8pPr marL="3429000" indent="-228600" eaLnBrk="0" fontAlgn="base" hangingPunct="0">
              <a:spcBef>
                <a:spcPct val="0"/>
              </a:spcBef>
              <a:spcAft>
                <a:spcPct val="0"/>
              </a:spcAft>
              <a:defRPr>
                <a:solidFill>
                  <a:schemeClr val="tx1"/>
                </a:solidFill>
                <a:latin typeface="Helia Core Book" pitchFamily="50" charset="0"/>
              </a:defRPr>
            </a:lvl8pPr>
            <a:lvl9pPr marL="3886200" indent="-228600" eaLnBrk="0" fontAlgn="base" hangingPunct="0">
              <a:spcBef>
                <a:spcPct val="0"/>
              </a:spcBef>
              <a:spcAft>
                <a:spcPct val="0"/>
              </a:spcAft>
              <a:defRPr>
                <a:solidFill>
                  <a:schemeClr val="tx1"/>
                </a:solidFill>
                <a:latin typeface="Helia Core Book" pitchFamily="50" charset="0"/>
              </a:defRPr>
            </a:lvl9pPr>
          </a:lstStyle>
          <a:p>
            <a:r>
              <a:rPr lang="en-NZ" altLang="en-US">
                <a:latin typeface="Calibri" panose="020F0502020204030204" pitchFamily="34" charset="0"/>
              </a:rPr>
              <a:t>Project Scope</a:t>
            </a:r>
          </a:p>
        </p:txBody>
      </p:sp>
      <p:sp>
        <p:nvSpPr>
          <p:cNvPr id="17414" name="TextBox 5">
            <a:extLst>
              <a:ext uri="{FF2B5EF4-FFF2-40B4-BE49-F238E27FC236}">
                <a16:creationId xmlns:a16="http://schemas.microsoft.com/office/drawing/2014/main" id="{3420F686-11B4-A921-4EA6-4F465889D0D3}"/>
              </a:ext>
            </a:extLst>
          </p:cNvPr>
          <p:cNvSpPr txBox="1">
            <a:spLocks noChangeArrowheads="1"/>
          </p:cNvSpPr>
          <p:nvPr/>
        </p:nvSpPr>
        <p:spPr bwMode="auto">
          <a:xfrm>
            <a:off x="1639888" y="5872163"/>
            <a:ext cx="992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ia Core Book" pitchFamily="50" charset="0"/>
              </a:defRPr>
            </a:lvl1pPr>
            <a:lvl2pPr marL="742950" indent="-285750">
              <a:defRPr>
                <a:solidFill>
                  <a:schemeClr val="tx1"/>
                </a:solidFill>
                <a:latin typeface="Helia Core Book" pitchFamily="50" charset="0"/>
              </a:defRPr>
            </a:lvl2pPr>
            <a:lvl3pPr marL="1143000" indent="-228600">
              <a:defRPr>
                <a:solidFill>
                  <a:schemeClr val="tx1"/>
                </a:solidFill>
                <a:latin typeface="Helia Core Book" pitchFamily="50" charset="0"/>
              </a:defRPr>
            </a:lvl3pPr>
            <a:lvl4pPr marL="1600200" indent="-228600">
              <a:defRPr>
                <a:solidFill>
                  <a:schemeClr val="tx1"/>
                </a:solidFill>
                <a:latin typeface="Helia Core Book" pitchFamily="50" charset="0"/>
              </a:defRPr>
            </a:lvl4pPr>
            <a:lvl5pPr marL="2057400" indent="-228600">
              <a:defRPr>
                <a:solidFill>
                  <a:schemeClr val="tx1"/>
                </a:solidFill>
                <a:latin typeface="Helia Core Book" pitchFamily="50" charset="0"/>
              </a:defRPr>
            </a:lvl5pPr>
            <a:lvl6pPr marL="2514600" indent="-228600" eaLnBrk="0" fontAlgn="base" hangingPunct="0">
              <a:spcBef>
                <a:spcPct val="0"/>
              </a:spcBef>
              <a:spcAft>
                <a:spcPct val="0"/>
              </a:spcAft>
              <a:defRPr>
                <a:solidFill>
                  <a:schemeClr val="tx1"/>
                </a:solidFill>
                <a:latin typeface="Helia Core Book" pitchFamily="50" charset="0"/>
              </a:defRPr>
            </a:lvl6pPr>
            <a:lvl7pPr marL="2971800" indent="-228600" eaLnBrk="0" fontAlgn="base" hangingPunct="0">
              <a:spcBef>
                <a:spcPct val="0"/>
              </a:spcBef>
              <a:spcAft>
                <a:spcPct val="0"/>
              </a:spcAft>
              <a:defRPr>
                <a:solidFill>
                  <a:schemeClr val="tx1"/>
                </a:solidFill>
                <a:latin typeface="Helia Core Book" pitchFamily="50" charset="0"/>
              </a:defRPr>
            </a:lvl7pPr>
            <a:lvl8pPr marL="3429000" indent="-228600" eaLnBrk="0" fontAlgn="base" hangingPunct="0">
              <a:spcBef>
                <a:spcPct val="0"/>
              </a:spcBef>
              <a:spcAft>
                <a:spcPct val="0"/>
              </a:spcAft>
              <a:defRPr>
                <a:solidFill>
                  <a:schemeClr val="tx1"/>
                </a:solidFill>
                <a:latin typeface="Helia Core Book" pitchFamily="50" charset="0"/>
              </a:defRPr>
            </a:lvl8pPr>
            <a:lvl9pPr marL="3886200" indent="-228600" eaLnBrk="0" fontAlgn="base" hangingPunct="0">
              <a:spcBef>
                <a:spcPct val="0"/>
              </a:spcBef>
              <a:spcAft>
                <a:spcPct val="0"/>
              </a:spcAft>
              <a:defRPr>
                <a:solidFill>
                  <a:schemeClr val="tx1"/>
                </a:solidFill>
                <a:latin typeface="Helia Core Book" pitchFamily="50" charset="0"/>
              </a:defRPr>
            </a:lvl9pPr>
          </a:lstStyle>
          <a:p>
            <a:r>
              <a:rPr lang="en-NZ" altLang="en-US">
                <a:latin typeface="Calibri" panose="020F0502020204030204" pitchFamily="34" charset="0"/>
              </a:rPr>
              <a:t>Timeline</a:t>
            </a:r>
          </a:p>
        </p:txBody>
      </p:sp>
      <p:sp>
        <p:nvSpPr>
          <p:cNvPr id="17415" name="TextBox 6">
            <a:extLst>
              <a:ext uri="{FF2B5EF4-FFF2-40B4-BE49-F238E27FC236}">
                <a16:creationId xmlns:a16="http://schemas.microsoft.com/office/drawing/2014/main" id="{E27D86AA-CC85-F501-F844-91DF10D0F6A5}"/>
              </a:ext>
            </a:extLst>
          </p:cNvPr>
          <p:cNvSpPr txBox="1">
            <a:spLocks noChangeArrowheads="1"/>
          </p:cNvSpPr>
          <p:nvPr/>
        </p:nvSpPr>
        <p:spPr bwMode="auto">
          <a:xfrm>
            <a:off x="6438900" y="4652963"/>
            <a:ext cx="852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ia Core Book" pitchFamily="50" charset="0"/>
              </a:defRPr>
            </a:lvl1pPr>
            <a:lvl2pPr marL="742950" indent="-285750">
              <a:defRPr>
                <a:solidFill>
                  <a:schemeClr val="tx1"/>
                </a:solidFill>
                <a:latin typeface="Helia Core Book" pitchFamily="50" charset="0"/>
              </a:defRPr>
            </a:lvl2pPr>
            <a:lvl3pPr marL="1143000" indent="-228600">
              <a:defRPr>
                <a:solidFill>
                  <a:schemeClr val="tx1"/>
                </a:solidFill>
                <a:latin typeface="Helia Core Book" pitchFamily="50" charset="0"/>
              </a:defRPr>
            </a:lvl3pPr>
            <a:lvl4pPr marL="1600200" indent="-228600">
              <a:defRPr>
                <a:solidFill>
                  <a:schemeClr val="tx1"/>
                </a:solidFill>
                <a:latin typeface="Helia Core Book" pitchFamily="50" charset="0"/>
              </a:defRPr>
            </a:lvl4pPr>
            <a:lvl5pPr marL="2057400" indent="-228600">
              <a:defRPr>
                <a:solidFill>
                  <a:schemeClr val="tx1"/>
                </a:solidFill>
                <a:latin typeface="Helia Core Book" pitchFamily="50" charset="0"/>
              </a:defRPr>
            </a:lvl5pPr>
            <a:lvl6pPr marL="2514600" indent="-228600" eaLnBrk="0" fontAlgn="base" hangingPunct="0">
              <a:spcBef>
                <a:spcPct val="0"/>
              </a:spcBef>
              <a:spcAft>
                <a:spcPct val="0"/>
              </a:spcAft>
              <a:defRPr>
                <a:solidFill>
                  <a:schemeClr val="tx1"/>
                </a:solidFill>
                <a:latin typeface="Helia Core Book" pitchFamily="50" charset="0"/>
              </a:defRPr>
            </a:lvl6pPr>
            <a:lvl7pPr marL="2971800" indent="-228600" eaLnBrk="0" fontAlgn="base" hangingPunct="0">
              <a:spcBef>
                <a:spcPct val="0"/>
              </a:spcBef>
              <a:spcAft>
                <a:spcPct val="0"/>
              </a:spcAft>
              <a:defRPr>
                <a:solidFill>
                  <a:schemeClr val="tx1"/>
                </a:solidFill>
                <a:latin typeface="Helia Core Book" pitchFamily="50" charset="0"/>
              </a:defRPr>
            </a:lvl7pPr>
            <a:lvl8pPr marL="3429000" indent="-228600" eaLnBrk="0" fontAlgn="base" hangingPunct="0">
              <a:spcBef>
                <a:spcPct val="0"/>
              </a:spcBef>
              <a:spcAft>
                <a:spcPct val="0"/>
              </a:spcAft>
              <a:defRPr>
                <a:solidFill>
                  <a:schemeClr val="tx1"/>
                </a:solidFill>
                <a:latin typeface="Helia Core Book" pitchFamily="50" charset="0"/>
              </a:defRPr>
            </a:lvl8pPr>
            <a:lvl9pPr marL="3886200" indent="-228600" eaLnBrk="0" fontAlgn="base" hangingPunct="0">
              <a:spcBef>
                <a:spcPct val="0"/>
              </a:spcBef>
              <a:spcAft>
                <a:spcPct val="0"/>
              </a:spcAft>
              <a:defRPr>
                <a:solidFill>
                  <a:schemeClr val="tx1"/>
                </a:solidFill>
                <a:latin typeface="Helia Core Book" pitchFamily="50" charset="0"/>
              </a:defRPr>
            </a:lvl9pPr>
          </a:lstStyle>
          <a:p>
            <a:r>
              <a:rPr lang="en-NZ" altLang="en-US">
                <a:latin typeface="Calibri" panose="020F0502020204030204" pitchFamily="34" charset="0"/>
              </a:rPr>
              <a:t>Budget</a:t>
            </a:r>
          </a:p>
        </p:txBody>
      </p:sp>
      <p:sp>
        <p:nvSpPr>
          <p:cNvPr id="2" name="TextBox 1">
            <a:extLst>
              <a:ext uri="{FF2B5EF4-FFF2-40B4-BE49-F238E27FC236}">
                <a16:creationId xmlns:a16="http://schemas.microsoft.com/office/drawing/2014/main" id="{CE05ADA4-F982-B83A-492B-312FF2409CB0}"/>
              </a:ext>
            </a:extLst>
          </p:cNvPr>
          <p:cNvSpPr txBox="1"/>
          <p:nvPr/>
        </p:nvSpPr>
        <p:spPr>
          <a:xfrm>
            <a:off x="8382000" y="1981200"/>
            <a:ext cx="184731" cy="369332"/>
          </a:xfrm>
          <a:prstGeom prst="rect">
            <a:avLst/>
          </a:prstGeom>
          <a:noFill/>
        </p:spPr>
        <p:txBody>
          <a:bodyPr wrap="none" rtlCol="0">
            <a:spAutoFit/>
          </a:bodyPr>
          <a:lstStyle/>
          <a:p>
            <a:endParaRPr lang="en-NZ" dirty="0"/>
          </a:p>
        </p:txBody>
      </p:sp>
      <p:sp>
        <p:nvSpPr>
          <p:cNvPr id="3" name="TextBox 2">
            <a:extLst>
              <a:ext uri="{FF2B5EF4-FFF2-40B4-BE49-F238E27FC236}">
                <a16:creationId xmlns:a16="http://schemas.microsoft.com/office/drawing/2014/main" id="{CE92449E-1B0E-245F-079A-F4DEB831864A}"/>
              </a:ext>
            </a:extLst>
          </p:cNvPr>
          <p:cNvSpPr txBox="1"/>
          <p:nvPr/>
        </p:nvSpPr>
        <p:spPr>
          <a:xfrm>
            <a:off x="8507022" y="1825625"/>
            <a:ext cx="3810000" cy="3416320"/>
          </a:xfrm>
          <a:prstGeom prst="rect">
            <a:avLst/>
          </a:prstGeom>
          <a:noFill/>
        </p:spPr>
        <p:txBody>
          <a:bodyPr wrap="square" rtlCol="0">
            <a:spAutoFit/>
          </a:bodyPr>
          <a:lstStyle/>
          <a:p>
            <a:r>
              <a:rPr lang="en-NZ" b="1" dirty="0"/>
              <a:t>PM Knowledge Areas</a:t>
            </a:r>
            <a:br>
              <a:rPr lang="en-NZ" b="1" dirty="0"/>
            </a:br>
            <a:br>
              <a:rPr lang="en-NZ" dirty="0"/>
            </a:br>
            <a:r>
              <a:rPr lang="en-NZ" dirty="0"/>
              <a:t>Integration Management</a:t>
            </a:r>
            <a:br>
              <a:rPr lang="en-NZ" dirty="0"/>
            </a:br>
            <a:r>
              <a:rPr lang="en-NZ" dirty="0"/>
              <a:t>Scope Management</a:t>
            </a:r>
            <a:br>
              <a:rPr lang="en-NZ" dirty="0"/>
            </a:br>
            <a:r>
              <a:rPr lang="en-NZ" dirty="0"/>
              <a:t>Schedule Management</a:t>
            </a:r>
            <a:br>
              <a:rPr lang="en-NZ" dirty="0"/>
            </a:br>
            <a:r>
              <a:rPr lang="en-NZ" dirty="0"/>
              <a:t>Cost Management</a:t>
            </a:r>
            <a:br>
              <a:rPr lang="en-NZ" dirty="0"/>
            </a:br>
            <a:r>
              <a:rPr lang="en-NZ" dirty="0"/>
              <a:t>Quality Management</a:t>
            </a:r>
            <a:br>
              <a:rPr lang="en-NZ" dirty="0"/>
            </a:br>
            <a:r>
              <a:rPr lang="en-NZ" dirty="0"/>
              <a:t>Resource Management</a:t>
            </a:r>
            <a:br>
              <a:rPr lang="en-NZ" dirty="0"/>
            </a:br>
            <a:r>
              <a:rPr lang="en-NZ" dirty="0"/>
              <a:t>Communications Management</a:t>
            </a:r>
            <a:br>
              <a:rPr lang="en-NZ" dirty="0"/>
            </a:br>
            <a:r>
              <a:rPr lang="en-NZ" dirty="0"/>
              <a:t>Risk Management</a:t>
            </a:r>
            <a:br>
              <a:rPr lang="en-NZ" dirty="0"/>
            </a:br>
            <a:r>
              <a:rPr lang="en-NZ" dirty="0"/>
              <a:t>Procurement Management</a:t>
            </a:r>
            <a:br>
              <a:rPr lang="en-NZ" dirty="0"/>
            </a:br>
            <a:r>
              <a:rPr lang="en-NZ" dirty="0"/>
              <a:t>Stakeholder Management</a:t>
            </a:r>
          </a:p>
        </p:txBody>
      </p:sp>
    </p:spTree>
    <p:extLst>
      <p:ext uri="{BB962C8B-B14F-4D97-AF65-F5344CB8AC3E}">
        <p14:creationId xmlns:p14="http://schemas.microsoft.com/office/powerpoint/2010/main" val="4020176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08228"/>
            <a:ext cx="6918834" cy="632674"/>
          </a:xfrm>
          <a:prstGeom prst="rect">
            <a:avLst/>
          </a:prstGeom>
        </p:spPr>
        <p:txBody>
          <a:bodyPr vert="horz" wrap="square" lIns="0" tIns="88900" rIns="0" bIns="0" rtlCol="0">
            <a:spAutoFit/>
          </a:bodyPr>
          <a:lstStyle/>
          <a:p>
            <a:pPr marL="12700" marR="5080">
              <a:lnSpc>
                <a:spcPts val="4750"/>
              </a:lnSpc>
              <a:spcBef>
                <a:spcPts val="700"/>
              </a:spcBef>
            </a:pPr>
            <a:r>
              <a:rPr lang="en-NZ" sz="2400" dirty="0"/>
              <a:t>What enables project success- PM Methodology</a:t>
            </a:r>
            <a:endParaRPr sz="2400" spc="-10" dirty="0"/>
          </a:p>
        </p:txBody>
      </p:sp>
      <p:sp>
        <p:nvSpPr>
          <p:cNvPr id="3" name="object 3"/>
          <p:cNvSpPr txBox="1"/>
          <p:nvPr/>
        </p:nvSpPr>
        <p:spPr>
          <a:xfrm>
            <a:off x="1447800" y="1143000"/>
            <a:ext cx="8529955" cy="4896853"/>
          </a:xfrm>
          <a:prstGeom prst="rect">
            <a:avLst/>
          </a:prstGeom>
        </p:spPr>
        <p:txBody>
          <a:bodyPr vert="horz" wrap="square" lIns="0" tIns="53975" rIns="0" bIns="0" rtlCol="0">
            <a:spAutoFit/>
          </a:bodyPr>
          <a:lstStyle/>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latin typeface="Calibri" panose="020F0502020204030204" pitchFamily="34" charset="0"/>
                <a:ea typeface="Calibri" panose="020F0502020204030204" pitchFamily="34" charset="0"/>
                <a:cs typeface="Calibri" panose="020F0502020204030204" pitchFamily="34" charset="0"/>
              </a:rPr>
              <a:t>A PM methodology is critical for project success. The PM methodology will define the process, procedures, practices, phases, and tasks, including roles for undertaking projects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highlight>
                  <a:srgbClr val="FFFF00"/>
                </a:highlight>
                <a:latin typeface="Calibri" panose="020F0502020204030204" pitchFamily="34" charset="0"/>
                <a:ea typeface="Calibri" panose="020F0502020204030204" pitchFamily="34" charset="0"/>
                <a:cs typeface="Calibri" panose="020F0502020204030204" pitchFamily="34" charset="0"/>
              </a:rPr>
              <a:t>PM methodology = Project</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latin typeface="Calibri" panose="020F0502020204030204" pitchFamily="34" charset="0"/>
                <a:ea typeface="Calibri" panose="020F0502020204030204" pitchFamily="34" charset="0"/>
                <a:cs typeface="Calibri" panose="020F0502020204030204" pitchFamily="34" charset="0"/>
              </a:rPr>
              <a:t>Any project will have a lifecycle – </a:t>
            </a:r>
            <a:r>
              <a:rPr lang="en-NZ" dirty="0">
                <a:latin typeface="Calibri" panose="020F0502020204030204" pitchFamily="34" charset="0"/>
                <a:ea typeface="Calibri" panose="020F0502020204030204" pitchFamily="34" charset="0"/>
                <a:cs typeface="Calibri" panose="020F0502020204030204" pitchFamily="34" charset="0"/>
              </a:rPr>
              <a:t>Initiation, Planning and Execution, and Closing</a:t>
            </a:r>
            <a:endParaRPr lang="en-NZ" spc="-10" dirty="0">
              <a:latin typeface="Calibri" panose="020F0502020204030204" pitchFamily="34" charset="0"/>
              <a:ea typeface="Calibri" panose="020F0502020204030204" pitchFamily="34" charset="0"/>
              <a:cs typeface="Calibri" panose="020F0502020204030204" pitchFamily="34" charset="0"/>
            </a:endParaRPr>
          </a:p>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latin typeface="Calibri" panose="020F0502020204030204" pitchFamily="34" charset="0"/>
                <a:ea typeface="Calibri" panose="020F0502020204030204" pitchFamily="34" charset="0"/>
                <a:cs typeface="Calibri" panose="020F0502020204030204" pitchFamily="34" charset="0"/>
              </a:rPr>
              <a:t>An IT project lifecycle has start and finish phases, including in-between phases.</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highlight>
                  <a:srgbClr val="FFFF00"/>
                </a:highlight>
                <a:latin typeface="Calibri" panose="020F0502020204030204" pitchFamily="34" charset="0"/>
                <a:ea typeface="Calibri" panose="020F0502020204030204" pitchFamily="34" charset="0"/>
                <a:cs typeface="Calibri" panose="020F0502020204030204" pitchFamily="34" charset="0"/>
              </a:rPr>
              <a:t>Hence, a project (lifecycle) has several (more than one) phases.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latin typeface="Calibri" panose="020F0502020204030204" pitchFamily="34" charset="0"/>
                <a:ea typeface="Calibri" panose="020F0502020204030204" pitchFamily="34" charset="0"/>
                <a:cs typeface="Calibri" panose="020F0502020204030204" pitchFamily="34" charset="0"/>
              </a:rPr>
              <a:t>Not necessary all IT projects will have the same number of phases; it depends upon the adopted approach (agile or structured) and project domain</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latin typeface="Calibri" panose="020F0502020204030204" pitchFamily="34" charset="0"/>
                <a:ea typeface="Calibri" panose="020F0502020204030204" pitchFamily="34" charset="0"/>
                <a:cs typeface="Calibri" panose="020F0502020204030204" pitchFamily="34" charset="0"/>
              </a:rPr>
              <a:t>Each phase is distinct and different from the other phases. What defines a phase are the tasks- </a:t>
            </a:r>
            <a:r>
              <a:rPr lang="en-NZ" u="sng" spc="-10" dirty="0">
                <a:latin typeface="Calibri" panose="020F0502020204030204" pitchFamily="34" charset="0"/>
                <a:ea typeface="Calibri" panose="020F0502020204030204" pitchFamily="34" charset="0"/>
                <a:cs typeface="Calibri" panose="020F0502020204030204" pitchFamily="34" charset="0"/>
              </a:rPr>
              <a:t>a collection of similar tasks for a phase</a:t>
            </a:r>
            <a:r>
              <a:rPr lang="en-NZ" spc="-10" dirty="0">
                <a:latin typeface="Calibri" panose="020F0502020204030204" pitchFamily="34" charset="0"/>
                <a:ea typeface="Calibri" panose="020F0502020204030204" pitchFamily="34" charset="0"/>
                <a:cs typeface="Calibri" panose="020F0502020204030204" pitchFamily="34" charset="0"/>
              </a:rPr>
              <a:t>.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highlight>
                  <a:srgbClr val="FFFF00"/>
                </a:highlight>
                <a:latin typeface="Calibri" panose="020F0502020204030204" pitchFamily="34" charset="0"/>
                <a:ea typeface="Calibri" panose="020F0502020204030204" pitchFamily="34" charset="0"/>
                <a:cs typeface="Calibri" panose="020F0502020204030204" pitchFamily="34" charset="0"/>
              </a:rPr>
              <a:t>Projects have planning, analysis, design, development, testing, and deployment phases. And this is the order of execution. Some have analysis and design combined, others may have development and testing integrated (with agile-TDD).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pc="-10" dirty="0">
                <a:latin typeface="Calibri" panose="020F0502020204030204" pitchFamily="34" charset="0"/>
                <a:ea typeface="Calibri" panose="020F0502020204030204" pitchFamily="34" charset="0"/>
                <a:cs typeface="Calibri" panose="020F0502020204030204" pitchFamily="34" charset="0"/>
              </a:rPr>
              <a:t>Hence, the </a:t>
            </a:r>
            <a:r>
              <a:rPr lang="en-NZ" spc="-10" dirty="0">
                <a:highlight>
                  <a:srgbClr val="FFFF00"/>
                </a:highlight>
                <a:latin typeface="Calibri" panose="020F0502020204030204" pitchFamily="34" charset="0"/>
                <a:ea typeface="Calibri" panose="020F0502020204030204" pitchFamily="34" charset="0"/>
                <a:cs typeface="Calibri" panose="020F0502020204030204" pitchFamily="34" charset="0"/>
              </a:rPr>
              <a:t>PM methodology </a:t>
            </a:r>
            <a:r>
              <a:rPr lang="en-NZ" spc="-10" dirty="0">
                <a:latin typeface="Calibri" panose="020F0502020204030204" pitchFamily="34" charset="0"/>
                <a:ea typeface="Calibri" panose="020F0502020204030204" pitchFamily="34" charset="0"/>
                <a:cs typeface="Calibri" panose="020F0502020204030204" pitchFamily="34" charset="0"/>
              </a:rPr>
              <a:t>must have planning, analysis, design, development, testing, and deployment phases. Planning phase based on PMI knowledge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08228"/>
            <a:ext cx="6918834" cy="632674"/>
          </a:xfrm>
          <a:prstGeom prst="rect">
            <a:avLst/>
          </a:prstGeom>
        </p:spPr>
        <p:txBody>
          <a:bodyPr vert="horz" wrap="square" lIns="0" tIns="88900" rIns="0" bIns="0" rtlCol="0">
            <a:spAutoFit/>
          </a:bodyPr>
          <a:lstStyle/>
          <a:p>
            <a:pPr marL="12700" marR="5080">
              <a:lnSpc>
                <a:spcPts val="4750"/>
              </a:lnSpc>
              <a:spcBef>
                <a:spcPts val="700"/>
              </a:spcBef>
            </a:pPr>
            <a:r>
              <a:rPr lang="en-NZ" sz="2400" dirty="0"/>
              <a:t>How to apply a PM Methodology</a:t>
            </a:r>
            <a:endParaRPr sz="2400" spc="-10" dirty="0"/>
          </a:p>
        </p:txBody>
      </p:sp>
      <p:sp>
        <p:nvSpPr>
          <p:cNvPr id="3" name="object 3"/>
          <p:cNvSpPr txBox="1"/>
          <p:nvPr/>
        </p:nvSpPr>
        <p:spPr>
          <a:xfrm>
            <a:off x="1447800" y="1143000"/>
            <a:ext cx="8529955" cy="5704767"/>
          </a:xfrm>
          <a:prstGeom prst="rect">
            <a:avLst/>
          </a:prstGeom>
        </p:spPr>
        <p:txBody>
          <a:bodyPr vert="horz" wrap="square" lIns="0" tIns="53975" rIns="0" bIns="0" rtlCol="0">
            <a:spAutoFit/>
          </a:bodyPr>
          <a:lstStyle/>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spc="-10" dirty="0">
                <a:highlight>
                  <a:srgbClr val="FFFF00"/>
                </a:highlight>
                <a:latin typeface="Calibri"/>
                <a:cs typeface="Calibri"/>
              </a:rPr>
              <a:t>Projects have phases.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spc="-10" dirty="0">
                <a:highlight>
                  <a:srgbClr val="FFFF00"/>
                </a:highlight>
                <a:latin typeface="Calibri"/>
                <a:cs typeface="Calibri"/>
              </a:rPr>
              <a:t>Project phases are planning, analysis, design, development, testing, and deployment. You can’t have an ad hoc approach to your project. A common theme with our R&amp;D projects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spc="-10" dirty="0">
                <a:highlight>
                  <a:srgbClr val="FFFF00"/>
                </a:highlight>
                <a:latin typeface="Calibri"/>
                <a:cs typeface="Calibri"/>
              </a:rPr>
              <a:t>Need a formal PM methodology with clearly identified planning, analysis, design, development, testing, and deployment phases together with tasks for each phase.  A PM methodology also helps to decide project roles.</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spc="-10" dirty="0">
                <a:highlight>
                  <a:srgbClr val="FFFF00"/>
                </a:highlight>
                <a:latin typeface="Calibri"/>
                <a:cs typeface="Calibri"/>
              </a:rPr>
              <a:t>PM methodology- Planning phase, the first phase must be based on PMI</a:t>
            </a:r>
            <a:r>
              <a:rPr lang="en-NZ" sz="1600" spc="-10" dirty="0">
                <a:latin typeface="Calibri"/>
                <a:cs typeface="Calibri"/>
              </a:rPr>
              <a:t>. This phase enables high-level plans to develop and a project proposal. These plans then guide the work (tasks) the project team will do in the analysis, design development, testing, and deployment phases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spc="-10" dirty="0">
                <a:latin typeface="Calibri"/>
                <a:cs typeface="Calibri"/>
              </a:rPr>
              <a:t>The other phases (analysis to deployment) of your PM methodology will come from a method or methods common to a particular domain or specialization (major). Hence- for software development projects other phases can be based on the agile method or methods (Scrum, XP, etc.) or structured method (SDLC, RUP, etc.); Data science projects will have phases based on a data science method.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spc="-10" dirty="0">
                <a:latin typeface="Calibri"/>
                <a:cs typeface="Calibri"/>
              </a:rPr>
              <a:t>Every organisation must have a formal PM methodology - clearly identified phases and tasks (including a tool kit with practices, techniques, and roles) for undertaking projects.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spc="-10" dirty="0">
                <a:latin typeface="Calibri"/>
                <a:cs typeface="Calibri"/>
              </a:rPr>
              <a:t>The tasks list is known as a </a:t>
            </a:r>
            <a:r>
              <a:rPr lang="en-NZ" sz="1600" spc="-10" dirty="0">
                <a:highlight>
                  <a:srgbClr val="FFFF00"/>
                </a:highlight>
                <a:latin typeface="Calibri"/>
                <a:cs typeface="Calibri"/>
              </a:rPr>
              <a:t>WBS (Work Break-Down Structure</a:t>
            </a:r>
            <a:r>
              <a:rPr lang="en-NZ" sz="1600" spc="-10" dirty="0">
                <a:latin typeface="Calibri"/>
                <a:cs typeface="Calibri"/>
              </a:rPr>
              <a:t>) or Work Items (packages of work).</a:t>
            </a:r>
            <a:endParaRPr lang="en-NZ" sz="1600" spc="-10" dirty="0">
              <a:highlight>
                <a:srgbClr val="FFFF00"/>
              </a:highlight>
              <a:latin typeface="Calibri"/>
              <a:cs typeface="Calibri"/>
            </a:endParaRPr>
          </a:p>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spc="-10" dirty="0">
                <a:latin typeface="Calibri"/>
                <a:cs typeface="Calibri"/>
              </a:rPr>
              <a:t>For PM, knowledge and understanding of WBS is as critical as technical and non-technical skills- must apply, review, and improve the WBS from one project to another. </a:t>
            </a:r>
          </a:p>
          <a:p>
            <a:pPr marL="355600" indent="-342900">
              <a:lnSpc>
                <a:spcPct val="100000"/>
              </a:lnSpc>
              <a:spcBef>
                <a:spcPts val="425"/>
              </a:spcBef>
              <a:buClr>
                <a:srgbClr val="F5821F"/>
              </a:buClr>
              <a:buFont typeface="Arial" panose="020B0604020202020204" pitchFamily="34" charset="0"/>
              <a:buChar char="•"/>
              <a:tabLst>
                <a:tab pos="240665" algn="l"/>
              </a:tabLst>
            </a:pPr>
            <a:r>
              <a:rPr lang="en-NZ" sz="1600" u="sng" spc="-10" dirty="0">
                <a:latin typeface="Calibri"/>
                <a:cs typeface="Calibri"/>
              </a:rPr>
              <a:t>PM = Management (planning, execution, M/C) + SE (practices &amp; techniques)</a:t>
            </a:r>
            <a:endParaRPr lang="en-NZ" spc="-10" dirty="0">
              <a:latin typeface="Calibri"/>
              <a:cs typeface="Calibri"/>
            </a:endParaRPr>
          </a:p>
          <a:p>
            <a:pPr marL="240665" indent="-227965">
              <a:lnSpc>
                <a:spcPct val="100000"/>
              </a:lnSpc>
              <a:spcBef>
                <a:spcPts val="335"/>
              </a:spcBef>
              <a:buClr>
                <a:srgbClr val="F5821F"/>
              </a:buClr>
              <a:buFont typeface="Arial"/>
              <a:buChar char="•"/>
              <a:tabLst>
                <a:tab pos="240665" algn="l"/>
              </a:tabLst>
            </a:pPr>
            <a:endParaRPr dirty="0">
              <a:latin typeface="Calibri"/>
              <a:cs typeface="Calibri"/>
            </a:endParaRPr>
          </a:p>
        </p:txBody>
      </p:sp>
    </p:spTree>
    <p:extLst>
      <p:ext uri="{BB962C8B-B14F-4D97-AF65-F5344CB8AC3E}">
        <p14:creationId xmlns:p14="http://schemas.microsoft.com/office/powerpoint/2010/main" val="2919729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08228"/>
            <a:ext cx="6918834" cy="632674"/>
          </a:xfrm>
          <a:prstGeom prst="rect">
            <a:avLst/>
          </a:prstGeom>
        </p:spPr>
        <p:txBody>
          <a:bodyPr vert="horz" wrap="square" lIns="0" tIns="88900" rIns="0" bIns="0" rtlCol="0">
            <a:spAutoFit/>
          </a:bodyPr>
          <a:lstStyle/>
          <a:p>
            <a:pPr marL="12700" marR="5080">
              <a:lnSpc>
                <a:spcPts val="4750"/>
              </a:lnSpc>
              <a:spcBef>
                <a:spcPts val="700"/>
              </a:spcBef>
            </a:pPr>
            <a:r>
              <a:rPr lang="en-NZ" sz="2400" dirty="0"/>
              <a:t>What enables project success? PM Methodology</a:t>
            </a:r>
            <a:endParaRPr sz="2400" spc="-10" dirty="0"/>
          </a:p>
        </p:txBody>
      </p:sp>
      <p:sp>
        <p:nvSpPr>
          <p:cNvPr id="3" name="object 3"/>
          <p:cNvSpPr txBox="1"/>
          <p:nvPr/>
        </p:nvSpPr>
        <p:spPr>
          <a:xfrm>
            <a:off x="1447800" y="1143000"/>
            <a:ext cx="8529955" cy="2688557"/>
          </a:xfrm>
          <a:prstGeom prst="rect">
            <a:avLst/>
          </a:prstGeom>
        </p:spPr>
        <p:txBody>
          <a:bodyPr vert="horz" wrap="square" lIns="0" tIns="53975" rIns="0" bIns="0" rtlCol="0">
            <a:spAutoFit/>
          </a:bodyPr>
          <a:lstStyle/>
          <a:p>
            <a:pPr marL="12700">
              <a:lnSpc>
                <a:spcPct val="100000"/>
              </a:lnSpc>
              <a:spcBef>
                <a:spcPts val="425"/>
              </a:spcBef>
              <a:buClr>
                <a:srgbClr val="F5821F"/>
              </a:buClr>
              <a:tabLst>
                <a:tab pos="240665" algn="l"/>
              </a:tabLst>
            </a:pPr>
            <a:r>
              <a:rPr lang="en-NZ" sz="2400" spc="-10" dirty="0">
                <a:latin typeface="Calibri"/>
                <a:cs typeface="Calibri"/>
              </a:rPr>
              <a:t>Your focus in assignment 1 is on the planning phase: </a:t>
            </a:r>
          </a:p>
          <a:p>
            <a:pPr marL="12700">
              <a:lnSpc>
                <a:spcPct val="100000"/>
              </a:lnSpc>
              <a:spcBef>
                <a:spcPts val="425"/>
              </a:spcBef>
              <a:buClr>
                <a:srgbClr val="F5821F"/>
              </a:buClr>
              <a:tabLst>
                <a:tab pos="240665" algn="l"/>
              </a:tabLst>
            </a:pPr>
            <a:r>
              <a:rPr lang="en-NZ" sz="2400" spc="-10" dirty="0">
                <a:latin typeface="Calibri"/>
                <a:cs typeface="Calibri"/>
              </a:rPr>
              <a:t> - create various plans including developing a project schedule (a plan) based on the other phases and tasks (project proposal).  </a:t>
            </a:r>
          </a:p>
          <a:p>
            <a:pPr marL="12700">
              <a:lnSpc>
                <a:spcPct val="100000"/>
              </a:lnSpc>
              <a:spcBef>
                <a:spcPts val="425"/>
              </a:spcBef>
              <a:buClr>
                <a:srgbClr val="F5821F"/>
              </a:buClr>
              <a:tabLst>
                <a:tab pos="240665" algn="l"/>
              </a:tabLst>
            </a:pPr>
            <a:r>
              <a:rPr lang="en-NZ" sz="2400" spc="-10" dirty="0">
                <a:latin typeface="Calibri"/>
                <a:cs typeface="Calibri"/>
              </a:rPr>
              <a:t> - we will not have time to execute the proposal to carry out the other phases in this paper but in your COMP702-COMP703 R&amp;D project papers you complete the full cycle.</a:t>
            </a:r>
          </a:p>
          <a:p>
            <a:pPr marL="240665" indent="-227965">
              <a:lnSpc>
                <a:spcPct val="100000"/>
              </a:lnSpc>
              <a:spcBef>
                <a:spcPts val="335"/>
              </a:spcBef>
              <a:buClr>
                <a:srgbClr val="F5821F"/>
              </a:buClr>
              <a:buFont typeface="Arial"/>
              <a:buChar char="•"/>
              <a:tabLst>
                <a:tab pos="240665" algn="l"/>
              </a:tabLst>
            </a:pPr>
            <a:endParaRPr dirty="0">
              <a:latin typeface="Calibri"/>
              <a:cs typeface="Calibri"/>
            </a:endParaRPr>
          </a:p>
        </p:txBody>
      </p:sp>
    </p:spTree>
    <p:extLst>
      <p:ext uri="{BB962C8B-B14F-4D97-AF65-F5344CB8AC3E}">
        <p14:creationId xmlns:p14="http://schemas.microsoft.com/office/powerpoint/2010/main" val="37889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4926" rIns="0" bIns="0" rtlCol="0">
            <a:spAutoFit/>
          </a:bodyPr>
          <a:lstStyle/>
          <a:p>
            <a:pPr marL="83185">
              <a:lnSpc>
                <a:spcPct val="100000"/>
              </a:lnSpc>
              <a:spcBef>
                <a:spcPts val="105"/>
              </a:spcBef>
            </a:pPr>
            <a:r>
              <a:rPr dirty="0"/>
              <a:t>What</a:t>
            </a:r>
            <a:r>
              <a:rPr spc="-35" dirty="0"/>
              <a:t> </a:t>
            </a:r>
            <a:r>
              <a:rPr dirty="0"/>
              <a:t>is</a:t>
            </a:r>
            <a:r>
              <a:rPr spc="-15" dirty="0"/>
              <a:t> </a:t>
            </a:r>
            <a:r>
              <a:rPr dirty="0"/>
              <a:t>a</a:t>
            </a:r>
            <a:r>
              <a:rPr spc="-10" dirty="0"/>
              <a:t> Project?</a:t>
            </a:r>
          </a:p>
        </p:txBody>
      </p:sp>
      <p:sp>
        <p:nvSpPr>
          <p:cNvPr id="3" name="object 3"/>
          <p:cNvSpPr txBox="1"/>
          <p:nvPr/>
        </p:nvSpPr>
        <p:spPr>
          <a:xfrm>
            <a:off x="1539366" y="1662760"/>
            <a:ext cx="10310495" cy="4126130"/>
          </a:xfrm>
          <a:prstGeom prst="rect">
            <a:avLst/>
          </a:prstGeom>
        </p:spPr>
        <p:txBody>
          <a:bodyPr vert="horz" wrap="square" lIns="0" tIns="57785" rIns="0" bIns="0" rtlCol="0">
            <a:spAutoFit/>
          </a:bodyPr>
          <a:lstStyle/>
          <a:p>
            <a:pPr marL="241300" marR="5080" indent="-228600">
              <a:lnSpc>
                <a:spcPts val="2810"/>
              </a:lnSpc>
              <a:spcBef>
                <a:spcPts val="455"/>
              </a:spcBef>
              <a:buClr>
                <a:srgbClr val="F5821F"/>
              </a:buClr>
              <a:buFont typeface="Arial"/>
              <a:buChar char="•"/>
              <a:tabLst>
                <a:tab pos="241300" algn="l"/>
              </a:tabLst>
            </a:pPr>
            <a:r>
              <a:rPr sz="2600" dirty="0">
                <a:latin typeface="Calibri"/>
                <a:cs typeface="Calibri"/>
              </a:rPr>
              <a:t>A</a:t>
            </a:r>
            <a:r>
              <a:rPr sz="2600" spc="-60" dirty="0">
                <a:latin typeface="Calibri"/>
                <a:cs typeface="Calibri"/>
              </a:rPr>
              <a:t> </a:t>
            </a:r>
            <a:r>
              <a:rPr sz="2600" b="1" dirty="0">
                <a:solidFill>
                  <a:srgbClr val="001F5F"/>
                </a:solidFill>
                <a:latin typeface="Calibri"/>
                <a:cs typeface="Calibri"/>
              </a:rPr>
              <a:t>project</a:t>
            </a:r>
            <a:r>
              <a:rPr sz="2600" b="1" spc="-40" dirty="0">
                <a:solidFill>
                  <a:srgbClr val="001F5F"/>
                </a:solidFill>
                <a:latin typeface="Calibri"/>
                <a:cs typeface="Calibri"/>
              </a:rPr>
              <a:t> </a:t>
            </a:r>
            <a:r>
              <a:rPr sz="2600" dirty="0">
                <a:latin typeface="Calibri"/>
                <a:cs typeface="Calibri"/>
              </a:rPr>
              <a:t>is</a:t>
            </a:r>
            <a:r>
              <a:rPr sz="2600" spc="-50" dirty="0">
                <a:latin typeface="Calibri"/>
                <a:cs typeface="Calibri"/>
              </a:rPr>
              <a:t> </a:t>
            </a:r>
            <a:r>
              <a:rPr sz="2600" dirty="0">
                <a:latin typeface="Calibri"/>
                <a:cs typeface="Calibri"/>
              </a:rPr>
              <a:t>“</a:t>
            </a:r>
            <a:r>
              <a:rPr lang="en-NZ" sz="2600" dirty="0">
                <a:solidFill>
                  <a:srgbClr val="006FC0"/>
                </a:solidFill>
                <a:latin typeface="Calibri"/>
                <a:cs typeface="Calibri"/>
              </a:rPr>
              <a:t>a temporary initiative in a unique context undertaken to create value</a:t>
            </a:r>
            <a:r>
              <a:rPr sz="2600" dirty="0">
                <a:latin typeface="Calibri"/>
                <a:cs typeface="Calibri"/>
              </a:rPr>
              <a:t>”</a:t>
            </a:r>
            <a:r>
              <a:rPr sz="2600" spc="-5" dirty="0">
                <a:latin typeface="Calibri"/>
                <a:cs typeface="Calibri"/>
              </a:rPr>
              <a:t> </a:t>
            </a:r>
            <a:r>
              <a:rPr sz="2600" dirty="0">
                <a:latin typeface="Calibri"/>
                <a:cs typeface="Calibri"/>
              </a:rPr>
              <a:t>(PMBOK®</a:t>
            </a:r>
            <a:r>
              <a:rPr sz="2600" spc="-45" dirty="0">
                <a:latin typeface="Calibri"/>
                <a:cs typeface="Calibri"/>
              </a:rPr>
              <a:t> </a:t>
            </a:r>
            <a:r>
              <a:rPr sz="2600" dirty="0">
                <a:latin typeface="Calibri"/>
                <a:cs typeface="Calibri"/>
              </a:rPr>
              <a:t>Guide,</a:t>
            </a:r>
            <a:r>
              <a:rPr sz="2600" spc="-20" dirty="0">
                <a:latin typeface="Calibri"/>
                <a:cs typeface="Calibri"/>
              </a:rPr>
              <a:t> </a:t>
            </a:r>
            <a:r>
              <a:rPr lang="en-NZ" sz="2600" dirty="0">
                <a:latin typeface="Calibri"/>
                <a:cs typeface="Calibri"/>
              </a:rPr>
              <a:t>Eighth</a:t>
            </a:r>
            <a:r>
              <a:rPr sz="2600" spc="-5" dirty="0">
                <a:latin typeface="Calibri"/>
                <a:cs typeface="Calibri"/>
              </a:rPr>
              <a:t> </a:t>
            </a:r>
            <a:r>
              <a:rPr sz="2600" dirty="0">
                <a:latin typeface="Calibri"/>
                <a:cs typeface="Calibri"/>
              </a:rPr>
              <a:t>Edition,</a:t>
            </a:r>
            <a:r>
              <a:rPr sz="2600" spc="5" dirty="0">
                <a:latin typeface="Calibri"/>
                <a:cs typeface="Calibri"/>
              </a:rPr>
              <a:t> </a:t>
            </a:r>
            <a:r>
              <a:rPr sz="2600" spc="-10" dirty="0">
                <a:latin typeface="Calibri"/>
                <a:cs typeface="Calibri"/>
              </a:rPr>
              <a:t>20</a:t>
            </a:r>
            <a:r>
              <a:rPr lang="en-NZ" sz="2600" spc="-10" dirty="0">
                <a:latin typeface="Calibri"/>
                <a:cs typeface="Calibri"/>
              </a:rPr>
              <a:t>25</a:t>
            </a:r>
            <a:r>
              <a:rPr sz="2600" spc="-10" dirty="0">
                <a:latin typeface="Calibri"/>
                <a:cs typeface="Calibri"/>
              </a:rPr>
              <a:t>)</a:t>
            </a:r>
            <a:endParaRPr sz="2600" dirty="0">
              <a:latin typeface="Calibri"/>
              <a:cs typeface="Calibri"/>
            </a:endParaRPr>
          </a:p>
          <a:p>
            <a:pPr marL="241300" marR="370205" indent="-228600">
              <a:lnSpc>
                <a:spcPts val="2810"/>
              </a:lnSpc>
              <a:spcBef>
                <a:spcPts val="2185"/>
              </a:spcBef>
              <a:buClr>
                <a:srgbClr val="F5821F"/>
              </a:buClr>
              <a:buFont typeface="Arial"/>
              <a:buChar char="•"/>
              <a:tabLst>
                <a:tab pos="241300" algn="l"/>
              </a:tabLst>
            </a:pPr>
            <a:r>
              <a:rPr sz="2600" dirty="0">
                <a:latin typeface="Calibri"/>
                <a:cs typeface="Calibri"/>
              </a:rPr>
              <a:t>Projects</a:t>
            </a:r>
            <a:r>
              <a:rPr sz="2600" spc="-65" dirty="0">
                <a:latin typeface="Calibri"/>
                <a:cs typeface="Calibri"/>
              </a:rPr>
              <a:t> </a:t>
            </a:r>
            <a:r>
              <a:rPr sz="2600" dirty="0">
                <a:latin typeface="Calibri"/>
                <a:cs typeface="Calibri"/>
              </a:rPr>
              <a:t>end</a:t>
            </a:r>
            <a:r>
              <a:rPr sz="2600" spc="-50" dirty="0">
                <a:latin typeface="Calibri"/>
                <a:cs typeface="Calibri"/>
              </a:rPr>
              <a:t> </a:t>
            </a:r>
            <a:r>
              <a:rPr sz="2600" dirty="0">
                <a:latin typeface="Calibri"/>
                <a:cs typeface="Calibri"/>
              </a:rPr>
              <a:t>when</a:t>
            </a:r>
            <a:r>
              <a:rPr sz="2600" spc="-45" dirty="0">
                <a:latin typeface="Calibri"/>
                <a:cs typeface="Calibri"/>
              </a:rPr>
              <a:t> </a:t>
            </a:r>
            <a:r>
              <a:rPr sz="2600" dirty="0">
                <a:latin typeface="Calibri"/>
                <a:cs typeface="Calibri"/>
              </a:rPr>
              <a:t>their</a:t>
            </a:r>
            <a:r>
              <a:rPr sz="2600" spc="-35" dirty="0">
                <a:latin typeface="Calibri"/>
                <a:cs typeface="Calibri"/>
              </a:rPr>
              <a:t> </a:t>
            </a:r>
            <a:r>
              <a:rPr sz="2600" dirty="0">
                <a:highlight>
                  <a:srgbClr val="FFFF00"/>
                </a:highlight>
                <a:latin typeface="Calibri"/>
                <a:cs typeface="Calibri"/>
              </a:rPr>
              <a:t>objectives</a:t>
            </a:r>
            <a:r>
              <a:rPr sz="2600" spc="-70" dirty="0">
                <a:latin typeface="Calibri"/>
                <a:cs typeface="Calibri"/>
              </a:rPr>
              <a:t> </a:t>
            </a:r>
            <a:r>
              <a:rPr sz="2600" dirty="0">
                <a:latin typeface="Calibri"/>
                <a:cs typeface="Calibri"/>
              </a:rPr>
              <a:t>have</a:t>
            </a:r>
            <a:r>
              <a:rPr sz="2600" spc="-40" dirty="0">
                <a:latin typeface="Calibri"/>
                <a:cs typeface="Calibri"/>
              </a:rPr>
              <a:t> </a:t>
            </a:r>
            <a:r>
              <a:rPr sz="2600" dirty="0">
                <a:latin typeface="Calibri"/>
                <a:cs typeface="Calibri"/>
              </a:rPr>
              <a:t>been</a:t>
            </a:r>
            <a:r>
              <a:rPr sz="2600" spc="-50" dirty="0">
                <a:latin typeface="Calibri"/>
                <a:cs typeface="Calibri"/>
              </a:rPr>
              <a:t> </a:t>
            </a:r>
            <a:r>
              <a:rPr sz="2600" dirty="0">
                <a:latin typeface="Calibri"/>
                <a:cs typeface="Calibri"/>
              </a:rPr>
              <a:t>reached</a:t>
            </a:r>
            <a:r>
              <a:rPr sz="2600" spc="-65" dirty="0">
                <a:latin typeface="Calibri"/>
                <a:cs typeface="Calibri"/>
              </a:rPr>
              <a:t> </a:t>
            </a:r>
            <a:r>
              <a:rPr sz="2600" dirty="0">
                <a:latin typeface="Calibri"/>
                <a:cs typeface="Calibri"/>
              </a:rPr>
              <a:t>or</a:t>
            </a:r>
            <a:r>
              <a:rPr sz="2600" spc="-20" dirty="0">
                <a:latin typeface="Calibri"/>
                <a:cs typeface="Calibri"/>
              </a:rPr>
              <a:t> </a:t>
            </a:r>
            <a:r>
              <a:rPr sz="2600" dirty="0">
                <a:latin typeface="Calibri"/>
                <a:cs typeface="Calibri"/>
              </a:rPr>
              <a:t>the</a:t>
            </a:r>
            <a:r>
              <a:rPr sz="2600" spc="-40" dirty="0">
                <a:latin typeface="Calibri"/>
                <a:cs typeface="Calibri"/>
              </a:rPr>
              <a:t> </a:t>
            </a:r>
            <a:r>
              <a:rPr sz="2600" dirty="0">
                <a:latin typeface="Calibri"/>
                <a:cs typeface="Calibri"/>
              </a:rPr>
              <a:t>project</a:t>
            </a:r>
            <a:r>
              <a:rPr sz="2600" spc="-45" dirty="0">
                <a:latin typeface="Calibri"/>
                <a:cs typeface="Calibri"/>
              </a:rPr>
              <a:t> </a:t>
            </a:r>
            <a:r>
              <a:rPr sz="2600" spc="-25" dirty="0">
                <a:latin typeface="Calibri"/>
                <a:cs typeface="Calibri"/>
              </a:rPr>
              <a:t>has </a:t>
            </a:r>
            <a:r>
              <a:rPr sz="2600" dirty="0">
                <a:latin typeface="Calibri"/>
                <a:cs typeface="Calibri"/>
              </a:rPr>
              <a:t>been</a:t>
            </a:r>
            <a:r>
              <a:rPr sz="2600" spc="-45" dirty="0">
                <a:latin typeface="Calibri"/>
                <a:cs typeface="Calibri"/>
              </a:rPr>
              <a:t> </a:t>
            </a:r>
            <a:r>
              <a:rPr sz="2600" spc="-10" dirty="0">
                <a:latin typeface="Calibri"/>
                <a:cs typeface="Calibri"/>
              </a:rPr>
              <a:t>terminated</a:t>
            </a:r>
            <a:endParaRPr sz="2600" dirty="0">
              <a:latin typeface="Calibri"/>
              <a:cs typeface="Calibri"/>
            </a:endParaRPr>
          </a:p>
          <a:p>
            <a:pPr marL="240665" indent="-227965">
              <a:lnSpc>
                <a:spcPct val="100000"/>
              </a:lnSpc>
              <a:spcBef>
                <a:spcPts val="1830"/>
              </a:spcBef>
              <a:buClr>
                <a:srgbClr val="F5821F"/>
              </a:buClr>
              <a:buFont typeface="Arial"/>
              <a:buChar char="•"/>
              <a:tabLst>
                <a:tab pos="240665" algn="l"/>
              </a:tabLst>
            </a:pPr>
            <a:r>
              <a:rPr sz="2600" dirty="0">
                <a:latin typeface="Calibri"/>
                <a:cs typeface="Calibri"/>
              </a:rPr>
              <a:t>Projects</a:t>
            </a:r>
            <a:r>
              <a:rPr sz="2600" spc="-60" dirty="0">
                <a:latin typeface="Calibri"/>
                <a:cs typeface="Calibri"/>
              </a:rPr>
              <a:t> </a:t>
            </a:r>
            <a:r>
              <a:rPr sz="2600" dirty="0">
                <a:latin typeface="Calibri"/>
                <a:cs typeface="Calibri"/>
              </a:rPr>
              <a:t>can</a:t>
            </a:r>
            <a:r>
              <a:rPr sz="2600" spc="-35" dirty="0">
                <a:latin typeface="Calibri"/>
                <a:cs typeface="Calibri"/>
              </a:rPr>
              <a:t> </a:t>
            </a:r>
            <a:r>
              <a:rPr sz="2600" dirty="0">
                <a:latin typeface="Calibri"/>
                <a:cs typeface="Calibri"/>
              </a:rPr>
              <a:t>be</a:t>
            </a:r>
            <a:r>
              <a:rPr sz="2600" spc="-35" dirty="0">
                <a:latin typeface="Calibri"/>
                <a:cs typeface="Calibri"/>
              </a:rPr>
              <a:t> </a:t>
            </a:r>
            <a:r>
              <a:rPr sz="2600" dirty="0">
                <a:latin typeface="Calibri"/>
                <a:cs typeface="Calibri"/>
              </a:rPr>
              <a:t>large</a:t>
            </a:r>
            <a:r>
              <a:rPr sz="2600" spc="-25" dirty="0">
                <a:latin typeface="Calibri"/>
                <a:cs typeface="Calibri"/>
              </a:rPr>
              <a:t> </a:t>
            </a:r>
            <a:r>
              <a:rPr sz="2600" dirty="0">
                <a:latin typeface="Calibri"/>
                <a:cs typeface="Calibri"/>
              </a:rPr>
              <a:t>or</a:t>
            </a:r>
            <a:r>
              <a:rPr sz="2600" spc="-15" dirty="0">
                <a:latin typeface="Calibri"/>
                <a:cs typeface="Calibri"/>
              </a:rPr>
              <a:t> </a:t>
            </a:r>
            <a:r>
              <a:rPr sz="2600" dirty="0">
                <a:latin typeface="Calibri"/>
                <a:cs typeface="Calibri"/>
              </a:rPr>
              <a:t>small</a:t>
            </a:r>
            <a:r>
              <a:rPr sz="2600" spc="-35" dirty="0">
                <a:latin typeface="Calibri"/>
                <a:cs typeface="Calibri"/>
              </a:rPr>
              <a:t> </a:t>
            </a:r>
            <a:r>
              <a:rPr sz="2600" dirty="0">
                <a:latin typeface="Calibri"/>
                <a:cs typeface="Calibri"/>
              </a:rPr>
              <a:t>and</a:t>
            </a:r>
            <a:r>
              <a:rPr sz="2600" spc="-40" dirty="0">
                <a:latin typeface="Calibri"/>
                <a:cs typeface="Calibri"/>
              </a:rPr>
              <a:t> </a:t>
            </a:r>
            <a:r>
              <a:rPr sz="2600" dirty="0">
                <a:latin typeface="Calibri"/>
                <a:cs typeface="Calibri"/>
              </a:rPr>
              <a:t>take</a:t>
            </a:r>
            <a:r>
              <a:rPr sz="2600" spc="-20" dirty="0">
                <a:latin typeface="Calibri"/>
                <a:cs typeface="Calibri"/>
              </a:rPr>
              <a:t> </a:t>
            </a:r>
            <a:r>
              <a:rPr sz="2600" dirty="0">
                <a:latin typeface="Calibri"/>
                <a:cs typeface="Calibri"/>
              </a:rPr>
              <a:t>a</a:t>
            </a:r>
            <a:r>
              <a:rPr sz="2600" spc="-25" dirty="0">
                <a:latin typeface="Calibri"/>
                <a:cs typeface="Calibri"/>
              </a:rPr>
              <a:t> </a:t>
            </a:r>
            <a:r>
              <a:rPr sz="2600" dirty="0">
                <a:latin typeface="Calibri"/>
                <a:cs typeface="Calibri"/>
              </a:rPr>
              <a:t>short</a:t>
            </a:r>
            <a:r>
              <a:rPr sz="2600" spc="-30" dirty="0">
                <a:latin typeface="Calibri"/>
                <a:cs typeface="Calibri"/>
              </a:rPr>
              <a:t> </a:t>
            </a:r>
            <a:r>
              <a:rPr sz="2600" dirty="0">
                <a:latin typeface="Calibri"/>
                <a:cs typeface="Calibri"/>
              </a:rPr>
              <a:t>or</a:t>
            </a:r>
            <a:r>
              <a:rPr sz="2600" spc="-15" dirty="0">
                <a:latin typeface="Calibri"/>
                <a:cs typeface="Calibri"/>
              </a:rPr>
              <a:t> </a:t>
            </a:r>
            <a:r>
              <a:rPr sz="2600" dirty="0">
                <a:latin typeface="Calibri"/>
                <a:cs typeface="Calibri"/>
              </a:rPr>
              <a:t>long</a:t>
            </a:r>
            <a:r>
              <a:rPr sz="2600" spc="-25" dirty="0">
                <a:latin typeface="Calibri"/>
                <a:cs typeface="Calibri"/>
              </a:rPr>
              <a:t> </a:t>
            </a:r>
            <a:r>
              <a:rPr sz="2600" dirty="0">
                <a:latin typeface="Calibri"/>
                <a:cs typeface="Calibri"/>
              </a:rPr>
              <a:t>time</a:t>
            </a:r>
            <a:r>
              <a:rPr sz="2600" spc="-40" dirty="0">
                <a:latin typeface="Calibri"/>
                <a:cs typeface="Calibri"/>
              </a:rPr>
              <a:t> </a:t>
            </a:r>
            <a:r>
              <a:rPr sz="2600" dirty="0">
                <a:latin typeface="Calibri"/>
                <a:cs typeface="Calibri"/>
              </a:rPr>
              <a:t>to</a:t>
            </a:r>
            <a:r>
              <a:rPr sz="2600" spc="-25" dirty="0">
                <a:latin typeface="Calibri"/>
                <a:cs typeface="Calibri"/>
              </a:rPr>
              <a:t> </a:t>
            </a:r>
            <a:r>
              <a:rPr sz="2600" spc="-10" dirty="0">
                <a:latin typeface="Calibri"/>
                <a:cs typeface="Calibri"/>
              </a:rPr>
              <a:t>complete</a:t>
            </a:r>
            <a:endParaRPr sz="2600" dirty="0">
              <a:latin typeface="Calibri"/>
              <a:cs typeface="Calibri"/>
            </a:endParaRPr>
          </a:p>
          <a:p>
            <a:pPr marL="241300" marR="562610" indent="-228600">
              <a:lnSpc>
                <a:spcPts val="2810"/>
              </a:lnSpc>
              <a:spcBef>
                <a:spcPts val="2225"/>
              </a:spcBef>
              <a:buClr>
                <a:srgbClr val="F5821F"/>
              </a:buClr>
              <a:buFont typeface="Arial"/>
              <a:buChar char="•"/>
              <a:tabLst>
                <a:tab pos="241300" algn="l"/>
              </a:tabLst>
            </a:pPr>
            <a:r>
              <a:rPr sz="2600" dirty="0">
                <a:latin typeface="Calibri"/>
                <a:cs typeface="Calibri"/>
              </a:rPr>
              <a:t>In</a:t>
            </a:r>
            <a:r>
              <a:rPr sz="2600" spc="-45" dirty="0">
                <a:latin typeface="Calibri"/>
                <a:cs typeface="Calibri"/>
              </a:rPr>
              <a:t> </a:t>
            </a:r>
            <a:r>
              <a:rPr sz="2600" spc="-10" dirty="0">
                <a:latin typeface="Calibri"/>
                <a:cs typeface="Calibri"/>
              </a:rPr>
              <a:t>contrast</a:t>
            </a:r>
            <a:r>
              <a:rPr sz="2600" spc="-50" dirty="0">
                <a:latin typeface="Calibri"/>
                <a:cs typeface="Calibri"/>
              </a:rPr>
              <a:t> </a:t>
            </a:r>
            <a:r>
              <a:rPr sz="2600" spc="-10" dirty="0">
                <a:latin typeface="Calibri"/>
                <a:cs typeface="Calibri"/>
              </a:rPr>
              <a:t>‘operations’</a:t>
            </a:r>
            <a:r>
              <a:rPr sz="2600" spc="-50" dirty="0">
                <a:latin typeface="Calibri"/>
                <a:cs typeface="Calibri"/>
              </a:rPr>
              <a:t> </a:t>
            </a:r>
            <a:r>
              <a:rPr sz="2600" dirty="0">
                <a:latin typeface="Calibri"/>
                <a:cs typeface="Calibri"/>
              </a:rPr>
              <a:t>is</a:t>
            </a:r>
            <a:r>
              <a:rPr sz="2600" spc="-35" dirty="0">
                <a:latin typeface="Calibri"/>
                <a:cs typeface="Calibri"/>
              </a:rPr>
              <a:t> </a:t>
            </a:r>
            <a:r>
              <a:rPr sz="2600" dirty="0">
                <a:latin typeface="Calibri"/>
                <a:cs typeface="Calibri"/>
              </a:rPr>
              <a:t>work</a:t>
            </a:r>
            <a:r>
              <a:rPr sz="2600" spc="-20" dirty="0">
                <a:latin typeface="Calibri"/>
                <a:cs typeface="Calibri"/>
              </a:rPr>
              <a:t> </a:t>
            </a:r>
            <a:r>
              <a:rPr sz="2600" dirty="0">
                <a:latin typeface="Calibri"/>
                <a:cs typeface="Calibri"/>
              </a:rPr>
              <a:t>done</a:t>
            </a:r>
            <a:r>
              <a:rPr sz="2600" spc="-45" dirty="0">
                <a:latin typeface="Calibri"/>
                <a:cs typeface="Calibri"/>
              </a:rPr>
              <a:t> </a:t>
            </a:r>
            <a:r>
              <a:rPr sz="2600" dirty="0">
                <a:latin typeface="Calibri"/>
                <a:cs typeface="Calibri"/>
              </a:rPr>
              <a:t>to</a:t>
            </a:r>
            <a:r>
              <a:rPr sz="2600" spc="-30" dirty="0">
                <a:latin typeface="Calibri"/>
                <a:cs typeface="Calibri"/>
              </a:rPr>
              <a:t> </a:t>
            </a:r>
            <a:r>
              <a:rPr sz="2600" dirty="0">
                <a:latin typeface="Calibri"/>
                <a:cs typeface="Calibri"/>
              </a:rPr>
              <a:t>sustain</a:t>
            </a:r>
            <a:r>
              <a:rPr sz="2600" spc="-55" dirty="0">
                <a:latin typeface="Calibri"/>
                <a:cs typeface="Calibri"/>
              </a:rPr>
              <a:t> </a:t>
            </a:r>
            <a:r>
              <a:rPr sz="2600" dirty="0">
                <a:latin typeface="Calibri"/>
                <a:cs typeface="Calibri"/>
              </a:rPr>
              <a:t>the</a:t>
            </a:r>
            <a:r>
              <a:rPr sz="2600" spc="-45" dirty="0">
                <a:latin typeface="Calibri"/>
                <a:cs typeface="Calibri"/>
              </a:rPr>
              <a:t> </a:t>
            </a:r>
            <a:r>
              <a:rPr sz="2600" dirty="0">
                <a:latin typeface="Calibri"/>
                <a:cs typeface="Calibri"/>
              </a:rPr>
              <a:t>business</a:t>
            </a:r>
            <a:r>
              <a:rPr sz="2600" spc="-70" dirty="0">
                <a:latin typeface="Calibri"/>
                <a:cs typeface="Calibri"/>
              </a:rPr>
              <a:t> </a:t>
            </a:r>
            <a:r>
              <a:rPr lang="en-NZ" sz="2600" spc="-70" dirty="0">
                <a:latin typeface="Calibri"/>
                <a:cs typeface="Calibri"/>
              </a:rPr>
              <a:t>value created </a:t>
            </a:r>
            <a:r>
              <a:rPr sz="2600" dirty="0">
                <a:latin typeface="Calibri"/>
                <a:cs typeface="Calibri"/>
              </a:rPr>
              <a:t>–</a:t>
            </a:r>
            <a:r>
              <a:rPr sz="2600" spc="-30" dirty="0">
                <a:latin typeface="Calibri"/>
                <a:cs typeface="Calibri"/>
              </a:rPr>
              <a:t> </a:t>
            </a:r>
            <a:r>
              <a:rPr sz="2600" spc="-10" dirty="0">
                <a:latin typeface="Calibri"/>
                <a:cs typeface="Calibri"/>
              </a:rPr>
              <a:t>termed </a:t>
            </a:r>
            <a:r>
              <a:rPr sz="2600" i="1" dirty="0">
                <a:latin typeface="Calibri"/>
                <a:cs typeface="Calibri"/>
              </a:rPr>
              <a:t>Business</a:t>
            </a:r>
            <a:r>
              <a:rPr sz="2600" i="1" spc="-75" dirty="0">
                <a:latin typeface="Calibri"/>
                <a:cs typeface="Calibri"/>
              </a:rPr>
              <a:t> </a:t>
            </a:r>
            <a:r>
              <a:rPr sz="2600" i="1" dirty="0">
                <a:latin typeface="Calibri"/>
                <a:cs typeface="Calibri"/>
              </a:rPr>
              <a:t>as</a:t>
            </a:r>
            <a:r>
              <a:rPr sz="2600" i="1" spc="-20" dirty="0">
                <a:latin typeface="Calibri"/>
                <a:cs typeface="Calibri"/>
              </a:rPr>
              <a:t> </a:t>
            </a:r>
            <a:r>
              <a:rPr sz="2600" i="1" dirty="0">
                <a:latin typeface="Calibri"/>
                <a:cs typeface="Calibri"/>
              </a:rPr>
              <a:t>Usual</a:t>
            </a:r>
            <a:r>
              <a:rPr sz="2600" spc="-40" dirty="0">
                <a:latin typeface="Calibri"/>
                <a:cs typeface="Calibri"/>
              </a:rPr>
              <a:t> </a:t>
            </a:r>
            <a:r>
              <a:rPr sz="2600" dirty="0">
                <a:latin typeface="Calibri"/>
                <a:cs typeface="Calibri"/>
              </a:rPr>
              <a:t>(BaU).</a:t>
            </a:r>
            <a:r>
              <a:rPr sz="2600" spc="-25" dirty="0">
                <a:latin typeface="Calibri"/>
                <a:cs typeface="Calibri"/>
              </a:rPr>
              <a:t> </a:t>
            </a:r>
            <a:r>
              <a:rPr sz="2600" dirty="0">
                <a:latin typeface="Calibri"/>
                <a:cs typeface="Calibri"/>
              </a:rPr>
              <a:t>IT</a:t>
            </a:r>
            <a:r>
              <a:rPr sz="2600" spc="-45" dirty="0">
                <a:latin typeface="Calibri"/>
                <a:cs typeface="Calibri"/>
              </a:rPr>
              <a:t> </a:t>
            </a:r>
            <a:r>
              <a:rPr sz="2600" dirty="0">
                <a:latin typeface="Calibri"/>
                <a:cs typeface="Calibri"/>
              </a:rPr>
              <a:t>projects</a:t>
            </a:r>
            <a:r>
              <a:rPr sz="2600" spc="-45" dirty="0">
                <a:latin typeface="Calibri"/>
                <a:cs typeface="Calibri"/>
              </a:rPr>
              <a:t> </a:t>
            </a:r>
            <a:r>
              <a:rPr sz="2600" dirty="0">
                <a:latin typeface="Calibri"/>
                <a:cs typeface="Calibri"/>
              </a:rPr>
              <a:t>often</a:t>
            </a:r>
            <a:r>
              <a:rPr sz="2600" spc="-35" dirty="0">
                <a:latin typeface="Calibri"/>
                <a:cs typeface="Calibri"/>
              </a:rPr>
              <a:t> </a:t>
            </a:r>
            <a:r>
              <a:rPr sz="2600" dirty="0">
                <a:latin typeface="Calibri"/>
                <a:cs typeface="Calibri"/>
              </a:rPr>
              <a:t>end</a:t>
            </a:r>
            <a:r>
              <a:rPr sz="2600" spc="-45" dirty="0">
                <a:latin typeface="Calibri"/>
                <a:cs typeface="Calibri"/>
              </a:rPr>
              <a:t> </a:t>
            </a:r>
            <a:r>
              <a:rPr sz="2600" dirty="0">
                <a:latin typeface="Calibri"/>
                <a:cs typeface="Calibri"/>
              </a:rPr>
              <a:t>up</a:t>
            </a:r>
            <a:r>
              <a:rPr sz="2600" spc="-35" dirty="0">
                <a:latin typeface="Calibri"/>
                <a:cs typeface="Calibri"/>
              </a:rPr>
              <a:t> </a:t>
            </a:r>
            <a:r>
              <a:rPr sz="2600" dirty="0">
                <a:latin typeface="Calibri"/>
                <a:cs typeface="Calibri"/>
              </a:rPr>
              <a:t>moving</a:t>
            </a:r>
            <a:r>
              <a:rPr sz="2600" spc="-20" dirty="0">
                <a:latin typeface="Calibri"/>
                <a:cs typeface="Calibri"/>
              </a:rPr>
              <a:t> </a:t>
            </a:r>
            <a:r>
              <a:rPr sz="2600" dirty="0">
                <a:latin typeface="Calibri"/>
                <a:cs typeface="Calibri"/>
              </a:rPr>
              <a:t>to</a:t>
            </a:r>
            <a:r>
              <a:rPr sz="2600" spc="-25" dirty="0">
                <a:latin typeface="Calibri"/>
                <a:cs typeface="Calibri"/>
              </a:rPr>
              <a:t> </a:t>
            </a:r>
            <a:r>
              <a:rPr sz="2600" spc="-10" dirty="0">
                <a:latin typeface="Calibri"/>
                <a:cs typeface="Calibri"/>
              </a:rPr>
              <a:t>Operations </a:t>
            </a:r>
            <a:r>
              <a:rPr sz="2600" dirty="0">
                <a:latin typeface="Calibri"/>
                <a:cs typeface="Calibri"/>
              </a:rPr>
              <a:t>where</a:t>
            </a:r>
            <a:r>
              <a:rPr sz="2600" spc="-80" dirty="0">
                <a:latin typeface="Calibri"/>
                <a:cs typeface="Calibri"/>
              </a:rPr>
              <a:t> </a:t>
            </a:r>
            <a:r>
              <a:rPr sz="2600" dirty="0">
                <a:latin typeface="Calibri"/>
                <a:cs typeface="Calibri"/>
              </a:rPr>
              <a:t>they</a:t>
            </a:r>
            <a:r>
              <a:rPr sz="2600" spc="-60" dirty="0">
                <a:latin typeface="Calibri"/>
                <a:cs typeface="Calibri"/>
              </a:rPr>
              <a:t> </a:t>
            </a:r>
            <a:r>
              <a:rPr sz="2600" dirty="0">
                <a:latin typeface="Calibri"/>
                <a:cs typeface="Calibri"/>
              </a:rPr>
              <a:t>are</a:t>
            </a:r>
            <a:r>
              <a:rPr sz="2600" spc="-60" dirty="0">
                <a:latin typeface="Calibri"/>
                <a:cs typeface="Calibri"/>
              </a:rPr>
              <a:t> </a:t>
            </a:r>
            <a:r>
              <a:rPr sz="2600" dirty="0">
                <a:latin typeface="Calibri"/>
                <a:cs typeface="Calibri"/>
              </a:rPr>
              <a:t>complete</a:t>
            </a:r>
            <a:r>
              <a:rPr sz="2600" spc="-70" dirty="0">
                <a:latin typeface="Calibri"/>
                <a:cs typeface="Calibri"/>
              </a:rPr>
              <a:t> </a:t>
            </a:r>
            <a:r>
              <a:rPr sz="2600" dirty="0">
                <a:latin typeface="Calibri"/>
                <a:cs typeface="Calibri"/>
              </a:rPr>
              <a:t>for</a:t>
            </a:r>
            <a:r>
              <a:rPr sz="2600" spc="-40" dirty="0">
                <a:latin typeface="Calibri"/>
                <a:cs typeface="Calibri"/>
              </a:rPr>
              <a:t> </a:t>
            </a:r>
            <a:r>
              <a:rPr sz="2600" dirty="0">
                <a:latin typeface="Calibri"/>
                <a:cs typeface="Calibri"/>
              </a:rPr>
              <a:t>maintenance</a:t>
            </a:r>
            <a:r>
              <a:rPr sz="2600" spc="-80" dirty="0">
                <a:latin typeface="Calibri"/>
                <a:cs typeface="Calibri"/>
              </a:rPr>
              <a:t> </a:t>
            </a:r>
            <a:r>
              <a:rPr sz="2600" dirty="0">
                <a:latin typeface="Calibri"/>
                <a:cs typeface="Calibri"/>
              </a:rPr>
              <a:t>and</a:t>
            </a:r>
            <a:r>
              <a:rPr sz="2600" spc="-60" dirty="0">
                <a:latin typeface="Calibri"/>
                <a:cs typeface="Calibri"/>
              </a:rPr>
              <a:t> </a:t>
            </a:r>
            <a:r>
              <a:rPr sz="2600" dirty="0">
                <a:latin typeface="Calibri"/>
                <a:cs typeface="Calibri"/>
              </a:rPr>
              <a:t>customer</a:t>
            </a:r>
            <a:r>
              <a:rPr sz="2600" spc="-75" dirty="0">
                <a:latin typeface="Calibri"/>
                <a:cs typeface="Calibri"/>
              </a:rPr>
              <a:t> </a:t>
            </a:r>
            <a:r>
              <a:rPr sz="2600" spc="-10" dirty="0">
                <a:latin typeface="Calibri"/>
                <a:cs typeface="Calibri"/>
              </a:rPr>
              <a:t>on-boarding.</a:t>
            </a:r>
            <a:endParaRPr sz="26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7DBE-FC9F-D960-38C0-BADBCBFBF82A}"/>
              </a:ext>
            </a:extLst>
          </p:cNvPr>
          <p:cNvSpPr>
            <a:spLocks noGrp="1"/>
          </p:cNvSpPr>
          <p:nvPr>
            <p:ph type="title"/>
          </p:nvPr>
        </p:nvSpPr>
        <p:spPr/>
        <p:txBody>
          <a:bodyPr/>
          <a:lstStyle/>
          <a:p>
            <a:endParaRPr lang="en-NZ"/>
          </a:p>
        </p:txBody>
      </p:sp>
      <p:sp>
        <p:nvSpPr>
          <p:cNvPr id="3" name="Text Placeholder 2">
            <a:extLst>
              <a:ext uri="{FF2B5EF4-FFF2-40B4-BE49-F238E27FC236}">
                <a16:creationId xmlns:a16="http://schemas.microsoft.com/office/drawing/2014/main" id="{030C6807-DFA4-8A4A-933C-B4FE48C93E4D}"/>
              </a:ext>
            </a:extLst>
          </p:cNvPr>
          <p:cNvSpPr>
            <a:spLocks noGrp="1"/>
          </p:cNvSpPr>
          <p:nvPr>
            <p:ph type="body" idx="1"/>
          </p:nvPr>
        </p:nvSpPr>
        <p:spPr/>
        <p:txBody>
          <a:bodyPr/>
          <a:lstStyle/>
          <a:p>
            <a:endParaRPr lang="en-NZ"/>
          </a:p>
        </p:txBody>
      </p:sp>
      <p:pic>
        <p:nvPicPr>
          <p:cNvPr id="1026" name="Picture 2" descr="Portfolio, program and project management (P3M) solutions from RPS | RPS">
            <a:extLst>
              <a:ext uri="{FF2B5EF4-FFF2-40B4-BE49-F238E27FC236}">
                <a16:creationId xmlns:a16="http://schemas.microsoft.com/office/drawing/2014/main" id="{EF855F7E-2D31-17D8-4252-F7A561C6F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083" y="-1066800"/>
            <a:ext cx="9220200" cy="922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108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1670" rIns="0" bIns="0" rtlCol="0">
            <a:spAutoFit/>
          </a:bodyPr>
          <a:lstStyle/>
          <a:p>
            <a:pPr marL="59690">
              <a:lnSpc>
                <a:spcPct val="100000"/>
              </a:lnSpc>
              <a:spcBef>
                <a:spcPts val="100"/>
              </a:spcBef>
            </a:pPr>
            <a:r>
              <a:rPr sz="2400" dirty="0"/>
              <a:t>IT</a:t>
            </a:r>
            <a:r>
              <a:rPr sz="2400" spc="-40" dirty="0"/>
              <a:t> </a:t>
            </a:r>
            <a:r>
              <a:rPr sz="2400" dirty="0"/>
              <a:t>Projects-</a:t>
            </a:r>
            <a:r>
              <a:rPr sz="2400" spc="-45" dirty="0"/>
              <a:t> </a:t>
            </a:r>
            <a:r>
              <a:rPr sz="2400" dirty="0"/>
              <a:t>two</a:t>
            </a:r>
            <a:r>
              <a:rPr sz="2400" spc="-15" dirty="0"/>
              <a:t> </a:t>
            </a:r>
            <a:r>
              <a:rPr sz="2400" dirty="0"/>
              <a:t>types:</a:t>
            </a:r>
            <a:r>
              <a:rPr sz="2400" spc="-20" dirty="0"/>
              <a:t> </a:t>
            </a:r>
            <a:r>
              <a:rPr sz="2400" spc="-10" dirty="0"/>
              <a:t>infrastructure</a:t>
            </a:r>
            <a:r>
              <a:rPr sz="2400" spc="-15" dirty="0"/>
              <a:t> </a:t>
            </a:r>
            <a:r>
              <a:rPr sz="2400" dirty="0"/>
              <a:t>or</a:t>
            </a:r>
            <a:r>
              <a:rPr sz="2400" spc="-40" dirty="0"/>
              <a:t> </a:t>
            </a:r>
            <a:r>
              <a:rPr sz="2400" dirty="0"/>
              <a:t>software</a:t>
            </a:r>
            <a:r>
              <a:rPr sz="2400" spc="-25" dirty="0"/>
              <a:t> </a:t>
            </a:r>
            <a:r>
              <a:rPr sz="2400" spc="-10" dirty="0"/>
              <a:t>development</a:t>
            </a:r>
            <a:endParaRPr sz="2400"/>
          </a:p>
        </p:txBody>
      </p:sp>
      <p:grpSp>
        <p:nvGrpSpPr>
          <p:cNvPr id="3" name="object 3"/>
          <p:cNvGrpSpPr/>
          <p:nvPr/>
        </p:nvGrpSpPr>
        <p:grpSpPr>
          <a:xfrm>
            <a:off x="1981200" y="1467611"/>
            <a:ext cx="3895725" cy="2598420"/>
            <a:chOff x="1981200" y="1467611"/>
            <a:chExt cx="3895725" cy="2598420"/>
          </a:xfrm>
        </p:grpSpPr>
        <p:pic>
          <p:nvPicPr>
            <p:cNvPr id="4" name="object 4"/>
            <p:cNvPicPr/>
            <p:nvPr/>
          </p:nvPicPr>
          <p:blipFill>
            <a:blip r:embed="rId2" cstate="print"/>
            <a:stretch>
              <a:fillRect/>
            </a:stretch>
          </p:blipFill>
          <p:spPr>
            <a:xfrm>
              <a:off x="1981200" y="1467611"/>
              <a:ext cx="3895344" cy="2598420"/>
            </a:xfrm>
            <a:prstGeom prst="rect">
              <a:avLst/>
            </a:prstGeom>
          </p:spPr>
        </p:pic>
        <p:pic>
          <p:nvPicPr>
            <p:cNvPr id="5" name="object 5"/>
            <p:cNvPicPr/>
            <p:nvPr/>
          </p:nvPicPr>
          <p:blipFill>
            <a:blip r:embed="rId3" cstate="print"/>
            <a:stretch>
              <a:fillRect/>
            </a:stretch>
          </p:blipFill>
          <p:spPr>
            <a:xfrm>
              <a:off x="3048127" y="2790062"/>
              <a:ext cx="1815655" cy="615823"/>
            </a:xfrm>
            <a:prstGeom prst="rect">
              <a:avLst/>
            </a:prstGeom>
          </p:spPr>
        </p:pic>
        <p:pic>
          <p:nvPicPr>
            <p:cNvPr id="6" name="object 6"/>
            <p:cNvPicPr/>
            <p:nvPr/>
          </p:nvPicPr>
          <p:blipFill>
            <a:blip r:embed="rId4" cstate="print"/>
            <a:stretch>
              <a:fillRect/>
            </a:stretch>
          </p:blipFill>
          <p:spPr>
            <a:xfrm>
              <a:off x="3026848" y="2769361"/>
              <a:ext cx="1803469" cy="604138"/>
            </a:xfrm>
            <a:prstGeom prst="rect">
              <a:avLst/>
            </a:prstGeom>
          </p:spPr>
        </p:pic>
        <p:sp>
          <p:nvSpPr>
            <p:cNvPr id="7" name="object 7"/>
            <p:cNvSpPr/>
            <p:nvPr/>
          </p:nvSpPr>
          <p:spPr>
            <a:xfrm>
              <a:off x="4468876" y="3040252"/>
              <a:ext cx="101600" cy="48260"/>
            </a:xfrm>
            <a:custGeom>
              <a:avLst/>
              <a:gdLst/>
              <a:ahLst/>
              <a:cxnLst/>
              <a:rect l="l" t="t" r="r" b="b"/>
              <a:pathLst>
                <a:path w="101600" h="48260">
                  <a:moveTo>
                    <a:pt x="51943" y="254"/>
                  </a:moveTo>
                  <a:lnTo>
                    <a:pt x="43307" y="0"/>
                  </a:lnTo>
                  <a:lnTo>
                    <a:pt x="35813" y="1016"/>
                  </a:lnTo>
                  <a:lnTo>
                    <a:pt x="29463" y="3429"/>
                  </a:lnTo>
                  <a:lnTo>
                    <a:pt x="23113" y="5842"/>
                  </a:lnTo>
                  <a:lnTo>
                    <a:pt x="3937" y="28956"/>
                  </a:lnTo>
                  <a:lnTo>
                    <a:pt x="1650" y="35051"/>
                  </a:lnTo>
                  <a:lnTo>
                    <a:pt x="381" y="41401"/>
                  </a:lnTo>
                  <a:lnTo>
                    <a:pt x="0" y="48260"/>
                  </a:lnTo>
                  <a:lnTo>
                    <a:pt x="25263" y="47994"/>
                  </a:lnTo>
                  <a:lnTo>
                    <a:pt x="50561" y="47751"/>
                  </a:lnTo>
                  <a:lnTo>
                    <a:pt x="75884" y="47509"/>
                  </a:lnTo>
                  <a:lnTo>
                    <a:pt x="101219" y="47244"/>
                  </a:lnTo>
                  <a:lnTo>
                    <a:pt x="100790" y="37145"/>
                  </a:lnTo>
                  <a:lnTo>
                    <a:pt x="74152" y="4016"/>
                  </a:lnTo>
                  <a:lnTo>
                    <a:pt x="63875" y="1391"/>
                  </a:lnTo>
                  <a:lnTo>
                    <a:pt x="51943" y="254"/>
                  </a:lnTo>
                  <a:close/>
                </a:path>
              </a:pathLst>
            </a:custGeom>
            <a:ln w="12192">
              <a:solidFill>
                <a:srgbClr val="5B9BD4"/>
              </a:solidFill>
            </a:ln>
          </p:spPr>
          <p:txBody>
            <a:bodyPr wrap="square" lIns="0" tIns="0" rIns="0" bIns="0" rtlCol="0"/>
            <a:lstStyle/>
            <a:p>
              <a:endParaRPr/>
            </a:p>
          </p:txBody>
        </p:sp>
        <p:pic>
          <p:nvPicPr>
            <p:cNvPr id="8" name="object 8"/>
            <p:cNvPicPr/>
            <p:nvPr/>
          </p:nvPicPr>
          <p:blipFill>
            <a:blip r:embed="rId5" cstate="print"/>
            <a:stretch>
              <a:fillRect/>
            </a:stretch>
          </p:blipFill>
          <p:spPr>
            <a:xfrm>
              <a:off x="3693667" y="3012058"/>
              <a:ext cx="113411" cy="90551"/>
            </a:xfrm>
            <a:prstGeom prst="rect">
              <a:avLst/>
            </a:prstGeom>
          </p:spPr>
        </p:pic>
        <p:sp>
          <p:nvSpPr>
            <p:cNvPr id="9" name="object 9"/>
            <p:cNvSpPr/>
            <p:nvPr/>
          </p:nvSpPr>
          <p:spPr>
            <a:xfrm>
              <a:off x="3169792" y="2931286"/>
              <a:ext cx="1466215" cy="426720"/>
            </a:xfrm>
            <a:custGeom>
              <a:avLst/>
              <a:gdLst/>
              <a:ahLst/>
              <a:cxnLst/>
              <a:rect l="l" t="t" r="r" b="b"/>
              <a:pathLst>
                <a:path w="1466214" h="426720">
                  <a:moveTo>
                    <a:pt x="1352677" y="72136"/>
                  </a:moveTo>
                  <a:lnTo>
                    <a:pt x="1392896" y="78243"/>
                  </a:lnTo>
                  <a:lnTo>
                    <a:pt x="1431883" y="95682"/>
                  </a:lnTo>
                  <a:lnTo>
                    <a:pt x="1459483" y="128524"/>
                  </a:lnTo>
                  <a:lnTo>
                    <a:pt x="1465960" y="161543"/>
                  </a:lnTo>
                  <a:lnTo>
                    <a:pt x="1465960" y="164084"/>
                  </a:lnTo>
                  <a:lnTo>
                    <a:pt x="1465960" y="166624"/>
                  </a:lnTo>
                  <a:lnTo>
                    <a:pt x="1465960" y="169163"/>
                  </a:lnTo>
                  <a:lnTo>
                    <a:pt x="1465960" y="175005"/>
                  </a:lnTo>
                  <a:lnTo>
                    <a:pt x="1464056" y="179324"/>
                  </a:lnTo>
                  <a:lnTo>
                    <a:pt x="1408632" y="188372"/>
                  </a:lnTo>
                  <a:lnTo>
                    <a:pt x="1372108" y="189801"/>
                  </a:lnTo>
                  <a:lnTo>
                    <a:pt x="1335583" y="191230"/>
                  </a:lnTo>
                  <a:lnTo>
                    <a:pt x="1299083" y="192659"/>
                  </a:lnTo>
                  <a:lnTo>
                    <a:pt x="1299083" y="200913"/>
                  </a:lnTo>
                  <a:lnTo>
                    <a:pt x="1319530" y="235585"/>
                  </a:lnTo>
                  <a:lnTo>
                    <a:pt x="1356290" y="242054"/>
                  </a:lnTo>
                  <a:lnTo>
                    <a:pt x="1364742" y="241553"/>
                  </a:lnTo>
                  <a:lnTo>
                    <a:pt x="1404873" y="235203"/>
                  </a:lnTo>
                  <a:lnTo>
                    <a:pt x="1435481" y="225805"/>
                  </a:lnTo>
                  <a:lnTo>
                    <a:pt x="1439798" y="224282"/>
                  </a:lnTo>
                  <a:lnTo>
                    <a:pt x="1443355" y="223392"/>
                  </a:lnTo>
                  <a:lnTo>
                    <a:pt x="1446021" y="223265"/>
                  </a:lnTo>
                  <a:lnTo>
                    <a:pt x="1447545" y="223138"/>
                  </a:lnTo>
                  <a:lnTo>
                    <a:pt x="1448943" y="223265"/>
                  </a:lnTo>
                  <a:lnTo>
                    <a:pt x="1450085" y="223647"/>
                  </a:lnTo>
                  <a:lnTo>
                    <a:pt x="1451102" y="223900"/>
                  </a:lnTo>
                  <a:lnTo>
                    <a:pt x="1454658" y="235330"/>
                  </a:lnTo>
                  <a:lnTo>
                    <a:pt x="1454658" y="238505"/>
                  </a:lnTo>
                  <a:lnTo>
                    <a:pt x="1454658" y="241300"/>
                  </a:lnTo>
                  <a:lnTo>
                    <a:pt x="1454531" y="243712"/>
                  </a:lnTo>
                  <a:lnTo>
                    <a:pt x="1454277" y="245617"/>
                  </a:lnTo>
                  <a:lnTo>
                    <a:pt x="1454149" y="247650"/>
                  </a:lnTo>
                  <a:lnTo>
                    <a:pt x="1451864" y="254508"/>
                  </a:lnTo>
                  <a:lnTo>
                    <a:pt x="1451229" y="255524"/>
                  </a:lnTo>
                  <a:lnTo>
                    <a:pt x="1450212" y="256539"/>
                  </a:lnTo>
                  <a:lnTo>
                    <a:pt x="1449070" y="257555"/>
                  </a:lnTo>
                  <a:lnTo>
                    <a:pt x="1447927" y="258572"/>
                  </a:lnTo>
                  <a:lnTo>
                    <a:pt x="1406667" y="272542"/>
                  </a:lnTo>
                  <a:lnTo>
                    <a:pt x="1367256" y="280491"/>
                  </a:lnTo>
                  <a:lnTo>
                    <a:pt x="1328499" y="283400"/>
                  </a:lnTo>
                  <a:lnTo>
                    <a:pt x="1314959" y="282916"/>
                  </a:lnTo>
                  <a:lnTo>
                    <a:pt x="1270773" y="271002"/>
                  </a:lnTo>
                  <a:lnTo>
                    <a:pt x="1242625" y="242266"/>
                  </a:lnTo>
                  <a:lnTo>
                    <a:pt x="1230622" y="196762"/>
                  </a:lnTo>
                  <a:lnTo>
                    <a:pt x="1230121" y="182879"/>
                  </a:lnTo>
                  <a:lnTo>
                    <a:pt x="1230645" y="169499"/>
                  </a:lnTo>
                  <a:lnTo>
                    <a:pt x="1243151" y="123126"/>
                  </a:lnTo>
                  <a:lnTo>
                    <a:pt x="1271097" y="90745"/>
                  </a:lnTo>
                  <a:lnTo>
                    <a:pt x="1313082" y="74011"/>
                  </a:lnTo>
                  <a:lnTo>
                    <a:pt x="1338748" y="71760"/>
                  </a:lnTo>
                  <a:lnTo>
                    <a:pt x="1352677" y="72136"/>
                  </a:lnTo>
                  <a:close/>
                </a:path>
                <a:path w="1466214" h="426720">
                  <a:moveTo>
                    <a:pt x="1090295" y="56514"/>
                  </a:moveTo>
                  <a:lnTo>
                    <a:pt x="1131570" y="66293"/>
                  </a:lnTo>
                  <a:lnTo>
                    <a:pt x="1163607" y="94251"/>
                  </a:lnTo>
                  <a:lnTo>
                    <a:pt x="1177163" y="135302"/>
                  </a:lnTo>
                  <a:lnTo>
                    <a:pt x="1178306" y="156845"/>
                  </a:lnTo>
                  <a:lnTo>
                    <a:pt x="1178306" y="189781"/>
                  </a:lnTo>
                  <a:lnTo>
                    <a:pt x="1178306" y="222694"/>
                  </a:lnTo>
                  <a:lnTo>
                    <a:pt x="1178306" y="255607"/>
                  </a:lnTo>
                  <a:lnTo>
                    <a:pt x="1178306" y="288543"/>
                  </a:lnTo>
                  <a:lnTo>
                    <a:pt x="1178306" y="290195"/>
                  </a:lnTo>
                  <a:lnTo>
                    <a:pt x="1177797" y="291591"/>
                  </a:lnTo>
                  <a:lnTo>
                    <a:pt x="1176655" y="292862"/>
                  </a:lnTo>
                  <a:lnTo>
                    <a:pt x="1175639" y="294259"/>
                  </a:lnTo>
                  <a:lnTo>
                    <a:pt x="1173860" y="295401"/>
                  </a:lnTo>
                  <a:lnTo>
                    <a:pt x="1171320" y="296545"/>
                  </a:lnTo>
                  <a:lnTo>
                    <a:pt x="1168781" y="297561"/>
                  </a:lnTo>
                  <a:lnTo>
                    <a:pt x="1165352" y="298576"/>
                  </a:lnTo>
                  <a:lnTo>
                    <a:pt x="1160907" y="299465"/>
                  </a:lnTo>
                  <a:lnTo>
                    <a:pt x="1156589" y="300354"/>
                  </a:lnTo>
                  <a:lnTo>
                    <a:pt x="1151128" y="301116"/>
                  </a:lnTo>
                  <a:lnTo>
                    <a:pt x="1144651" y="301878"/>
                  </a:lnTo>
                  <a:lnTo>
                    <a:pt x="1138046" y="302640"/>
                  </a:lnTo>
                  <a:lnTo>
                    <a:pt x="1132458" y="303022"/>
                  </a:lnTo>
                  <a:lnTo>
                    <a:pt x="1128141" y="303022"/>
                  </a:lnTo>
                  <a:lnTo>
                    <a:pt x="1123695" y="303149"/>
                  </a:lnTo>
                  <a:lnTo>
                    <a:pt x="1112393" y="299847"/>
                  </a:lnTo>
                  <a:lnTo>
                    <a:pt x="1111249" y="298703"/>
                  </a:lnTo>
                  <a:lnTo>
                    <a:pt x="1110742" y="297307"/>
                  </a:lnTo>
                  <a:lnTo>
                    <a:pt x="1110742" y="295655"/>
                  </a:lnTo>
                  <a:lnTo>
                    <a:pt x="1110742" y="263747"/>
                  </a:lnTo>
                  <a:lnTo>
                    <a:pt x="1110742" y="231838"/>
                  </a:lnTo>
                  <a:lnTo>
                    <a:pt x="1110742" y="199929"/>
                  </a:lnTo>
                  <a:lnTo>
                    <a:pt x="1110742" y="168021"/>
                  </a:lnTo>
                  <a:lnTo>
                    <a:pt x="1110577" y="160279"/>
                  </a:lnTo>
                  <a:lnTo>
                    <a:pt x="1097533" y="121920"/>
                  </a:lnTo>
                  <a:lnTo>
                    <a:pt x="1088262" y="115824"/>
                  </a:lnTo>
                  <a:lnTo>
                    <a:pt x="1083183" y="113284"/>
                  </a:lnTo>
                  <a:lnTo>
                    <a:pt x="1077214" y="111887"/>
                  </a:lnTo>
                  <a:lnTo>
                    <a:pt x="1070356" y="111760"/>
                  </a:lnTo>
                  <a:lnTo>
                    <a:pt x="1063930" y="112160"/>
                  </a:lnTo>
                  <a:lnTo>
                    <a:pt x="1030843" y="131476"/>
                  </a:lnTo>
                  <a:lnTo>
                    <a:pt x="1016889" y="147065"/>
                  </a:lnTo>
                  <a:lnTo>
                    <a:pt x="1016889" y="186670"/>
                  </a:lnTo>
                  <a:lnTo>
                    <a:pt x="1016889" y="226250"/>
                  </a:lnTo>
                  <a:lnTo>
                    <a:pt x="1016889" y="265830"/>
                  </a:lnTo>
                  <a:lnTo>
                    <a:pt x="1016889" y="305435"/>
                  </a:lnTo>
                  <a:lnTo>
                    <a:pt x="1016889" y="307213"/>
                  </a:lnTo>
                  <a:lnTo>
                    <a:pt x="1016254" y="308863"/>
                  </a:lnTo>
                  <a:lnTo>
                    <a:pt x="999362" y="317373"/>
                  </a:lnTo>
                  <a:lnTo>
                    <a:pt x="995044" y="318262"/>
                  </a:lnTo>
                  <a:lnTo>
                    <a:pt x="966469" y="321055"/>
                  </a:lnTo>
                  <a:lnTo>
                    <a:pt x="962279" y="321055"/>
                  </a:lnTo>
                  <a:lnTo>
                    <a:pt x="958722" y="320675"/>
                  </a:lnTo>
                  <a:lnTo>
                    <a:pt x="956182" y="320039"/>
                  </a:lnTo>
                  <a:lnTo>
                    <a:pt x="953516" y="319404"/>
                  </a:lnTo>
                  <a:lnTo>
                    <a:pt x="951737" y="318515"/>
                  </a:lnTo>
                  <a:lnTo>
                    <a:pt x="950594" y="317246"/>
                  </a:lnTo>
                  <a:lnTo>
                    <a:pt x="949579" y="315975"/>
                  </a:lnTo>
                  <a:lnTo>
                    <a:pt x="949070" y="314325"/>
                  </a:lnTo>
                  <a:lnTo>
                    <a:pt x="949070" y="312547"/>
                  </a:lnTo>
                  <a:lnTo>
                    <a:pt x="949070" y="262802"/>
                  </a:lnTo>
                  <a:lnTo>
                    <a:pt x="949070" y="62102"/>
                  </a:lnTo>
                  <a:lnTo>
                    <a:pt x="949452" y="60451"/>
                  </a:lnTo>
                  <a:lnTo>
                    <a:pt x="950341" y="59182"/>
                  </a:lnTo>
                  <a:lnTo>
                    <a:pt x="951230" y="57785"/>
                  </a:lnTo>
                  <a:lnTo>
                    <a:pt x="952881" y="56768"/>
                  </a:lnTo>
                  <a:lnTo>
                    <a:pt x="967867" y="54101"/>
                  </a:lnTo>
                  <a:lnTo>
                    <a:pt x="972566" y="54101"/>
                  </a:lnTo>
                  <a:lnTo>
                    <a:pt x="978154" y="54483"/>
                  </a:lnTo>
                  <a:lnTo>
                    <a:pt x="983869" y="54737"/>
                  </a:lnTo>
                  <a:lnTo>
                    <a:pt x="1005585" y="62102"/>
                  </a:lnTo>
                  <a:lnTo>
                    <a:pt x="1006474" y="63373"/>
                  </a:lnTo>
                  <a:lnTo>
                    <a:pt x="1006856" y="65024"/>
                  </a:lnTo>
                  <a:lnTo>
                    <a:pt x="1006856" y="66801"/>
                  </a:lnTo>
                  <a:lnTo>
                    <a:pt x="1006856" y="73735"/>
                  </a:lnTo>
                  <a:lnTo>
                    <a:pt x="1006856" y="80644"/>
                  </a:lnTo>
                  <a:lnTo>
                    <a:pt x="1006856" y="87554"/>
                  </a:lnTo>
                  <a:lnTo>
                    <a:pt x="1006856" y="94487"/>
                  </a:lnTo>
                  <a:lnTo>
                    <a:pt x="1016883" y="84820"/>
                  </a:lnTo>
                  <a:lnTo>
                    <a:pt x="1057773" y="60408"/>
                  </a:lnTo>
                  <a:lnTo>
                    <a:pt x="1079247" y="56495"/>
                  </a:lnTo>
                  <a:lnTo>
                    <a:pt x="1090295" y="56514"/>
                  </a:lnTo>
                  <a:close/>
                </a:path>
                <a:path w="1466214" h="426720">
                  <a:moveTo>
                    <a:pt x="874776" y="43687"/>
                  </a:moveTo>
                  <a:lnTo>
                    <a:pt x="877061" y="43814"/>
                  </a:lnTo>
                  <a:lnTo>
                    <a:pt x="879602" y="44068"/>
                  </a:lnTo>
                  <a:lnTo>
                    <a:pt x="882269" y="44576"/>
                  </a:lnTo>
                  <a:lnTo>
                    <a:pt x="884935" y="44958"/>
                  </a:lnTo>
                  <a:lnTo>
                    <a:pt x="887730" y="45592"/>
                  </a:lnTo>
                  <a:lnTo>
                    <a:pt x="890651" y="46482"/>
                  </a:lnTo>
                  <a:lnTo>
                    <a:pt x="893444" y="47243"/>
                  </a:lnTo>
                  <a:lnTo>
                    <a:pt x="902843" y="52197"/>
                  </a:lnTo>
                  <a:lnTo>
                    <a:pt x="903858" y="53212"/>
                  </a:lnTo>
                  <a:lnTo>
                    <a:pt x="904494" y="54355"/>
                  </a:lnTo>
                  <a:lnTo>
                    <a:pt x="905002" y="55499"/>
                  </a:lnTo>
                  <a:lnTo>
                    <a:pt x="905382" y="56641"/>
                  </a:lnTo>
                  <a:lnTo>
                    <a:pt x="905891" y="58165"/>
                  </a:lnTo>
                  <a:lnTo>
                    <a:pt x="906144" y="60198"/>
                  </a:lnTo>
                  <a:lnTo>
                    <a:pt x="906526" y="62229"/>
                  </a:lnTo>
                  <a:lnTo>
                    <a:pt x="906780" y="65277"/>
                  </a:lnTo>
                  <a:lnTo>
                    <a:pt x="907033" y="69341"/>
                  </a:lnTo>
                  <a:lnTo>
                    <a:pt x="907160" y="73278"/>
                  </a:lnTo>
                  <a:lnTo>
                    <a:pt x="907287" y="78739"/>
                  </a:lnTo>
                  <a:lnTo>
                    <a:pt x="907287" y="85598"/>
                  </a:lnTo>
                  <a:lnTo>
                    <a:pt x="907287" y="92455"/>
                  </a:lnTo>
                  <a:lnTo>
                    <a:pt x="899668" y="119252"/>
                  </a:lnTo>
                  <a:lnTo>
                    <a:pt x="897890" y="119125"/>
                  </a:lnTo>
                  <a:lnTo>
                    <a:pt x="896366" y="119125"/>
                  </a:lnTo>
                  <a:lnTo>
                    <a:pt x="894842" y="118745"/>
                  </a:lnTo>
                  <a:lnTo>
                    <a:pt x="893064" y="118110"/>
                  </a:lnTo>
                  <a:lnTo>
                    <a:pt x="891285" y="117348"/>
                  </a:lnTo>
                  <a:lnTo>
                    <a:pt x="889254" y="116586"/>
                  </a:lnTo>
                  <a:lnTo>
                    <a:pt x="886968" y="115824"/>
                  </a:lnTo>
                  <a:lnTo>
                    <a:pt x="884682" y="115062"/>
                  </a:lnTo>
                  <a:lnTo>
                    <a:pt x="882269" y="114300"/>
                  </a:lnTo>
                  <a:lnTo>
                    <a:pt x="879602" y="113537"/>
                  </a:lnTo>
                  <a:lnTo>
                    <a:pt x="876934" y="112775"/>
                  </a:lnTo>
                  <a:lnTo>
                    <a:pt x="873886" y="112395"/>
                  </a:lnTo>
                  <a:lnTo>
                    <a:pt x="870711" y="112395"/>
                  </a:lnTo>
                  <a:lnTo>
                    <a:pt x="866902" y="112267"/>
                  </a:lnTo>
                  <a:lnTo>
                    <a:pt x="863092" y="113029"/>
                  </a:lnTo>
                  <a:lnTo>
                    <a:pt x="859408" y="114680"/>
                  </a:lnTo>
                  <a:lnTo>
                    <a:pt x="855598" y="116204"/>
                  </a:lnTo>
                  <a:lnTo>
                    <a:pt x="851661" y="118745"/>
                  </a:lnTo>
                  <a:lnTo>
                    <a:pt x="847724" y="122300"/>
                  </a:lnTo>
                  <a:lnTo>
                    <a:pt x="843660" y="125729"/>
                  </a:lnTo>
                  <a:lnTo>
                    <a:pt x="820928" y="158623"/>
                  </a:lnTo>
                  <a:lnTo>
                    <a:pt x="820928" y="200437"/>
                  </a:lnTo>
                  <a:lnTo>
                    <a:pt x="820928" y="242252"/>
                  </a:lnTo>
                  <a:lnTo>
                    <a:pt x="820928" y="284067"/>
                  </a:lnTo>
                  <a:lnTo>
                    <a:pt x="820928" y="325882"/>
                  </a:lnTo>
                  <a:lnTo>
                    <a:pt x="820928" y="327913"/>
                  </a:lnTo>
                  <a:lnTo>
                    <a:pt x="820419" y="329691"/>
                  </a:lnTo>
                  <a:lnTo>
                    <a:pt x="819277" y="331342"/>
                  </a:lnTo>
                  <a:lnTo>
                    <a:pt x="818260" y="332866"/>
                  </a:lnTo>
                  <a:lnTo>
                    <a:pt x="816356" y="334390"/>
                  </a:lnTo>
                  <a:lnTo>
                    <a:pt x="787019" y="341629"/>
                  </a:lnTo>
                  <a:lnTo>
                    <a:pt x="780415" y="342391"/>
                  </a:lnTo>
                  <a:lnTo>
                    <a:pt x="774954" y="342773"/>
                  </a:lnTo>
                  <a:lnTo>
                    <a:pt x="770635" y="342773"/>
                  </a:lnTo>
                  <a:lnTo>
                    <a:pt x="754760" y="338200"/>
                  </a:lnTo>
                  <a:lnTo>
                    <a:pt x="753618" y="336803"/>
                  </a:lnTo>
                  <a:lnTo>
                    <a:pt x="753109" y="335025"/>
                  </a:lnTo>
                  <a:lnTo>
                    <a:pt x="753109" y="332993"/>
                  </a:lnTo>
                  <a:lnTo>
                    <a:pt x="753109" y="277216"/>
                  </a:lnTo>
                  <a:lnTo>
                    <a:pt x="753109" y="52197"/>
                  </a:lnTo>
                  <a:lnTo>
                    <a:pt x="753491" y="50291"/>
                  </a:lnTo>
                  <a:lnTo>
                    <a:pt x="754380" y="48767"/>
                  </a:lnTo>
                  <a:lnTo>
                    <a:pt x="755395" y="47371"/>
                  </a:lnTo>
                  <a:lnTo>
                    <a:pt x="756919" y="46100"/>
                  </a:lnTo>
                  <a:lnTo>
                    <a:pt x="759332" y="45212"/>
                  </a:lnTo>
                  <a:lnTo>
                    <a:pt x="761619" y="44323"/>
                  </a:lnTo>
                  <a:lnTo>
                    <a:pt x="764667" y="43687"/>
                  </a:lnTo>
                  <a:lnTo>
                    <a:pt x="768349" y="43307"/>
                  </a:lnTo>
                  <a:lnTo>
                    <a:pt x="772032" y="43052"/>
                  </a:lnTo>
                  <a:lnTo>
                    <a:pt x="776605" y="43052"/>
                  </a:lnTo>
                  <a:lnTo>
                    <a:pt x="782193" y="43307"/>
                  </a:lnTo>
                  <a:lnTo>
                    <a:pt x="787907" y="43687"/>
                  </a:lnTo>
                  <a:lnTo>
                    <a:pt x="792607" y="44196"/>
                  </a:lnTo>
                  <a:lnTo>
                    <a:pt x="796417" y="44958"/>
                  </a:lnTo>
                  <a:lnTo>
                    <a:pt x="800227" y="45592"/>
                  </a:lnTo>
                  <a:lnTo>
                    <a:pt x="803147" y="46609"/>
                  </a:lnTo>
                  <a:lnTo>
                    <a:pt x="805180" y="47751"/>
                  </a:lnTo>
                  <a:lnTo>
                    <a:pt x="807211" y="48767"/>
                  </a:lnTo>
                  <a:lnTo>
                    <a:pt x="808735" y="50164"/>
                  </a:lnTo>
                  <a:lnTo>
                    <a:pt x="809624" y="51688"/>
                  </a:lnTo>
                  <a:lnTo>
                    <a:pt x="810514" y="53339"/>
                  </a:lnTo>
                  <a:lnTo>
                    <a:pt x="810894" y="55117"/>
                  </a:lnTo>
                  <a:lnTo>
                    <a:pt x="810894" y="57150"/>
                  </a:lnTo>
                  <a:lnTo>
                    <a:pt x="810894" y="65532"/>
                  </a:lnTo>
                  <a:lnTo>
                    <a:pt x="810894" y="73913"/>
                  </a:lnTo>
                  <a:lnTo>
                    <a:pt x="810894" y="82295"/>
                  </a:lnTo>
                  <a:lnTo>
                    <a:pt x="810894" y="90677"/>
                  </a:lnTo>
                  <a:lnTo>
                    <a:pt x="815566" y="83603"/>
                  </a:lnTo>
                  <a:lnTo>
                    <a:pt x="844549" y="51942"/>
                  </a:lnTo>
                  <a:lnTo>
                    <a:pt x="859662" y="44958"/>
                  </a:lnTo>
                  <a:lnTo>
                    <a:pt x="864616" y="43814"/>
                  </a:lnTo>
                  <a:lnTo>
                    <a:pt x="869695" y="43307"/>
                  </a:lnTo>
                  <a:lnTo>
                    <a:pt x="874776" y="43687"/>
                  </a:lnTo>
                  <a:close/>
                </a:path>
                <a:path w="1466214" h="426720">
                  <a:moveTo>
                    <a:pt x="583565" y="26288"/>
                  </a:moveTo>
                  <a:lnTo>
                    <a:pt x="623837" y="34932"/>
                  </a:lnTo>
                  <a:lnTo>
                    <a:pt x="662844" y="62781"/>
                  </a:lnTo>
                  <a:lnTo>
                    <a:pt x="686681" y="105104"/>
                  </a:lnTo>
                  <a:lnTo>
                    <a:pt x="695229" y="144700"/>
                  </a:lnTo>
                  <a:lnTo>
                    <a:pt x="696848" y="173862"/>
                  </a:lnTo>
                  <a:lnTo>
                    <a:pt x="696848" y="178180"/>
                  </a:lnTo>
                  <a:lnTo>
                    <a:pt x="696848" y="182499"/>
                  </a:lnTo>
                  <a:lnTo>
                    <a:pt x="696848" y="186689"/>
                  </a:lnTo>
                  <a:lnTo>
                    <a:pt x="696848" y="196596"/>
                  </a:lnTo>
                  <a:lnTo>
                    <a:pt x="694944" y="203962"/>
                  </a:lnTo>
                  <a:lnTo>
                    <a:pt x="691260" y="208787"/>
                  </a:lnTo>
                  <a:lnTo>
                    <a:pt x="687578" y="213740"/>
                  </a:lnTo>
                  <a:lnTo>
                    <a:pt x="682624" y="216280"/>
                  </a:lnTo>
                  <a:lnTo>
                    <a:pt x="639591" y="217961"/>
                  </a:lnTo>
                  <a:lnTo>
                    <a:pt x="566527" y="220767"/>
                  </a:lnTo>
                  <a:lnTo>
                    <a:pt x="529970" y="222123"/>
                  </a:lnTo>
                  <a:lnTo>
                    <a:pt x="530207" y="231886"/>
                  </a:lnTo>
                  <a:lnTo>
                    <a:pt x="538337" y="273050"/>
                  </a:lnTo>
                  <a:lnTo>
                    <a:pt x="565657" y="300736"/>
                  </a:lnTo>
                  <a:lnTo>
                    <a:pt x="587196" y="304522"/>
                  </a:lnTo>
                  <a:lnTo>
                    <a:pt x="595630" y="304164"/>
                  </a:lnTo>
                  <a:lnTo>
                    <a:pt x="635889" y="295655"/>
                  </a:lnTo>
                  <a:lnTo>
                    <a:pt x="650112" y="289687"/>
                  </a:lnTo>
                  <a:lnTo>
                    <a:pt x="656717" y="286638"/>
                  </a:lnTo>
                  <a:lnTo>
                    <a:pt x="662051" y="283972"/>
                  </a:lnTo>
                  <a:lnTo>
                    <a:pt x="666369" y="281559"/>
                  </a:lnTo>
                  <a:lnTo>
                    <a:pt x="670686" y="279146"/>
                  </a:lnTo>
                  <a:lnTo>
                    <a:pt x="674243" y="277875"/>
                  </a:lnTo>
                  <a:lnTo>
                    <a:pt x="676909" y="277749"/>
                  </a:lnTo>
                  <a:lnTo>
                    <a:pt x="678560" y="277622"/>
                  </a:lnTo>
                  <a:lnTo>
                    <a:pt x="679831" y="277875"/>
                  </a:lnTo>
                  <a:lnTo>
                    <a:pt x="680973" y="278638"/>
                  </a:lnTo>
                  <a:lnTo>
                    <a:pt x="681990" y="279273"/>
                  </a:lnTo>
                  <a:lnTo>
                    <a:pt x="682879" y="280542"/>
                  </a:lnTo>
                  <a:lnTo>
                    <a:pt x="683641" y="282448"/>
                  </a:lnTo>
                  <a:lnTo>
                    <a:pt x="684403" y="284352"/>
                  </a:lnTo>
                  <a:lnTo>
                    <a:pt x="684910" y="287020"/>
                  </a:lnTo>
                  <a:lnTo>
                    <a:pt x="685165" y="290575"/>
                  </a:lnTo>
                  <a:lnTo>
                    <a:pt x="685419" y="294132"/>
                  </a:lnTo>
                  <a:lnTo>
                    <a:pt x="685545" y="298576"/>
                  </a:lnTo>
                  <a:lnTo>
                    <a:pt x="685545" y="304038"/>
                  </a:lnTo>
                  <a:lnTo>
                    <a:pt x="685545" y="308737"/>
                  </a:lnTo>
                  <a:lnTo>
                    <a:pt x="684403" y="324865"/>
                  </a:lnTo>
                  <a:lnTo>
                    <a:pt x="684148" y="327278"/>
                  </a:lnTo>
                  <a:lnTo>
                    <a:pt x="679957" y="336041"/>
                  </a:lnTo>
                  <a:lnTo>
                    <a:pt x="678815" y="337692"/>
                  </a:lnTo>
                  <a:lnTo>
                    <a:pt x="675640" y="340105"/>
                  </a:lnTo>
                  <a:lnTo>
                    <a:pt x="670432" y="343153"/>
                  </a:lnTo>
                  <a:lnTo>
                    <a:pt x="665226" y="346328"/>
                  </a:lnTo>
                  <a:lnTo>
                    <a:pt x="622807" y="362838"/>
                  </a:lnTo>
                  <a:lnTo>
                    <a:pt x="573905" y="370558"/>
                  </a:lnTo>
                  <a:lnTo>
                    <a:pt x="559403" y="370268"/>
                  </a:lnTo>
                  <a:lnTo>
                    <a:pt x="521823" y="360616"/>
                  </a:lnTo>
                  <a:lnTo>
                    <a:pt x="485566" y="326207"/>
                  </a:lnTo>
                  <a:lnTo>
                    <a:pt x="469010" y="283845"/>
                  </a:lnTo>
                  <a:lnTo>
                    <a:pt x="461617" y="227141"/>
                  </a:lnTo>
                  <a:lnTo>
                    <a:pt x="461136" y="205232"/>
                  </a:lnTo>
                  <a:lnTo>
                    <a:pt x="461641" y="184155"/>
                  </a:lnTo>
                  <a:lnTo>
                    <a:pt x="465744" y="145242"/>
                  </a:lnTo>
                  <a:lnTo>
                    <a:pt x="479615" y="95789"/>
                  </a:lnTo>
                  <a:lnTo>
                    <a:pt x="502056" y="58937"/>
                  </a:lnTo>
                  <a:lnTo>
                    <a:pt x="532257" y="35560"/>
                  </a:lnTo>
                  <a:lnTo>
                    <a:pt x="569654" y="26219"/>
                  </a:lnTo>
                  <a:lnTo>
                    <a:pt x="583565" y="26288"/>
                  </a:lnTo>
                  <a:close/>
                </a:path>
                <a:path w="1466214" h="426720">
                  <a:moveTo>
                    <a:pt x="141223" y="0"/>
                  </a:moveTo>
                  <a:lnTo>
                    <a:pt x="182498" y="14732"/>
                  </a:lnTo>
                  <a:lnTo>
                    <a:pt x="209677" y="49402"/>
                  </a:lnTo>
                  <a:lnTo>
                    <a:pt x="224662" y="98678"/>
                  </a:lnTo>
                  <a:lnTo>
                    <a:pt x="228949" y="146774"/>
                  </a:lnTo>
                  <a:lnTo>
                    <a:pt x="229234" y="165608"/>
                  </a:lnTo>
                  <a:lnTo>
                    <a:pt x="229234" y="221136"/>
                  </a:lnTo>
                  <a:lnTo>
                    <a:pt x="229234" y="276653"/>
                  </a:lnTo>
                  <a:lnTo>
                    <a:pt x="229234" y="332146"/>
                  </a:lnTo>
                  <a:lnTo>
                    <a:pt x="229234" y="387603"/>
                  </a:lnTo>
                  <a:lnTo>
                    <a:pt x="229234" y="390271"/>
                  </a:lnTo>
                  <a:lnTo>
                    <a:pt x="228727" y="392684"/>
                  </a:lnTo>
                  <a:lnTo>
                    <a:pt x="227583" y="394842"/>
                  </a:lnTo>
                  <a:lnTo>
                    <a:pt x="226568" y="397001"/>
                  </a:lnTo>
                  <a:lnTo>
                    <a:pt x="224662" y="398907"/>
                  </a:lnTo>
                  <a:lnTo>
                    <a:pt x="222249" y="400558"/>
                  </a:lnTo>
                  <a:lnTo>
                    <a:pt x="219709" y="402082"/>
                  </a:lnTo>
                  <a:lnTo>
                    <a:pt x="216281" y="403478"/>
                  </a:lnTo>
                  <a:lnTo>
                    <a:pt x="211835" y="404622"/>
                  </a:lnTo>
                  <a:lnTo>
                    <a:pt x="207391" y="405891"/>
                  </a:lnTo>
                  <a:lnTo>
                    <a:pt x="202056" y="406780"/>
                  </a:lnTo>
                  <a:lnTo>
                    <a:pt x="195580" y="407542"/>
                  </a:lnTo>
                  <a:lnTo>
                    <a:pt x="188976" y="408304"/>
                  </a:lnTo>
                  <a:lnTo>
                    <a:pt x="183387" y="408559"/>
                  </a:lnTo>
                  <a:lnTo>
                    <a:pt x="179069" y="408304"/>
                  </a:lnTo>
                  <a:lnTo>
                    <a:pt x="174624" y="408177"/>
                  </a:lnTo>
                  <a:lnTo>
                    <a:pt x="163321" y="401827"/>
                  </a:lnTo>
                  <a:lnTo>
                    <a:pt x="162179" y="399796"/>
                  </a:lnTo>
                  <a:lnTo>
                    <a:pt x="161670" y="397510"/>
                  </a:lnTo>
                  <a:lnTo>
                    <a:pt x="161670" y="394715"/>
                  </a:lnTo>
                  <a:lnTo>
                    <a:pt x="161670" y="341947"/>
                  </a:lnTo>
                  <a:lnTo>
                    <a:pt x="161670" y="289179"/>
                  </a:lnTo>
                  <a:lnTo>
                    <a:pt x="161670" y="236410"/>
                  </a:lnTo>
                  <a:lnTo>
                    <a:pt x="161670" y="183641"/>
                  </a:lnTo>
                  <a:lnTo>
                    <a:pt x="161506" y="170926"/>
                  </a:lnTo>
                  <a:lnTo>
                    <a:pt x="155971" y="127047"/>
                  </a:lnTo>
                  <a:lnTo>
                    <a:pt x="139192" y="97662"/>
                  </a:lnTo>
                  <a:lnTo>
                    <a:pt x="134111" y="93472"/>
                  </a:lnTo>
                  <a:lnTo>
                    <a:pt x="128143" y="91312"/>
                  </a:lnTo>
                  <a:lnTo>
                    <a:pt x="121284" y="91186"/>
                  </a:lnTo>
                  <a:lnTo>
                    <a:pt x="114806" y="91946"/>
                  </a:lnTo>
                  <a:lnTo>
                    <a:pt x="81756" y="123729"/>
                  </a:lnTo>
                  <a:lnTo>
                    <a:pt x="67690" y="148971"/>
                  </a:lnTo>
                  <a:lnTo>
                    <a:pt x="67690" y="200087"/>
                  </a:lnTo>
                  <a:lnTo>
                    <a:pt x="67690" y="251186"/>
                  </a:lnTo>
                  <a:lnTo>
                    <a:pt x="67690" y="302279"/>
                  </a:lnTo>
                  <a:lnTo>
                    <a:pt x="67690" y="353378"/>
                  </a:lnTo>
                  <a:lnTo>
                    <a:pt x="67690" y="404495"/>
                  </a:lnTo>
                  <a:lnTo>
                    <a:pt x="67690" y="407415"/>
                  </a:lnTo>
                  <a:lnTo>
                    <a:pt x="67182" y="409955"/>
                  </a:lnTo>
                  <a:lnTo>
                    <a:pt x="66167" y="412241"/>
                  </a:lnTo>
                  <a:lnTo>
                    <a:pt x="65024" y="414527"/>
                  </a:lnTo>
                  <a:lnTo>
                    <a:pt x="63245" y="416433"/>
                  </a:lnTo>
                  <a:lnTo>
                    <a:pt x="60579" y="418211"/>
                  </a:lnTo>
                  <a:lnTo>
                    <a:pt x="58038" y="419988"/>
                  </a:lnTo>
                  <a:lnTo>
                    <a:pt x="33908" y="425450"/>
                  </a:lnTo>
                  <a:lnTo>
                    <a:pt x="27177" y="426212"/>
                  </a:lnTo>
                  <a:lnTo>
                    <a:pt x="21717" y="426465"/>
                  </a:lnTo>
                  <a:lnTo>
                    <a:pt x="17399" y="426212"/>
                  </a:lnTo>
                  <a:lnTo>
                    <a:pt x="13081" y="425958"/>
                  </a:lnTo>
                  <a:lnTo>
                    <a:pt x="9651" y="425196"/>
                  </a:lnTo>
                  <a:lnTo>
                    <a:pt x="7112" y="424052"/>
                  </a:lnTo>
                  <a:lnTo>
                    <a:pt x="4444" y="422910"/>
                  </a:lnTo>
                  <a:lnTo>
                    <a:pt x="2667" y="421259"/>
                  </a:lnTo>
                  <a:lnTo>
                    <a:pt x="1524" y="419100"/>
                  </a:lnTo>
                  <a:lnTo>
                    <a:pt x="507" y="417067"/>
                  </a:lnTo>
                  <a:lnTo>
                    <a:pt x="0" y="414527"/>
                  </a:lnTo>
                  <a:lnTo>
                    <a:pt x="0" y="411607"/>
                  </a:lnTo>
                  <a:lnTo>
                    <a:pt x="0" y="362267"/>
                  </a:lnTo>
                  <a:lnTo>
                    <a:pt x="0" y="13842"/>
                  </a:lnTo>
                  <a:lnTo>
                    <a:pt x="381" y="11302"/>
                  </a:lnTo>
                  <a:lnTo>
                    <a:pt x="1269" y="9143"/>
                  </a:lnTo>
                  <a:lnTo>
                    <a:pt x="2158" y="6985"/>
                  </a:lnTo>
                  <a:lnTo>
                    <a:pt x="3809" y="5207"/>
                  </a:lnTo>
                  <a:lnTo>
                    <a:pt x="6095" y="3937"/>
                  </a:lnTo>
                  <a:lnTo>
                    <a:pt x="8508" y="2539"/>
                  </a:lnTo>
                  <a:lnTo>
                    <a:pt x="11430" y="1650"/>
                  </a:lnTo>
                  <a:lnTo>
                    <a:pt x="15112" y="1015"/>
                  </a:lnTo>
                  <a:lnTo>
                    <a:pt x="18795" y="508"/>
                  </a:lnTo>
                  <a:lnTo>
                    <a:pt x="23494" y="508"/>
                  </a:lnTo>
                  <a:lnTo>
                    <a:pt x="57784" y="16763"/>
                  </a:lnTo>
                  <a:lnTo>
                    <a:pt x="57784" y="19685"/>
                  </a:lnTo>
                  <a:lnTo>
                    <a:pt x="57784" y="30829"/>
                  </a:lnTo>
                  <a:lnTo>
                    <a:pt x="57784" y="41973"/>
                  </a:lnTo>
                  <a:lnTo>
                    <a:pt x="57784" y="53117"/>
                  </a:lnTo>
                  <a:lnTo>
                    <a:pt x="57784" y="64262"/>
                  </a:lnTo>
                  <a:lnTo>
                    <a:pt x="67794" y="48500"/>
                  </a:lnTo>
                  <a:lnTo>
                    <a:pt x="98297" y="14477"/>
                  </a:lnTo>
                  <a:lnTo>
                    <a:pt x="130176" y="404"/>
                  </a:lnTo>
                  <a:lnTo>
                    <a:pt x="141223" y="0"/>
                  </a:lnTo>
                  <a:close/>
                </a:path>
              </a:pathLst>
            </a:custGeom>
            <a:ln w="12192">
              <a:solidFill>
                <a:srgbClr val="5B9BD4"/>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4654423" y="2970911"/>
              <a:ext cx="181990" cy="220392"/>
            </a:xfrm>
            <a:prstGeom prst="rect">
              <a:avLst/>
            </a:prstGeom>
          </p:spPr>
        </p:pic>
        <p:sp>
          <p:nvSpPr>
            <p:cNvPr id="11" name="object 11"/>
            <p:cNvSpPr/>
            <p:nvPr/>
          </p:nvSpPr>
          <p:spPr>
            <a:xfrm>
              <a:off x="3026791" y="2769361"/>
              <a:ext cx="575310" cy="604520"/>
            </a:xfrm>
            <a:custGeom>
              <a:avLst/>
              <a:gdLst/>
              <a:ahLst/>
              <a:cxnLst/>
              <a:rect l="l" t="t" r="r" b="b"/>
              <a:pathLst>
                <a:path w="575310" h="604520">
                  <a:moveTo>
                    <a:pt x="478408" y="89662"/>
                  </a:moveTo>
                  <a:lnTo>
                    <a:pt x="485012" y="90297"/>
                  </a:lnTo>
                  <a:lnTo>
                    <a:pt x="490600" y="91186"/>
                  </a:lnTo>
                  <a:lnTo>
                    <a:pt x="494919" y="92201"/>
                  </a:lnTo>
                  <a:lnTo>
                    <a:pt x="499363" y="93217"/>
                  </a:lnTo>
                  <a:lnTo>
                    <a:pt x="502793" y="94614"/>
                  </a:lnTo>
                  <a:lnTo>
                    <a:pt x="505332" y="96265"/>
                  </a:lnTo>
                  <a:lnTo>
                    <a:pt x="507872" y="97916"/>
                  </a:lnTo>
                  <a:lnTo>
                    <a:pt x="509650" y="99695"/>
                  </a:lnTo>
                  <a:lnTo>
                    <a:pt x="510667" y="101853"/>
                  </a:lnTo>
                  <a:lnTo>
                    <a:pt x="511809" y="104012"/>
                  </a:lnTo>
                  <a:lnTo>
                    <a:pt x="512318" y="106299"/>
                  </a:lnTo>
                  <a:lnTo>
                    <a:pt x="512318" y="108838"/>
                  </a:lnTo>
                  <a:lnTo>
                    <a:pt x="512318" y="127696"/>
                  </a:lnTo>
                  <a:lnTo>
                    <a:pt x="512318" y="146542"/>
                  </a:lnTo>
                  <a:lnTo>
                    <a:pt x="512318" y="165363"/>
                  </a:lnTo>
                  <a:lnTo>
                    <a:pt x="512318" y="184150"/>
                  </a:lnTo>
                  <a:lnTo>
                    <a:pt x="525367" y="184910"/>
                  </a:lnTo>
                  <a:lnTo>
                    <a:pt x="538416" y="185658"/>
                  </a:lnTo>
                  <a:lnTo>
                    <a:pt x="551465" y="186382"/>
                  </a:lnTo>
                  <a:lnTo>
                    <a:pt x="564514" y="187071"/>
                  </a:lnTo>
                  <a:lnTo>
                    <a:pt x="566293" y="187198"/>
                  </a:lnTo>
                  <a:lnTo>
                    <a:pt x="572516" y="195452"/>
                  </a:lnTo>
                  <a:lnTo>
                    <a:pt x="573532" y="198374"/>
                  </a:lnTo>
                  <a:lnTo>
                    <a:pt x="574167" y="202184"/>
                  </a:lnTo>
                  <a:lnTo>
                    <a:pt x="574547" y="207137"/>
                  </a:lnTo>
                  <a:lnTo>
                    <a:pt x="575056" y="212089"/>
                  </a:lnTo>
                  <a:lnTo>
                    <a:pt x="575309" y="218059"/>
                  </a:lnTo>
                  <a:lnTo>
                    <a:pt x="575309" y="225171"/>
                  </a:lnTo>
                  <a:lnTo>
                    <a:pt x="568197" y="262636"/>
                  </a:lnTo>
                  <a:lnTo>
                    <a:pt x="564769" y="262509"/>
                  </a:lnTo>
                  <a:lnTo>
                    <a:pt x="551644" y="262243"/>
                  </a:lnTo>
                  <a:lnTo>
                    <a:pt x="538543" y="262000"/>
                  </a:lnTo>
                  <a:lnTo>
                    <a:pt x="525442" y="261758"/>
                  </a:lnTo>
                  <a:lnTo>
                    <a:pt x="512318" y="261492"/>
                  </a:lnTo>
                  <a:lnTo>
                    <a:pt x="512318" y="301136"/>
                  </a:lnTo>
                  <a:lnTo>
                    <a:pt x="512318" y="340804"/>
                  </a:lnTo>
                  <a:lnTo>
                    <a:pt x="512318" y="380472"/>
                  </a:lnTo>
                  <a:lnTo>
                    <a:pt x="512318" y="420115"/>
                  </a:lnTo>
                  <a:lnTo>
                    <a:pt x="512700" y="433099"/>
                  </a:lnTo>
                  <a:lnTo>
                    <a:pt x="527097" y="470868"/>
                  </a:lnTo>
                  <a:lnTo>
                    <a:pt x="540511" y="473328"/>
                  </a:lnTo>
                  <a:lnTo>
                    <a:pt x="544194" y="473075"/>
                  </a:lnTo>
                  <a:lnTo>
                    <a:pt x="557910" y="467740"/>
                  </a:lnTo>
                  <a:lnTo>
                    <a:pt x="560196" y="466471"/>
                  </a:lnTo>
                  <a:lnTo>
                    <a:pt x="561974" y="465327"/>
                  </a:lnTo>
                  <a:lnTo>
                    <a:pt x="563498" y="464312"/>
                  </a:lnTo>
                  <a:lnTo>
                    <a:pt x="565022" y="463296"/>
                  </a:lnTo>
                  <a:lnTo>
                    <a:pt x="566419" y="462788"/>
                  </a:lnTo>
                  <a:lnTo>
                    <a:pt x="567689" y="462661"/>
                  </a:lnTo>
                  <a:lnTo>
                    <a:pt x="568832" y="462661"/>
                  </a:lnTo>
                  <a:lnTo>
                    <a:pt x="569848" y="462914"/>
                  </a:lnTo>
                  <a:lnTo>
                    <a:pt x="570864" y="463803"/>
                  </a:lnTo>
                  <a:lnTo>
                    <a:pt x="571754" y="464565"/>
                  </a:lnTo>
                  <a:lnTo>
                    <a:pt x="574547" y="479171"/>
                  </a:lnTo>
                  <a:lnTo>
                    <a:pt x="575056" y="483488"/>
                  </a:lnTo>
                  <a:lnTo>
                    <a:pt x="575309" y="489076"/>
                  </a:lnTo>
                  <a:lnTo>
                    <a:pt x="575309" y="495935"/>
                  </a:lnTo>
                  <a:lnTo>
                    <a:pt x="575309" y="506729"/>
                  </a:lnTo>
                  <a:lnTo>
                    <a:pt x="574801" y="515112"/>
                  </a:lnTo>
                  <a:lnTo>
                    <a:pt x="573785" y="520953"/>
                  </a:lnTo>
                  <a:lnTo>
                    <a:pt x="572769" y="526796"/>
                  </a:lnTo>
                  <a:lnTo>
                    <a:pt x="571499" y="530987"/>
                  </a:lnTo>
                  <a:lnTo>
                    <a:pt x="569848" y="533526"/>
                  </a:lnTo>
                  <a:lnTo>
                    <a:pt x="568324" y="536066"/>
                  </a:lnTo>
                  <a:lnTo>
                    <a:pt x="551687" y="546608"/>
                  </a:lnTo>
                  <a:lnTo>
                    <a:pt x="547496" y="548513"/>
                  </a:lnTo>
                  <a:lnTo>
                    <a:pt x="542924" y="550037"/>
                  </a:lnTo>
                  <a:lnTo>
                    <a:pt x="537971" y="551307"/>
                  </a:lnTo>
                  <a:lnTo>
                    <a:pt x="533019" y="552703"/>
                  </a:lnTo>
                  <a:lnTo>
                    <a:pt x="528066" y="553592"/>
                  </a:lnTo>
                  <a:lnTo>
                    <a:pt x="523112" y="554227"/>
                  </a:lnTo>
                  <a:lnTo>
                    <a:pt x="513349" y="554872"/>
                  </a:lnTo>
                  <a:lnTo>
                    <a:pt x="504253" y="554529"/>
                  </a:lnTo>
                  <a:lnTo>
                    <a:pt x="468719" y="537585"/>
                  </a:lnTo>
                  <a:lnTo>
                    <a:pt x="449325" y="493649"/>
                  </a:lnTo>
                  <a:lnTo>
                    <a:pt x="445039" y="453983"/>
                  </a:lnTo>
                  <a:lnTo>
                    <a:pt x="444754" y="438530"/>
                  </a:lnTo>
                  <a:lnTo>
                    <a:pt x="444754" y="393934"/>
                  </a:lnTo>
                  <a:lnTo>
                    <a:pt x="444754" y="349313"/>
                  </a:lnTo>
                  <a:lnTo>
                    <a:pt x="444754" y="304692"/>
                  </a:lnTo>
                  <a:lnTo>
                    <a:pt x="444754" y="260096"/>
                  </a:lnTo>
                  <a:lnTo>
                    <a:pt x="437534" y="259978"/>
                  </a:lnTo>
                  <a:lnTo>
                    <a:pt x="430339" y="259826"/>
                  </a:lnTo>
                  <a:lnTo>
                    <a:pt x="423144" y="259649"/>
                  </a:lnTo>
                  <a:lnTo>
                    <a:pt x="415924" y="259461"/>
                  </a:lnTo>
                  <a:lnTo>
                    <a:pt x="412495" y="259461"/>
                  </a:lnTo>
                  <a:lnTo>
                    <a:pt x="405510" y="218821"/>
                  </a:lnTo>
                  <a:lnTo>
                    <a:pt x="405510" y="211074"/>
                  </a:lnTo>
                  <a:lnTo>
                    <a:pt x="405637" y="204597"/>
                  </a:lnTo>
                  <a:lnTo>
                    <a:pt x="406145" y="199389"/>
                  </a:lnTo>
                  <a:lnTo>
                    <a:pt x="406654" y="194055"/>
                  </a:lnTo>
                  <a:lnTo>
                    <a:pt x="414400" y="178815"/>
                  </a:lnTo>
                  <a:lnTo>
                    <a:pt x="416179" y="178815"/>
                  </a:lnTo>
                  <a:lnTo>
                    <a:pt x="423322" y="179270"/>
                  </a:lnTo>
                  <a:lnTo>
                    <a:pt x="430466" y="179689"/>
                  </a:lnTo>
                  <a:lnTo>
                    <a:pt x="437610" y="180084"/>
                  </a:lnTo>
                  <a:lnTo>
                    <a:pt x="444754" y="180466"/>
                  </a:lnTo>
                  <a:lnTo>
                    <a:pt x="444754" y="161036"/>
                  </a:lnTo>
                  <a:lnTo>
                    <a:pt x="444754" y="141605"/>
                  </a:lnTo>
                  <a:lnTo>
                    <a:pt x="444754" y="122174"/>
                  </a:lnTo>
                  <a:lnTo>
                    <a:pt x="444754" y="102742"/>
                  </a:lnTo>
                  <a:lnTo>
                    <a:pt x="444754" y="100202"/>
                  </a:lnTo>
                  <a:lnTo>
                    <a:pt x="445261" y="97916"/>
                  </a:lnTo>
                  <a:lnTo>
                    <a:pt x="446278" y="95885"/>
                  </a:lnTo>
                  <a:lnTo>
                    <a:pt x="447167" y="93852"/>
                  </a:lnTo>
                  <a:lnTo>
                    <a:pt x="449071" y="92328"/>
                  </a:lnTo>
                  <a:lnTo>
                    <a:pt x="451611" y="91059"/>
                  </a:lnTo>
                  <a:lnTo>
                    <a:pt x="454279" y="89915"/>
                  </a:lnTo>
                  <a:lnTo>
                    <a:pt x="457707" y="89280"/>
                  </a:lnTo>
                  <a:lnTo>
                    <a:pt x="462153" y="89026"/>
                  </a:lnTo>
                  <a:lnTo>
                    <a:pt x="466470" y="88773"/>
                  </a:lnTo>
                  <a:lnTo>
                    <a:pt x="471931" y="89026"/>
                  </a:lnTo>
                  <a:lnTo>
                    <a:pt x="478408" y="89662"/>
                  </a:lnTo>
                  <a:close/>
                </a:path>
                <a:path w="575310" h="604520">
                  <a:moveTo>
                    <a:pt x="35559" y="1015"/>
                  </a:moveTo>
                  <a:lnTo>
                    <a:pt x="42544" y="1777"/>
                  </a:lnTo>
                  <a:lnTo>
                    <a:pt x="48259" y="2921"/>
                  </a:lnTo>
                  <a:lnTo>
                    <a:pt x="52704" y="4317"/>
                  </a:lnTo>
                  <a:lnTo>
                    <a:pt x="57276" y="5714"/>
                  </a:lnTo>
                  <a:lnTo>
                    <a:pt x="69341" y="15748"/>
                  </a:lnTo>
                  <a:lnTo>
                    <a:pt x="70484" y="18287"/>
                  </a:lnTo>
                  <a:lnTo>
                    <a:pt x="71119" y="21082"/>
                  </a:lnTo>
                  <a:lnTo>
                    <a:pt x="71119" y="24129"/>
                  </a:lnTo>
                  <a:lnTo>
                    <a:pt x="71119" y="74664"/>
                  </a:lnTo>
                  <a:lnTo>
                    <a:pt x="71119" y="583184"/>
                  </a:lnTo>
                  <a:lnTo>
                    <a:pt x="70484" y="585977"/>
                  </a:lnTo>
                  <a:lnTo>
                    <a:pt x="69341" y="588517"/>
                  </a:lnTo>
                  <a:lnTo>
                    <a:pt x="68198" y="591058"/>
                  </a:lnTo>
                  <a:lnTo>
                    <a:pt x="66166" y="593216"/>
                  </a:lnTo>
                  <a:lnTo>
                    <a:pt x="63500" y="594995"/>
                  </a:lnTo>
                  <a:lnTo>
                    <a:pt x="60832" y="596900"/>
                  </a:lnTo>
                  <a:lnTo>
                    <a:pt x="57276" y="598424"/>
                  </a:lnTo>
                  <a:lnTo>
                    <a:pt x="52704" y="599821"/>
                  </a:lnTo>
                  <a:lnTo>
                    <a:pt x="48259" y="601217"/>
                  </a:lnTo>
                  <a:lnTo>
                    <a:pt x="42544" y="602361"/>
                  </a:lnTo>
                  <a:lnTo>
                    <a:pt x="35559" y="603123"/>
                  </a:lnTo>
                  <a:lnTo>
                    <a:pt x="28701" y="603885"/>
                  </a:lnTo>
                  <a:lnTo>
                    <a:pt x="22986" y="604138"/>
                  </a:lnTo>
                  <a:lnTo>
                    <a:pt x="18414" y="603630"/>
                  </a:lnTo>
                  <a:lnTo>
                    <a:pt x="13842" y="603250"/>
                  </a:lnTo>
                  <a:lnTo>
                    <a:pt x="10286" y="602361"/>
                  </a:lnTo>
                  <a:lnTo>
                    <a:pt x="7619" y="601090"/>
                  </a:lnTo>
                  <a:lnTo>
                    <a:pt x="4825" y="599948"/>
                  </a:lnTo>
                  <a:lnTo>
                    <a:pt x="2920" y="598042"/>
                  </a:lnTo>
                  <a:lnTo>
                    <a:pt x="1777" y="595757"/>
                  </a:lnTo>
                  <a:lnTo>
                    <a:pt x="634" y="593343"/>
                  </a:lnTo>
                  <a:lnTo>
                    <a:pt x="0" y="590550"/>
                  </a:lnTo>
                  <a:lnTo>
                    <a:pt x="0" y="587501"/>
                  </a:lnTo>
                  <a:lnTo>
                    <a:pt x="0" y="535585"/>
                  </a:lnTo>
                  <a:lnTo>
                    <a:pt x="0" y="13462"/>
                  </a:lnTo>
                  <a:lnTo>
                    <a:pt x="634" y="10667"/>
                  </a:lnTo>
                  <a:lnTo>
                    <a:pt x="1777" y="8254"/>
                  </a:lnTo>
                  <a:lnTo>
                    <a:pt x="2920" y="5968"/>
                  </a:lnTo>
                  <a:lnTo>
                    <a:pt x="4952" y="4190"/>
                  </a:lnTo>
                  <a:lnTo>
                    <a:pt x="7746" y="2921"/>
                  </a:lnTo>
                  <a:lnTo>
                    <a:pt x="10413" y="1650"/>
                  </a:lnTo>
                  <a:lnTo>
                    <a:pt x="14096" y="888"/>
                  </a:lnTo>
                  <a:lnTo>
                    <a:pt x="18541" y="380"/>
                  </a:lnTo>
                  <a:lnTo>
                    <a:pt x="23113" y="0"/>
                  </a:lnTo>
                  <a:lnTo>
                    <a:pt x="28701" y="126"/>
                  </a:lnTo>
                  <a:lnTo>
                    <a:pt x="35559" y="1015"/>
                  </a:lnTo>
                  <a:close/>
                </a:path>
              </a:pathLst>
            </a:custGeom>
            <a:ln w="12192">
              <a:solidFill>
                <a:srgbClr val="5B9BD4"/>
              </a:solidFill>
            </a:ln>
          </p:spPr>
          <p:txBody>
            <a:bodyPr wrap="square" lIns="0" tIns="0" rIns="0" bIns="0" rtlCol="0"/>
            <a:lstStyle/>
            <a:p>
              <a:endParaRPr/>
            </a:p>
          </p:txBody>
        </p:sp>
        <p:pic>
          <p:nvPicPr>
            <p:cNvPr id="12" name="object 12"/>
            <p:cNvPicPr/>
            <p:nvPr/>
          </p:nvPicPr>
          <p:blipFill>
            <a:blip r:embed="rId7" cstate="print"/>
            <a:stretch>
              <a:fillRect/>
            </a:stretch>
          </p:blipFill>
          <p:spPr>
            <a:xfrm>
              <a:off x="2601468" y="2182367"/>
              <a:ext cx="425195" cy="426720"/>
            </a:xfrm>
            <a:prstGeom prst="rect">
              <a:avLst/>
            </a:prstGeom>
          </p:spPr>
        </p:pic>
        <p:pic>
          <p:nvPicPr>
            <p:cNvPr id="13" name="object 13"/>
            <p:cNvPicPr/>
            <p:nvPr/>
          </p:nvPicPr>
          <p:blipFill>
            <a:blip r:embed="rId8" cstate="print"/>
            <a:stretch>
              <a:fillRect/>
            </a:stretch>
          </p:blipFill>
          <p:spPr>
            <a:xfrm>
              <a:off x="4818888" y="2471927"/>
              <a:ext cx="484632" cy="269748"/>
            </a:xfrm>
            <a:prstGeom prst="rect">
              <a:avLst/>
            </a:prstGeom>
          </p:spPr>
        </p:pic>
      </p:grpSp>
      <p:pic>
        <p:nvPicPr>
          <p:cNvPr id="14" name="object 14"/>
          <p:cNvPicPr/>
          <p:nvPr/>
        </p:nvPicPr>
        <p:blipFill>
          <a:blip r:embed="rId9" cstate="print"/>
          <a:stretch>
            <a:fillRect/>
          </a:stretch>
        </p:blipFill>
        <p:spPr>
          <a:xfrm>
            <a:off x="6560819" y="1677923"/>
            <a:ext cx="3124900" cy="2127504"/>
          </a:xfrm>
          <a:prstGeom prst="rect">
            <a:avLst/>
          </a:prstGeom>
        </p:spPr>
      </p:pic>
      <p:sp>
        <p:nvSpPr>
          <p:cNvPr id="15" name="object 15"/>
          <p:cNvSpPr txBox="1"/>
          <p:nvPr/>
        </p:nvSpPr>
        <p:spPr>
          <a:xfrm>
            <a:off x="6340855" y="3935348"/>
            <a:ext cx="4082415" cy="843821"/>
          </a:xfrm>
          <a:prstGeom prst="rect">
            <a:avLst/>
          </a:prstGeom>
        </p:spPr>
        <p:txBody>
          <a:bodyPr vert="horz" wrap="square" lIns="0" tIns="12700" rIns="0" bIns="0" rtlCol="0">
            <a:spAutoFit/>
          </a:bodyPr>
          <a:lstStyle/>
          <a:p>
            <a:pPr marL="12700" marR="5080" algn="ctr">
              <a:lnSpc>
                <a:spcPct val="100000"/>
              </a:lnSpc>
              <a:spcBef>
                <a:spcPts val="100"/>
              </a:spcBef>
            </a:pPr>
            <a:r>
              <a:rPr sz="1800" dirty="0">
                <a:latin typeface="Calibri"/>
                <a:cs typeface="Calibri"/>
              </a:rPr>
              <a:t>Recording,</a:t>
            </a:r>
            <a:r>
              <a:rPr sz="1800" spc="-25" dirty="0">
                <a:latin typeface="Calibri"/>
                <a:cs typeface="Calibri"/>
              </a:rPr>
              <a:t> </a:t>
            </a:r>
            <a:r>
              <a:rPr sz="1800" dirty="0">
                <a:latin typeface="Calibri"/>
                <a:cs typeface="Calibri"/>
              </a:rPr>
              <a:t>storing</a:t>
            </a:r>
            <a:r>
              <a:rPr sz="1800" spc="-20" dirty="0">
                <a:latin typeface="Calibri"/>
                <a:cs typeface="Calibri"/>
              </a:rPr>
              <a:t> </a:t>
            </a:r>
            <a:r>
              <a:rPr sz="1800" dirty="0">
                <a:latin typeface="Calibri"/>
                <a:cs typeface="Calibri"/>
              </a:rPr>
              <a:t>and</a:t>
            </a:r>
            <a:r>
              <a:rPr sz="1800" spc="-15" dirty="0">
                <a:latin typeface="Calibri"/>
                <a:cs typeface="Calibri"/>
              </a:rPr>
              <a:t> </a:t>
            </a:r>
            <a:r>
              <a:rPr sz="1800" dirty="0">
                <a:latin typeface="Calibri"/>
                <a:cs typeface="Calibri"/>
              </a:rPr>
              <a:t>querying</a:t>
            </a:r>
            <a:r>
              <a:rPr sz="1800" spc="-10" dirty="0">
                <a:latin typeface="Calibri"/>
                <a:cs typeface="Calibri"/>
              </a:rPr>
              <a:t> </a:t>
            </a:r>
            <a:r>
              <a:rPr sz="1800" dirty="0">
                <a:latin typeface="Calibri"/>
                <a:cs typeface="Calibri"/>
              </a:rPr>
              <a:t>judo</a:t>
            </a:r>
            <a:r>
              <a:rPr sz="1800" spc="-30" dirty="0">
                <a:latin typeface="Calibri"/>
                <a:cs typeface="Calibri"/>
              </a:rPr>
              <a:t> </a:t>
            </a:r>
            <a:r>
              <a:rPr sz="1800" spc="-10" dirty="0">
                <a:latin typeface="Calibri"/>
                <a:cs typeface="Calibri"/>
              </a:rPr>
              <a:t>match </a:t>
            </a:r>
            <a:r>
              <a:rPr sz="1800" dirty="0">
                <a:latin typeface="Calibri"/>
                <a:cs typeface="Calibri"/>
              </a:rPr>
              <a:t>data</a:t>
            </a:r>
            <a:r>
              <a:rPr sz="1800" spc="-25" dirty="0">
                <a:latin typeface="Calibri"/>
                <a:cs typeface="Calibri"/>
              </a:rPr>
              <a:t> </a:t>
            </a:r>
            <a:r>
              <a:rPr lang="en-NZ" sz="1800" dirty="0">
                <a:latin typeface="Calibri"/>
                <a:cs typeface="Calibri"/>
              </a:rPr>
              <a:t>in </a:t>
            </a:r>
            <a:r>
              <a:rPr sz="1800" dirty="0">
                <a:latin typeface="Calibri"/>
                <a:cs typeface="Calibri"/>
              </a:rPr>
              <a:t>an</a:t>
            </a:r>
            <a:r>
              <a:rPr sz="1800" spc="-10" dirty="0">
                <a:latin typeface="Calibri"/>
                <a:cs typeface="Calibri"/>
              </a:rPr>
              <a:t> </a:t>
            </a:r>
            <a:r>
              <a:rPr sz="1800" dirty="0">
                <a:latin typeface="Calibri"/>
                <a:cs typeface="Calibri"/>
              </a:rPr>
              <a:t>Android</a:t>
            </a:r>
            <a:r>
              <a:rPr sz="1800" spc="-25" dirty="0">
                <a:latin typeface="Calibri"/>
                <a:cs typeface="Calibri"/>
              </a:rPr>
              <a:t> </a:t>
            </a:r>
            <a:r>
              <a:rPr lang="en-NZ" sz="1800" dirty="0">
                <a:latin typeface="Calibri"/>
                <a:cs typeface="Calibri"/>
              </a:rPr>
              <a:t>App</a:t>
            </a:r>
            <a:r>
              <a:rPr sz="1800" spc="-20" dirty="0">
                <a:latin typeface="Calibri"/>
                <a:cs typeface="Calibri"/>
              </a:rPr>
              <a:t> </a:t>
            </a:r>
            <a:r>
              <a:rPr sz="1800" dirty="0">
                <a:latin typeface="Calibri"/>
                <a:cs typeface="Calibri"/>
              </a:rPr>
              <a:t>and</a:t>
            </a:r>
            <a:r>
              <a:rPr sz="1800" spc="-5" dirty="0">
                <a:latin typeface="Calibri"/>
                <a:cs typeface="Calibri"/>
              </a:rPr>
              <a:t> </a:t>
            </a:r>
            <a:r>
              <a:rPr lang="en-NZ" sz="1800" spc="-5" dirty="0">
                <a:latin typeface="Calibri"/>
                <a:cs typeface="Calibri"/>
              </a:rPr>
              <a:t>fed to a </a:t>
            </a:r>
            <a:r>
              <a:rPr sz="1800" spc="-10" dirty="0">
                <a:latin typeface="Calibri"/>
                <a:cs typeface="Calibri"/>
              </a:rPr>
              <a:t>Cloud </a:t>
            </a:r>
            <a:r>
              <a:rPr lang="en-NZ" sz="1800" spc="-10" dirty="0">
                <a:latin typeface="Calibri"/>
                <a:cs typeface="Calibri"/>
              </a:rPr>
              <a:t>Platform</a:t>
            </a:r>
            <a:endParaRPr sz="1800" dirty="0">
              <a:latin typeface="Calibri"/>
              <a:cs typeface="Calibri"/>
            </a:endParaRPr>
          </a:p>
        </p:txBody>
      </p:sp>
      <p:sp>
        <p:nvSpPr>
          <p:cNvPr id="16" name="object 16"/>
          <p:cNvSpPr txBox="1"/>
          <p:nvPr/>
        </p:nvSpPr>
        <p:spPr>
          <a:xfrm>
            <a:off x="7204964" y="5300853"/>
            <a:ext cx="2736215" cy="843821"/>
          </a:xfrm>
          <a:prstGeom prst="rect">
            <a:avLst/>
          </a:prstGeom>
        </p:spPr>
        <p:txBody>
          <a:bodyPr vert="horz" wrap="square" lIns="0" tIns="12700" rIns="0" bIns="0" rtlCol="0">
            <a:spAutoFit/>
          </a:bodyPr>
          <a:lstStyle/>
          <a:p>
            <a:pPr marR="5080" indent="12700" algn="ctr">
              <a:lnSpc>
                <a:spcPct val="100000"/>
              </a:lnSpc>
              <a:spcBef>
                <a:spcPts val="100"/>
              </a:spcBef>
            </a:pPr>
            <a:r>
              <a:rPr sz="1800" dirty="0">
                <a:latin typeface="Calibri"/>
                <a:cs typeface="Calibri"/>
              </a:rPr>
              <a:t>Use</a:t>
            </a:r>
            <a:r>
              <a:rPr sz="1800" spc="-20" dirty="0">
                <a:latin typeface="Calibri"/>
                <a:cs typeface="Calibri"/>
              </a:rPr>
              <a:t> </a:t>
            </a:r>
            <a:r>
              <a:rPr sz="1800" dirty="0">
                <a:latin typeface="Calibri"/>
                <a:cs typeface="Calibri"/>
              </a:rPr>
              <a:t>of</a:t>
            </a:r>
            <a:r>
              <a:rPr sz="1800" spc="-20" dirty="0">
                <a:latin typeface="Calibri"/>
                <a:cs typeface="Calibri"/>
              </a:rPr>
              <a:t> </a:t>
            </a:r>
            <a:r>
              <a:rPr sz="1800" dirty="0">
                <a:latin typeface="Calibri"/>
                <a:cs typeface="Calibri"/>
              </a:rPr>
              <a:t>camera</a:t>
            </a:r>
            <a:r>
              <a:rPr sz="1800" spc="-25" dirty="0">
                <a:latin typeface="Calibri"/>
                <a:cs typeface="Calibri"/>
              </a:rPr>
              <a:t> </a:t>
            </a:r>
            <a:r>
              <a:rPr sz="1800" dirty="0">
                <a:latin typeface="Calibri"/>
                <a:cs typeface="Calibri"/>
              </a:rPr>
              <a:t>surveillance </a:t>
            </a:r>
            <a:r>
              <a:rPr sz="1800" spc="-25" dirty="0">
                <a:latin typeface="Calibri"/>
                <a:cs typeface="Calibri"/>
              </a:rPr>
              <a:t>in </a:t>
            </a:r>
            <a:r>
              <a:rPr sz="1800" spc="-10" dirty="0">
                <a:latin typeface="Calibri"/>
                <a:cs typeface="Calibri"/>
              </a:rPr>
              <a:t>Auckland</a:t>
            </a:r>
            <a:r>
              <a:rPr lang="en-NZ" sz="1800" spc="-10" dirty="0">
                <a:latin typeface="Calibri"/>
                <a:cs typeface="Calibri"/>
              </a:rPr>
              <a:t> for traffic  management</a:t>
            </a:r>
            <a:endParaRPr sz="1800" dirty="0">
              <a:latin typeface="Calibri"/>
              <a:cs typeface="Calibri"/>
            </a:endParaRPr>
          </a:p>
        </p:txBody>
      </p:sp>
      <p:sp>
        <p:nvSpPr>
          <p:cNvPr id="17" name="object 17"/>
          <p:cNvSpPr txBox="1"/>
          <p:nvPr/>
        </p:nvSpPr>
        <p:spPr>
          <a:xfrm>
            <a:off x="3977653" y="5517946"/>
            <a:ext cx="622300" cy="502920"/>
          </a:xfrm>
          <a:prstGeom prst="rect">
            <a:avLst/>
          </a:prstGeom>
        </p:spPr>
        <p:txBody>
          <a:bodyPr vert="horz" wrap="square" lIns="0" tIns="0" rIns="0" bIns="0" rtlCol="0">
            <a:spAutoFit/>
          </a:bodyPr>
          <a:lstStyle/>
          <a:p>
            <a:pPr marL="45085">
              <a:lnSpc>
                <a:spcPts val="1710"/>
              </a:lnSpc>
            </a:pPr>
            <a:r>
              <a:rPr sz="1800" spc="-20" dirty="0">
                <a:latin typeface="Calibri"/>
                <a:cs typeface="Calibri"/>
              </a:rPr>
              <a:t>ternet</a:t>
            </a:r>
            <a:endParaRPr sz="1800">
              <a:latin typeface="Calibri"/>
              <a:cs typeface="Calibri"/>
            </a:endParaRPr>
          </a:p>
          <a:p>
            <a:pPr>
              <a:lnSpc>
                <a:spcPct val="100000"/>
              </a:lnSpc>
            </a:pPr>
            <a:r>
              <a:rPr sz="1800" dirty="0">
                <a:latin typeface="Calibri"/>
                <a:cs typeface="Calibri"/>
              </a:rPr>
              <a:t>ng</a:t>
            </a:r>
            <a:r>
              <a:rPr sz="1800" spc="25" dirty="0">
                <a:latin typeface="Calibri"/>
                <a:cs typeface="Calibri"/>
              </a:rPr>
              <a:t> </a:t>
            </a:r>
            <a:r>
              <a:rPr sz="1800" spc="-25" dirty="0">
                <a:latin typeface="Calibri"/>
                <a:cs typeface="Calibri"/>
              </a:rPr>
              <a:t>in</a:t>
            </a:r>
            <a:endParaRPr sz="1800">
              <a:latin typeface="Calibri"/>
              <a:cs typeface="Calibri"/>
            </a:endParaRPr>
          </a:p>
        </p:txBody>
      </p:sp>
      <p:sp>
        <p:nvSpPr>
          <p:cNvPr id="18" name="object 18"/>
          <p:cNvSpPr txBox="1"/>
          <p:nvPr/>
        </p:nvSpPr>
        <p:spPr>
          <a:xfrm>
            <a:off x="1961388" y="5517946"/>
            <a:ext cx="2063114" cy="777875"/>
          </a:xfrm>
          <a:prstGeom prst="rect">
            <a:avLst/>
          </a:prstGeom>
        </p:spPr>
        <p:txBody>
          <a:bodyPr vert="horz" wrap="square" lIns="0" tIns="0" rIns="0" bIns="0" rtlCol="0">
            <a:spAutoFit/>
          </a:bodyPr>
          <a:lstStyle/>
          <a:p>
            <a:pPr algn="r">
              <a:lnSpc>
                <a:spcPts val="1710"/>
              </a:lnSpc>
            </a:pPr>
            <a:r>
              <a:rPr sz="1800" dirty="0">
                <a:latin typeface="Calibri"/>
                <a:cs typeface="Calibri"/>
              </a:rPr>
              <a:t>We</a:t>
            </a:r>
            <a:r>
              <a:rPr sz="1800" spc="-45" dirty="0">
                <a:latin typeface="Calibri"/>
                <a:cs typeface="Calibri"/>
              </a:rPr>
              <a:t> </a:t>
            </a:r>
            <a:r>
              <a:rPr sz="1800" dirty="0">
                <a:latin typeface="Calibri"/>
                <a:cs typeface="Calibri"/>
              </a:rPr>
              <a:t>want</a:t>
            </a:r>
            <a:r>
              <a:rPr sz="1800" spc="-35"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provide</a:t>
            </a:r>
            <a:r>
              <a:rPr sz="1800" spc="-25" dirty="0">
                <a:latin typeface="Calibri"/>
                <a:cs typeface="Calibri"/>
              </a:rPr>
              <a:t> In</a:t>
            </a:r>
            <a:endParaRPr sz="1800">
              <a:latin typeface="Calibri"/>
              <a:cs typeface="Calibri"/>
            </a:endParaRPr>
          </a:p>
          <a:p>
            <a:pPr marR="38100" algn="r">
              <a:lnSpc>
                <a:spcPct val="100000"/>
              </a:lnSpc>
            </a:pPr>
            <a:r>
              <a:rPr sz="1800" dirty="0">
                <a:latin typeface="Calibri"/>
                <a:cs typeface="Calibri"/>
              </a:rPr>
              <a:t>access</a:t>
            </a:r>
            <a:r>
              <a:rPr sz="1800" spc="-10" dirty="0">
                <a:latin typeface="Calibri"/>
                <a:cs typeface="Calibri"/>
              </a:rPr>
              <a:t> </a:t>
            </a:r>
            <a:r>
              <a:rPr sz="1800" dirty="0">
                <a:latin typeface="Calibri"/>
                <a:cs typeface="Calibri"/>
              </a:rPr>
              <a:t>to</a:t>
            </a:r>
            <a:r>
              <a:rPr sz="1800" spc="-10" dirty="0">
                <a:latin typeface="Calibri"/>
                <a:cs typeface="Calibri"/>
              </a:rPr>
              <a:t> </a:t>
            </a:r>
            <a:r>
              <a:rPr sz="1800" dirty="0">
                <a:latin typeface="Calibri"/>
                <a:cs typeface="Calibri"/>
              </a:rPr>
              <a:t>people</a:t>
            </a:r>
            <a:r>
              <a:rPr sz="1800" spc="5" dirty="0">
                <a:latin typeface="Calibri"/>
                <a:cs typeface="Calibri"/>
              </a:rPr>
              <a:t> </a:t>
            </a:r>
            <a:r>
              <a:rPr sz="1800" spc="-20" dirty="0">
                <a:latin typeface="Calibri"/>
                <a:cs typeface="Calibri"/>
              </a:rPr>
              <a:t>livi</a:t>
            </a:r>
            <a:endParaRPr sz="1800">
              <a:latin typeface="Calibri"/>
              <a:cs typeface="Calibri"/>
            </a:endParaRPr>
          </a:p>
          <a:p>
            <a:pPr marL="1051560">
              <a:lnSpc>
                <a:spcPct val="100000"/>
              </a:lnSpc>
            </a:pPr>
            <a:r>
              <a:rPr sz="1800" spc="-10" dirty="0">
                <a:latin typeface="Calibri"/>
                <a:cs typeface="Calibri"/>
              </a:rPr>
              <a:t>slums</a:t>
            </a:r>
            <a:endParaRPr sz="1800">
              <a:latin typeface="Calibri"/>
              <a:cs typeface="Calibri"/>
            </a:endParaRPr>
          </a:p>
        </p:txBody>
      </p:sp>
      <p:grpSp>
        <p:nvGrpSpPr>
          <p:cNvPr id="19" name="object 19"/>
          <p:cNvGrpSpPr/>
          <p:nvPr/>
        </p:nvGrpSpPr>
        <p:grpSpPr>
          <a:xfrm>
            <a:off x="1847088" y="4721352"/>
            <a:ext cx="4718685" cy="1681480"/>
            <a:chOff x="1847088" y="4721352"/>
            <a:chExt cx="4718685" cy="1681480"/>
          </a:xfrm>
        </p:grpSpPr>
        <p:pic>
          <p:nvPicPr>
            <p:cNvPr id="20" name="object 20"/>
            <p:cNvPicPr/>
            <p:nvPr/>
          </p:nvPicPr>
          <p:blipFill>
            <a:blip r:embed="rId10" cstate="print"/>
            <a:stretch>
              <a:fillRect/>
            </a:stretch>
          </p:blipFill>
          <p:spPr>
            <a:xfrm>
              <a:off x="4032504" y="4721352"/>
              <a:ext cx="2532888" cy="1680972"/>
            </a:xfrm>
            <a:prstGeom prst="rect">
              <a:avLst/>
            </a:prstGeom>
          </p:spPr>
        </p:pic>
        <p:pic>
          <p:nvPicPr>
            <p:cNvPr id="21" name="object 21"/>
            <p:cNvPicPr/>
            <p:nvPr/>
          </p:nvPicPr>
          <p:blipFill>
            <a:blip r:embed="rId11" cstate="print"/>
            <a:stretch>
              <a:fillRect/>
            </a:stretch>
          </p:blipFill>
          <p:spPr>
            <a:xfrm>
              <a:off x="1847088" y="4721352"/>
              <a:ext cx="2243328" cy="1680972"/>
            </a:xfrm>
            <a:prstGeom prst="rect">
              <a:avLst/>
            </a:prstGeom>
          </p:spPr>
        </p:pic>
      </p:grpSp>
      <p:sp>
        <p:nvSpPr>
          <p:cNvPr id="22" name="object 22"/>
          <p:cNvSpPr txBox="1"/>
          <p:nvPr/>
        </p:nvSpPr>
        <p:spPr>
          <a:xfrm>
            <a:off x="2082164" y="4109084"/>
            <a:ext cx="3557904" cy="574040"/>
          </a:xfrm>
          <a:prstGeom prst="rect">
            <a:avLst/>
          </a:prstGeom>
        </p:spPr>
        <p:txBody>
          <a:bodyPr vert="horz" wrap="square" lIns="0" tIns="12700" rIns="0" bIns="0" rtlCol="0">
            <a:spAutoFit/>
          </a:bodyPr>
          <a:lstStyle/>
          <a:p>
            <a:pPr marL="780415" marR="5080" indent="-768350">
              <a:lnSpc>
                <a:spcPct val="100000"/>
              </a:lnSpc>
              <a:spcBef>
                <a:spcPts val="100"/>
              </a:spcBef>
            </a:pPr>
            <a:r>
              <a:rPr sz="1800" dirty="0">
                <a:latin typeface="Calibri"/>
                <a:cs typeface="Calibri"/>
              </a:rPr>
              <a:t>We</a:t>
            </a:r>
            <a:r>
              <a:rPr sz="1800" spc="-40" dirty="0">
                <a:latin typeface="Calibri"/>
                <a:cs typeface="Calibri"/>
              </a:rPr>
              <a:t> </a:t>
            </a:r>
            <a:r>
              <a:rPr sz="1800" dirty="0">
                <a:latin typeface="Calibri"/>
                <a:cs typeface="Calibri"/>
              </a:rPr>
              <a:t>want</a:t>
            </a:r>
            <a:r>
              <a:rPr sz="1800" spc="-35"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provide</a:t>
            </a:r>
            <a:r>
              <a:rPr sz="1800" spc="-25" dirty="0">
                <a:latin typeface="Calibri"/>
                <a:cs typeface="Calibri"/>
              </a:rPr>
              <a:t> </a:t>
            </a:r>
            <a:r>
              <a:rPr sz="1800" dirty="0">
                <a:latin typeface="Calibri"/>
                <a:cs typeface="Calibri"/>
              </a:rPr>
              <a:t>Internet</a:t>
            </a:r>
            <a:r>
              <a:rPr sz="1800" spc="-45" dirty="0">
                <a:latin typeface="Calibri"/>
                <a:cs typeface="Calibri"/>
              </a:rPr>
              <a:t> </a:t>
            </a:r>
            <a:r>
              <a:rPr sz="1800" dirty="0">
                <a:latin typeface="Calibri"/>
                <a:cs typeface="Calibri"/>
              </a:rPr>
              <a:t>access</a:t>
            </a:r>
            <a:r>
              <a:rPr sz="1800" spc="-35" dirty="0">
                <a:latin typeface="Calibri"/>
                <a:cs typeface="Calibri"/>
              </a:rPr>
              <a:t> </a:t>
            </a:r>
            <a:r>
              <a:rPr sz="1800" spc="-25" dirty="0">
                <a:latin typeface="Calibri"/>
                <a:cs typeface="Calibri"/>
              </a:rPr>
              <a:t>to </a:t>
            </a:r>
            <a:r>
              <a:rPr sz="1800" dirty="0">
                <a:latin typeface="Calibri"/>
                <a:cs typeface="Calibri"/>
              </a:rPr>
              <a:t>people</a:t>
            </a:r>
            <a:r>
              <a:rPr sz="1800" spc="5" dirty="0">
                <a:latin typeface="Calibri"/>
                <a:cs typeface="Calibri"/>
              </a:rPr>
              <a:t> </a:t>
            </a:r>
            <a:r>
              <a:rPr sz="1800" dirty="0">
                <a:latin typeface="Calibri"/>
                <a:cs typeface="Calibri"/>
              </a:rPr>
              <a:t>living</a:t>
            </a:r>
            <a:r>
              <a:rPr sz="1800" spc="5" dirty="0">
                <a:latin typeface="Calibri"/>
                <a:cs typeface="Calibri"/>
              </a:rPr>
              <a:t> </a:t>
            </a:r>
            <a:r>
              <a:rPr sz="1800" dirty="0">
                <a:latin typeface="Calibri"/>
                <a:cs typeface="Calibri"/>
              </a:rPr>
              <a:t>in</a:t>
            </a:r>
            <a:r>
              <a:rPr sz="1800" spc="10" dirty="0">
                <a:latin typeface="Calibri"/>
                <a:cs typeface="Calibri"/>
              </a:rPr>
              <a:t> </a:t>
            </a:r>
            <a:r>
              <a:rPr lang="en-NZ" sz="1800" spc="-10" dirty="0">
                <a:latin typeface="Calibri"/>
                <a:cs typeface="Calibri"/>
              </a:rPr>
              <a:t>all areas</a:t>
            </a:r>
            <a:endParaRPr sz="1800"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3389" rIns="0" bIns="0" rtlCol="0">
            <a:spAutoFit/>
          </a:bodyPr>
          <a:lstStyle/>
          <a:p>
            <a:pPr marL="83185">
              <a:lnSpc>
                <a:spcPct val="100000"/>
              </a:lnSpc>
              <a:spcBef>
                <a:spcPts val="105"/>
              </a:spcBef>
            </a:pPr>
            <a:r>
              <a:rPr dirty="0"/>
              <a:t>Project</a:t>
            </a:r>
            <a:r>
              <a:rPr spc="-85" dirty="0"/>
              <a:t> </a:t>
            </a:r>
            <a:r>
              <a:rPr spc="-20" dirty="0"/>
              <a:t>Attributes</a:t>
            </a:r>
          </a:p>
        </p:txBody>
      </p:sp>
      <p:sp>
        <p:nvSpPr>
          <p:cNvPr id="3" name="object 3"/>
          <p:cNvSpPr txBox="1"/>
          <p:nvPr/>
        </p:nvSpPr>
        <p:spPr>
          <a:xfrm>
            <a:off x="1539366" y="1775489"/>
            <a:ext cx="10255885" cy="3187700"/>
          </a:xfrm>
          <a:prstGeom prst="rect">
            <a:avLst/>
          </a:prstGeom>
        </p:spPr>
        <p:txBody>
          <a:bodyPr vert="horz" wrap="square" lIns="0" tIns="48895" rIns="0" bIns="0" rtlCol="0">
            <a:spAutoFit/>
          </a:bodyPr>
          <a:lstStyle/>
          <a:p>
            <a:pPr marL="240665" indent="-227965">
              <a:lnSpc>
                <a:spcPct val="100000"/>
              </a:lnSpc>
              <a:spcBef>
                <a:spcPts val="385"/>
              </a:spcBef>
              <a:buClr>
                <a:srgbClr val="F5821F"/>
              </a:buClr>
              <a:buFont typeface="Arial"/>
              <a:buChar char="•"/>
              <a:tabLst>
                <a:tab pos="240665" algn="l"/>
              </a:tabLst>
            </a:pPr>
            <a:r>
              <a:rPr sz="2800" dirty="0">
                <a:latin typeface="Calibri"/>
                <a:cs typeface="Calibri"/>
              </a:rPr>
              <a:t>A</a:t>
            </a:r>
            <a:r>
              <a:rPr sz="2800" spc="-5" dirty="0">
                <a:latin typeface="Calibri"/>
                <a:cs typeface="Calibri"/>
              </a:rPr>
              <a:t> </a:t>
            </a:r>
            <a:r>
              <a:rPr sz="2800" b="1" spc="-10" dirty="0">
                <a:latin typeface="Calibri"/>
                <a:cs typeface="Calibri"/>
              </a:rPr>
              <a:t>project</a:t>
            </a:r>
            <a:endParaRPr sz="2800" dirty="0">
              <a:latin typeface="Calibri"/>
              <a:cs typeface="Calibri"/>
            </a:endParaRPr>
          </a:p>
          <a:p>
            <a:pPr marL="697865" lvl="1" indent="-227965">
              <a:lnSpc>
                <a:spcPct val="100000"/>
              </a:lnSpc>
              <a:spcBef>
                <a:spcPts val="245"/>
              </a:spcBef>
              <a:buClr>
                <a:srgbClr val="F5821F"/>
              </a:buClr>
              <a:buFont typeface="Arial"/>
              <a:buChar char="•"/>
              <a:tabLst>
                <a:tab pos="697865" algn="l"/>
              </a:tabLst>
            </a:pPr>
            <a:r>
              <a:rPr sz="2400" dirty="0">
                <a:latin typeface="Calibri"/>
                <a:cs typeface="Calibri"/>
              </a:rPr>
              <a:t>has</a:t>
            </a:r>
            <a:r>
              <a:rPr sz="2400" spc="-10" dirty="0">
                <a:latin typeface="Calibri"/>
                <a:cs typeface="Calibri"/>
              </a:rPr>
              <a:t> </a:t>
            </a:r>
            <a:r>
              <a:rPr sz="2400" dirty="0">
                <a:latin typeface="Calibri"/>
                <a:cs typeface="Calibri"/>
              </a:rPr>
              <a:t>a</a:t>
            </a:r>
            <a:r>
              <a:rPr sz="2400" spc="-10" dirty="0">
                <a:latin typeface="Calibri"/>
                <a:cs typeface="Calibri"/>
              </a:rPr>
              <a:t> </a:t>
            </a:r>
            <a:r>
              <a:rPr sz="2400" dirty="0">
                <a:solidFill>
                  <a:srgbClr val="006FC0"/>
                </a:solidFill>
                <a:latin typeface="Calibri"/>
                <a:cs typeface="Calibri"/>
              </a:rPr>
              <a:t>unique</a:t>
            </a:r>
            <a:r>
              <a:rPr sz="2400" spc="-5" dirty="0">
                <a:solidFill>
                  <a:srgbClr val="006FC0"/>
                </a:solidFill>
                <a:latin typeface="Calibri"/>
                <a:cs typeface="Calibri"/>
              </a:rPr>
              <a:t> </a:t>
            </a:r>
            <a:r>
              <a:rPr sz="2400" spc="-10" dirty="0">
                <a:latin typeface="Calibri"/>
                <a:cs typeface="Calibri"/>
              </a:rPr>
              <a:t>purpose</a:t>
            </a:r>
            <a:endParaRPr sz="2400" dirty="0">
              <a:latin typeface="Calibri"/>
              <a:cs typeface="Calibri"/>
            </a:endParaRPr>
          </a:p>
          <a:p>
            <a:pPr marL="697865" lvl="1" indent="-227965">
              <a:lnSpc>
                <a:spcPct val="100000"/>
              </a:lnSpc>
              <a:spcBef>
                <a:spcPts val="219"/>
              </a:spcBef>
              <a:buClr>
                <a:srgbClr val="F5821F"/>
              </a:buClr>
              <a:buFont typeface="Arial"/>
              <a:buChar char="•"/>
              <a:tabLst>
                <a:tab pos="697865" algn="l"/>
              </a:tabLst>
            </a:pPr>
            <a:r>
              <a:rPr sz="2400" dirty="0">
                <a:latin typeface="Calibri"/>
                <a:cs typeface="Calibri"/>
              </a:rPr>
              <a:t>is</a:t>
            </a:r>
            <a:r>
              <a:rPr sz="2400" spc="-10" dirty="0">
                <a:latin typeface="Calibri"/>
                <a:cs typeface="Calibri"/>
              </a:rPr>
              <a:t> </a:t>
            </a:r>
            <a:r>
              <a:rPr sz="2400" spc="-10" dirty="0">
                <a:solidFill>
                  <a:srgbClr val="006FC0"/>
                </a:solidFill>
                <a:latin typeface="Calibri"/>
                <a:cs typeface="Calibri"/>
              </a:rPr>
              <a:t>temporary</a:t>
            </a:r>
            <a:endParaRPr sz="2400" dirty="0">
              <a:latin typeface="Calibri"/>
              <a:cs typeface="Calibri"/>
            </a:endParaRPr>
          </a:p>
          <a:p>
            <a:pPr marL="697865" lvl="1" indent="-227965">
              <a:lnSpc>
                <a:spcPct val="100000"/>
              </a:lnSpc>
              <a:spcBef>
                <a:spcPts val="200"/>
              </a:spcBef>
              <a:buClr>
                <a:srgbClr val="F5821F"/>
              </a:buClr>
              <a:buFont typeface="Arial"/>
              <a:buChar char="•"/>
              <a:tabLst>
                <a:tab pos="697865" algn="l"/>
              </a:tabLst>
            </a:pPr>
            <a:r>
              <a:rPr sz="2400" dirty="0">
                <a:latin typeface="Calibri"/>
                <a:cs typeface="Calibri"/>
              </a:rPr>
              <a:t>is</a:t>
            </a:r>
            <a:r>
              <a:rPr sz="2400" spc="-55" dirty="0">
                <a:latin typeface="Calibri"/>
                <a:cs typeface="Calibri"/>
              </a:rPr>
              <a:t> </a:t>
            </a:r>
            <a:r>
              <a:rPr sz="2400" dirty="0">
                <a:latin typeface="Calibri"/>
                <a:cs typeface="Calibri"/>
              </a:rPr>
              <a:t>developed</a:t>
            </a:r>
            <a:r>
              <a:rPr sz="2400" spc="-35" dirty="0">
                <a:latin typeface="Calibri"/>
                <a:cs typeface="Calibri"/>
              </a:rPr>
              <a:t> </a:t>
            </a:r>
            <a:r>
              <a:rPr sz="2400" dirty="0">
                <a:latin typeface="Calibri"/>
                <a:cs typeface="Calibri"/>
              </a:rPr>
              <a:t>using</a:t>
            </a:r>
            <a:r>
              <a:rPr sz="2400" spc="-55" dirty="0">
                <a:latin typeface="Calibri"/>
                <a:cs typeface="Calibri"/>
              </a:rPr>
              <a:t> </a:t>
            </a:r>
            <a:r>
              <a:rPr sz="2400" dirty="0">
                <a:latin typeface="Calibri"/>
                <a:cs typeface="Calibri"/>
              </a:rPr>
              <a:t>progressive</a:t>
            </a:r>
            <a:r>
              <a:rPr sz="2400" spc="-45" dirty="0">
                <a:latin typeface="Calibri"/>
                <a:cs typeface="Calibri"/>
              </a:rPr>
              <a:t> </a:t>
            </a:r>
            <a:r>
              <a:rPr sz="2400" spc="-10" dirty="0">
                <a:latin typeface="Calibri"/>
                <a:cs typeface="Calibri"/>
              </a:rPr>
              <a:t>elaboration</a:t>
            </a:r>
            <a:endParaRPr sz="2400" dirty="0">
              <a:latin typeface="Calibri"/>
              <a:cs typeface="Calibri"/>
            </a:endParaRPr>
          </a:p>
          <a:p>
            <a:pPr marL="697865" lvl="1" indent="-227965">
              <a:lnSpc>
                <a:spcPct val="100000"/>
              </a:lnSpc>
              <a:spcBef>
                <a:spcPts val="219"/>
              </a:spcBef>
              <a:buClr>
                <a:srgbClr val="F5821F"/>
              </a:buClr>
              <a:buFont typeface="Arial"/>
              <a:buChar char="•"/>
              <a:tabLst>
                <a:tab pos="697865" algn="l"/>
              </a:tabLst>
            </a:pPr>
            <a:r>
              <a:rPr sz="2400" dirty="0">
                <a:latin typeface="Calibri"/>
                <a:cs typeface="Calibri"/>
              </a:rPr>
              <a:t>requires</a:t>
            </a:r>
            <a:r>
              <a:rPr sz="2400" spc="-70" dirty="0">
                <a:latin typeface="Calibri"/>
                <a:cs typeface="Calibri"/>
              </a:rPr>
              <a:t> </a:t>
            </a:r>
            <a:r>
              <a:rPr sz="2400" dirty="0">
                <a:latin typeface="Calibri"/>
                <a:cs typeface="Calibri"/>
              </a:rPr>
              <a:t>resources</a:t>
            </a:r>
            <a:r>
              <a:rPr lang="en-NZ" sz="2400" dirty="0">
                <a:latin typeface="Calibri"/>
                <a:cs typeface="Calibri"/>
              </a:rPr>
              <a:t> - </a:t>
            </a:r>
            <a:r>
              <a:rPr sz="2400" dirty="0">
                <a:latin typeface="Calibri"/>
                <a:cs typeface="Calibri"/>
              </a:rPr>
              <a:t>human</a:t>
            </a:r>
            <a:r>
              <a:rPr sz="2400" spc="-60" dirty="0">
                <a:latin typeface="Calibri"/>
                <a:cs typeface="Calibri"/>
              </a:rPr>
              <a:t> </a:t>
            </a:r>
            <a:r>
              <a:rPr sz="2400" dirty="0">
                <a:latin typeface="Calibri"/>
                <a:cs typeface="Calibri"/>
              </a:rPr>
              <a:t>and</a:t>
            </a:r>
            <a:r>
              <a:rPr sz="2400" spc="-70" dirty="0">
                <a:latin typeface="Calibri"/>
                <a:cs typeface="Calibri"/>
              </a:rPr>
              <a:t> </a:t>
            </a:r>
            <a:r>
              <a:rPr sz="2400" dirty="0">
                <a:latin typeface="Calibri"/>
                <a:cs typeface="Calibri"/>
              </a:rPr>
              <a:t>physical</a:t>
            </a:r>
            <a:r>
              <a:rPr sz="2400" spc="-55" dirty="0">
                <a:latin typeface="Calibri"/>
                <a:cs typeface="Calibri"/>
              </a:rPr>
              <a:t> </a:t>
            </a:r>
            <a:r>
              <a:rPr sz="2400" spc="-10" dirty="0">
                <a:latin typeface="Calibri"/>
                <a:cs typeface="Calibri"/>
              </a:rPr>
              <a:t>resources</a:t>
            </a:r>
            <a:endParaRPr sz="2400" dirty="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should</a:t>
            </a:r>
            <a:r>
              <a:rPr sz="2400" spc="-30" dirty="0">
                <a:latin typeface="Calibri"/>
                <a:cs typeface="Calibri"/>
              </a:rPr>
              <a:t> </a:t>
            </a:r>
            <a:r>
              <a:rPr sz="2400" dirty="0">
                <a:latin typeface="Calibri"/>
                <a:cs typeface="Calibri"/>
              </a:rPr>
              <a:t>have</a:t>
            </a:r>
            <a:r>
              <a:rPr sz="2400" spc="-25" dirty="0">
                <a:latin typeface="Calibri"/>
                <a:cs typeface="Calibri"/>
              </a:rPr>
              <a:t> </a:t>
            </a:r>
            <a:r>
              <a:rPr sz="2400" dirty="0">
                <a:latin typeface="Calibri"/>
                <a:cs typeface="Calibri"/>
              </a:rPr>
              <a:t>a</a:t>
            </a:r>
            <a:r>
              <a:rPr sz="2400" spc="-35" dirty="0">
                <a:latin typeface="Calibri"/>
                <a:cs typeface="Calibri"/>
              </a:rPr>
              <a:t> </a:t>
            </a:r>
            <a:r>
              <a:rPr sz="2400" dirty="0">
                <a:latin typeface="Calibri"/>
                <a:cs typeface="Calibri"/>
              </a:rPr>
              <a:t>primary</a:t>
            </a:r>
            <a:r>
              <a:rPr sz="2400" spc="-35" dirty="0">
                <a:latin typeface="Calibri"/>
                <a:cs typeface="Calibri"/>
              </a:rPr>
              <a:t> </a:t>
            </a:r>
            <a:r>
              <a:rPr sz="2400" dirty="0">
                <a:latin typeface="Calibri"/>
                <a:cs typeface="Calibri"/>
              </a:rPr>
              <a:t>customer</a:t>
            </a:r>
            <a:r>
              <a:rPr sz="2400" spc="-50" dirty="0">
                <a:latin typeface="Calibri"/>
                <a:cs typeface="Calibri"/>
              </a:rPr>
              <a:t> </a:t>
            </a:r>
            <a:r>
              <a:rPr sz="2400" dirty="0">
                <a:latin typeface="Calibri"/>
                <a:cs typeface="Calibri"/>
              </a:rPr>
              <a:t>or</a:t>
            </a:r>
            <a:r>
              <a:rPr sz="2400" spc="-20" dirty="0">
                <a:latin typeface="Calibri"/>
                <a:cs typeface="Calibri"/>
              </a:rPr>
              <a:t> </a:t>
            </a:r>
            <a:r>
              <a:rPr sz="2400" spc="-10" dirty="0">
                <a:latin typeface="Calibri"/>
                <a:cs typeface="Calibri"/>
              </a:rPr>
              <a:t>sponsor</a:t>
            </a:r>
            <a:endParaRPr sz="2400" dirty="0">
              <a:latin typeface="Calibri"/>
              <a:cs typeface="Calibri"/>
            </a:endParaRPr>
          </a:p>
          <a:p>
            <a:pPr marL="1155700" lvl="2" indent="-228600">
              <a:lnSpc>
                <a:spcPct val="100000"/>
              </a:lnSpc>
              <a:spcBef>
                <a:spcPts val="280"/>
              </a:spcBef>
              <a:buClr>
                <a:srgbClr val="F5821F"/>
              </a:buClr>
              <a:buFont typeface="Arial"/>
              <a:buChar char="•"/>
              <a:tabLst>
                <a:tab pos="1155700" algn="l"/>
              </a:tabLst>
            </a:pPr>
            <a:r>
              <a:rPr sz="2000" dirty="0">
                <a:latin typeface="Calibri"/>
                <a:cs typeface="Calibri"/>
              </a:rPr>
              <a:t>The</a:t>
            </a:r>
            <a:r>
              <a:rPr sz="2000" spc="-25" dirty="0">
                <a:latin typeface="Calibri"/>
                <a:cs typeface="Calibri"/>
              </a:rPr>
              <a:t> </a:t>
            </a:r>
            <a:r>
              <a:rPr sz="2000" b="1" dirty="0">
                <a:solidFill>
                  <a:srgbClr val="006FC0"/>
                </a:solidFill>
                <a:latin typeface="Calibri"/>
                <a:cs typeface="Calibri"/>
              </a:rPr>
              <a:t>project</a:t>
            </a:r>
            <a:r>
              <a:rPr sz="2000" b="1" spc="-40" dirty="0">
                <a:solidFill>
                  <a:srgbClr val="006FC0"/>
                </a:solidFill>
                <a:latin typeface="Calibri"/>
                <a:cs typeface="Calibri"/>
              </a:rPr>
              <a:t> </a:t>
            </a:r>
            <a:r>
              <a:rPr sz="2000" b="1" dirty="0">
                <a:solidFill>
                  <a:srgbClr val="006FC0"/>
                </a:solidFill>
                <a:latin typeface="Calibri"/>
                <a:cs typeface="Calibri"/>
              </a:rPr>
              <a:t>sponsor</a:t>
            </a:r>
            <a:r>
              <a:rPr sz="2000" b="1" spc="-45" dirty="0">
                <a:solidFill>
                  <a:srgbClr val="006FC0"/>
                </a:solidFill>
                <a:latin typeface="Calibri"/>
                <a:cs typeface="Calibri"/>
              </a:rPr>
              <a:t> </a:t>
            </a:r>
            <a:r>
              <a:rPr sz="2000" dirty="0">
                <a:latin typeface="Calibri"/>
                <a:cs typeface="Calibri"/>
              </a:rPr>
              <a:t>usually</a:t>
            </a:r>
            <a:r>
              <a:rPr sz="2000" spc="-20" dirty="0">
                <a:latin typeface="Calibri"/>
                <a:cs typeface="Calibri"/>
              </a:rPr>
              <a:t> </a:t>
            </a:r>
            <a:r>
              <a:rPr sz="2000" dirty="0">
                <a:latin typeface="Calibri"/>
                <a:cs typeface="Calibri"/>
              </a:rPr>
              <a:t>provides</a:t>
            </a:r>
            <a:r>
              <a:rPr sz="2000" spc="-20" dirty="0">
                <a:latin typeface="Calibri"/>
                <a:cs typeface="Calibri"/>
              </a:rPr>
              <a:t> </a:t>
            </a:r>
            <a:r>
              <a:rPr sz="2000" dirty="0">
                <a:latin typeface="Calibri"/>
                <a:cs typeface="Calibri"/>
              </a:rPr>
              <a:t>the</a:t>
            </a:r>
            <a:r>
              <a:rPr sz="2000" spc="-15" dirty="0">
                <a:latin typeface="Calibri"/>
                <a:cs typeface="Calibri"/>
              </a:rPr>
              <a:t> </a:t>
            </a:r>
            <a:r>
              <a:rPr sz="2000" spc="-10" dirty="0">
                <a:latin typeface="Calibri"/>
                <a:cs typeface="Calibri"/>
              </a:rPr>
              <a:t>high-</a:t>
            </a:r>
            <a:r>
              <a:rPr sz="2000" dirty="0">
                <a:latin typeface="Calibri"/>
                <a:cs typeface="Calibri"/>
              </a:rPr>
              <a:t>level</a:t>
            </a:r>
            <a:r>
              <a:rPr sz="2000" spc="-20" dirty="0">
                <a:latin typeface="Calibri"/>
                <a:cs typeface="Calibri"/>
              </a:rPr>
              <a:t> </a:t>
            </a:r>
            <a:r>
              <a:rPr sz="2000" dirty="0">
                <a:latin typeface="Calibri"/>
                <a:cs typeface="Calibri"/>
              </a:rPr>
              <a:t>direction</a:t>
            </a:r>
            <a:r>
              <a:rPr sz="2000" spc="-20" dirty="0">
                <a:latin typeface="Calibri"/>
                <a:cs typeface="Calibri"/>
              </a:rPr>
              <a:t> </a:t>
            </a:r>
            <a:r>
              <a:rPr sz="2000" dirty="0">
                <a:latin typeface="Calibri"/>
                <a:cs typeface="Calibri"/>
              </a:rPr>
              <a:t>and</a:t>
            </a:r>
            <a:r>
              <a:rPr sz="2000" spc="-20" dirty="0">
                <a:latin typeface="Calibri"/>
                <a:cs typeface="Calibri"/>
              </a:rPr>
              <a:t> </a:t>
            </a:r>
            <a:r>
              <a:rPr sz="2000" b="1" dirty="0">
                <a:latin typeface="Calibri"/>
                <a:cs typeface="Calibri"/>
              </a:rPr>
              <a:t>funding</a:t>
            </a:r>
            <a:r>
              <a:rPr sz="2000" spc="-50" dirty="0">
                <a:latin typeface="Calibri"/>
                <a:cs typeface="Calibri"/>
              </a:rPr>
              <a:t> </a:t>
            </a:r>
            <a:r>
              <a:rPr sz="2000" dirty="0">
                <a:latin typeface="Calibri"/>
                <a:cs typeface="Calibri"/>
              </a:rPr>
              <a:t>for</a:t>
            </a:r>
            <a:r>
              <a:rPr sz="2000" spc="-35" dirty="0">
                <a:latin typeface="Calibri"/>
                <a:cs typeface="Calibri"/>
              </a:rPr>
              <a:t> </a:t>
            </a:r>
            <a:r>
              <a:rPr sz="2000" dirty="0">
                <a:latin typeface="Calibri"/>
                <a:cs typeface="Calibri"/>
              </a:rPr>
              <a:t>the</a:t>
            </a:r>
            <a:r>
              <a:rPr sz="2000" spc="-20" dirty="0">
                <a:latin typeface="Calibri"/>
                <a:cs typeface="Calibri"/>
              </a:rPr>
              <a:t> </a:t>
            </a:r>
            <a:r>
              <a:rPr sz="2000" spc="-10" dirty="0">
                <a:latin typeface="Calibri"/>
                <a:cs typeface="Calibri"/>
              </a:rPr>
              <a:t>project</a:t>
            </a:r>
            <a:endParaRPr sz="2000" dirty="0">
              <a:latin typeface="Calibri"/>
              <a:cs typeface="Calibri"/>
            </a:endParaRPr>
          </a:p>
          <a:p>
            <a:pPr marL="697865" lvl="1" indent="-227965">
              <a:lnSpc>
                <a:spcPct val="100000"/>
              </a:lnSpc>
              <a:spcBef>
                <a:spcPts val="190"/>
              </a:spcBef>
              <a:buClr>
                <a:srgbClr val="F5821F"/>
              </a:buClr>
              <a:buFont typeface="Arial"/>
              <a:buChar char="•"/>
              <a:tabLst>
                <a:tab pos="697865" algn="l"/>
              </a:tabLst>
            </a:pPr>
            <a:r>
              <a:rPr lang="en-NZ" sz="2400" dirty="0">
                <a:latin typeface="Calibri"/>
                <a:cs typeface="Calibri"/>
              </a:rPr>
              <a:t>IT projects </a:t>
            </a:r>
            <a:r>
              <a:rPr sz="2400" dirty="0">
                <a:latin typeface="Calibri"/>
                <a:cs typeface="Calibri"/>
              </a:rPr>
              <a:t>involve</a:t>
            </a:r>
            <a:r>
              <a:rPr sz="2400" spc="-55" dirty="0">
                <a:latin typeface="Calibri"/>
                <a:cs typeface="Calibri"/>
              </a:rPr>
              <a:t> </a:t>
            </a:r>
            <a:r>
              <a:rPr sz="2400" dirty="0">
                <a:solidFill>
                  <a:srgbClr val="006FC0"/>
                </a:solidFill>
                <a:latin typeface="Calibri"/>
                <a:cs typeface="Calibri"/>
              </a:rPr>
              <a:t>uncertainty</a:t>
            </a:r>
            <a:r>
              <a:rPr sz="2400" spc="-75" dirty="0">
                <a:solidFill>
                  <a:srgbClr val="006FC0"/>
                </a:solidFill>
                <a:latin typeface="Calibri"/>
                <a:cs typeface="Calibri"/>
              </a:rPr>
              <a:t> </a:t>
            </a:r>
            <a:r>
              <a:rPr sz="2400" dirty="0">
                <a:latin typeface="Calibri"/>
                <a:cs typeface="Calibri"/>
              </a:rPr>
              <a:t>and</a:t>
            </a:r>
            <a:r>
              <a:rPr sz="2400" spc="-65" dirty="0">
                <a:latin typeface="Calibri"/>
                <a:cs typeface="Calibri"/>
              </a:rPr>
              <a:t> </a:t>
            </a:r>
            <a:r>
              <a:rPr sz="2400" spc="-10" dirty="0">
                <a:solidFill>
                  <a:srgbClr val="006FC0"/>
                </a:solidFill>
                <a:latin typeface="Calibri"/>
                <a:cs typeface="Calibri"/>
              </a:rPr>
              <a:t>complexity</a:t>
            </a:r>
            <a:endParaRPr sz="2400" dirty="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31AF6-4294-998A-B2AD-44C78CC4A4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6B8E158-8B6C-B862-1D53-7194FEB5A5F0}"/>
              </a:ext>
            </a:extLst>
          </p:cNvPr>
          <p:cNvSpPr txBox="1">
            <a:spLocks noGrp="1"/>
          </p:cNvSpPr>
          <p:nvPr>
            <p:ph type="title"/>
          </p:nvPr>
        </p:nvSpPr>
        <p:spPr>
          <a:xfrm>
            <a:off x="1468374" y="169621"/>
            <a:ext cx="10264012" cy="1134925"/>
          </a:xfrm>
          <a:prstGeom prst="rect">
            <a:avLst/>
          </a:prstGeom>
        </p:spPr>
        <p:txBody>
          <a:bodyPr vert="horz" wrap="square" lIns="0" tIns="453389" rIns="0" bIns="0" rtlCol="0">
            <a:spAutoFit/>
          </a:bodyPr>
          <a:lstStyle/>
          <a:p>
            <a:pPr marL="83185">
              <a:lnSpc>
                <a:spcPct val="100000"/>
              </a:lnSpc>
              <a:spcBef>
                <a:spcPts val="105"/>
              </a:spcBef>
            </a:pPr>
            <a:r>
              <a:rPr lang="en-US" dirty="0"/>
              <a:t>Products &amp; Services</a:t>
            </a:r>
            <a:endParaRPr spc="-20" dirty="0"/>
          </a:p>
        </p:txBody>
      </p:sp>
      <p:sp>
        <p:nvSpPr>
          <p:cNvPr id="3" name="object 3">
            <a:extLst>
              <a:ext uri="{FF2B5EF4-FFF2-40B4-BE49-F238E27FC236}">
                <a16:creationId xmlns:a16="http://schemas.microsoft.com/office/drawing/2014/main" id="{46133FE0-5558-8659-1EA4-5412233A642B}"/>
              </a:ext>
            </a:extLst>
          </p:cNvPr>
          <p:cNvSpPr txBox="1"/>
          <p:nvPr/>
        </p:nvSpPr>
        <p:spPr>
          <a:xfrm>
            <a:off x="1539366" y="1775489"/>
            <a:ext cx="10255885" cy="3640099"/>
          </a:xfrm>
          <a:prstGeom prst="rect">
            <a:avLst/>
          </a:prstGeom>
        </p:spPr>
        <p:txBody>
          <a:bodyPr vert="horz" wrap="square" lIns="0" tIns="48895" rIns="0" bIns="0" rtlCol="0">
            <a:spAutoFit/>
          </a:bodyPr>
          <a:lstStyle/>
          <a:p>
            <a:pPr marL="240665" indent="-227965">
              <a:lnSpc>
                <a:spcPct val="100000"/>
              </a:lnSpc>
              <a:spcBef>
                <a:spcPts val="385"/>
              </a:spcBef>
              <a:buClr>
                <a:srgbClr val="F5821F"/>
              </a:buClr>
              <a:buFont typeface="Arial"/>
              <a:buChar char="•"/>
              <a:tabLst>
                <a:tab pos="240665" algn="l"/>
              </a:tabLst>
            </a:pPr>
            <a:r>
              <a:rPr sz="2000" dirty="0">
                <a:latin typeface="Calibri" panose="020F0502020204030204" pitchFamily="34" charset="0"/>
                <a:ea typeface="Calibri" panose="020F0502020204030204" pitchFamily="34" charset="0"/>
                <a:cs typeface="Calibri" panose="020F0502020204030204" pitchFamily="34" charset="0"/>
              </a:rPr>
              <a:t>A</a:t>
            </a:r>
            <a:r>
              <a:rPr sz="2000" spc="-5" dirty="0">
                <a:latin typeface="Calibri" panose="020F0502020204030204" pitchFamily="34" charset="0"/>
                <a:ea typeface="Calibri" panose="020F0502020204030204" pitchFamily="34" charset="0"/>
                <a:cs typeface="Calibri" panose="020F0502020204030204" pitchFamily="34" charset="0"/>
              </a:rPr>
              <a:t> </a:t>
            </a:r>
            <a:r>
              <a:rPr lang="en-US" sz="2000" spc="-10" dirty="0">
                <a:latin typeface="Calibri" panose="020F0502020204030204" pitchFamily="34" charset="0"/>
                <a:ea typeface="Calibri" panose="020F0502020204030204" pitchFamily="34" charset="0"/>
                <a:cs typeface="Calibri" panose="020F0502020204030204" pitchFamily="34" charset="0"/>
              </a:rPr>
              <a:t>product is</a:t>
            </a:r>
            <a:r>
              <a:rPr lang="en-NZ" sz="2000" dirty="0">
                <a:latin typeface="Calibri" panose="020F0502020204030204" pitchFamily="34" charset="0"/>
                <a:ea typeface="Calibri" panose="020F0502020204030204" pitchFamily="34" charset="0"/>
                <a:cs typeface="Calibri" panose="020F0502020204030204" pitchFamily="34" charset="0"/>
              </a:rPr>
              <a:t> </a:t>
            </a:r>
            <a:r>
              <a:rPr lang="en-NZ" sz="2000" i="1" dirty="0">
                <a:latin typeface="Calibri" panose="020F0502020204030204" pitchFamily="34" charset="0"/>
                <a:ea typeface="Calibri" panose="020F0502020204030204" pitchFamily="34" charset="0"/>
                <a:cs typeface="Calibri" panose="020F0502020204030204" pitchFamily="34" charset="0"/>
              </a:rPr>
              <a:t>"</a:t>
            </a:r>
            <a:r>
              <a:rPr lang="en-NZ" sz="2000" dirty="0">
                <a:latin typeface="Calibri" panose="020F0502020204030204" pitchFamily="34" charset="0"/>
                <a:ea typeface="Calibri" panose="020F0502020204030204" pitchFamily="34" charset="0"/>
                <a:cs typeface="Calibri" panose="020F0502020204030204" pitchFamily="34" charset="0"/>
              </a:rPr>
              <a:t>a, tangible or intangible, component of a broader, value-focused delivery system designed to create value for stakeholders, moving beyond simple output definitions</a:t>
            </a:r>
            <a:r>
              <a:rPr lang="en-NZ" sz="2000" i="1" dirty="0">
                <a:latin typeface="Calibri" panose="020F0502020204030204" pitchFamily="34" charset="0"/>
                <a:ea typeface="Calibri" panose="020F0502020204030204" pitchFamily="34" charset="0"/>
                <a:cs typeface="Calibri" panose="020F0502020204030204" pitchFamily="34" charset="0"/>
              </a:rPr>
              <a:t>" </a:t>
            </a:r>
            <a:r>
              <a:rPr lang="en-NZ" sz="2000" dirty="0">
                <a:latin typeface="Calibri" panose="020F0502020204030204" pitchFamily="34" charset="0"/>
                <a:ea typeface="Calibri" panose="020F0502020204030204" pitchFamily="34" charset="0"/>
                <a:cs typeface="Calibri" panose="020F0502020204030204" pitchFamily="34" charset="0"/>
              </a:rPr>
              <a:t>(PMBOK, 8th Edition, Page 569). </a:t>
            </a:r>
          </a:p>
          <a:p>
            <a:pPr marL="240665" indent="-227965">
              <a:lnSpc>
                <a:spcPct val="100000"/>
              </a:lnSpc>
              <a:spcBef>
                <a:spcPts val="385"/>
              </a:spcBef>
              <a:buClr>
                <a:srgbClr val="F5821F"/>
              </a:buClr>
              <a:buFont typeface="Arial"/>
              <a:buChar char="•"/>
              <a:tabLst>
                <a:tab pos="240665" algn="l"/>
              </a:tabLst>
            </a:pPr>
            <a:r>
              <a:rPr lang="en-NZ" sz="2000" dirty="0">
                <a:latin typeface="Calibri" panose="020F0502020204030204" pitchFamily="34" charset="0"/>
                <a:ea typeface="Calibri" panose="020F0502020204030204" pitchFamily="34" charset="0"/>
                <a:cs typeface="Calibri" panose="020F0502020204030204" pitchFamily="34" charset="0"/>
              </a:rPr>
              <a:t>A service is a tangible, objective, and measurable output that, when used, create subjective, intangible value.</a:t>
            </a:r>
          </a:p>
          <a:p>
            <a:pPr marL="240665" indent="-227965">
              <a:lnSpc>
                <a:spcPct val="100000"/>
              </a:lnSpc>
              <a:spcBef>
                <a:spcPts val="385"/>
              </a:spcBef>
              <a:buClr>
                <a:srgbClr val="F5821F"/>
              </a:buClr>
              <a:buFont typeface="Arial"/>
              <a:buChar char="•"/>
              <a:tabLst>
                <a:tab pos="240665" algn="l"/>
              </a:tabLst>
            </a:pPr>
            <a:r>
              <a:rPr lang="en-NZ" sz="2000" dirty="0">
                <a:latin typeface="Calibri" panose="020F0502020204030204" pitchFamily="34" charset="0"/>
                <a:ea typeface="Calibri" panose="020F0502020204030204" pitchFamily="34" charset="0"/>
                <a:cs typeface="Calibri" panose="020F0502020204030204" pitchFamily="34" charset="0"/>
              </a:rPr>
              <a:t>It encompasses both </a:t>
            </a:r>
            <a:r>
              <a:rPr lang="en-NZ" sz="2000" i="1" dirty="0">
                <a:latin typeface="Calibri" panose="020F0502020204030204" pitchFamily="34" charset="0"/>
                <a:ea typeface="Calibri" panose="020F0502020204030204" pitchFamily="34" charset="0"/>
                <a:cs typeface="Calibri" panose="020F0502020204030204" pitchFamily="34" charset="0"/>
              </a:rPr>
              <a:t>tangible products and intangible services </a:t>
            </a:r>
            <a:r>
              <a:rPr lang="en-NZ" sz="2000" dirty="0">
                <a:latin typeface="Calibri" panose="020F0502020204030204" pitchFamily="34" charset="0"/>
                <a:ea typeface="Calibri" panose="020F0502020204030204" pitchFamily="34" charset="0"/>
                <a:cs typeface="Calibri" panose="020F0502020204030204" pitchFamily="34" charset="0"/>
              </a:rPr>
              <a:t>designed to meet consumers’ needs or desires. </a:t>
            </a:r>
          </a:p>
          <a:p>
            <a:pPr marL="240665" indent="-227965">
              <a:lnSpc>
                <a:spcPct val="100000"/>
              </a:lnSpc>
              <a:spcBef>
                <a:spcPts val="385"/>
              </a:spcBef>
              <a:buClr>
                <a:srgbClr val="F5821F"/>
              </a:buClr>
              <a:buFont typeface="Arial"/>
              <a:buChar char="•"/>
              <a:tabLst>
                <a:tab pos="240665" algn="l"/>
              </a:tabLst>
            </a:pPr>
            <a:r>
              <a:rPr lang="en-NZ" sz="2000" dirty="0">
                <a:latin typeface="Calibri" panose="020F0502020204030204" pitchFamily="34" charset="0"/>
                <a:ea typeface="Calibri" panose="020F0502020204030204" pitchFamily="34" charset="0"/>
                <a:cs typeface="Calibri" panose="020F0502020204030204" pitchFamily="34" charset="0"/>
              </a:rPr>
              <a:t>Products and services are characterised by specific features, functions, and benefits that provide value to customers</a:t>
            </a:r>
            <a:r>
              <a:rPr lang="en-US" sz="2000" dirty="0">
                <a:latin typeface="Calibri" panose="020F0502020204030204" pitchFamily="34" charset="0"/>
                <a:ea typeface="Calibri" panose="020F0502020204030204" pitchFamily="34" charset="0"/>
                <a:cs typeface="Calibri" panose="020F0502020204030204" pitchFamily="34" charset="0"/>
              </a:rPr>
              <a:t> and ultimately fulfil a particular need or solve</a:t>
            </a:r>
            <a:r>
              <a:rPr lang="en-NZ" sz="2000" dirty="0">
                <a:latin typeface="Calibri" panose="020F0502020204030204" pitchFamily="34" charset="0"/>
                <a:ea typeface="Calibri" panose="020F0502020204030204" pitchFamily="34" charset="0"/>
                <a:cs typeface="Calibri" panose="020F0502020204030204" pitchFamily="34" charset="0"/>
              </a:rPr>
              <a:t> a problem in the market. </a:t>
            </a:r>
          </a:p>
          <a:p>
            <a:pPr marL="240665" indent="-227965">
              <a:spcBef>
                <a:spcPts val="385"/>
              </a:spcBef>
              <a:buClr>
                <a:srgbClr val="F5821F"/>
              </a:buClr>
              <a:buFont typeface="Arial"/>
              <a:buChar char="•"/>
              <a:tabLst>
                <a:tab pos="240665" algn="l"/>
              </a:tabLst>
            </a:pPr>
            <a:r>
              <a:rPr lang="en-NZ" sz="2000" dirty="0">
                <a:latin typeface="Calibri" panose="020F0502020204030204" pitchFamily="34" charset="0"/>
                <a:ea typeface="Calibri" panose="020F0502020204030204" pitchFamily="34" charset="0"/>
                <a:cs typeface="Calibri" panose="020F0502020204030204" pitchFamily="34" charset="0"/>
              </a:rPr>
              <a:t>A service is</a:t>
            </a:r>
            <a:r>
              <a:rPr lang="en-US" sz="2000" dirty="0">
                <a:latin typeface="Calibri" panose="020F0502020204030204" pitchFamily="34" charset="0"/>
                <a:ea typeface="Calibri" panose="020F0502020204030204" pitchFamily="34" charset="0"/>
                <a:cs typeface="Calibri" panose="020F0502020204030204" pitchFamily="34" charset="0"/>
              </a:rPr>
              <a:t> an </a:t>
            </a:r>
            <a:r>
              <a:rPr lang="en-US" sz="2000" b="1" i="1" dirty="0">
                <a:latin typeface="Calibri" panose="020F0502020204030204" pitchFamily="34" charset="0"/>
                <a:ea typeface="Calibri" panose="020F0502020204030204" pitchFamily="34" charset="0"/>
                <a:cs typeface="Calibri" panose="020F0502020204030204" pitchFamily="34" charset="0"/>
              </a:rPr>
              <a:t>application component </a:t>
            </a:r>
            <a:r>
              <a:rPr lang="en-US" sz="2000" dirty="0">
                <a:latin typeface="Calibri" panose="020F0502020204030204" pitchFamily="34" charset="0"/>
                <a:ea typeface="Calibri" panose="020F0502020204030204" pitchFamily="34" charset="0"/>
                <a:cs typeface="Calibri" panose="020F0502020204030204" pitchFamily="34" charset="0"/>
              </a:rPr>
              <a:t>that provides functionality to other components within the same or different applications </a:t>
            </a:r>
            <a:r>
              <a:rPr lang="en-NZ" sz="2000" dirty="0">
                <a:latin typeface="Calibri" panose="020F0502020204030204" pitchFamily="34" charset="0"/>
                <a:ea typeface="Calibri" panose="020F0502020204030204" pitchFamily="34" charset="0"/>
                <a:cs typeface="Calibri" panose="020F0502020204030204" pitchFamily="34" charset="0"/>
              </a:rPr>
              <a:t>(PMBOK, 8th Edition, Page 569). </a:t>
            </a:r>
          </a:p>
        </p:txBody>
      </p:sp>
    </p:spTree>
    <p:extLst>
      <p:ext uri="{BB962C8B-B14F-4D97-AF65-F5344CB8AC3E}">
        <p14:creationId xmlns:p14="http://schemas.microsoft.com/office/powerpoint/2010/main" val="2236588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AEB7C-EA86-6C0C-744B-EC75FCEF70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E189B8-608D-7C9B-9E06-C6CFAD8129E2}"/>
              </a:ext>
            </a:extLst>
          </p:cNvPr>
          <p:cNvSpPr txBox="1">
            <a:spLocks noGrp="1"/>
          </p:cNvSpPr>
          <p:nvPr>
            <p:ph type="title"/>
          </p:nvPr>
        </p:nvSpPr>
        <p:spPr>
          <a:xfrm>
            <a:off x="1468374" y="169621"/>
            <a:ext cx="10264012" cy="1439087"/>
          </a:xfrm>
        </p:spPr>
        <p:txBody>
          <a:bodyPr vert="horz" wrap="square" lIns="0" tIns="0" rIns="0" bIns="0" rtlCol="0" anchor="ctr">
            <a:normAutofit/>
          </a:bodyPr>
          <a:lstStyle/>
          <a:p>
            <a:pPr marL="83185">
              <a:spcBef>
                <a:spcPts val="105"/>
              </a:spcBef>
            </a:pPr>
            <a:r>
              <a:rPr lang="en-US" b="1" i="0"/>
              <a:t>The Product Delivery Lifecyle</a:t>
            </a:r>
            <a:endParaRPr lang="en-US" b="1" i="0" spc="-10"/>
          </a:p>
        </p:txBody>
      </p:sp>
      <p:pic>
        <p:nvPicPr>
          <p:cNvPr id="5" name="Picture 4">
            <a:extLst>
              <a:ext uri="{FF2B5EF4-FFF2-40B4-BE49-F238E27FC236}">
                <a16:creationId xmlns:a16="http://schemas.microsoft.com/office/drawing/2014/main" id="{179663FE-4582-78B5-DCCF-0453C75D74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1524000"/>
            <a:ext cx="9578340" cy="4692015"/>
          </a:xfrm>
          <a:prstGeom prst="rect">
            <a:avLst/>
          </a:prstGeom>
        </p:spPr>
      </p:pic>
    </p:spTree>
    <p:extLst>
      <p:ext uri="{BB962C8B-B14F-4D97-AF65-F5344CB8AC3E}">
        <p14:creationId xmlns:p14="http://schemas.microsoft.com/office/powerpoint/2010/main" val="3791503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8374" y="169621"/>
            <a:ext cx="10264012" cy="827149"/>
          </a:xfrm>
          <a:prstGeom prst="rect">
            <a:avLst/>
          </a:prstGeom>
        </p:spPr>
        <p:txBody>
          <a:bodyPr vert="horz" wrap="square" lIns="0" tIns="453389" rIns="0" bIns="0" rtlCol="0">
            <a:spAutoFit/>
          </a:bodyPr>
          <a:lstStyle/>
          <a:p>
            <a:pPr marL="83185">
              <a:lnSpc>
                <a:spcPct val="100000"/>
              </a:lnSpc>
              <a:spcBef>
                <a:spcPts val="105"/>
              </a:spcBef>
            </a:pPr>
            <a:r>
              <a:rPr sz="2400" dirty="0"/>
              <a:t>What</a:t>
            </a:r>
            <a:r>
              <a:rPr sz="2400" spc="-55" dirty="0"/>
              <a:t> </a:t>
            </a:r>
            <a:r>
              <a:rPr sz="2400" dirty="0"/>
              <a:t>is</a:t>
            </a:r>
            <a:r>
              <a:rPr sz="2400" spc="-40" dirty="0"/>
              <a:t> </a:t>
            </a:r>
            <a:r>
              <a:rPr sz="2400" dirty="0"/>
              <a:t>Project</a:t>
            </a:r>
            <a:r>
              <a:rPr sz="2400" spc="-50" dirty="0"/>
              <a:t> </a:t>
            </a:r>
            <a:r>
              <a:rPr sz="2400" spc="-10" dirty="0"/>
              <a:t>Management?</a:t>
            </a:r>
          </a:p>
        </p:txBody>
      </p:sp>
      <p:sp>
        <p:nvSpPr>
          <p:cNvPr id="3" name="object 3"/>
          <p:cNvSpPr txBox="1"/>
          <p:nvPr/>
        </p:nvSpPr>
        <p:spPr>
          <a:xfrm>
            <a:off x="1436496" y="1371600"/>
            <a:ext cx="10295890" cy="2926250"/>
          </a:xfrm>
          <a:prstGeom prst="rect">
            <a:avLst/>
          </a:prstGeom>
        </p:spPr>
        <p:txBody>
          <a:bodyPr vert="horz" wrap="square" lIns="0" tIns="12065" rIns="0" bIns="0" rtlCol="0">
            <a:spAutoFit/>
          </a:bodyPr>
          <a:lstStyle/>
          <a:p>
            <a:pPr marL="240665" indent="-227965">
              <a:lnSpc>
                <a:spcPct val="100000"/>
              </a:lnSpc>
              <a:spcBef>
                <a:spcPts val="95"/>
              </a:spcBef>
              <a:buClr>
                <a:srgbClr val="F5821F"/>
              </a:buClr>
              <a:buFont typeface="Arial"/>
              <a:buChar char="•"/>
              <a:tabLst>
                <a:tab pos="240665" algn="l"/>
              </a:tabLst>
            </a:pPr>
            <a:r>
              <a:rPr sz="2400" b="1" dirty="0">
                <a:latin typeface="Calibri"/>
                <a:cs typeface="Calibri"/>
              </a:rPr>
              <a:t>Project</a:t>
            </a:r>
            <a:r>
              <a:rPr sz="2400" b="1" spc="-114" dirty="0">
                <a:latin typeface="Calibri"/>
                <a:cs typeface="Calibri"/>
              </a:rPr>
              <a:t> </a:t>
            </a:r>
            <a:r>
              <a:rPr sz="2400" b="1" spc="-10" dirty="0">
                <a:latin typeface="Calibri"/>
                <a:cs typeface="Calibri"/>
              </a:rPr>
              <a:t>management</a:t>
            </a:r>
            <a:r>
              <a:rPr sz="2400" b="1" spc="-110" dirty="0">
                <a:latin typeface="Calibri"/>
                <a:cs typeface="Calibri"/>
              </a:rPr>
              <a:t> </a:t>
            </a:r>
            <a:r>
              <a:rPr sz="2400" spc="-35" dirty="0">
                <a:latin typeface="Calibri"/>
                <a:cs typeface="Calibri"/>
              </a:rPr>
              <a:t>is</a:t>
            </a:r>
            <a:endParaRPr sz="2400" dirty="0">
              <a:latin typeface="Calibri"/>
              <a:cs typeface="Calibri"/>
            </a:endParaRPr>
          </a:p>
          <a:p>
            <a:pPr>
              <a:lnSpc>
                <a:spcPct val="100000"/>
              </a:lnSpc>
              <a:spcBef>
                <a:spcPts val="20"/>
              </a:spcBef>
              <a:buClr>
                <a:srgbClr val="F5821F"/>
              </a:buClr>
              <a:buFont typeface="Arial"/>
              <a:buChar char="•"/>
            </a:pPr>
            <a:endParaRPr sz="2400" dirty="0">
              <a:latin typeface="Calibri"/>
              <a:cs typeface="Calibri"/>
            </a:endParaRPr>
          </a:p>
          <a:p>
            <a:pPr marL="405765" marR="5080">
              <a:lnSpc>
                <a:spcPts val="2590"/>
              </a:lnSpc>
            </a:pPr>
            <a:r>
              <a:rPr sz="2000" dirty="0">
                <a:latin typeface="Calibri"/>
                <a:cs typeface="Calibri"/>
              </a:rPr>
              <a:t>“</a:t>
            </a:r>
            <a:r>
              <a:rPr sz="2000" i="1" dirty="0">
                <a:latin typeface="Calibri"/>
                <a:cs typeface="Calibri"/>
              </a:rPr>
              <a:t>the</a:t>
            </a:r>
            <a:r>
              <a:rPr sz="2000" i="1" spc="-35" dirty="0">
                <a:latin typeface="Calibri"/>
                <a:cs typeface="Calibri"/>
              </a:rPr>
              <a:t> </a:t>
            </a:r>
            <a:r>
              <a:rPr sz="2000" i="1" dirty="0">
                <a:latin typeface="Calibri"/>
                <a:cs typeface="Calibri"/>
              </a:rPr>
              <a:t>application</a:t>
            </a:r>
            <a:r>
              <a:rPr sz="2000" i="1" spc="-20" dirty="0">
                <a:latin typeface="Calibri"/>
                <a:cs typeface="Calibri"/>
              </a:rPr>
              <a:t> </a:t>
            </a:r>
            <a:r>
              <a:rPr sz="2000" i="1" dirty="0">
                <a:latin typeface="Calibri"/>
                <a:cs typeface="Calibri"/>
              </a:rPr>
              <a:t>of</a:t>
            </a:r>
            <a:r>
              <a:rPr sz="2000" i="1" spc="-20" dirty="0">
                <a:latin typeface="Calibri"/>
                <a:cs typeface="Calibri"/>
              </a:rPr>
              <a:t> </a:t>
            </a:r>
            <a:r>
              <a:rPr sz="2000" i="1" dirty="0">
                <a:latin typeface="Calibri"/>
                <a:cs typeface="Calibri"/>
              </a:rPr>
              <a:t>knowledge,</a:t>
            </a:r>
            <a:r>
              <a:rPr sz="2000" i="1" spc="-30" dirty="0">
                <a:latin typeface="Calibri"/>
                <a:cs typeface="Calibri"/>
              </a:rPr>
              <a:t> </a:t>
            </a:r>
            <a:r>
              <a:rPr sz="2000" i="1" dirty="0">
                <a:latin typeface="Calibri"/>
                <a:cs typeface="Calibri"/>
              </a:rPr>
              <a:t>skills,</a:t>
            </a:r>
            <a:r>
              <a:rPr sz="2000" i="1" spc="-25" dirty="0">
                <a:latin typeface="Calibri"/>
                <a:cs typeface="Calibri"/>
              </a:rPr>
              <a:t> </a:t>
            </a:r>
            <a:r>
              <a:rPr sz="2000" i="1" dirty="0">
                <a:latin typeface="Calibri"/>
                <a:cs typeface="Calibri"/>
              </a:rPr>
              <a:t>tools</a:t>
            </a:r>
            <a:r>
              <a:rPr sz="2000" i="1" spc="-30" dirty="0">
                <a:latin typeface="Calibri"/>
                <a:cs typeface="Calibri"/>
              </a:rPr>
              <a:t> </a:t>
            </a:r>
            <a:r>
              <a:rPr sz="2000" i="1" dirty="0">
                <a:latin typeface="Calibri"/>
                <a:cs typeface="Calibri"/>
              </a:rPr>
              <a:t>and</a:t>
            </a:r>
            <a:r>
              <a:rPr sz="2000" i="1" spc="-5" dirty="0">
                <a:latin typeface="Calibri"/>
                <a:cs typeface="Calibri"/>
              </a:rPr>
              <a:t> </a:t>
            </a:r>
            <a:r>
              <a:rPr sz="2000" i="1" dirty="0">
                <a:latin typeface="Calibri"/>
                <a:cs typeface="Calibri"/>
              </a:rPr>
              <a:t>techniques</a:t>
            </a:r>
            <a:r>
              <a:rPr sz="2000" i="1" spc="-30" dirty="0">
                <a:latin typeface="Calibri"/>
                <a:cs typeface="Calibri"/>
              </a:rPr>
              <a:t> </a:t>
            </a:r>
            <a:r>
              <a:rPr sz="2000" i="1" dirty="0">
                <a:latin typeface="Calibri"/>
                <a:cs typeface="Calibri"/>
              </a:rPr>
              <a:t>to</a:t>
            </a:r>
            <a:r>
              <a:rPr sz="2000" i="1" spc="-20" dirty="0">
                <a:latin typeface="Calibri"/>
                <a:cs typeface="Calibri"/>
              </a:rPr>
              <a:t> </a:t>
            </a:r>
            <a:r>
              <a:rPr sz="2000" i="1" dirty="0">
                <a:latin typeface="Calibri"/>
                <a:cs typeface="Calibri"/>
              </a:rPr>
              <a:t>project</a:t>
            </a:r>
            <a:r>
              <a:rPr sz="2000" i="1" spc="-30" dirty="0">
                <a:latin typeface="Calibri"/>
                <a:cs typeface="Calibri"/>
              </a:rPr>
              <a:t> </a:t>
            </a:r>
            <a:r>
              <a:rPr sz="2000" i="1" dirty="0">
                <a:latin typeface="Calibri"/>
                <a:cs typeface="Calibri"/>
              </a:rPr>
              <a:t>activities</a:t>
            </a:r>
            <a:r>
              <a:rPr sz="2000" i="1" spc="-15" dirty="0">
                <a:latin typeface="Calibri"/>
                <a:cs typeface="Calibri"/>
              </a:rPr>
              <a:t> </a:t>
            </a:r>
            <a:r>
              <a:rPr sz="2000" i="1" spc="-25" dirty="0">
                <a:latin typeface="Calibri"/>
                <a:cs typeface="Calibri"/>
              </a:rPr>
              <a:t>to </a:t>
            </a:r>
            <a:r>
              <a:rPr sz="2000" i="1" dirty="0">
                <a:latin typeface="Calibri"/>
                <a:cs typeface="Calibri"/>
              </a:rPr>
              <a:t>meet</a:t>
            </a:r>
            <a:r>
              <a:rPr sz="2000" i="1" spc="-20" dirty="0">
                <a:latin typeface="Calibri"/>
                <a:cs typeface="Calibri"/>
              </a:rPr>
              <a:t> </a:t>
            </a:r>
            <a:r>
              <a:rPr sz="2000" i="1" dirty="0">
                <a:latin typeface="Calibri"/>
                <a:cs typeface="Calibri"/>
              </a:rPr>
              <a:t>project </a:t>
            </a:r>
            <a:r>
              <a:rPr sz="2000" i="1" spc="-10" dirty="0">
                <a:latin typeface="Calibri"/>
                <a:cs typeface="Calibri"/>
              </a:rPr>
              <a:t>requirements</a:t>
            </a:r>
            <a:r>
              <a:rPr sz="2000" spc="-10" dirty="0">
                <a:latin typeface="Calibri"/>
                <a:cs typeface="Calibri"/>
              </a:rPr>
              <a:t>”</a:t>
            </a:r>
            <a:endParaRPr sz="2000" dirty="0">
              <a:latin typeface="Calibri"/>
              <a:cs typeface="Calibri"/>
            </a:endParaRPr>
          </a:p>
          <a:p>
            <a:pPr>
              <a:lnSpc>
                <a:spcPct val="100000"/>
              </a:lnSpc>
            </a:pPr>
            <a:endParaRPr sz="2400" dirty="0">
              <a:latin typeface="Calibri"/>
              <a:cs typeface="Calibri"/>
            </a:endParaRPr>
          </a:p>
          <a:p>
            <a:pPr marL="241300" marR="9525" indent="-228600">
              <a:lnSpc>
                <a:spcPts val="3020"/>
              </a:lnSpc>
              <a:buClr>
                <a:srgbClr val="F5821F"/>
              </a:buClr>
              <a:buFont typeface="Arial"/>
              <a:buChar char="•"/>
              <a:tabLst>
                <a:tab pos="241300" algn="l"/>
              </a:tabLst>
            </a:pPr>
            <a:r>
              <a:rPr sz="2000" dirty="0">
                <a:latin typeface="Calibri"/>
                <a:cs typeface="Calibri"/>
              </a:rPr>
              <a:t>Project</a:t>
            </a:r>
            <a:r>
              <a:rPr sz="2000" spc="-95" dirty="0">
                <a:latin typeface="Calibri"/>
                <a:cs typeface="Calibri"/>
              </a:rPr>
              <a:t> </a:t>
            </a:r>
            <a:r>
              <a:rPr lang="en-NZ" sz="2000" spc="-10" dirty="0">
                <a:latin typeface="Calibri"/>
                <a:cs typeface="Calibri"/>
              </a:rPr>
              <a:t>management must </a:t>
            </a:r>
            <a:r>
              <a:rPr sz="2000" dirty="0">
                <a:latin typeface="Calibri"/>
                <a:cs typeface="Calibri"/>
              </a:rPr>
              <a:t>strive</a:t>
            </a:r>
            <a:r>
              <a:rPr sz="2000" spc="-95" dirty="0">
                <a:latin typeface="Calibri"/>
                <a:cs typeface="Calibri"/>
              </a:rPr>
              <a:t> </a:t>
            </a:r>
            <a:r>
              <a:rPr sz="2000" dirty="0">
                <a:latin typeface="Calibri"/>
                <a:cs typeface="Calibri"/>
              </a:rPr>
              <a:t>to</a:t>
            </a:r>
            <a:r>
              <a:rPr sz="2000" spc="-105" dirty="0">
                <a:latin typeface="Calibri"/>
                <a:cs typeface="Calibri"/>
              </a:rPr>
              <a:t> </a:t>
            </a:r>
            <a:r>
              <a:rPr sz="2000" dirty="0">
                <a:latin typeface="Calibri"/>
                <a:cs typeface="Calibri"/>
              </a:rPr>
              <a:t>meet</a:t>
            </a:r>
            <a:r>
              <a:rPr sz="2000" spc="-110" dirty="0">
                <a:latin typeface="Calibri"/>
                <a:cs typeface="Calibri"/>
              </a:rPr>
              <a:t> </a:t>
            </a:r>
            <a:r>
              <a:rPr sz="2000" dirty="0">
                <a:latin typeface="Calibri"/>
                <a:cs typeface="Calibri"/>
              </a:rPr>
              <a:t>the</a:t>
            </a:r>
            <a:r>
              <a:rPr sz="2000" spc="-95" dirty="0">
                <a:latin typeface="Calibri"/>
                <a:cs typeface="Calibri"/>
              </a:rPr>
              <a:t> </a:t>
            </a:r>
            <a:r>
              <a:rPr sz="2000" b="1" dirty="0">
                <a:solidFill>
                  <a:srgbClr val="006FC0"/>
                </a:solidFill>
                <a:latin typeface="Calibri"/>
                <a:cs typeface="Calibri"/>
              </a:rPr>
              <a:t>triple</a:t>
            </a:r>
            <a:r>
              <a:rPr sz="2000" b="1" spc="-85" dirty="0">
                <a:solidFill>
                  <a:srgbClr val="006FC0"/>
                </a:solidFill>
                <a:latin typeface="Calibri"/>
                <a:cs typeface="Calibri"/>
              </a:rPr>
              <a:t> </a:t>
            </a:r>
            <a:r>
              <a:rPr sz="2000" b="1" spc="-10" dirty="0">
                <a:solidFill>
                  <a:srgbClr val="006FC0"/>
                </a:solidFill>
                <a:latin typeface="Calibri"/>
                <a:cs typeface="Calibri"/>
              </a:rPr>
              <a:t>constraint</a:t>
            </a:r>
            <a:r>
              <a:rPr sz="2000" b="1" spc="-70" dirty="0">
                <a:solidFill>
                  <a:srgbClr val="006FC0"/>
                </a:solidFill>
                <a:latin typeface="Calibri"/>
                <a:cs typeface="Calibri"/>
              </a:rPr>
              <a:t> </a:t>
            </a:r>
            <a:r>
              <a:rPr sz="2000" dirty="0">
                <a:latin typeface="Calibri"/>
                <a:cs typeface="Calibri"/>
              </a:rPr>
              <a:t>(project</a:t>
            </a:r>
            <a:r>
              <a:rPr sz="2000" spc="-90" dirty="0">
                <a:latin typeface="Calibri"/>
                <a:cs typeface="Calibri"/>
              </a:rPr>
              <a:t> </a:t>
            </a:r>
            <a:r>
              <a:rPr sz="2000" spc="-10" dirty="0">
                <a:latin typeface="Calibri"/>
                <a:cs typeface="Calibri"/>
              </a:rPr>
              <a:t>scope, </a:t>
            </a:r>
            <a:r>
              <a:rPr sz="2000" dirty="0">
                <a:latin typeface="Calibri"/>
                <a:cs typeface="Calibri"/>
              </a:rPr>
              <a:t>time,</a:t>
            </a:r>
            <a:r>
              <a:rPr sz="2000" spc="-75" dirty="0">
                <a:latin typeface="Calibri"/>
                <a:cs typeface="Calibri"/>
              </a:rPr>
              <a:t> </a:t>
            </a:r>
            <a:r>
              <a:rPr sz="2000" dirty="0">
                <a:latin typeface="Calibri"/>
                <a:cs typeface="Calibri"/>
              </a:rPr>
              <a:t>and</a:t>
            </a:r>
            <a:r>
              <a:rPr sz="2000" spc="-75" dirty="0">
                <a:latin typeface="Calibri"/>
                <a:cs typeface="Calibri"/>
              </a:rPr>
              <a:t> </a:t>
            </a:r>
            <a:r>
              <a:rPr sz="2000" dirty="0">
                <a:latin typeface="Calibri"/>
                <a:cs typeface="Calibri"/>
              </a:rPr>
              <a:t>cost</a:t>
            </a:r>
            <a:r>
              <a:rPr sz="2000" spc="-75" dirty="0">
                <a:latin typeface="Calibri"/>
                <a:cs typeface="Calibri"/>
              </a:rPr>
              <a:t> </a:t>
            </a:r>
            <a:r>
              <a:rPr sz="2000" dirty="0">
                <a:latin typeface="Calibri"/>
                <a:cs typeface="Calibri"/>
              </a:rPr>
              <a:t>goals)</a:t>
            </a:r>
            <a:r>
              <a:rPr sz="2000" spc="-85" dirty="0">
                <a:latin typeface="Calibri"/>
                <a:cs typeface="Calibri"/>
              </a:rPr>
              <a:t> </a:t>
            </a:r>
            <a:r>
              <a:rPr sz="2000" dirty="0">
                <a:latin typeface="Calibri"/>
                <a:cs typeface="Calibri"/>
              </a:rPr>
              <a:t>and</a:t>
            </a:r>
            <a:r>
              <a:rPr sz="2000" spc="-70" dirty="0">
                <a:latin typeface="Calibri"/>
                <a:cs typeface="Calibri"/>
              </a:rPr>
              <a:t> </a:t>
            </a:r>
            <a:r>
              <a:rPr sz="2000" dirty="0">
                <a:latin typeface="Calibri"/>
                <a:cs typeface="Calibri"/>
              </a:rPr>
              <a:t>also</a:t>
            </a:r>
            <a:r>
              <a:rPr sz="2000" spc="-85" dirty="0">
                <a:latin typeface="Calibri"/>
                <a:cs typeface="Calibri"/>
              </a:rPr>
              <a:t> </a:t>
            </a:r>
            <a:r>
              <a:rPr sz="2000" spc="-20" dirty="0">
                <a:latin typeface="Calibri"/>
                <a:cs typeface="Calibri"/>
              </a:rPr>
              <a:t>facilitate</a:t>
            </a:r>
            <a:r>
              <a:rPr sz="2000" spc="-85" dirty="0">
                <a:latin typeface="Calibri"/>
                <a:cs typeface="Calibri"/>
              </a:rPr>
              <a:t> </a:t>
            </a:r>
            <a:r>
              <a:rPr sz="2000" dirty="0">
                <a:latin typeface="Calibri"/>
                <a:cs typeface="Calibri"/>
              </a:rPr>
              <a:t>the</a:t>
            </a:r>
            <a:r>
              <a:rPr sz="2000" spc="-75" dirty="0">
                <a:latin typeface="Calibri"/>
                <a:cs typeface="Calibri"/>
              </a:rPr>
              <a:t> </a:t>
            </a:r>
            <a:r>
              <a:rPr sz="2000" dirty="0">
                <a:latin typeface="Calibri"/>
                <a:cs typeface="Calibri"/>
              </a:rPr>
              <a:t>entire</a:t>
            </a:r>
            <a:r>
              <a:rPr sz="2000" spc="-80" dirty="0">
                <a:latin typeface="Calibri"/>
                <a:cs typeface="Calibri"/>
              </a:rPr>
              <a:t> </a:t>
            </a:r>
            <a:r>
              <a:rPr lang="en-NZ" sz="2000" spc="-80" dirty="0">
                <a:latin typeface="Calibri"/>
                <a:cs typeface="Calibri"/>
              </a:rPr>
              <a:t>PM </a:t>
            </a:r>
            <a:r>
              <a:rPr sz="2000" dirty="0">
                <a:latin typeface="Calibri"/>
                <a:cs typeface="Calibri"/>
              </a:rPr>
              <a:t>process</a:t>
            </a:r>
            <a:r>
              <a:rPr sz="2000" spc="-50" dirty="0">
                <a:latin typeface="Calibri"/>
                <a:cs typeface="Calibri"/>
              </a:rPr>
              <a:t> </a:t>
            </a:r>
            <a:r>
              <a:rPr sz="2000" dirty="0">
                <a:latin typeface="Calibri"/>
                <a:cs typeface="Calibri"/>
              </a:rPr>
              <a:t>to</a:t>
            </a:r>
            <a:r>
              <a:rPr sz="2000" spc="-85" dirty="0">
                <a:latin typeface="Calibri"/>
                <a:cs typeface="Calibri"/>
              </a:rPr>
              <a:t> </a:t>
            </a:r>
            <a:r>
              <a:rPr sz="2000" dirty="0">
                <a:latin typeface="Calibri"/>
                <a:cs typeface="Calibri"/>
              </a:rPr>
              <a:t>meet</a:t>
            </a:r>
            <a:r>
              <a:rPr sz="2000" spc="-90" dirty="0">
                <a:latin typeface="Calibri"/>
                <a:cs typeface="Calibri"/>
              </a:rPr>
              <a:t> </a:t>
            </a:r>
            <a:r>
              <a:rPr sz="2000" spc="-25" dirty="0">
                <a:latin typeface="Calibri"/>
                <a:cs typeface="Calibri"/>
              </a:rPr>
              <a:t>the </a:t>
            </a:r>
            <a:r>
              <a:rPr sz="2000" dirty="0">
                <a:latin typeface="Calibri"/>
                <a:cs typeface="Calibri"/>
              </a:rPr>
              <a:t>needs</a:t>
            </a:r>
            <a:r>
              <a:rPr sz="2000" spc="-80" dirty="0">
                <a:latin typeface="Calibri"/>
                <a:cs typeface="Calibri"/>
              </a:rPr>
              <a:t> </a:t>
            </a:r>
            <a:r>
              <a:rPr sz="2000" dirty="0">
                <a:latin typeface="Calibri"/>
                <a:cs typeface="Calibri"/>
              </a:rPr>
              <a:t>and</a:t>
            </a:r>
            <a:r>
              <a:rPr sz="2000" spc="-90" dirty="0">
                <a:latin typeface="Calibri"/>
                <a:cs typeface="Calibri"/>
              </a:rPr>
              <a:t> </a:t>
            </a:r>
            <a:r>
              <a:rPr sz="2000" spc="-10" dirty="0">
                <a:latin typeface="Calibri"/>
                <a:cs typeface="Calibri"/>
              </a:rPr>
              <a:t>expectations</a:t>
            </a:r>
            <a:r>
              <a:rPr sz="2000" spc="-85" dirty="0">
                <a:latin typeface="Calibri"/>
                <a:cs typeface="Calibri"/>
              </a:rPr>
              <a:t> </a:t>
            </a:r>
            <a:r>
              <a:rPr sz="2000" dirty="0">
                <a:latin typeface="Calibri"/>
                <a:cs typeface="Calibri"/>
              </a:rPr>
              <a:t>of</a:t>
            </a:r>
            <a:r>
              <a:rPr sz="2000" spc="-95" dirty="0">
                <a:latin typeface="Calibri"/>
                <a:cs typeface="Calibri"/>
              </a:rPr>
              <a:t> </a:t>
            </a:r>
            <a:r>
              <a:rPr sz="2000" dirty="0">
                <a:latin typeface="Calibri"/>
                <a:cs typeface="Calibri"/>
              </a:rPr>
              <a:t>project</a:t>
            </a:r>
            <a:r>
              <a:rPr sz="2000" spc="-70" dirty="0">
                <a:latin typeface="Calibri"/>
                <a:cs typeface="Calibri"/>
              </a:rPr>
              <a:t> </a:t>
            </a:r>
            <a:r>
              <a:rPr sz="2000" spc="-10" dirty="0">
                <a:latin typeface="Calibri"/>
                <a:cs typeface="Calibri"/>
              </a:rPr>
              <a:t>stakeholders</a:t>
            </a:r>
            <a:endParaRPr sz="2000"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25400">
              <a:lnSpc>
                <a:spcPct val="100000"/>
              </a:lnSpc>
              <a:spcBef>
                <a:spcPts val="105"/>
              </a:spcBef>
            </a:pPr>
            <a:r>
              <a:rPr dirty="0"/>
              <a:t>Figure</a:t>
            </a:r>
            <a:r>
              <a:rPr spc="-65" dirty="0"/>
              <a:t> </a:t>
            </a:r>
            <a:r>
              <a:rPr spc="-10" dirty="0"/>
              <a:t>1-</a:t>
            </a:r>
            <a:r>
              <a:rPr dirty="0"/>
              <a:t>2</a:t>
            </a:r>
            <a:r>
              <a:rPr spc="-60" dirty="0"/>
              <a:t> </a:t>
            </a:r>
            <a:r>
              <a:rPr dirty="0"/>
              <a:t>Project</a:t>
            </a:r>
            <a:r>
              <a:rPr spc="-75" dirty="0"/>
              <a:t> </a:t>
            </a:r>
            <a:r>
              <a:rPr dirty="0"/>
              <a:t>Management</a:t>
            </a:r>
            <a:r>
              <a:rPr spc="-95" dirty="0"/>
              <a:t> </a:t>
            </a:r>
            <a:r>
              <a:rPr spc="-10" dirty="0"/>
              <a:t>Framework</a:t>
            </a:r>
          </a:p>
        </p:txBody>
      </p:sp>
      <p:pic>
        <p:nvPicPr>
          <p:cNvPr id="3" name="object 3"/>
          <p:cNvPicPr/>
          <p:nvPr/>
        </p:nvPicPr>
        <p:blipFill>
          <a:blip r:embed="rId2" cstate="print"/>
          <a:stretch>
            <a:fillRect/>
          </a:stretch>
        </p:blipFill>
        <p:spPr>
          <a:xfrm>
            <a:off x="1755648" y="1133855"/>
            <a:ext cx="9808464" cy="49987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E8BD9-81D1-97A1-81DF-7FE9387FF70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41842EC-AADB-D9DC-8DC9-5BDF755230A2}"/>
              </a:ext>
            </a:extLst>
          </p:cNvPr>
          <p:cNvSpPr txBox="1">
            <a:spLocks noGrp="1"/>
          </p:cNvSpPr>
          <p:nvPr>
            <p:ph type="title"/>
          </p:nvPr>
        </p:nvSpPr>
        <p:spPr>
          <a:xfrm>
            <a:off x="1468374" y="169621"/>
            <a:ext cx="10264012" cy="1439087"/>
          </a:xfrm>
        </p:spPr>
        <p:txBody>
          <a:bodyPr vert="horz" wrap="square" lIns="0" tIns="0" rIns="0" bIns="0" rtlCol="0" anchor="ctr">
            <a:normAutofit/>
          </a:bodyPr>
          <a:lstStyle/>
          <a:p>
            <a:pPr algn="ctr" fontAlgn="ctr"/>
            <a:r>
              <a:rPr lang="en-NZ" dirty="0"/>
              <a:t>Structured Project Management Methods</a:t>
            </a:r>
            <a:endParaRPr lang="en-NZ" dirty="0">
              <a:solidFill>
                <a:srgbClr val="000000"/>
              </a:solidFill>
              <a:latin typeface="Times New Roman" panose="02020603050405020304" pitchFamily="18" charset="0"/>
            </a:endParaRPr>
          </a:p>
        </p:txBody>
      </p:sp>
      <p:graphicFrame>
        <p:nvGraphicFramePr>
          <p:cNvPr id="3" name="Table 2">
            <a:extLst>
              <a:ext uri="{FF2B5EF4-FFF2-40B4-BE49-F238E27FC236}">
                <a16:creationId xmlns:a16="http://schemas.microsoft.com/office/drawing/2014/main" id="{736A376B-D757-16C3-BC17-743E2FE0B0ED}"/>
              </a:ext>
            </a:extLst>
          </p:cNvPr>
          <p:cNvGraphicFramePr>
            <a:graphicFrameLocks noGrp="1"/>
          </p:cNvGraphicFramePr>
          <p:nvPr>
            <p:extLst>
              <p:ext uri="{D42A27DB-BD31-4B8C-83A1-F6EECF244321}">
                <p14:modId xmlns:p14="http://schemas.microsoft.com/office/powerpoint/2010/main" val="4238822203"/>
              </p:ext>
            </p:extLst>
          </p:nvPr>
        </p:nvGraphicFramePr>
        <p:xfrm>
          <a:off x="2393802" y="3124200"/>
          <a:ext cx="7404396" cy="3442904"/>
        </p:xfrm>
        <a:graphic>
          <a:graphicData uri="http://schemas.openxmlformats.org/drawingml/2006/table">
            <a:tbl>
              <a:tblPr firstRow="1" bandRow="1">
                <a:tableStyleId>{5940675A-B579-460E-94D1-54222C63F5DA}</a:tableStyleId>
              </a:tblPr>
              <a:tblGrid>
                <a:gridCol w="1994196">
                  <a:extLst>
                    <a:ext uri="{9D8B030D-6E8A-4147-A177-3AD203B41FA5}">
                      <a16:colId xmlns:a16="http://schemas.microsoft.com/office/drawing/2014/main" val="4042792134"/>
                    </a:ext>
                  </a:extLst>
                </a:gridCol>
                <a:gridCol w="5410200">
                  <a:extLst>
                    <a:ext uri="{9D8B030D-6E8A-4147-A177-3AD203B41FA5}">
                      <a16:colId xmlns:a16="http://schemas.microsoft.com/office/drawing/2014/main" val="1420640337"/>
                    </a:ext>
                  </a:extLst>
                </a:gridCol>
              </a:tblGrid>
              <a:tr h="205724">
                <a:tc>
                  <a:txBody>
                    <a:bodyPr/>
                    <a:lstStyle/>
                    <a:p>
                      <a:pPr algn="ctr" fontAlgn="ctr"/>
                      <a:r>
                        <a:rPr lang="en-NZ" sz="900" b="1" u="none" strike="noStrike" dirty="0">
                          <a:effectLst/>
                        </a:rPr>
                        <a:t>Traditional Project Management Method</a:t>
                      </a:r>
                      <a:endParaRPr lang="en-NZ" sz="900" b="1" i="0" u="none" strike="noStrike" dirty="0">
                        <a:solidFill>
                          <a:srgbClr val="000000"/>
                        </a:solidFill>
                        <a:effectLst/>
                        <a:latin typeface="Times New Roman" panose="02020603050405020304" pitchFamily="18" charset="0"/>
                      </a:endParaRPr>
                    </a:p>
                  </a:txBody>
                  <a:tcPr marL="3323" marR="3323" marT="3323" marB="0" anchor="ctr"/>
                </a:tc>
                <a:tc>
                  <a:txBody>
                    <a:bodyPr/>
                    <a:lstStyle/>
                    <a:p>
                      <a:pPr algn="ctr" fontAlgn="ctr"/>
                      <a:r>
                        <a:rPr lang="en-NZ" sz="900" u="none" strike="noStrike" dirty="0">
                          <a:effectLst/>
                        </a:rPr>
                        <a:t>Phases</a:t>
                      </a:r>
                      <a:endParaRPr lang="en-NZ" sz="900" b="1" i="0" u="none" strike="noStrike" dirty="0">
                        <a:solidFill>
                          <a:srgbClr val="000000"/>
                        </a:solidFill>
                        <a:effectLst/>
                        <a:latin typeface="Times New Roman" panose="02020603050405020304" pitchFamily="18" charset="0"/>
                      </a:endParaRPr>
                    </a:p>
                  </a:txBody>
                  <a:tcPr marL="3323" marR="3323" marT="3323" marB="0" anchor="ctr"/>
                </a:tc>
                <a:extLst>
                  <a:ext uri="{0D108BD9-81ED-4DB2-BD59-A6C34878D82A}">
                    <a16:rowId xmlns:a16="http://schemas.microsoft.com/office/drawing/2014/main" val="1754527691"/>
                  </a:ext>
                </a:extLst>
              </a:tr>
              <a:tr h="215812">
                <a:tc rowSpan="6">
                  <a:txBody>
                    <a:bodyPr/>
                    <a:lstStyle/>
                    <a:p>
                      <a:pPr algn="l" fontAlgn="t"/>
                      <a:r>
                        <a:rPr lang="en-NZ" sz="900" u="none" strike="noStrike" dirty="0">
                          <a:effectLst/>
                        </a:rPr>
                        <a:t>Waterfall</a:t>
                      </a:r>
                      <a:endParaRPr lang="en-NZ" sz="900" b="1" i="0" u="none" strike="noStrike" dirty="0">
                        <a:solidFill>
                          <a:srgbClr val="000000"/>
                        </a:solidFill>
                        <a:effectLst/>
                        <a:latin typeface="Times New Roman" panose="02020603050405020304" pitchFamily="18" charset="0"/>
                      </a:endParaRPr>
                    </a:p>
                  </a:txBody>
                  <a:tcPr marL="3323" marR="3323" marT="3323" marB="0"/>
                </a:tc>
                <a:tc>
                  <a:txBody>
                    <a:bodyPr/>
                    <a:lstStyle/>
                    <a:p>
                      <a:pPr algn="l" fontAlgn="t"/>
                      <a:r>
                        <a:rPr lang="en-NZ" sz="900" u="none" strike="noStrike">
                          <a:effectLst/>
                        </a:rPr>
                        <a:t> Requirements Gathering</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50027605"/>
                  </a:ext>
                </a:extLst>
              </a:tr>
              <a:tr h="215812">
                <a:tc vMerge="1">
                  <a:txBody>
                    <a:bodyPr/>
                    <a:lstStyle/>
                    <a:p>
                      <a:endParaRPr lang="en-NZ"/>
                    </a:p>
                  </a:txBody>
                  <a:tcPr/>
                </a:tc>
                <a:tc>
                  <a:txBody>
                    <a:bodyPr/>
                    <a:lstStyle/>
                    <a:p>
                      <a:pPr algn="l" fontAlgn="t"/>
                      <a:r>
                        <a:rPr lang="en-NZ" sz="900" u="none" strike="noStrike">
                          <a:effectLst/>
                        </a:rPr>
                        <a:t>System Design</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718835385"/>
                  </a:ext>
                </a:extLst>
              </a:tr>
              <a:tr h="215812">
                <a:tc vMerge="1">
                  <a:txBody>
                    <a:bodyPr/>
                    <a:lstStyle/>
                    <a:p>
                      <a:endParaRPr lang="en-NZ"/>
                    </a:p>
                  </a:txBody>
                  <a:tcPr/>
                </a:tc>
                <a:tc>
                  <a:txBody>
                    <a:bodyPr/>
                    <a:lstStyle/>
                    <a:p>
                      <a:pPr algn="l" fontAlgn="t"/>
                      <a:r>
                        <a:rPr lang="en-NZ" sz="900" u="none" strike="noStrike">
                          <a:effectLst/>
                        </a:rPr>
                        <a:t>Implementation (Development)</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114294640"/>
                  </a:ext>
                </a:extLst>
              </a:tr>
              <a:tr h="215812">
                <a:tc vMerge="1">
                  <a:txBody>
                    <a:bodyPr/>
                    <a:lstStyle/>
                    <a:p>
                      <a:endParaRPr lang="en-NZ"/>
                    </a:p>
                  </a:txBody>
                  <a:tcPr/>
                </a:tc>
                <a:tc>
                  <a:txBody>
                    <a:bodyPr/>
                    <a:lstStyle/>
                    <a:p>
                      <a:pPr algn="l" fontAlgn="t"/>
                      <a:r>
                        <a:rPr lang="en-NZ" sz="900" u="none" strike="noStrike">
                          <a:effectLst/>
                        </a:rPr>
                        <a:t>Testing</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108650170"/>
                  </a:ext>
                </a:extLst>
              </a:tr>
              <a:tr h="215812">
                <a:tc vMerge="1">
                  <a:txBody>
                    <a:bodyPr/>
                    <a:lstStyle/>
                    <a:p>
                      <a:endParaRPr lang="en-NZ"/>
                    </a:p>
                  </a:txBody>
                  <a:tcPr/>
                </a:tc>
                <a:tc>
                  <a:txBody>
                    <a:bodyPr/>
                    <a:lstStyle/>
                    <a:p>
                      <a:pPr algn="l" fontAlgn="t"/>
                      <a:r>
                        <a:rPr lang="en-NZ" sz="900" u="none" strike="noStrike">
                          <a:effectLst/>
                        </a:rPr>
                        <a:t>Deployment</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325100766"/>
                  </a:ext>
                </a:extLst>
              </a:tr>
              <a:tr h="215812">
                <a:tc vMerge="1">
                  <a:txBody>
                    <a:bodyPr/>
                    <a:lstStyle/>
                    <a:p>
                      <a:endParaRPr lang="en-NZ"/>
                    </a:p>
                  </a:txBody>
                  <a:tcPr/>
                </a:tc>
                <a:tc>
                  <a:txBody>
                    <a:bodyPr/>
                    <a:lstStyle/>
                    <a:p>
                      <a:pPr algn="l" fontAlgn="t"/>
                      <a:r>
                        <a:rPr lang="en-NZ" sz="900" u="none" strike="noStrike">
                          <a:effectLst/>
                        </a:rPr>
                        <a:t>Maintenance</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920194814"/>
                  </a:ext>
                </a:extLst>
              </a:tr>
              <a:tr h="215812">
                <a:tc rowSpan="4">
                  <a:txBody>
                    <a:bodyPr/>
                    <a:lstStyle/>
                    <a:p>
                      <a:pPr algn="l" fontAlgn="t"/>
                      <a:r>
                        <a:rPr lang="en-NZ" sz="900" u="none" strike="noStrike" dirty="0">
                          <a:effectLst/>
                        </a:rPr>
                        <a:t>Spiral Model</a:t>
                      </a:r>
                      <a:endParaRPr lang="en-NZ" sz="900" b="0" i="0" u="none" strike="noStrike" dirty="0">
                        <a:solidFill>
                          <a:srgbClr val="000000"/>
                        </a:solidFill>
                        <a:effectLst/>
                        <a:latin typeface="Times New Roman" panose="02020603050405020304" pitchFamily="18" charset="0"/>
                      </a:endParaRPr>
                    </a:p>
                  </a:txBody>
                  <a:tcPr marL="3323" marR="3323" marT="3323" marB="0"/>
                </a:tc>
                <a:tc>
                  <a:txBody>
                    <a:bodyPr/>
                    <a:lstStyle/>
                    <a:p>
                      <a:pPr algn="l" fontAlgn="t"/>
                      <a:r>
                        <a:rPr lang="en-NZ" sz="900" u="none" strike="noStrike">
                          <a:effectLst/>
                        </a:rPr>
                        <a:t>Determining objectives and alternate solutions</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912617436"/>
                  </a:ext>
                </a:extLst>
              </a:tr>
              <a:tr h="215812">
                <a:tc vMerge="1">
                  <a:txBody>
                    <a:bodyPr/>
                    <a:lstStyle/>
                    <a:p>
                      <a:endParaRPr lang="en-NZ"/>
                    </a:p>
                  </a:txBody>
                  <a:tcPr/>
                </a:tc>
                <a:tc>
                  <a:txBody>
                    <a:bodyPr/>
                    <a:lstStyle/>
                    <a:p>
                      <a:pPr algn="l" fontAlgn="t"/>
                      <a:r>
                        <a:rPr lang="en-NZ" sz="900" u="none" strike="noStrike">
                          <a:effectLst/>
                        </a:rPr>
                        <a:t>Identifying and resolving risks</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300950678"/>
                  </a:ext>
                </a:extLst>
              </a:tr>
              <a:tr h="215812">
                <a:tc vMerge="1">
                  <a:txBody>
                    <a:bodyPr/>
                    <a:lstStyle/>
                    <a:p>
                      <a:endParaRPr lang="en-NZ"/>
                    </a:p>
                  </a:txBody>
                  <a:tcPr/>
                </a:tc>
                <a:tc>
                  <a:txBody>
                    <a:bodyPr/>
                    <a:lstStyle/>
                    <a:p>
                      <a:pPr algn="l" fontAlgn="t"/>
                      <a:r>
                        <a:rPr lang="en-NZ" sz="900" u="none" strike="noStrike">
                          <a:effectLst/>
                        </a:rPr>
                        <a:t>Develop and test</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89796717"/>
                  </a:ext>
                </a:extLst>
              </a:tr>
              <a:tr h="215812">
                <a:tc vMerge="1">
                  <a:txBody>
                    <a:bodyPr/>
                    <a:lstStyle/>
                    <a:p>
                      <a:endParaRPr lang="en-NZ"/>
                    </a:p>
                  </a:txBody>
                  <a:tcPr/>
                </a:tc>
                <a:tc>
                  <a:txBody>
                    <a:bodyPr/>
                    <a:lstStyle/>
                    <a:p>
                      <a:pPr algn="l" fontAlgn="t"/>
                      <a:r>
                        <a:rPr lang="en-NZ" sz="900" u="none" strike="noStrike">
                          <a:effectLst/>
                        </a:rPr>
                        <a:t>Review and plan for the next phase</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072204426"/>
                  </a:ext>
                </a:extLst>
              </a:tr>
              <a:tr h="215812">
                <a:tc rowSpan="5">
                  <a:txBody>
                    <a:bodyPr/>
                    <a:lstStyle/>
                    <a:p>
                      <a:pPr algn="l" fontAlgn="t"/>
                      <a:r>
                        <a:rPr lang="en-NZ" sz="900" u="none" strike="noStrike" dirty="0">
                          <a:effectLst/>
                        </a:rPr>
                        <a:t>V-model</a:t>
                      </a:r>
                      <a:endParaRPr lang="en-NZ" sz="900" b="0" i="0" u="none" strike="noStrike" dirty="0">
                        <a:solidFill>
                          <a:srgbClr val="000000"/>
                        </a:solidFill>
                        <a:effectLst/>
                        <a:latin typeface="Times New Roman" panose="02020603050405020304" pitchFamily="18" charset="0"/>
                      </a:endParaRPr>
                    </a:p>
                  </a:txBody>
                  <a:tcPr marL="3323" marR="3323" marT="3323" marB="0"/>
                </a:tc>
                <a:tc>
                  <a:txBody>
                    <a:bodyPr/>
                    <a:lstStyle/>
                    <a:p>
                      <a:pPr algn="l" fontAlgn="t"/>
                      <a:r>
                        <a:rPr lang="en-NZ" sz="900" u="none" strike="noStrike">
                          <a:effectLst/>
                        </a:rPr>
                        <a:t>Requirements analysis</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933157088"/>
                  </a:ext>
                </a:extLst>
              </a:tr>
              <a:tr h="215812">
                <a:tc vMerge="1">
                  <a:txBody>
                    <a:bodyPr/>
                    <a:lstStyle/>
                    <a:p>
                      <a:endParaRPr lang="en-NZ"/>
                    </a:p>
                  </a:txBody>
                  <a:tcPr/>
                </a:tc>
                <a:tc>
                  <a:txBody>
                    <a:bodyPr/>
                    <a:lstStyle/>
                    <a:p>
                      <a:pPr algn="l" fontAlgn="t"/>
                      <a:r>
                        <a:rPr lang="en-NZ" sz="900" u="none" strike="noStrike">
                          <a:effectLst/>
                        </a:rPr>
                        <a:t>System design</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3237899506"/>
                  </a:ext>
                </a:extLst>
              </a:tr>
              <a:tr h="215812">
                <a:tc vMerge="1">
                  <a:txBody>
                    <a:bodyPr/>
                    <a:lstStyle/>
                    <a:p>
                      <a:endParaRPr lang="en-NZ"/>
                    </a:p>
                  </a:txBody>
                  <a:tcPr/>
                </a:tc>
                <a:tc>
                  <a:txBody>
                    <a:bodyPr/>
                    <a:lstStyle/>
                    <a:p>
                      <a:pPr algn="l" fontAlgn="t"/>
                      <a:r>
                        <a:rPr lang="en-NZ" sz="900" u="none" strike="noStrike">
                          <a:effectLst/>
                        </a:rPr>
                        <a:t>Architectural design</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987510913"/>
                  </a:ext>
                </a:extLst>
              </a:tr>
              <a:tr h="215812">
                <a:tc vMerge="1">
                  <a:txBody>
                    <a:bodyPr/>
                    <a:lstStyle/>
                    <a:p>
                      <a:endParaRPr lang="en-NZ"/>
                    </a:p>
                  </a:txBody>
                  <a:tcPr/>
                </a:tc>
                <a:tc>
                  <a:txBody>
                    <a:bodyPr/>
                    <a:lstStyle/>
                    <a:p>
                      <a:pPr algn="l" fontAlgn="t"/>
                      <a:r>
                        <a:rPr lang="en-NZ" sz="900" u="none" strike="noStrike">
                          <a:effectLst/>
                        </a:rPr>
                        <a:t>Module design</a:t>
                      </a:r>
                      <a:endParaRPr lang="en-NZ" sz="9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3602911045"/>
                  </a:ext>
                </a:extLst>
              </a:tr>
              <a:tr h="215812">
                <a:tc vMerge="1">
                  <a:txBody>
                    <a:bodyPr/>
                    <a:lstStyle/>
                    <a:p>
                      <a:endParaRPr lang="en-NZ"/>
                    </a:p>
                  </a:txBody>
                  <a:tcPr/>
                </a:tc>
                <a:tc>
                  <a:txBody>
                    <a:bodyPr/>
                    <a:lstStyle/>
                    <a:p>
                      <a:pPr algn="l" fontAlgn="t"/>
                      <a:r>
                        <a:rPr lang="en-NZ" sz="900" u="none" strike="noStrike" dirty="0">
                          <a:effectLst/>
                        </a:rPr>
                        <a:t>Coding phase</a:t>
                      </a:r>
                      <a:endParaRPr lang="en-NZ" sz="9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363791712"/>
                  </a:ext>
                </a:extLst>
              </a:tr>
            </a:tbl>
          </a:graphicData>
        </a:graphic>
      </p:graphicFrame>
      <p:sp>
        <p:nvSpPr>
          <p:cNvPr id="5" name="TextBox 4">
            <a:extLst>
              <a:ext uri="{FF2B5EF4-FFF2-40B4-BE49-F238E27FC236}">
                <a16:creationId xmlns:a16="http://schemas.microsoft.com/office/drawing/2014/main" id="{7E5BEDBA-3782-BEBF-B1FC-63D248B8D1CC}"/>
              </a:ext>
            </a:extLst>
          </p:cNvPr>
          <p:cNvSpPr txBox="1"/>
          <p:nvPr/>
        </p:nvSpPr>
        <p:spPr>
          <a:xfrm>
            <a:off x="1886866" y="1371851"/>
            <a:ext cx="8247734" cy="1200329"/>
          </a:xfrm>
          <a:prstGeom prst="rect">
            <a:avLst/>
          </a:prstGeom>
          <a:noFill/>
        </p:spPr>
        <p:txBody>
          <a:bodyPr wrap="square">
            <a:spAutoFit/>
          </a:bodyPr>
          <a:lstStyle/>
          <a:p>
            <a:pPr marL="285750" indent="-285750">
              <a:buFont typeface="Arial" panose="020B0604020202020204" pitchFamily="34" charset="0"/>
              <a:buChar char="•"/>
            </a:pPr>
            <a:r>
              <a:rPr lang="en-US" b="1" dirty="0"/>
              <a:t>Structured software engineering methods and phases</a:t>
            </a:r>
            <a:r>
              <a:rPr lang="en-US" dirty="0"/>
              <a:t> focus on </a:t>
            </a:r>
            <a:r>
              <a:rPr lang="en-US" i="1" dirty="0"/>
              <a:t>how to build the product</a:t>
            </a:r>
            <a:r>
              <a:rPr lang="en-US" dirty="0"/>
              <a:t>: they describe the technical lifecycle (e.g., requirements, design, build, test, deploy, maintain) and the engineering practices used to produce software.</a:t>
            </a:r>
          </a:p>
        </p:txBody>
      </p:sp>
    </p:spTree>
    <p:extLst>
      <p:ext uri="{BB962C8B-B14F-4D97-AF65-F5344CB8AC3E}">
        <p14:creationId xmlns:p14="http://schemas.microsoft.com/office/powerpoint/2010/main" val="923123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37B9-CD40-BEBE-166A-AC71867F340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FEAF3A-7966-9F73-753B-436594A7A9DF}"/>
              </a:ext>
            </a:extLst>
          </p:cNvPr>
          <p:cNvSpPr txBox="1">
            <a:spLocks noGrp="1"/>
          </p:cNvSpPr>
          <p:nvPr>
            <p:ph type="title"/>
          </p:nvPr>
        </p:nvSpPr>
        <p:spPr>
          <a:xfrm>
            <a:off x="1468374" y="169621"/>
            <a:ext cx="10264012" cy="1439087"/>
          </a:xfrm>
        </p:spPr>
        <p:txBody>
          <a:bodyPr vert="horz" wrap="square" lIns="0" tIns="0" rIns="0" bIns="0" rtlCol="0" anchor="ctr">
            <a:normAutofit/>
          </a:bodyPr>
          <a:lstStyle/>
          <a:p>
            <a:pPr marL="83185">
              <a:spcBef>
                <a:spcPts val="105"/>
              </a:spcBef>
            </a:pPr>
            <a:r>
              <a:rPr lang="en-US" dirty="0"/>
              <a:t>Iterative project management methods</a:t>
            </a:r>
            <a:endParaRPr lang="en-US" b="1" i="0" spc="-10" dirty="0"/>
          </a:p>
        </p:txBody>
      </p:sp>
      <p:graphicFrame>
        <p:nvGraphicFramePr>
          <p:cNvPr id="4" name="Table 3">
            <a:extLst>
              <a:ext uri="{FF2B5EF4-FFF2-40B4-BE49-F238E27FC236}">
                <a16:creationId xmlns:a16="http://schemas.microsoft.com/office/drawing/2014/main" id="{2BAB0547-1E0C-35A1-6FBF-59D0530D69EE}"/>
              </a:ext>
            </a:extLst>
          </p:cNvPr>
          <p:cNvGraphicFramePr>
            <a:graphicFrameLocks noGrp="1"/>
          </p:cNvGraphicFramePr>
          <p:nvPr>
            <p:extLst>
              <p:ext uri="{D42A27DB-BD31-4B8C-83A1-F6EECF244321}">
                <p14:modId xmlns:p14="http://schemas.microsoft.com/office/powerpoint/2010/main" val="3879730431"/>
              </p:ext>
            </p:extLst>
          </p:nvPr>
        </p:nvGraphicFramePr>
        <p:xfrm>
          <a:off x="1875980" y="3048000"/>
          <a:ext cx="9448800" cy="3055840"/>
        </p:xfrm>
        <a:graphic>
          <a:graphicData uri="http://schemas.openxmlformats.org/drawingml/2006/table">
            <a:tbl>
              <a:tblPr firstRow="1" bandRow="1">
                <a:tableStyleId>{5940675A-B579-460E-94D1-54222C63F5DA}</a:tableStyleId>
              </a:tblPr>
              <a:tblGrid>
                <a:gridCol w="4038600">
                  <a:extLst>
                    <a:ext uri="{9D8B030D-6E8A-4147-A177-3AD203B41FA5}">
                      <a16:colId xmlns:a16="http://schemas.microsoft.com/office/drawing/2014/main" val="145589843"/>
                    </a:ext>
                  </a:extLst>
                </a:gridCol>
                <a:gridCol w="5410200">
                  <a:extLst>
                    <a:ext uri="{9D8B030D-6E8A-4147-A177-3AD203B41FA5}">
                      <a16:colId xmlns:a16="http://schemas.microsoft.com/office/drawing/2014/main" val="3683141552"/>
                    </a:ext>
                  </a:extLst>
                </a:gridCol>
              </a:tblGrid>
              <a:tr h="190990">
                <a:tc>
                  <a:txBody>
                    <a:bodyPr/>
                    <a:lstStyle/>
                    <a:p>
                      <a:pPr algn="ctr" fontAlgn="ctr"/>
                      <a:r>
                        <a:rPr lang="en-NZ" sz="1100" b="1" u="none" strike="noStrike" dirty="0">
                          <a:effectLst/>
                        </a:rPr>
                        <a:t>Iterative Project Management Methods (Agile Methods)</a:t>
                      </a:r>
                      <a:endParaRPr lang="en-NZ" sz="1100" b="1" i="0" u="none" strike="noStrike" dirty="0">
                        <a:solidFill>
                          <a:srgbClr val="000000"/>
                        </a:solidFill>
                        <a:effectLst/>
                        <a:latin typeface="Times New Roman" panose="02020603050405020304" pitchFamily="18" charset="0"/>
                      </a:endParaRPr>
                    </a:p>
                  </a:txBody>
                  <a:tcPr marL="3323" marR="3323" marT="3323" marB="0" anchor="ctr"/>
                </a:tc>
                <a:tc>
                  <a:txBody>
                    <a:bodyPr/>
                    <a:lstStyle/>
                    <a:p>
                      <a:pPr algn="ctr" fontAlgn="ctr"/>
                      <a:r>
                        <a:rPr lang="en-NZ" sz="1100" u="none" strike="noStrike">
                          <a:effectLst/>
                        </a:rPr>
                        <a:t>Phases</a:t>
                      </a:r>
                      <a:endParaRPr lang="en-NZ" sz="1100" b="1" i="0" u="none" strike="noStrike">
                        <a:solidFill>
                          <a:srgbClr val="000000"/>
                        </a:solidFill>
                        <a:effectLst/>
                        <a:latin typeface="Times New Roman" panose="02020603050405020304" pitchFamily="18" charset="0"/>
                      </a:endParaRPr>
                    </a:p>
                  </a:txBody>
                  <a:tcPr marL="3323" marR="3323" marT="3323" marB="0" anchor="ctr"/>
                </a:tc>
                <a:extLst>
                  <a:ext uri="{0D108BD9-81ED-4DB2-BD59-A6C34878D82A}">
                    <a16:rowId xmlns:a16="http://schemas.microsoft.com/office/drawing/2014/main" val="267963722"/>
                  </a:ext>
                </a:extLst>
              </a:tr>
              <a:tr h="190990">
                <a:tc rowSpan="5">
                  <a:txBody>
                    <a:bodyPr/>
                    <a:lstStyle/>
                    <a:p>
                      <a:pPr algn="l" fontAlgn="t"/>
                      <a:r>
                        <a:rPr lang="en-NZ" sz="1100" u="none" strike="noStrike" dirty="0">
                          <a:effectLst/>
                        </a:rPr>
                        <a:t>Scrum</a:t>
                      </a:r>
                      <a:endParaRPr lang="en-NZ" sz="1100" b="0" i="0" u="none" strike="noStrike" dirty="0">
                        <a:solidFill>
                          <a:srgbClr val="000000"/>
                        </a:solidFill>
                        <a:effectLst/>
                        <a:latin typeface="Times New Roman" panose="02020603050405020304" pitchFamily="18" charset="0"/>
                      </a:endParaRPr>
                    </a:p>
                  </a:txBody>
                  <a:tcPr marL="3323" marR="3323" marT="3323" marB="0"/>
                </a:tc>
                <a:tc>
                  <a:txBody>
                    <a:bodyPr/>
                    <a:lstStyle/>
                    <a:p>
                      <a:pPr algn="l" fontAlgn="t"/>
                      <a:r>
                        <a:rPr lang="en-NZ" sz="1100" u="none" strike="noStrike">
                          <a:effectLst/>
                        </a:rPr>
                        <a:t>Initiation</a:t>
                      </a:r>
                      <a:endParaRPr lang="en-NZ" sz="11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051918141"/>
                  </a:ext>
                </a:extLst>
              </a:tr>
              <a:tr h="190990">
                <a:tc vMerge="1">
                  <a:txBody>
                    <a:bodyPr/>
                    <a:lstStyle/>
                    <a:p>
                      <a:endParaRPr lang="en-NZ"/>
                    </a:p>
                  </a:txBody>
                  <a:tcPr/>
                </a:tc>
                <a:tc>
                  <a:txBody>
                    <a:bodyPr/>
                    <a:lstStyle/>
                    <a:p>
                      <a:pPr algn="l" fontAlgn="t"/>
                      <a:r>
                        <a:rPr lang="en-NZ" sz="1100" u="none" strike="noStrike">
                          <a:effectLst/>
                        </a:rPr>
                        <a:t>Sprint Planning</a:t>
                      </a:r>
                      <a:endParaRPr lang="en-NZ" sz="11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664526324"/>
                  </a:ext>
                </a:extLst>
              </a:tr>
              <a:tr h="190990">
                <a:tc vMerge="1">
                  <a:txBody>
                    <a:bodyPr/>
                    <a:lstStyle/>
                    <a:p>
                      <a:endParaRPr lang="en-NZ"/>
                    </a:p>
                  </a:txBody>
                  <a:tcPr/>
                </a:tc>
                <a:tc>
                  <a:txBody>
                    <a:bodyPr/>
                    <a:lstStyle/>
                    <a:p>
                      <a:pPr algn="l" fontAlgn="t"/>
                      <a:r>
                        <a:rPr lang="en-NZ" sz="1100" u="none" strike="noStrike">
                          <a:effectLst/>
                        </a:rPr>
                        <a:t>Implementation (Execution)</a:t>
                      </a:r>
                      <a:endParaRPr lang="en-NZ" sz="11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970582224"/>
                  </a:ext>
                </a:extLst>
              </a:tr>
              <a:tr h="190990">
                <a:tc vMerge="1">
                  <a:txBody>
                    <a:bodyPr/>
                    <a:lstStyle/>
                    <a:p>
                      <a:endParaRPr lang="en-NZ"/>
                    </a:p>
                  </a:txBody>
                  <a:tcPr/>
                </a:tc>
                <a:tc>
                  <a:txBody>
                    <a:bodyPr/>
                    <a:lstStyle/>
                    <a:p>
                      <a:pPr algn="l" fontAlgn="t"/>
                      <a:r>
                        <a:rPr lang="en-NZ" sz="1100" u="none" strike="noStrike" dirty="0">
                          <a:effectLst/>
                        </a:rPr>
                        <a:t>Sprint Review</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650400005"/>
                  </a:ext>
                </a:extLst>
              </a:tr>
              <a:tr h="190990">
                <a:tc vMerge="1">
                  <a:txBody>
                    <a:bodyPr/>
                    <a:lstStyle/>
                    <a:p>
                      <a:endParaRPr lang="en-NZ"/>
                    </a:p>
                  </a:txBody>
                  <a:tcPr/>
                </a:tc>
                <a:tc>
                  <a:txBody>
                    <a:bodyPr/>
                    <a:lstStyle/>
                    <a:p>
                      <a:pPr algn="l" fontAlgn="t"/>
                      <a:r>
                        <a:rPr lang="en-NZ" sz="1100" u="none" strike="noStrike" dirty="0">
                          <a:effectLst/>
                        </a:rPr>
                        <a:t>Sprint Retrospective</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769888742"/>
                  </a:ext>
                </a:extLst>
              </a:tr>
              <a:tr h="190990">
                <a:tc rowSpan="5">
                  <a:txBody>
                    <a:bodyPr/>
                    <a:lstStyle/>
                    <a:p>
                      <a:pPr algn="l" fontAlgn="t"/>
                      <a:r>
                        <a:rPr lang="en-NZ" sz="1100" u="none" strike="noStrike">
                          <a:effectLst/>
                        </a:rPr>
                        <a:t>XP</a:t>
                      </a:r>
                      <a:endParaRPr lang="en-NZ" sz="1100" b="0" i="0" u="none" strike="noStrike">
                        <a:solidFill>
                          <a:srgbClr val="000000"/>
                        </a:solidFill>
                        <a:effectLst/>
                        <a:latin typeface="Times New Roman" panose="02020603050405020304" pitchFamily="18" charset="0"/>
                      </a:endParaRPr>
                    </a:p>
                  </a:txBody>
                  <a:tcPr marL="3323" marR="3323" marT="3323" marB="0"/>
                </a:tc>
                <a:tc>
                  <a:txBody>
                    <a:bodyPr/>
                    <a:lstStyle/>
                    <a:p>
                      <a:pPr algn="l" fontAlgn="t"/>
                      <a:r>
                        <a:rPr lang="en-NZ" sz="1100" u="none" strike="noStrike" dirty="0">
                          <a:effectLst/>
                        </a:rPr>
                        <a:t>Planning</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789320589"/>
                  </a:ext>
                </a:extLst>
              </a:tr>
              <a:tr h="190990">
                <a:tc vMerge="1">
                  <a:txBody>
                    <a:bodyPr/>
                    <a:lstStyle/>
                    <a:p>
                      <a:endParaRPr lang="en-NZ"/>
                    </a:p>
                  </a:txBody>
                  <a:tcPr/>
                </a:tc>
                <a:tc>
                  <a:txBody>
                    <a:bodyPr/>
                    <a:lstStyle/>
                    <a:p>
                      <a:pPr algn="l" fontAlgn="t"/>
                      <a:r>
                        <a:rPr lang="en-NZ" sz="1100" u="none" strike="noStrike" dirty="0">
                          <a:effectLst/>
                        </a:rPr>
                        <a:t>Analysis</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4101943519"/>
                  </a:ext>
                </a:extLst>
              </a:tr>
              <a:tr h="190990">
                <a:tc vMerge="1">
                  <a:txBody>
                    <a:bodyPr/>
                    <a:lstStyle/>
                    <a:p>
                      <a:endParaRPr lang="en-NZ"/>
                    </a:p>
                  </a:txBody>
                  <a:tcPr/>
                </a:tc>
                <a:tc>
                  <a:txBody>
                    <a:bodyPr/>
                    <a:lstStyle/>
                    <a:p>
                      <a:pPr algn="l" fontAlgn="t"/>
                      <a:r>
                        <a:rPr lang="en-NZ" sz="1100" u="none" strike="noStrike" dirty="0">
                          <a:effectLst/>
                        </a:rPr>
                        <a:t>Design</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679445493"/>
                  </a:ext>
                </a:extLst>
              </a:tr>
              <a:tr h="190990">
                <a:tc vMerge="1">
                  <a:txBody>
                    <a:bodyPr/>
                    <a:lstStyle/>
                    <a:p>
                      <a:endParaRPr lang="en-NZ"/>
                    </a:p>
                  </a:txBody>
                  <a:tcPr/>
                </a:tc>
                <a:tc>
                  <a:txBody>
                    <a:bodyPr/>
                    <a:lstStyle/>
                    <a:p>
                      <a:pPr algn="l" fontAlgn="t"/>
                      <a:r>
                        <a:rPr lang="en-NZ" sz="1100" u="none" strike="noStrike" dirty="0">
                          <a:effectLst/>
                        </a:rPr>
                        <a:t>Coding </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037039003"/>
                  </a:ext>
                </a:extLst>
              </a:tr>
              <a:tr h="190990">
                <a:tc vMerge="1">
                  <a:txBody>
                    <a:bodyPr/>
                    <a:lstStyle/>
                    <a:p>
                      <a:endParaRPr lang="en-NZ"/>
                    </a:p>
                  </a:txBody>
                  <a:tcPr/>
                </a:tc>
                <a:tc>
                  <a:txBody>
                    <a:bodyPr/>
                    <a:lstStyle/>
                    <a:p>
                      <a:pPr algn="l" fontAlgn="t"/>
                      <a:r>
                        <a:rPr lang="en-NZ" sz="1100" u="none" strike="noStrike">
                          <a:effectLst/>
                        </a:rPr>
                        <a:t>Testing </a:t>
                      </a:r>
                      <a:endParaRPr lang="en-NZ" sz="11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17802122"/>
                  </a:ext>
                </a:extLst>
              </a:tr>
              <a:tr h="190990">
                <a:tc rowSpan="5">
                  <a:txBody>
                    <a:bodyPr/>
                    <a:lstStyle/>
                    <a:p>
                      <a:pPr algn="l" fontAlgn="t"/>
                      <a:r>
                        <a:rPr lang="en-NZ" sz="1100" u="none" strike="noStrike" dirty="0">
                          <a:effectLst/>
                        </a:rPr>
                        <a:t>Lean</a:t>
                      </a:r>
                      <a:endParaRPr lang="en-NZ" sz="1100" b="0" i="0" u="none" strike="noStrike" dirty="0">
                        <a:solidFill>
                          <a:srgbClr val="000000"/>
                        </a:solidFill>
                        <a:effectLst/>
                        <a:latin typeface="Times New Roman" panose="02020603050405020304" pitchFamily="18" charset="0"/>
                      </a:endParaRPr>
                    </a:p>
                  </a:txBody>
                  <a:tcPr marL="3323" marR="3323" marT="3323" marB="0"/>
                </a:tc>
                <a:tc>
                  <a:txBody>
                    <a:bodyPr/>
                    <a:lstStyle/>
                    <a:p>
                      <a:pPr algn="l" fontAlgn="t"/>
                      <a:r>
                        <a:rPr lang="en-NZ" sz="1100" u="none" strike="noStrike" dirty="0">
                          <a:effectLst/>
                        </a:rPr>
                        <a:t>Inception</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017403546"/>
                  </a:ext>
                </a:extLst>
              </a:tr>
              <a:tr h="190990">
                <a:tc vMerge="1">
                  <a:txBody>
                    <a:bodyPr/>
                    <a:lstStyle/>
                    <a:p>
                      <a:endParaRPr lang="en-NZ"/>
                    </a:p>
                  </a:txBody>
                  <a:tcPr/>
                </a:tc>
                <a:tc>
                  <a:txBody>
                    <a:bodyPr/>
                    <a:lstStyle/>
                    <a:p>
                      <a:pPr algn="l" fontAlgn="t"/>
                      <a:r>
                        <a:rPr lang="en-NZ" sz="1100" u="none" strike="noStrike">
                          <a:effectLst/>
                        </a:rPr>
                        <a:t>Iteration</a:t>
                      </a:r>
                      <a:endParaRPr lang="en-NZ" sz="1100" b="0" i="0" u="none" strike="noStrike">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3023773500"/>
                  </a:ext>
                </a:extLst>
              </a:tr>
              <a:tr h="190990">
                <a:tc vMerge="1">
                  <a:txBody>
                    <a:bodyPr/>
                    <a:lstStyle/>
                    <a:p>
                      <a:endParaRPr lang="en-NZ"/>
                    </a:p>
                  </a:txBody>
                  <a:tcPr/>
                </a:tc>
                <a:tc>
                  <a:txBody>
                    <a:bodyPr/>
                    <a:lstStyle/>
                    <a:p>
                      <a:pPr algn="l" fontAlgn="t"/>
                      <a:r>
                        <a:rPr lang="en-NZ" sz="1100" u="none" strike="noStrike" dirty="0">
                          <a:effectLst/>
                        </a:rPr>
                        <a:t>Release</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746145506"/>
                  </a:ext>
                </a:extLst>
              </a:tr>
              <a:tr h="190990">
                <a:tc vMerge="1">
                  <a:txBody>
                    <a:bodyPr/>
                    <a:lstStyle/>
                    <a:p>
                      <a:endParaRPr lang="en-NZ"/>
                    </a:p>
                  </a:txBody>
                  <a:tcPr/>
                </a:tc>
                <a:tc>
                  <a:txBody>
                    <a:bodyPr/>
                    <a:lstStyle/>
                    <a:p>
                      <a:pPr algn="l" fontAlgn="t"/>
                      <a:r>
                        <a:rPr lang="en-NZ" sz="1100" u="none" strike="noStrike" dirty="0">
                          <a:effectLst/>
                        </a:rPr>
                        <a:t>Maintenance</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2352405562"/>
                  </a:ext>
                </a:extLst>
              </a:tr>
              <a:tr h="190990">
                <a:tc vMerge="1">
                  <a:txBody>
                    <a:bodyPr/>
                    <a:lstStyle/>
                    <a:p>
                      <a:endParaRPr lang="en-NZ"/>
                    </a:p>
                  </a:txBody>
                  <a:tcPr/>
                </a:tc>
                <a:tc>
                  <a:txBody>
                    <a:bodyPr/>
                    <a:lstStyle/>
                    <a:p>
                      <a:pPr algn="l" fontAlgn="t"/>
                      <a:r>
                        <a:rPr lang="en-NZ" sz="1100" u="none" strike="noStrike" dirty="0">
                          <a:effectLst/>
                        </a:rPr>
                        <a:t>Retirement</a:t>
                      </a:r>
                      <a:endParaRPr lang="en-NZ" sz="1100" b="0" i="0" u="none" strike="noStrike" dirty="0">
                        <a:solidFill>
                          <a:srgbClr val="000000"/>
                        </a:solidFill>
                        <a:effectLst/>
                        <a:latin typeface="Times New Roman" panose="02020603050405020304" pitchFamily="18" charset="0"/>
                      </a:endParaRPr>
                    </a:p>
                  </a:txBody>
                  <a:tcPr marL="3323" marR="3323" marT="3323" marB="0"/>
                </a:tc>
                <a:extLst>
                  <a:ext uri="{0D108BD9-81ED-4DB2-BD59-A6C34878D82A}">
                    <a16:rowId xmlns:a16="http://schemas.microsoft.com/office/drawing/2014/main" val="1899135849"/>
                  </a:ext>
                </a:extLst>
              </a:tr>
            </a:tbl>
          </a:graphicData>
        </a:graphic>
      </p:graphicFrame>
      <p:sp>
        <p:nvSpPr>
          <p:cNvPr id="6" name="TextBox 5">
            <a:extLst>
              <a:ext uri="{FF2B5EF4-FFF2-40B4-BE49-F238E27FC236}">
                <a16:creationId xmlns:a16="http://schemas.microsoft.com/office/drawing/2014/main" id="{995EE459-49EF-B1D1-64E8-BB8A5597E19E}"/>
              </a:ext>
            </a:extLst>
          </p:cNvPr>
          <p:cNvSpPr txBox="1"/>
          <p:nvPr/>
        </p:nvSpPr>
        <p:spPr>
          <a:xfrm>
            <a:off x="1600200" y="1249805"/>
            <a:ext cx="9123426" cy="1200329"/>
          </a:xfrm>
          <a:prstGeom prst="rect">
            <a:avLst/>
          </a:prstGeom>
          <a:noFill/>
        </p:spPr>
        <p:txBody>
          <a:bodyPr wrap="square">
            <a:spAutoFit/>
          </a:bodyPr>
          <a:lstStyle/>
          <a:p>
            <a:pPr marL="285750" indent="-285750">
              <a:buFont typeface="Arial" panose="020B0604020202020204" pitchFamily="34" charset="0"/>
              <a:buChar char="•"/>
            </a:pPr>
            <a:r>
              <a:rPr lang="en-US" b="1" dirty="0"/>
              <a:t>Iterative project management methods (Agile methods)</a:t>
            </a:r>
            <a:r>
              <a:rPr lang="en-US" dirty="0"/>
              <a:t> focus on </a:t>
            </a:r>
            <a:r>
              <a:rPr lang="en-US" i="1" dirty="0"/>
              <a:t>how to manage and deliver the work</a:t>
            </a:r>
            <a:r>
              <a:rPr lang="en-US" dirty="0"/>
              <a:t>: they organise planning and delivery into short cycles, use ongoing customer feedback, continuously reprioritise scope, and adapt teams’ work to reduce risk and deliver value incrementally.</a:t>
            </a:r>
          </a:p>
        </p:txBody>
      </p:sp>
    </p:spTree>
    <p:extLst>
      <p:ext uri="{BB962C8B-B14F-4D97-AF65-F5344CB8AC3E}">
        <p14:creationId xmlns:p14="http://schemas.microsoft.com/office/powerpoint/2010/main" val="3430360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298780"/>
            <a:ext cx="4787265" cy="567463"/>
          </a:xfrm>
          <a:prstGeom prst="rect">
            <a:avLst/>
          </a:prstGeom>
        </p:spPr>
        <p:txBody>
          <a:bodyPr vert="horz" wrap="square" lIns="0" tIns="13335" rIns="0" bIns="0" rtlCol="0">
            <a:spAutoFit/>
          </a:bodyPr>
          <a:lstStyle/>
          <a:p>
            <a:pPr marL="12700">
              <a:lnSpc>
                <a:spcPct val="100000"/>
              </a:lnSpc>
              <a:spcBef>
                <a:spcPts val="105"/>
              </a:spcBef>
            </a:pPr>
            <a:r>
              <a:rPr sz="3600" dirty="0"/>
              <a:t>Project</a:t>
            </a:r>
            <a:r>
              <a:rPr sz="3600" spc="-85" dirty="0"/>
              <a:t> </a:t>
            </a:r>
            <a:r>
              <a:rPr sz="3600" spc="-20" dirty="0"/>
              <a:t>Stakeholders</a:t>
            </a:r>
          </a:p>
        </p:txBody>
      </p:sp>
      <p:sp>
        <p:nvSpPr>
          <p:cNvPr id="3" name="object 3"/>
          <p:cNvSpPr txBox="1"/>
          <p:nvPr/>
        </p:nvSpPr>
        <p:spPr>
          <a:xfrm>
            <a:off x="1426653" y="1066800"/>
            <a:ext cx="9799955" cy="5570756"/>
          </a:xfrm>
          <a:prstGeom prst="rect">
            <a:avLst/>
          </a:prstGeom>
        </p:spPr>
        <p:txBody>
          <a:bodyPr vert="horz" wrap="square" lIns="0" tIns="99060" rIns="0" bIns="0" rtlCol="0">
            <a:spAutoFit/>
          </a:bodyPr>
          <a:lstStyle/>
          <a:p>
            <a:pPr marL="240665" indent="-227965">
              <a:lnSpc>
                <a:spcPct val="100000"/>
              </a:lnSpc>
              <a:spcBef>
                <a:spcPts val="780"/>
              </a:spcBef>
              <a:buClr>
                <a:srgbClr val="F5821F"/>
              </a:buClr>
              <a:buFont typeface="Arial"/>
              <a:buChar char="•"/>
              <a:tabLst>
                <a:tab pos="240665" algn="l"/>
              </a:tabLst>
            </a:pPr>
            <a:r>
              <a:rPr sz="2400" b="1" spc="-10" dirty="0">
                <a:latin typeface="Calibri"/>
                <a:cs typeface="Calibri"/>
              </a:rPr>
              <a:t>Stakeholders</a:t>
            </a:r>
            <a:r>
              <a:rPr sz="2400" b="1" spc="-20" dirty="0">
                <a:latin typeface="Calibri"/>
                <a:cs typeface="Calibri"/>
              </a:rPr>
              <a:t> </a:t>
            </a:r>
            <a:r>
              <a:rPr sz="2400" dirty="0">
                <a:latin typeface="Calibri"/>
                <a:cs typeface="Calibri"/>
              </a:rPr>
              <a:t>are</a:t>
            </a:r>
            <a:r>
              <a:rPr sz="2400" spc="-3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people</a:t>
            </a:r>
            <a:r>
              <a:rPr sz="2400" spc="-60" dirty="0">
                <a:latin typeface="Calibri"/>
                <a:cs typeface="Calibri"/>
              </a:rPr>
              <a:t> </a:t>
            </a:r>
            <a:r>
              <a:rPr sz="2400" dirty="0">
                <a:latin typeface="Calibri"/>
                <a:cs typeface="Calibri"/>
              </a:rPr>
              <a:t>involved</a:t>
            </a:r>
            <a:r>
              <a:rPr sz="2400" spc="-50" dirty="0">
                <a:latin typeface="Calibri"/>
                <a:cs typeface="Calibri"/>
              </a:rPr>
              <a:t> </a:t>
            </a:r>
            <a:r>
              <a:rPr sz="2400" dirty="0">
                <a:latin typeface="Calibri"/>
                <a:cs typeface="Calibri"/>
              </a:rPr>
              <a:t>in</a:t>
            </a:r>
            <a:r>
              <a:rPr sz="2400" spc="-45" dirty="0">
                <a:latin typeface="Calibri"/>
                <a:cs typeface="Calibri"/>
              </a:rPr>
              <a:t> </a:t>
            </a:r>
            <a:r>
              <a:rPr sz="2400" dirty="0">
                <a:latin typeface="Calibri"/>
                <a:cs typeface="Calibri"/>
              </a:rPr>
              <a:t>or</a:t>
            </a:r>
            <a:r>
              <a:rPr sz="2400" spc="-30" dirty="0">
                <a:latin typeface="Calibri"/>
                <a:cs typeface="Calibri"/>
              </a:rPr>
              <a:t> </a:t>
            </a:r>
            <a:r>
              <a:rPr sz="2400" spc="-10" dirty="0">
                <a:latin typeface="Calibri"/>
                <a:cs typeface="Calibri"/>
              </a:rPr>
              <a:t>affected</a:t>
            </a:r>
            <a:r>
              <a:rPr sz="2400" spc="-70" dirty="0">
                <a:latin typeface="Calibri"/>
                <a:cs typeface="Calibri"/>
              </a:rPr>
              <a:t> </a:t>
            </a:r>
            <a:r>
              <a:rPr sz="2400" dirty="0">
                <a:latin typeface="Calibri"/>
                <a:cs typeface="Calibri"/>
              </a:rPr>
              <a:t>by</a:t>
            </a:r>
            <a:r>
              <a:rPr sz="2400" spc="-50" dirty="0">
                <a:latin typeface="Calibri"/>
                <a:cs typeface="Calibri"/>
              </a:rPr>
              <a:t> </a:t>
            </a:r>
            <a:r>
              <a:rPr sz="2400" dirty="0">
                <a:latin typeface="Calibri"/>
                <a:cs typeface="Calibri"/>
              </a:rPr>
              <a:t>project</a:t>
            </a:r>
            <a:r>
              <a:rPr sz="2400" spc="-40" dirty="0">
                <a:latin typeface="Calibri"/>
                <a:cs typeface="Calibri"/>
              </a:rPr>
              <a:t> </a:t>
            </a:r>
            <a:r>
              <a:rPr sz="2400" spc="-10" dirty="0">
                <a:latin typeface="Calibri"/>
                <a:cs typeface="Calibri"/>
              </a:rPr>
              <a:t>activities</a:t>
            </a:r>
            <a:endParaRPr sz="2400" dirty="0">
              <a:latin typeface="Calibri"/>
              <a:cs typeface="Calibri"/>
            </a:endParaRPr>
          </a:p>
          <a:p>
            <a:pPr marL="240665" indent="-227965">
              <a:lnSpc>
                <a:spcPct val="100000"/>
              </a:lnSpc>
              <a:spcBef>
                <a:spcPts val="685"/>
              </a:spcBef>
              <a:buClr>
                <a:srgbClr val="F5821F"/>
              </a:buClr>
              <a:buFont typeface="Arial"/>
              <a:buChar char="•"/>
              <a:tabLst>
                <a:tab pos="240665" algn="l"/>
              </a:tabLst>
            </a:pPr>
            <a:r>
              <a:rPr sz="2400" spc="-10" dirty="0">
                <a:latin typeface="Calibri"/>
                <a:cs typeface="Calibri"/>
              </a:rPr>
              <a:t>Stakeholders</a:t>
            </a:r>
            <a:r>
              <a:rPr sz="2400" spc="-65" dirty="0">
                <a:latin typeface="Calibri"/>
                <a:cs typeface="Calibri"/>
              </a:rPr>
              <a:t> </a:t>
            </a:r>
            <a:r>
              <a:rPr sz="2400" spc="-10" dirty="0">
                <a:latin typeface="Calibri"/>
                <a:cs typeface="Calibri"/>
              </a:rPr>
              <a:t>include:</a:t>
            </a:r>
            <a:endParaRPr sz="2400" dirty="0">
              <a:latin typeface="Calibri"/>
              <a:cs typeface="Calibri"/>
            </a:endParaRPr>
          </a:p>
          <a:p>
            <a:pPr marL="697865" lvl="1" indent="-227965">
              <a:lnSpc>
                <a:spcPct val="100000"/>
              </a:lnSpc>
              <a:spcBef>
                <a:spcPts val="225"/>
              </a:spcBef>
              <a:buClr>
                <a:srgbClr val="F5821F"/>
              </a:buClr>
              <a:buFont typeface="Arial"/>
              <a:buChar char="•"/>
              <a:tabLst>
                <a:tab pos="697865" algn="l"/>
              </a:tabLst>
            </a:pPr>
            <a:r>
              <a:rPr lang="en-NZ" sz="2000" spc="-10" dirty="0">
                <a:latin typeface="Calibri"/>
                <a:cs typeface="Calibri"/>
              </a:rPr>
              <a:t>portfolio management (</a:t>
            </a:r>
            <a:r>
              <a:rPr lang="en-NZ" sz="2000" dirty="0">
                <a:latin typeface="Calibri"/>
                <a:cs typeface="Calibri"/>
              </a:rPr>
              <a:t>the</a:t>
            </a:r>
            <a:r>
              <a:rPr lang="en-NZ" sz="2000" spc="-20" dirty="0">
                <a:latin typeface="Calibri"/>
                <a:cs typeface="Calibri"/>
              </a:rPr>
              <a:t> </a:t>
            </a:r>
            <a:r>
              <a:rPr lang="en-NZ" sz="2000" dirty="0">
                <a:latin typeface="Calibri"/>
                <a:cs typeface="Calibri"/>
              </a:rPr>
              <a:t>project</a:t>
            </a:r>
            <a:r>
              <a:rPr lang="en-NZ" sz="2000" spc="-35" dirty="0">
                <a:latin typeface="Calibri"/>
                <a:cs typeface="Calibri"/>
              </a:rPr>
              <a:t> </a:t>
            </a:r>
            <a:r>
              <a:rPr lang="en-NZ" sz="2000" spc="-10" dirty="0">
                <a:latin typeface="Calibri"/>
                <a:cs typeface="Calibri"/>
              </a:rPr>
              <a:t>sponsor) - portfolio manager </a:t>
            </a:r>
          </a:p>
          <a:p>
            <a:pPr marL="697865" lvl="1" indent="-227965">
              <a:lnSpc>
                <a:spcPct val="100000"/>
              </a:lnSpc>
              <a:spcBef>
                <a:spcPts val="225"/>
              </a:spcBef>
              <a:buClr>
                <a:srgbClr val="F5821F"/>
              </a:buClr>
              <a:buFont typeface="Arial"/>
              <a:buChar char="•"/>
              <a:tabLst>
                <a:tab pos="697865" algn="l"/>
              </a:tabLst>
            </a:pPr>
            <a:r>
              <a:rPr lang="en-NZ" sz="2000" spc="-10" dirty="0">
                <a:latin typeface="Calibri"/>
                <a:cs typeface="Calibri"/>
              </a:rPr>
              <a:t>customers and end users</a:t>
            </a:r>
          </a:p>
          <a:p>
            <a:pPr marL="697865" lvl="1" indent="-227965">
              <a:lnSpc>
                <a:spcPct val="100000"/>
              </a:lnSpc>
              <a:spcBef>
                <a:spcPts val="225"/>
              </a:spcBef>
              <a:buClr>
                <a:srgbClr val="F5821F"/>
              </a:buClr>
              <a:buFont typeface="Arial"/>
              <a:buChar char="•"/>
              <a:tabLst>
                <a:tab pos="697865" algn="l"/>
              </a:tabLst>
            </a:pPr>
            <a:r>
              <a:rPr lang="en-NZ" sz="2000" spc="-10" dirty="0">
                <a:latin typeface="Calibri"/>
                <a:cs typeface="Calibri"/>
              </a:rPr>
              <a:t>program management- program manager and enterprise architect, including architect owner, product owners </a:t>
            </a:r>
          </a:p>
          <a:p>
            <a:pPr marL="697865" lvl="1" indent="-227965">
              <a:lnSpc>
                <a:spcPct val="100000"/>
              </a:lnSpc>
              <a:spcBef>
                <a:spcPts val="225"/>
              </a:spcBef>
              <a:buClr>
                <a:srgbClr val="F5821F"/>
              </a:buClr>
              <a:buFont typeface="Arial"/>
              <a:buChar char="•"/>
              <a:tabLst>
                <a:tab pos="697865" algn="l"/>
              </a:tabLst>
            </a:pPr>
            <a:r>
              <a:rPr lang="en-NZ" sz="2000" spc="-10" dirty="0">
                <a:latin typeface="Calibri"/>
                <a:cs typeface="Calibri"/>
              </a:rPr>
              <a:t>product management - product manager and product owner </a:t>
            </a:r>
          </a:p>
          <a:p>
            <a:pPr marL="697865" lvl="1" indent="-227965">
              <a:spcBef>
                <a:spcPts val="225"/>
              </a:spcBef>
              <a:buClr>
                <a:srgbClr val="F5821F"/>
              </a:buClr>
              <a:buFont typeface="Arial"/>
              <a:buChar char="•"/>
              <a:tabLst>
                <a:tab pos="697865" algn="l"/>
              </a:tabLst>
            </a:pPr>
            <a:r>
              <a:rPr lang="en-NZ" sz="2000" spc="-10" dirty="0">
                <a:latin typeface="Calibri"/>
                <a:cs typeface="Calibri"/>
              </a:rPr>
              <a:t>marketing team</a:t>
            </a:r>
          </a:p>
          <a:p>
            <a:pPr marL="697865" lvl="1" indent="-227965">
              <a:lnSpc>
                <a:spcPct val="100000"/>
              </a:lnSpc>
              <a:spcBef>
                <a:spcPts val="225"/>
              </a:spcBef>
              <a:buClr>
                <a:srgbClr val="F5821F"/>
              </a:buClr>
              <a:buFont typeface="Arial"/>
              <a:buChar char="•"/>
              <a:tabLst>
                <a:tab pos="697865" algn="l"/>
              </a:tabLst>
            </a:pPr>
            <a:r>
              <a:rPr lang="en-NZ" sz="2000" spc="-10" dirty="0">
                <a:latin typeface="Calibri"/>
                <a:cs typeface="Calibri"/>
              </a:rPr>
              <a:t>product owner </a:t>
            </a:r>
            <a:endParaRPr sz="2000" dirty="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000" dirty="0">
                <a:latin typeface="Calibri"/>
                <a:cs typeface="Calibri"/>
              </a:rPr>
              <a:t>project</a:t>
            </a:r>
            <a:r>
              <a:rPr sz="2000" spc="-35" dirty="0">
                <a:latin typeface="Calibri"/>
                <a:cs typeface="Calibri"/>
              </a:rPr>
              <a:t> </a:t>
            </a:r>
            <a:r>
              <a:rPr sz="2000" spc="-20" dirty="0">
                <a:latin typeface="Calibri"/>
                <a:cs typeface="Calibri"/>
              </a:rPr>
              <a:t>team</a:t>
            </a:r>
            <a:r>
              <a:rPr lang="en-NZ" sz="2000" spc="-20" dirty="0">
                <a:latin typeface="Calibri"/>
                <a:cs typeface="Calibri"/>
              </a:rPr>
              <a:t> - team lead, architect owner, designers, engineers, and testers</a:t>
            </a:r>
          </a:p>
          <a:p>
            <a:pPr marL="697865" lvl="1" indent="-227965">
              <a:lnSpc>
                <a:spcPct val="100000"/>
              </a:lnSpc>
              <a:spcBef>
                <a:spcPts val="215"/>
              </a:spcBef>
              <a:buClr>
                <a:srgbClr val="F5821F"/>
              </a:buClr>
              <a:buFont typeface="Arial"/>
              <a:buChar char="•"/>
              <a:tabLst>
                <a:tab pos="697865" algn="l"/>
              </a:tabLst>
            </a:pPr>
            <a:r>
              <a:rPr lang="en-NZ" sz="2000" spc="-20" dirty="0">
                <a:latin typeface="Calibri"/>
                <a:cs typeface="Calibri"/>
              </a:rPr>
              <a:t>operations </a:t>
            </a:r>
          </a:p>
          <a:p>
            <a:pPr marL="697865" lvl="1" indent="-227965">
              <a:lnSpc>
                <a:spcPct val="100000"/>
              </a:lnSpc>
              <a:spcBef>
                <a:spcPts val="215"/>
              </a:spcBef>
              <a:buClr>
                <a:srgbClr val="F5821F"/>
              </a:buClr>
              <a:buFont typeface="Arial"/>
              <a:buChar char="•"/>
              <a:tabLst>
                <a:tab pos="697865" algn="l"/>
              </a:tabLst>
            </a:pPr>
            <a:r>
              <a:rPr lang="en-NZ" sz="2000" spc="-20" dirty="0">
                <a:latin typeface="Calibri"/>
                <a:cs typeface="Calibri"/>
              </a:rPr>
              <a:t>testing</a:t>
            </a:r>
            <a:endParaRPr sz="2000" dirty="0">
              <a:latin typeface="Calibri"/>
              <a:cs typeface="Calibri"/>
            </a:endParaRPr>
          </a:p>
          <a:p>
            <a:pPr marL="697865" lvl="1" indent="-227965">
              <a:lnSpc>
                <a:spcPct val="100000"/>
              </a:lnSpc>
              <a:spcBef>
                <a:spcPts val="204"/>
              </a:spcBef>
              <a:buClr>
                <a:srgbClr val="F5821F"/>
              </a:buClr>
              <a:buFont typeface="Arial"/>
              <a:buChar char="•"/>
              <a:tabLst>
                <a:tab pos="697865" algn="l"/>
              </a:tabLst>
            </a:pPr>
            <a:r>
              <a:rPr sz="2000" dirty="0">
                <a:latin typeface="Calibri"/>
                <a:cs typeface="Calibri"/>
              </a:rPr>
              <a:t>support</a:t>
            </a:r>
            <a:r>
              <a:rPr sz="2000" spc="-45" dirty="0">
                <a:latin typeface="Calibri"/>
                <a:cs typeface="Calibri"/>
              </a:rPr>
              <a:t> </a:t>
            </a:r>
            <a:r>
              <a:rPr lang="en-NZ" sz="2000" spc="-20" dirty="0">
                <a:latin typeface="Calibri"/>
                <a:cs typeface="Calibri"/>
              </a:rPr>
              <a:t>team</a:t>
            </a:r>
            <a:endParaRPr sz="2000" dirty="0">
              <a:latin typeface="Calibri"/>
              <a:cs typeface="Calibri"/>
            </a:endParaRPr>
          </a:p>
          <a:p>
            <a:pPr marL="697865" lvl="1" indent="-227965">
              <a:lnSpc>
                <a:spcPct val="100000"/>
              </a:lnSpc>
              <a:spcBef>
                <a:spcPts val="215"/>
              </a:spcBef>
              <a:buClr>
                <a:srgbClr val="F5821F"/>
              </a:buClr>
              <a:buFont typeface="Arial"/>
              <a:buChar char="•"/>
              <a:tabLst>
                <a:tab pos="697865" algn="l"/>
              </a:tabLst>
            </a:pPr>
            <a:r>
              <a:rPr lang="en-NZ" sz="2000" spc="-10" dirty="0">
                <a:latin typeface="Calibri"/>
                <a:cs typeface="Calibri"/>
              </a:rPr>
              <a:t>functional units</a:t>
            </a:r>
            <a:endParaRPr sz="2000" dirty="0">
              <a:latin typeface="Calibri"/>
              <a:cs typeface="Calibri"/>
            </a:endParaRPr>
          </a:p>
          <a:p>
            <a:pPr marL="697865" lvl="1" indent="-227965">
              <a:lnSpc>
                <a:spcPct val="100000"/>
              </a:lnSpc>
              <a:spcBef>
                <a:spcPts val="204"/>
              </a:spcBef>
              <a:buClr>
                <a:srgbClr val="F5821F"/>
              </a:buClr>
              <a:buFont typeface="Arial"/>
              <a:buChar char="•"/>
              <a:tabLst>
                <a:tab pos="697865" algn="l"/>
              </a:tabLst>
            </a:pPr>
            <a:r>
              <a:rPr sz="2000" spc="-10" dirty="0">
                <a:latin typeface="Calibri"/>
                <a:cs typeface="Calibri"/>
              </a:rPr>
              <a:t>suppliers</a:t>
            </a:r>
            <a:endParaRPr sz="2000" dirty="0">
              <a:latin typeface="Calibri"/>
              <a:cs typeface="Calibri"/>
            </a:endParaRPr>
          </a:p>
          <a:p>
            <a:pPr marL="697865" lvl="1" indent="-227965">
              <a:lnSpc>
                <a:spcPct val="100000"/>
              </a:lnSpc>
              <a:spcBef>
                <a:spcPts val="220"/>
              </a:spcBef>
              <a:buClr>
                <a:srgbClr val="F5821F"/>
              </a:buClr>
              <a:buFont typeface="Arial"/>
              <a:buChar char="•"/>
              <a:tabLst>
                <a:tab pos="697865" algn="l"/>
              </a:tabLst>
            </a:pPr>
            <a:r>
              <a:rPr sz="2000" dirty="0">
                <a:latin typeface="Calibri"/>
                <a:cs typeface="Calibri"/>
              </a:rPr>
              <a:t>opponents</a:t>
            </a:r>
            <a:r>
              <a:rPr sz="2000" spc="-35" dirty="0">
                <a:latin typeface="Calibri"/>
                <a:cs typeface="Calibri"/>
              </a:rPr>
              <a:t> </a:t>
            </a:r>
            <a:r>
              <a:rPr lang="en-NZ" sz="2000" dirty="0">
                <a:latin typeface="Calibri"/>
                <a:cs typeface="Calibri"/>
              </a:rPr>
              <a:t>of</a:t>
            </a:r>
            <a:r>
              <a:rPr sz="2000" spc="-40"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project</a:t>
            </a:r>
            <a:endParaRPr sz="2000" dirty="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405511"/>
            <a:ext cx="9928860" cy="567463"/>
          </a:xfrm>
          <a:prstGeom prst="rect">
            <a:avLst/>
          </a:prstGeom>
        </p:spPr>
        <p:txBody>
          <a:bodyPr vert="horz" wrap="square" lIns="0" tIns="13335" rIns="0" bIns="0" rtlCol="0">
            <a:spAutoFit/>
          </a:bodyPr>
          <a:lstStyle/>
          <a:p>
            <a:pPr marL="12700">
              <a:lnSpc>
                <a:spcPct val="100000"/>
              </a:lnSpc>
              <a:spcBef>
                <a:spcPts val="105"/>
              </a:spcBef>
            </a:pPr>
            <a:r>
              <a:rPr sz="3600" dirty="0"/>
              <a:t>Project</a:t>
            </a:r>
            <a:r>
              <a:rPr sz="3600" spc="-100" dirty="0"/>
              <a:t> </a:t>
            </a:r>
            <a:r>
              <a:rPr sz="3600" dirty="0"/>
              <a:t>Management</a:t>
            </a:r>
            <a:r>
              <a:rPr sz="3600" spc="-100" dirty="0"/>
              <a:t> </a:t>
            </a:r>
            <a:r>
              <a:rPr sz="3600" spc="-50" dirty="0"/>
              <a:t>Tools</a:t>
            </a:r>
            <a:r>
              <a:rPr sz="3600" spc="-100" dirty="0"/>
              <a:t> </a:t>
            </a:r>
            <a:r>
              <a:rPr sz="3600" dirty="0"/>
              <a:t>and</a:t>
            </a:r>
            <a:r>
              <a:rPr sz="3600" spc="-75" dirty="0"/>
              <a:t> </a:t>
            </a:r>
            <a:r>
              <a:rPr sz="3600" spc="-30" dirty="0"/>
              <a:t>Techniques</a:t>
            </a:r>
          </a:p>
        </p:txBody>
      </p:sp>
      <p:sp>
        <p:nvSpPr>
          <p:cNvPr id="3" name="object 3"/>
          <p:cNvSpPr txBox="1"/>
          <p:nvPr/>
        </p:nvSpPr>
        <p:spPr>
          <a:xfrm>
            <a:off x="1550463" y="1143000"/>
            <a:ext cx="10330180" cy="3636380"/>
          </a:xfrm>
          <a:prstGeom prst="rect">
            <a:avLst/>
          </a:prstGeom>
        </p:spPr>
        <p:txBody>
          <a:bodyPr vert="horz" wrap="square" lIns="0" tIns="97155" rIns="0" bIns="0" rtlCol="0">
            <a:spAutoFit/>
          </a:bodyPr>
          <a:lstStyle/>
          <a:p>
            <a:pPr marL="241300" marR="198755" indent="-228600">
              <a:lnSpc>
                <a:spcPct val="80000"/>
              </a:lnSpc>
              <a:spcBef>
                <a:spcPts val="765"/>
              </a:spcBef>
              <a:buClr>
                <a:srgbClr val="F5821F"/>
              </a:buClr>
              <a:buFont typeface="Arial"/>
              <a:buChar char="•"/>
              <a:tabLst>
                <a:tab pos="241300" algn="l"/>
              </a:tabLst>
            </a:pPr>
            <a:r>
              <a:rPr sz="2800" dirty="0">
                <a:latin typeface="Calibri"/>
                <a:cs typeface="Calibri"/>
              </a:rPr>
              <a:t>Project</a:t>
            </a:r>
            <a:r>
              <a:rPr sz="2800" spc="-114" dirty="0">
                <a:latin typeface="Calibri"/>
                <a:cs typeface="Calibri"/>
              </a:rPr>
              <a:t> </a:t>
            </a:r>
            <a:r>
              <a:rPr sz="2800" spc="-10" dirty="0">
                <a:latin typeface="Calibri"/>
                <a:cs typeface="Calibri"/>
              </a:rPr>
              <a:t>management</a:t>
            </a:r>
            <a:r>
              <a:rPr sz="2800" spc="-95" dirty="0">
                <a:latin typeface="Calibri"/>
                <a:cs typeface="Calibri"/>
              </a:rPr>
              <a:t> </a:t>
            </a:r>
            <a:r>
              <a:rPr sz="2800" b="1" dirty="0">
                <a:latin typeface="Calibri"/>
                <a:cs typeface="Calibri"/>
              </a:rPr>
              <a:t>tools,</a:t>
            </a:r>
            <a:r>
              <a:rPr sz="2800" b="1" spc="-125" dirty="0">
                <a:latin typeface="Calibri"/>
                <a:cs typeface="Calibri"/>
              </a:rPr>
              <a:t> </a:t>
            </a:r>
            <a:r>
              <a:rPr sz="2800" b="1" dirty="0">
                <a:latin typeface="Calibri"/>
                <a:cs typeface="Calibri"/>
              </a:rPr>
              <a:t>techniques</a:t>
            </a:r>
            <a:r>
              <a:rPr lang="en-NZ" sz="2800" b="1" dirty="0">
                <a:latin typeface="Calibri"/>
                <a:cs typeface="Calibri"/>
              </a:rPr>
              <a:t>,</a:t>
            </a:r>
            <a:r>
              <a:rPr sz="2800" b="1" spc="-105" dirty="0">
                <a:latin typeface="Calibri"/>
                <a:cs typeface="Calibri"/>
              </a:rPr>
              <a:t> </a:t>
            </a:r>
            <a:r>
              <a:rPr sz="2800" b="1" dirty="0">
                <a:latin typeface="Calibri"/>
                <a:cs typeface="Calibri"/>
              </a:rPr>
              <a:t>and</a:t>
            </a:r>
            <a:r>
              <a:rPr sz="2800" b="1" spc="-114" dirty="0">
                <a:latin typeface="Calibri"/>
                <a:cs typeface="Calibri"/>
              </a:rPr>
              <a:t> </a:t>
            </a:r>
            <a:r>
              <a:rPr sz="2800" b="1" dirty="0">
                <a:latin typeface="Calibri"/>
                <a:cs typeface="Calibri"/>
              </a:rPr>
              <a:t>processes</a:t>
            </a:r>
            <a:r>
              <a:rPr sz="2800" b="1" spc="-100" dirty="0">
                <a:latin typeface="Calibri"/>
                <a:cs typeface="Calibri"/>
              </a:rPr>
              <a:t> </a:t>
            </a:r>
            <a:r>
              <a:rPr sz="2800" dirty="0">
                <a:latin typeface="Calibri"/>
                <a:cs typeface="Calibri"/>
              </a:rPr>
              <a:t>assist</a:t>
            </a:r>
            <a:r>
              <a:rPr sz="2800" spc="-100" dirty="0">
                <a:latin typeface="Calibri"/>
                <a:cs typeface="Calibri"/>
              </a:rPr>
              <a:t> </a:t>
            </a:r>
            <a:r>
              <a:rPr sz="2800" spc="-10" dirty="0">
                <a:latin typeface="Calibri"/>
                <a:cs typeface="Calibri"/>
              </a:rPr>
              <a:t>project managers</a:t>
            </a:r>
            <a:r>
              <a:rPr sz="2800" spc="-95" dirty="0">
                <a:latin typeface="Calibri"/>
                <a:cs typeface="Calibri"/>
              </a:rPr>
              <a:t> </a:t>
            </a:r>
            <a:r>
              <a:rPr sz="2800" dirty="0">
                <a:latin typeface="Calibri"/>
                <a:cs typeface="Calibri"/>
              </a:rPr>
              <a:t>and</a:t>
            </a:r>
            <a:r>
              <a:rPr sz="2800" spc="-75" dirty="0">
                <a:latin typeface="Calibri"/>
                <a:cs typeface="Calibri"/>
              </a:rPr>
              <a:t> </a:t>
            </a:r>
            <a:r>
              <a:rPr sz="2800" dirty="0">
                <a:latin typeface="Calibri"/>
                <a:cs typeface="Calibri"/>
              </a:rPr>
              <a:t>their</a:t>
            </a:r>
            <a:r>
              <a:rPr sz="2800" spc="-85" dirty="0">
                <a:latin typeface="Calibri"/>
                <a:cs typeface="Calibri"/>
              </a:rPr>
              <a:t> </a:t>
            </a:r>
            <a:r>
              <a:rPr sz="2800" dirty="0">
                <a:latin typeface="Calibri"/>
                <a:cs typeface="Calibri"/>
              </a:rPr>
              <a:t>teams</a:t>
            </a:r>
            <a:r>
              <a:rPr sz="2800" spc="-95" dirty="0">
                <a:latin typeface="Calibri"/>
                <a:cs typeface="Calibri"/>
              </a:rPr>
              <a:t> </a:t>
            </a:r>
            <a:r>
              <a:rPr sz="2800" dirty="0">
                <a:latin typeface="Calibri"/>
                <a:cs typeface="Calibri"/>
              </a:rPr>
              <a:t>in</a:t>
            </a:r>
            <a:r>
              <a:rPr sz="2800" spc="-95" dirty="0">
                <a:latin typeface="Calibri"/>
                <a:cs typeface="Calibri"/>
              </a:rPr>
              <a:t> </a:t>
            </a:r>
            <a:r>
              <a:rPr sz="2800" dirty="0">
                <a:latin typeface="Calibri"/>
                <a:cs typeface="Calibri"/>
              </a:rPr>
              <a:t>various</a:t>
            </a:r>
            <a:r>
              <a:rPr sz="2800" spc="-90" dirty="0">
                <a:latin typeface="Calibri"/>
                <a:cs typeface="Calibri"/>
              </a:rPr>
              <a:t> </a:t>
            </a:r>
            <a:r>
              <a:rPr sz="2800" dirty="0">
                <a:latin typeface="Calibri"/>
                <a:cs typeface="Calibri"/>
              </a:rPr>
              <a:t>aspects</a:t>
            </a:r>
            <a:r>
              <a:rPr sz="2800" spc="-75" dirty="0">
                <a:latin typeface="Calibri"/>
                <a:cs typeface="Calibri"/>
              </a:rPr>
              <a:t> </a:t>
            </a:r>
            <a:r>
              <a:rPr sz="2800" dirty="0">
                <a:latin typeface="Calibri"/>
                <a:cs typeface="Calibri"/>
              </a:rPr>
              <a:t>of</a:t>
            </a:r>
            <a:r>
              <a:rPr sz="2800" spc="-95" dirty="0">
                <a:latin typeface="Calibri"/>
                <a:cs typeface="Calibri"/>
              </a:rPr>
              <a:t> </a:t>
            </a:r>
            <a:r>
              <a:rPr sz="2800" dirty="0">
                <a:latin typeface="Calibri"/>
                <a:cs typeface="Calibri"/>
              </a:rPr>
              <a:t>project</a:t>
            </a:r>
            <a:r>
              <a:rPr sz="2800" spc="-75" dirty="0">
                <a:latin typeface="Calibri"/>
                <a:cs typeface="Calibri"/>
              </a:rPr>
              <a:t> </a:t>
            </a:r>
            <a:r>
              <a:rPr sz="2800" spc="-10" dirty="0">
                <a:latin typeface="Calibri"/>
                <a:cs typeface="Calibri"/>
              </a:rPr>
              <a:t>management</a:t>
            </a:r>
            <a:endParaRPr sz="2800" dirty="0">
              <a:latin typeface="Calibri"/>
              <a:cs typeface="Calibri"/>
            </a:endParaRPr>
          </a:p>
          <a:p>
            <a:pPr marL="240665" indent="-227965">
              <a:lnSpc>
                <a:spcPts val="3325"/>
              </a:lnSpc>
              <a:buClr>
                <a:srgbClr val="F5821F"/>
              </a:buClr>
              <a:buFont typeface="Arial"/>
              <a:buChar char="•"/>
              <a:tabLst>
                <a:tab pos="240665" algn="l"/>
              </a:tabLst>
            </a:pPr>
            <a:r>
              <a:rPr sz="2800" dirty="0">
                <a:latin typeface="Calibri"/>
                <a:cs typeface="Calibri"/>
              </a:rPr>
              <a:t>Some</a:t>
            </a:r>
            <a:r>
              <a:rPr sz="2800" spc="-75" dirty="0">
                <a:latin typeface="Calibri"/>
                <a:cs typeface="Calibri"/>
              </a:rPr>
              <a:t> </a:t>
            </a:r>
            <a:r>
              <a:rPr sz="2800" dirty="0">
                <a:latin typeface="Calibri"/>
                <a:cs typeface="Calibri"/>
              </a:rPr>
              <a:t>specific</a:t>
            </a:r>
            <a:r>
              <a:rPr sz="2800" spc="-50" dirty="0">
                <a:latin typeface="Calibri"/>
                <a:cs typeface="Calibri"/>
              </a:rPr>
              <a:t> </a:t>
            </a:r>
            <a:r>
              <a:rPr sz="2800" dirty="0">
                <a:latin typeface="Calibri"/>
                <a:cs typeface="Calibri"/>
              </a:rPr>
              <a:t>ones</a:t>
            </a:r>
            <a:r>
              <a:rPr sz="2800" spc="-70" dirty="0">
                <a:latin typeface="Calibri"/>
                <a:cs typeface="Calibri"/>
              </a:rPr>
              <a:t> </a:t>
            </a:r>
            <a:r>
              <a:rPr sz="2800" spc="-10" dirty="0">
                <a:latin typeface="Calibri"/>
                <a:cs typeface="Calibri"/>
              </a:rPr>
              <a:t>include</a:t>
            </a:r>
            <a:endParaRPr sz="2800" dirty="0">
              <a:latin typeface="Calibri"/>
              <a:cs typeface="Calibri"/>
            </a:endParaRPr>
          </a:p>
          <a:p>
            <a:pPr marL="697865" lvl="1" indent="-227965">
              <a:lnSpc>
                <a:spcPts val="2560"/>
              </a:lnSpc>
              <a:buClr>
                <a:srgbClr val="F5821F"/>
              </a:buClr>
              <a:buFont typeface="Arial"/>
              <a:buChar char="•"/>
              <a:tabLst>
                <a:tab pos="697865" algn="l"/>
              </a:tabLst>
            </a:pPr>
            <a:r>
              <a:rPr sz="2800" dirty="0">
                <a:latin typeface="Calibri"/>
                <a:cs typeface="Calibri"/>
              </a:rPr>
              <a:t>Project</a:t>
            </a:r>
            <a:r>
              <a:rPr sz="2800" spc="-70" dirty="0">
                <a:latin typeface="Calibri"/>
                <a:cs typeface="Calibri"/>
              </a:rPr>
              <a:t> </a:t>
            </a:r>
            <a:r>
              <a:rPr sz="2800" spc="-20" dirty="0">
                <a:latin typeface="Calibri"/>
                <a:cs typeface="Calibri"/>
              </a:rPr>
              <a:t>charter,</a:t>
            </a:r>
            <a:r>
              <a:rPr sz="2800" spc="-70" dirty="0">
                <a:latin typeface="Calibri"/>
                <a:cs typeface="Calibri"/>
              </a:rPr>
              <a:t> </a:t>
            </a:r>
            <a:r>
              <a:rPr sz="2800" dirty="0">
                <a:latin typeface="Calibri"/>
                <a:cs typeface="Calibri"/>
              </a:rPr>
              <a:t>scope</a:t>
            </a:r>
            <a:r>
              <a:rPr sz="2800" spc="-45" dirty="0">
                <a:latin typeface="Calibri"/>
                <a:cs typeface="Calibri"/>
              </a:rPr>
              <a:t> </a:t>
            </a:r>
            <a:r>
              <a:rPr sz="2800" spc="-10" dirty="0">
                <a:latin typeface="Calibri"/>
                <a:cs typeface="Calibri"/>
              </a:rPr>
              <a:t>statement,</a:t>
            </a:r>
            <a:r>
              <a:rPr sz="2800" spc="-75" dirty="0">
                <a:latin typeface="Calibri"/>
                <a:cs typeface="Calibri"/>
              </a:rPr>
              <a:t> </a:t>
            </a:r>
            <a:r>
              <a:rPr sz="2800" dirty="0">
                <a:latin typeface="Calibri"/>
                <a:cs typeface="Calibri"/>
              </a:rPr>
              <a:t>and</a:t>
            </a:r>
            <a:r>
              <a:rPr sz="2800" spc="-50" dirty="0">
                <a:latin typeface="Calibri"/>
                <a:cs typeface="Calibri"/>
              </a:rPr>
              <a:t> </a:t>
            </a:r>
            <a:r>
              <a:rPr sz="2800" dirty="0">
                <a:latin typeface="Calibri"/>
                <a:cs typeface="Calibri"/>
              </a:rPr>
              <a:t>Work</a:t>
            </a:r>
            <a:r>
              <a:rPr sz="2800" spc="-65" dirty="0">
                <a:latin typeface="Calibri"/>
                <a:cs typeface="Calibri"/>
              </a:rPr>
              <a:t> </a:t>
            </a:r>
            <a:r>
              <a:rPr sz="2800" spc="-10" dirty="0">
                <a:latin typeface="Calibri"/>
                <a:cs typeface="Calibri"/>
              </a:rPr>
              <a:t>Breakdown</a:t>
            </a:r>
            <a:r>
              <a:rPr sz="2800" spc="-65" dirty="0">
                <a:latin typeface="Calibri"/>
                <a:cs typeface="Calibri"/>
              </a:rPr>
              <a:t> </a:t>
            </a:r>
            <a:r>
              <a:rPr sz="2800" dirty="0">
                <a:latin typeface="Calibri"/>
                <a:cs typeface="Calibri"/>
              </a:rPr>
              <a:t>Structure</a:t>
            </a:r>
            <a:r>
              <a:rPr sz="2800" spc="-65" dirty="0">
                <a:latin typeface="Calibri"/>
                <a:cs typeface="Calibri"/>
              </a:rPr>
              <a:t> </a:t>
            </a:r>
            <a:r>
              <a:rPr sz="2800" spc="-10" dirty="0">
                <a:latin typeface="Calibri"/>
                <a:cs typeface="Calibri"/>
              </a:rPr>
              <a:t>(WBS)</a:t>
            </a:r>
            <a:r>
              <a:rPr lang="en-NZ" sz="2800" spc="-10" dirty="0">
                <a:latin typeface="Calibri"/>
                <a:cs typeface="Calibri"/>
              </a:rPr>
              <a:t> </a:t>
            </a:r>
            <a:r>
              <a:rPr sz="2800" dirty="0">
                <a:latin typeface="Calibri"/>
                <a:cs typeface="Calibri"/>
              </a:rPr>
              <a:t>(detailing</a:t>
            </a:r>
            <a:r>
              <a:rPr sz="2800" spc="-45" dirty="0">
                <a:latin typeface="Calibri"/>
                <a:cs typeface="Calibri"/>
              </a:rPr>
              <a:t> </a:t>
            </a:r>
            <a:r>
              <a:rPr sz="2800" dirty="0">
                <a:latin typeface="Calibri"/>
                <a:cs typeface="Calibri"/>
              </a:rPr>
              <a:t>the</a:t>
            </a:r>
            <a:r>
              <a:rPr sz="2800" spc="-15" dirty="0">
                <a:latin typeface="Calibri"/>
                <a:cs typeface="Calibri"/>
              </a:rPr>
              <a:t> </a:t>
            </a:r>
            <a:r>
              <a:rPr sz="2800" spc="-10" dirty="0">
                <a:latin typeface="Calibri"/>
                <a:cs typeface="Calibri"/>
              </a:rPr>
              <a:t>scope)</a:t>
            </a:r>
            <a:endParaRPr sz="2800" dirty="0">
              <a:latin typeface="Calibri"/>
              <a:cs typeface="Calibri"/>
            </a:endParaRPr>
          </a:p>
          <a:p>
            <a:pPr marL="698500" marR="5080" lvl="1" indent="-228600">
              <a:lnSpc>
                <a:spcPct val="80000"/>
              </a:lnSpc>
              <a:spcBef>
                <a:spcPts val="540"/>
              </a:spcBef>
              <a:buClr>
                <a:srgbClr val="F5821F"/>
              </a:buClr>
              <a:buFont typeface="Arial"/>
              <a:buChar char="•"/>
              <a:tabLst>
                <a:tab pos="698500" algn="l"/>
              </a:tabLst>
            </a:pPr>
            <a:r>
              <a:rPr sz="2800" dirty="0">
                <a:latin typeface="Calibri"/>
                <a:cs typeface="Calibri"/>
              </a:rPr>
              <a:t>Gantt</a:t>
            </a:r>
            <a:r>
              <a:rPr sz="2800" spc="-45" dirty="0">
                <a:latin typeface="Calibri"/>
                <a:cs typeface="Calibri"/>
              </a:rPr>
              <a:t> </a:t>
            </a:r>
            <a:r>
              <a:rPr sz="2800" dirty="0">
                <a:latin typeface="Calibri"/>
                <a:cs typeface="Calibri"/>
              </a:rPr>
              <a:t>charts,</a:t>
            </a:r>
            <a:r>
              <a:rPr sz="2800" spc="-40" dirty="0">
                <a:latin typeface="Calibri"/>
                <a:cs typeface="Calibri"/>
              </a:rPr>
              <a:t> </a:t>
            </a:r>
            <a:r>
              <a:rPr sz="2800" dirty="0">
                <a:latin typeface="Calibri"/>
                <a:cs typeface="Calibri"/>
              </a:rPr>
              <a:t>network</a:t>
            </a:r>
            <a:r>
              <a:rPr sz="2800" spc="-50" dirty="0">
                <a:latin typeface="Calibri"/>
                <a:cs typeface="Calibri"/>
              </a:rPr>
              <a:t> </a:t>
            </a:r>
            <a:r>
              <a:rPr sz="2800" dirty="0">
                <a:latin typeface="Calibri"/>
                <a:cs typeface="Calibri"/>
              </a:rPr>
              <a:t>diagrams,</a:t>
            </a:r>
            <a:r>
              <a:rPr sz="2800" spc="-40" dirty="0">
                <a:latin typeface="Calibri"/>
                <a:cs typeface="Calibri"/>
              </a:rPr>
              <a:t> </a:t>
            </a:r>
            <a:r>
              <a:rPr sz="2800" dirty="0">
                <a:latin typeface="Calibri"/>
                <a:cs typeface="Calibri"/>
              </a:rPr>
              <a:t>critical</a:t>
            </a:r>
            <a:r>
              <a:rPr sz="2800" spc="-65" dirty="0">
                <a:latin typeface="Calibri"/>
                <a:cs typeface="Calibri"/>
              </a:rPr>
              <a:t> </a:t>
            </a:r>
            <a:r>
              <a:rPr sz="2800" dirty="0">
                <a:latin typeface="Calibri"/>
                <a:cs typeface="Calibri"/>
              </a:rPr>
              <a:t>path</a:t>
            </a:r>
            <a:r>
              <a:rPr sz="2800" spc="-30" dirty="0">
                <a:latin typeface="Calibri"/>
                <a:cs typeface="Calibri"/>
              </a:rPr>
              <a:t> </a:t>
            </a:r>
            <a:r>
              <a:rPr sz="2800" dirty="0">
                <a:latin typeface="Calibri"/>
                <a:cs typeface="Calibri"/>
              </a:rPr>
              <a:t>analysis,</a:t>
            </a:r>
            <a:r>
              <a:rPr sz="2800" spc="-30" dirty="0">
                <a:latin typeface="Calibri"/>
                <a:cs typeface="Calibri"/>
              </a:rPr>
              <a:t> </a:t>
            </a:r>
            <a:r>
              <a:rPr sz="2800" dirty="0">
                <a:latin typeface="Calibri"/>
                <a:cs typeface="Calibri"/>
              </a:rPr>
              <a:t>critical</a:t>
            </a:r>
            <a:r>
              <a:rPr sz="2800" spc="-60" dirty="0">
                <a:latin typeface="Calibri"/>
                <a:cs typeface="Calibri"/>
              </a:rPr>
              <a:t> </a:t>
            </a:r>
            <a:r>
              <a:rPr sz="2800" dirty="0">
                <a:latin typeface="Calibri"/>
                <a:cs typeface="Calibri"/>
              </a:rPr>
              <a:t>chain</a:t>
            </a:r>
            <a:r>
              <a:rPr sz="2800" spc="-30" dirty="0">
                <a:latin typeface="Calibri"/>
                <a:cs typeface="Calibri"/>
              </a:rPr>
              <a:t> </a:t>
            </a:r>
            <a:r>
              <a:rPr sz="2800" spc="-10" dirty="0">
                <a:latin typeface="Calibri"/>
                <a:cs typeface="Calibri"/>
              </a:rPr>
              <a:t>scheduling </a:t>
            </a:r>
            <a:r>
              <a:rPr sz="2800" dirty="0">
                <a:latin typeface="Calibri"/>
                <a:cs typeface="Calibri"/>
              </a:rPr>
              <a:t>(resources</a:t>
            </a:r>
            <a:r>
              <a:rPr sz="2800" spc="-65" dirty="0">
                <a:latin typeface="Calibri"/>
                <a:cs typeface="Calibri"/>
              </a:rPr>
              <a:t> </a:t>
            </a:r>
            <a:r>
              <a:rPr sz="2800" dirty="0">
                <a:latin typeface="Calibri"/>
                <a:cs typeface="Calibri"/>
              </a:rPr>
              <a:t>in</a:t>
            </a:r>
            <a:r>
              <a:rPr sz="2800" spc="-40" dirty="0">
                <a:latin typeface="Calibri"/>
                <a:cs typeface="Calibri"/>
              </a:rPr>
              <a:t> </a:t>
            </a:r>
            <a:r>
              <a:rPr sz="2800" spc="-10" dirty="0">
                <a:latin typeface="Calibri"/>
                <a:cs typeface="Calibri"/>
              </a:rPr>
              <a:t>time)</a:t>
            </a:r>
            <a:endParaRPr sz="2800" dirty="0">
              <a:latin typeface="Calibri"/>
              <a:cs typeface="Calibri"/>
            </a:endParaRPr>
          </a:p>
          <a:p>
            <a:pPr marL="697865" lvl="1" indent="-227965">
              <a:lnSpc>
                <a:spcPts val="2520"/>
              </a:lnSpc>
              <a:buClr>
                <a:srgbClr val="F5821F"/>
              </a:buClr>
              <a:buFont typeface="Arial"/>
              <a:buChar char="•"/>
              <a:tabLst>
                <a:tab pos="697865" algn="l"/>
              </a:tabLst>
            </a:pPr>
            <a:r>
              <a:rPr lang="en-NZ" sz="2800" dirty="0">
                <a:latin typeface="Calibri"/>
                <a:cs typeface="Calibri"/>
              </a:rPr>
              <a:t>C</a:t>
            </a:r>
            <a:r>
              <a:rPr sz="2800" dirty="0" err="1">
                <a:latin typeface="Calibri"/>
                <a:cs typeface="Calibri"/>
              </a:rPr>
              <a:t>ost</a:t>
            </a:r>
            <a:r>
              <a:rPr sz="2800" spc="-80" dirty="0">
                <a:latin typeface="Calibri"/>
                <a:cs typeface="Calibri"/>
              </a:rPr>
              <a:t> </a:t>
            </a:r>
            <a:r>
              <a:rPr sz="2800" dirty="0">
                <a:latin typeface="Calibri"/>
                <a:cs typeface="Calibri"/>
              </a:rPr>
              <a:t>estimates,</a:t>
            </a:r>
            <a:r>
              <a:rPr sz="2800" spc="-75" dirty="0">
                <a:latin typeface="Calibri"/>
                <a:cs typeface="Calibri"/>
              </a:rPr>
              <a:t> </a:t>
            </a:r>
            <a:r>
              <a:rPr lang="en-NZ" sz="2800" spc="-75" dirty="0">
                <a:latin typeface="Calibri"/>
                <a:cs typeface="Calibri"/>
              </a:rPr>
              <a:t>return</a:t>
            </a:r>
            <a:r>
              <a:rPr sz="2800" spc="-80" dirty="0">
                <a:latin typeface="Calibri"/>
                <a:cs typeface="Calibri"/>
              </a:rPr>
              <a:t> </a:t>
            </a:r>
            <a:r>
              <a:rPr sz="2800" dirty="0">
                <a:latin typeface="Calibri"/>
                <a:cs typeface="Calibri"/>
              </a:rPr>
              <a:t>on</a:t>
            </a:r>
            <a:r>
              <a:rPr sz="2800" spc="-55" dirty="0">
                <a:latin typeface="Calibri"/>
                <a:cs typeface="Calibri"/>
              </a:rPr>
              <a:t> </a:t>
            </a:r>
            <a:r>
              <a:rPr sz="2800" spc="-10" dirty="0">
                <a:latin typeface="Calibri"/>
                <a:cs typeface="Calibri"/>
              </a:rPr>
              <a:t>Investment</a:t>
            </a:r>
            <a:r>
              <a:rPr sz="2800" spc="-70" dirty="0">
                <a:latin typeface="Calibri"/>
                <a:cs typeface="Calibri"/>
              </a:rPr>
              <a:t> </a:t>
            </a:r>
            <a:r>
              <a:rPr sz="2800" dirty="0">
                <a:latin typeface="Calibri"/>
                <a:cs typeface="Calibri"/>
              </a:rPr>
              <a:t>(</a:t>
            </a:r>
            <a:r>
              <a:rPr lang="en-NZ" sz="2800" dirty="0">
                <a:latin typeface="Calibri"/>
                <a:cs typeface="Calibri"/>
              </a:rPr>
              <a:t>RO</a:t>
            </a:r>
            <a:r>
              <a:rPr sz="2800" dirty="0">
                <a:latin typeface="Calibri"/>
                <a:cs typeface="Calibri"/>
              </a:rPr>
              <a:t>I)</a:t>
            </a:r>
            <a:r>
              <a:rPr lang="en-NZ" sz="2800" dirty="0">
                <a:latin typeface="Calibri"/>
                <a:cs typeface="Calibri"/>
              </a:rPr>
              <a:t>,</a:t>
            </a:r>
            <a:r>
              <a:rPr sz="2800" spc="-70" dirty="0">
                <a:latin typeface="Calibri"/>
                <a:cs typeface="Calibri"/>
              </a:rPr>
              <a:t> </a:t>
            </a:r>
            <a:r>
              <a:rPr sz="2800" dirty="0">
                <a:latin typeface="Calibri"/>
                <a:cs typeface="Calibri"/>
              </a:rPr>
              <a:t>and</a:t>
            </a:r>
            <a:r>
              <a:rPr sz="2800" spc="-55" dirty="0">
                <a:latin typeface="Calibri"/>
                <a:cs typeface="Calibri"/>
              </a:rPr>
              <a:t> </a:t>
            </a:r>
            <a:r>
              <a:rPr lang="en-NZ" sz="2800" spc="-55" dirty="0">
                <a:latin typeface="Calibri"/>
                <a:cs typeface="Calibri"/>
              </a:rPr>
              <a:t>e</a:t>
            </a:r>
            <a:r>
              <a:rPr sz="2800" dirty="0" err="1">
                <a:latin typeface="Calibri"/>
                <a:cs typeface="Calibri"/>
              </a:rPr>
              <a:t>arned</a:t>
            </a:r>
            <a:r>
              <a:rPr sz="2800" spc="-65" dirty="0">
                <a:latin typeface="Calibri"/>
                <a:cs typeface="Calibri"/>
              </a:rPr>
              <a:t> </a:t>
            </a:r>
            <a:r>
              <a:rPr lang="en-NZ" sz="2800" spc="-10" dirty="0">
                <a:latin typeface="Calibri"/>
                <a:cs typeface="Calibri"/>
              </a:rPr>
              <a:t>v</a:t>
            </a:r>
            <a:r>
              <a:rPr sz="2800" spc="-10" dirty="0" err="1">
                <a:latin typeface="Calibri"/>
                <a:cs typeface="Calibri"/>
              </a:rPr>
              <a:t>alue</a:t>
            </a:r>
            <a:r>
              <a:rPr sz="2800" spc="-50" dirty="0">
                <a:latin typeface="Calibri"/>
                <a:cs typeface="Calibri"/>
              </a:rPr>
              <a:t> </a:t>
            </a:r>
            <a:r>
              <a:rPr lang="en-NZ" sz="2800" spc="-10" dirty="0">
                <a:latin typeface="Calibri"/>
                <a:cs typeface="Calibri"/>
              </a:rPr>
              <a:t>m</a:t>
            </a:r>
            <a:r>
              <a:rPr sz="2800" spc="-10" dirty="0" err="1">
                <a:latin typeface="Calibri"/>
                <a:cs typeface="Calibri"/>
              </a:rPr>
              <a:t>anagement</a:t>
            </a:r>
            <a:r>
              <a:rPr lang="en-NZ" sz="2800" spc="-10" dirty="0">
                <a:latin typeface="Calibri"/>
                <a:cs typeface="Calibri"/>
              </a:rPr>
              <a:t> </a:t>
            </a:r>
            <a:r>
              <a:rPr sz="2800" dirty="0">
                <a:latin typeface="Calibri"/>
                <a:cs typeface="Calibri"/>
              </a:rPr>
              <a:t>(EVM)</a:t>
            </a:r>
          </a:p>
          <a:p>
            <a:pPr marL="697865" lvl="1" indent="-227965">
              <a:lnSpc>
                <a:spcPts val="2840"/>
              </a:lnSpc>
              <a:buClr>
                <a:srgbClr val="F5821F"/>
              </a:buClr>
              <a:buFont typeface="Arial"/>
              <a:buChar char="•"/>
              <a:tabLst>
                <a:tab pos="697865" algn="l"/>
              </a:tabLst>
            </a:pPr>
            <a:r>
              <a:rPr lang="en-NZ" sz="2800" dirty="0">
                <a:latin typeface="Calibri"/>
                <a:cs typeface="Calibri"/>
              </a:rPr>
              <a:t>Return on Investment (ROI) </a:t>
            </a:r>
            <a:r>
              <a:rPr sz="2800" dirty="0">
                <a:latin typeface="Calibri"/>
                <a:cs typeface="Calibri"/>
              </a:rPr>
              <a:t>…Business</a:t>
            </a:r>
            <a:r>
              <a:rPr sz="2800" spc="-45" dirty="0">
                <a:latin typeface="Calibri"/>
                <a:cs typeface="Calibri"/>
              </a:rPr>
              <a:t> </a:t>
            </a:r>
            <a:r>
              <a:rPr sz="2800" spc="-20" dirty="0">
                <a:latin typeface="Calibri"/>
                <a:cs typeface="Calibri"/>
              </a:rPr>
              <a:t>Case</a:t>
            </a:r>
            <a:endParaRPr sz="2800" dirty="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76555"/>
            <a:ext cx="2684145" cy="505908"/>
          </a:xfrm>
          <a:prstGeom prst="rect">
            <a:avLst/>
          </a:prstGeom>
        </p:spPr>
        <p:txBody>
          <a:bodyPr vert="horz" wrap="square" lIns="0" tIns="13335" rIns="0" bIns="0" rtlCol="0">
            <a:spAutoFit/>
          </a:bodyPr>
          <a:lstStyle/>
          <a:p>
            <a:pPr marL="12700">
              <a:lnSpc>
                <a:spcPct val="100000"/>
              </a:lnSpc>
              <a:spcBef>
                <a:spcPts val="105"/>
              </a:spcBef>
            </a:pPr>
            <a:r>
              <a:rPr sz="3200" dirty="0"/>
              <a:t>Super</a:t>
            </a:r>
            <a:r>
              <a:rPr sz="3200" spc="-25" dirty="0"/>
              <a:t> </a:t>
            </a:r>
            <a:r>
              <a:rPr sz="3200" spc="-70" dirty="0"/>
              <a:t>Tools</a:t>
            </a:r>
          </a:p>
        </p:txBody>
      </p:sp>
      <p:sp>
        <p:nvSpPr>
          <p:cNvPr id="3" name="object 3"/>
          <p:cNvSpPr txBox="1"/>
          <p:nvPr/>
        </p:nvSpPr>
        <p:spPr>
          <a:xfrm>
            <a:off x="1447800" y="1143000"/>
            <a:ext cx="9999980" cy="4179734"/>
          </a:xfrm>
          <a:prstGeom prst="rect">
            <a:avLst/>
          </a:prstGeom>
        </p:spPr>
        <p:txBody>
          <a:bodyPr vert="horz" wrap="square" lIns="0" tIns="12700" rIns="0" bIns="0" rtlCol="0">
            <a:spAutoFit/>
          </a:bodyPr>
          <a:lstStyle/>
          <a:p>
            <a:pPr marL="240665" indent="-227965">
              <a:lnSpc>
                <a:spcPts val="2755"/>
              </a:lnSpc>
              <a:spcBef>
                <a:spcPts val="100"/>
              </a:spcBef>
              <a:buClr>
                <a:srgbClr val="F5821F"/>
              </a:buClr>
              <a:buFont typeface="Arial"/>
              <a:buChar char="•"/>
              <a:tabLst>
                <a:tab pos="240665" algn="l"/>
              </a:tabLst>
            </a:pPr>
            <a:r>
              <a:rPr sz="3200" dirty="0">
                <a:latin typeface="Calibri"/>
                <a:cs typeface="Calibri"/>
              </a:rPr>
              <a:t>“</a:t>
            </a:r>
            <a:r>
              <a:rPr sz="2800" b="1" dirty="0">
                <a:latin typeface="Calibri"/>
                <a:cs typeface="Calibri"/>
              </a:rPr>
              <a:t>Super</a:t>
            </a:r>
            <a:r>
              <a:rPr sz="2800" b="1" spc="-35" dirty="0">
                <a:latin typeface="Calibri"/>
                <a:cs typeface="Calibri"/>
              </a:rPr>
              <a:t> </a:t>
            </a:r>
            <a:r>
              <a:rPr sz="2800" b="1" dirty="0">
                <a:latin typeface="Calibri"/>
                <a:cs typeface="Calibri"/>
              </a:rPr>
              <a:t>tools</a:t>
            </a:r>
            <a:r>
              <a:rPr sz="2800" dirty="0">
                <a:latin typeface="Calibri"/>
                <a:cs typeface="Calibri"/>
              </a:rPr>
              <a:t>”</a:t>
            </a:r>
            <a:r>
              <a:rPr sz="2800" spc="-35" dirty="0">
                <a:latin typeface="Calibri"/>
                <a:cs typeface="Calibri"/>
              </a:rPr>
              <a:t> </a:t>
            </a:r>
            <a:r>
              <a:rPr sz="2800" dirty="0">
                <a:latin typeface="Calibri"/>
                <a:cs typeface="Calibri"/>
              </a:rPr>
              <a:t>are</a:t>
            </a:r>
            <a:r>
              <a:rPr sz="2800" spc="-35" dirty="0">
                <a:latin typeface="Calibri"/>
                <a:cs typeface="Calibri"/>
              </a:rPr>
              <a:t> </a:t>
            </a:r>
            <a:r>
              <a:rPr sz="2800" dirty="0">
                <a:latin typeface="Calibri"/>
                <a:cs typeface="Calibri"/>
              </a:rPr>
              <a:t>those</a:t>
            </a:r>
            <a:r>
              <a:rPr sz="2800" spc="-55" dirty="0">
                <a:latin typeface="Calibri"/>
                <a:cs typeface="Calibri"/>
              </a:rPr>
              <a:t> </a:t>
            </a:r>
            <a:r>
              <a:rPr sz="2800" dirty="0">
                <a:latin typeface="Calibri"/>
                <a:cs typeface="Calibri"/>
              </a:rPr>
              <a:t>tools</a:t>
            </a:r>
            <a:r>
              <a:rPr sz="2800" spc="-35" dirty="0">
                <a:latin typeface="Calibri"/>
                <a:cs typeface="Calibri"/>
              </a:rPr>
              <a:t> </a:t>
            </a:r>
            <a:r>
              <a:rPr sz="2800" dirty="0">
                <a:latin typeface="Calibri"/>
                <a:cs typeface="Calibri"/>
              </a:rPr>
              <a:t>that</a:t>
            </a:r>
            <a:r>
              <a:rPr sz="2800" spc="-40" dirty="0">
                <a:latin typeface="Calibri"/>
                <a:cs typeface="Calibri"/>
              </a:rPr>
              <a:t> </a:t>
            </a:r>
            <a:r>
              <a:rPr sz="2800" dirty="0">
                <a:latin typeface="Calibri"/>
                <a:cs typeface="Calibri"/>
              </a:rPr>
              <a:t>have</a:t>
            </a:r>
            <a:r>
              <a:rPr sz="2800" spc="-40" dirty="0">
                <a:latin typeface="Calibri"/>
                <a:cs typeface="Calibri"/>
              </a:rPr>
              <a:t> </a:t>
            </a:r>
            <a:r>
              <a:rPr lang="en-NZ" sz="2800" spc="-40" dirty="0">
                <a:latin typeface="Calibri"/>
                <a:cs typeface="Calibri"/>
              </a:rPr>
              <a:t>a </a:t>
            </a:r>
            <a:r>
              <a:rPr sz="2800" dirty="0">
                <a:latin typeface="Calibri"/>
                <a:cs typeface="Calibri"/>
              </a:rPr>
              <a:t>high</a:t>
            </a:r>
            <a:r>
              <a:rPr sz="2800" spc="-40" dirty="0">
                <a:latin typeface="Calibri"/>
                <a:cs typeface="Calibri"/>
              </a:rPr>
              <a:t> </a:t>
            </a:r>
            <a:r>
              <a:rPr sz="2800" dirty="0">
                <a:latin typeface="Calibri"/>
                <a:cs typeface="Calibri"/>
              </a:rPr>
              <a:t>use</a:t>
            </a:r>
            <a:r>
              <a:rPr sz="2800" spc="-40" dirty="0">
                <a:latin typeface="Calibri"/>
                <a:cs typeface="Calibri"/>
              </a:rPr>
              <a:t> </a:t>
            </a:r>
            <a:r>
              <a:rPr sz="2800" dirty="0">
                <a:latin typeface="Calibri"/>
                <a:cs typeface="Calibri"/>
              </a:rPr>
              <a:t>and</a:t>
            </a:r>
            <a:r>
              <a:rPr sz="2800" spc="-40" dirty="0">
                <a:latin typeface="Calibri"/>
                <a:cs typeface="Calibri"/>
              </a:rPr>
              <a:t> </a:t>
            </a:r>
            <a:r>
              <a:rPr sz="2800" dirty="0">
                <a:latin typeface="Calibri"/>
                <a:cs typeface="Calibri"/>
              </a:rPr>
              <a:t>high</a:t>
            </a:r>
            <a:r>
              <a:rPr sz="2800" spc="-35" dirty="0">
                <a:latin typeface="Calibri"/>
                <a:cs typeface="Calibri"/>
              </a:rPr>
              <a:t> </a:t>
            </a:r>
            <a:r>
              <a:rPr sz="2800" dirty="0">
                <a:latin typeface="Calibri"/>
                <a:cs typeface="Calibri"/>
              </a:rPr>
              <a:t>potential</a:t>
            </a:r>
            <a:r>
              <a:rPr sz="2800" spc="-55" dirty="0">
                <a:latin typeface="Calibri"/>
                <a:cs typeface="Calibri"/>
              </a:rPr>
              <a:t> </a:t>
            </a:r>
            <a:r>
              <a:rPr sz="2800" spc="-25" dirty="0">
                <a:latin typeface="Calibri"/>
                <a:cs typeface="Calibri"/>
              </a:rPr>
              <a:t>for</a:t>
            </a:r>
            <a:endParaRPr sz="2800" dirty="0">
              <a:latin typeface="Calibri"/>
              <a:cs typeface="Calibri"/>
            </a:endParaRPr>
          </a:p>
          <a:p>
            <a:pPr marL="240665">
              <a:lnSpc>
                <a:spcPts val="2590"/>
              </a:lnSpc>
            </a:pPr>
            <a:r>
              <a:rPr sz="2800" u="sng" dirty="0">
                <a:uFill>
                  <a:solidFill>
                    <a:srgbClr val="000000"/>
                  </a:solidFill>
                </a:uFill>
                <a:latin typeface="Calibri"/>
                <a:cs typeface="Calibri"/>
              </a:rPr>
              <a:t>improving</a:t>
            </a:r>
            <a:r>
              <a:rPr sz="2800" u="sng" spc="-45" dirty="0">
                <a:uFill>
                  <a:solidFill>
                    <a:srgbClr val="000000"/>
                  </a:solidFill>
                </a:uFill>
                <a:latin typeface="Calibri"/>
                <a:cs typeface="Calibri"/>
              </a:rPr>
              <a:t> </a:t>
            </a:r>
            <a:r>
              <a:rPr sz="2800" u="sng" dirty="0">
                <a:uFill>
                  <a:solidFill>
                    <a:srgbClr val="000000"/>
                  </a:solidFill>
                </a:uFill>
                <a:latin typeface="Calibri"/>
                <a:cs typeface="Calibri"/>
              </a:rPr>
              <a:t>project</a:t>
            </a:r>
            <a:r>
              <a:rPr sz="2800" u="sng" spc="-45" dirty="0">
                <a:uFill>
                  <a:solidFill>
                    <a:srgbClr val="000000"/>
                  </a:solidFill>
                </a:uFill>
                <a:latin typeface="Calibri"/>
                <a:cs typeface="Calibri"/>
              </a:rPr>
              <a:t> </a:t>
            </a:r>
            <a:r>
              <a:rPr sz="2800" u="sng" dirty="0">
                <a:uFill>
                  <a:solidFill>
                    <a:srgbClr val="000000"/>
                  </a:solidFill>
                </a:uFill>
                <a:latin typeface="Calibri"/>
                <a:cs typeface="Calibri"/>
              </a:rPr>
              <a:t>success</a:t>
            </a:r>
            <a:r>
              <a:rPr sz="2800" dirty="0">
                <a:latin typeface="Calibri"/>
                <a:cs typeface="Calibri"/>
              </a:rPr>
              <a:t>,</a:t>
            </a:r>
            <a:r>
              <a:rPr sz="2800" spc="-80" dirty="0">
                <a:latin typeface="Calibri"/>
                <a:cs typeface="Calibri"/>
              </a:rPr>
              <a:t> </a:t>
            </a:r>
            <a:r>
              <a:rPr sz="2800" dirty="0">
                <a:latin typeface="Calibri"/>
                <a:cs typeface="Calibri"/>
              </a:rPr>
              <a:t>such</a:t>
            </a:r>
            <a:r>
              <a:rPr sz="2800" spc="-60" dirty="0">
                <a:latin typeface="Calibri"/>
                <a:cs typeface="Calibri"/>
              </a:rPr>
              <a:t> </a:t>
            </a:r>
            <a:r>
              <a:rPr sz="2800" spc="-25" dirty="0">
                <a:latin typeface="Calibri"/>
                <a:cs typeface="Calibri"/>
              </a:rPr>
              <a:t>as:</a:t>
            </a:r>
            <a:endParaRPr sz="2800" dirty="0">
              <a:latin typeface="Calibri"/>
              <a:cs typeface="Calibri"/>
            </a:endParaRPr>
          </a:p>
          <a:p>
            <a:pPr marL="697230" lvl="1" indent="-227965">
              <a:lnSpc>
                <a:spcPts val="2430"/>
              </a:lnSpc>
              <a:buClr>
                <a:srgbClr val="F5821F"/>
              </a:buClr>
              <a:buFont typeface="Arial"/>
              <a:buChar char="•"/>
              <a:tabLst>
                <a:tab pos="697230" algn="l"/>
              </a:tabLst>
            </a:pPr>
            <a:r>
              <a:rPr sz="2800" dirty="0">
                <a:latin typeface="Calibri"/>
                <a:cs typeface="Calibri"/>
              </a:rPr>
              <a:t>Software</a:t>
            </a:r>
            <a:r>
              <a:rPr sz="2800" spc="-40" dirty="0">
                <a:latin typeface="Calibri"/>
                <a:cs typeface="Calibri"/>
              </a:rPr>
              <a:t> </a:t>
            </a:r>
            <a:r>
              <a:rPr sz="2800" dirty="0">
                <a:latin typeface="Calibri"/>
                <a:cs typeface="Calibri"/>
              </a:rPr>
              <a:t>for</a:t>
            </a:r>
            <a:r>
              <a:rPr sz="2800" spc="-40" dirty="0">
                <a:latin typeface="Calibri"/>
                <a:cs typeface="Calibri"/>
              </a:rPr>
              <a:t> </a:t>
            </a:r>
            <a:r>
              <a:rPr sz="2800" dirty="0">
                <a:latin typeface="Calibri"/>
                <a:cs typeface="Calibri"/>
              </a:rPr>
              <a:t>task</a:t>
            </a:r>
            <a:r>
              <a:rPr sz="2800" spc="-35" dirty="0">
                <a:latin typeface="Calibri"/>
                <a:cs typeface="Calibri"/>
              </a:rPr>
              <a:t> </a:t>
            </a:r>
            <a:r>
              <a:rPr sz="2800" dirty="0">
                <a:latin typeface="Calibri"/>
                <a:cs typeface="Calibri"/>
              </a:rPr>
              <a:t>scheduling</a:t>
            </a:r>
            <a:r>
              <a:rPr sz="2800" spc="-35" dirty="0">
                <a:latin typeface="Calibri"/>
                <a:cs typeface="Calibri"/>
              </a:rPr>
              <a:t> </a:t>
            </a:r>
            <a:r>
              <a:rPr sz="2800" dirty="0">
                <a:latin typeface="Calibri"/>
                <a:cs typeface="Calibri"/>
              </a:rPr>
              <a:t>(project</a:t>
            </a:r>
            <a:r>
              <a:rPr sz="2800" spc="-35" dirty="0">
                <a:latin typeface="Calibri"/>
                <a:cs typeface="Calibri"/>
              </a:rPr>
              <a:t> </a:t>
            </a:r>
            <a:r>
              <a:rPr sz="2800" dirty="0">
                <a:latin typeface="Calibri"/>
                <a:cs typeface="Calibri"/>
              </a:rPr>
              <a:t>management</a:t>
            </a:r>
            <a:r>
              <a:rPr sz="2800" spc="-25" dirty="0">
                <a:latin typeface="Calibri"/>
                <a:cs typeface="Calibri"/>
              </a:rPr>
              <a:t> </a:t>
            </a:r>
            <a:r>
              <a:rPr sz="2800" spc="-10" dirty="0">
                <a:latin typeface="Calibri"/>
                <a:cs typeface="Calibri"/>
              </a:rPr>
              <a:t>software)</a:t>
            </a:r>
            <a:endParaRPr sz="2800" dirty="0">
              <a:latin typeface="Calibri"/>
              <a:cs typeface="Calibri"/>
            </a:endParaRPr>
          </a:p>
          <a:p>
            <a:pPr marL="697230" lvl="1" indent="-227965">
              <a:lnSpc>
                <a:spcPts val="2435"/>
              </a:lnSpc>
              <a:buClr>
                <a:srgbClr val="F5821F"/>
              </a:buClr>
              <a:buFont typeface="Arial"/>
              <a:buChar char="•"/>
              <a:tabLst>
                <a:tab pos="697230" algn="l"/>
              </a:tabLst>
            </a:pPr>
            <a:r>
              <a:rPr sz="2800" dirty="0">
                <a:latin typeface="Calibri"/>
                <a:cs typeface="Calibri"/>
              </a:rPr>
              <a:t>Scope</a:t>
            </a:r>
            <a:r>
              <a:rPr sz="2800" spc="-10" dirty="0">
                <a:latin typeface="Calibri"/>
                <a:cs typeface="Calibri"/>
              </a:rPr>
              <a:t> statements</a:t>
            </a:r>
            <a:endParaRPr sz="2800" dirty="0">
              <a:latin typeface="Calibri"/>
              <a:cs typeface="Calibri"/>
            </a:endParaRPr>
          </a:p>
          <a:p>
            <a:pPr marL="697230" lvl="1" indent="-227965">
              <a:lnSpc>
                <a:spcPts val="2430"/>
              </a:lnSpc>
              <a:buClr>
                <a:srgbClr val="F5821F"/>
              </a:buClr>
              <a:buFont typeface="Arial"/>
              <a:buChar char="•"/>
              <a:tabLst>
                <a:tab pos="697230" algn="l"/>
              </a:tabLst>
            </a:pPr>
            <a:r>
              <a:rPr sz="2800" dirty="0">
                <a:latin typeface="Calibri"/>
                <a:cs typeface="Calibri"/>
              </a:rPr>
              <a:t>Requirements</a:t>
            </a:r>
            <a:r>
              <a:rPr sz="2800" spc="-130" dirty="0">
                <a:latin typeface="Calibri"/>
                <a:cs typeface="Calibri"/>
              </a:rPr>
              <a:t> </a:t>
            </a:r>
            <a:r>
              <a:rPr sz="2800" spc="-10" dirty="0">
                <a:latin typeface="Calibri"/>
                <a:cs typeface="Calibri"/>
              </a:rPr>
              <a:t>analyses</a:t>
            </a:r>
            <a:endParaRPr sz="2800" dirty="0">
              <a:latin typeface="Calibri"/>
              <a:cs typeface="Calibri"/>
            </a:endParaRPr>
          </a:p>
          <a:p>
            <a:pPr marL="697230" lvl="1" indent="-227965">
              <a:lnSpc>
                <a:spcPts val="2590"/>
              </a:lnSpc>
              <a:buClr>
                <a:srgbClr val="F5821F"/>
              </a:buClr>
              <a:buFont typeface="Arial"/>
              <a:buChar char="•"/>
              <a:tabLst>
                <a:tab pos="697230" algn="l"/>
              </a:tabLst>
            </a:pPr>
            <a:r>
              <a:rPr sz="2800" spc="-10" dirty="0">
                <a:latin typeface="Calibri"/>
                <a:cs typeface="Calibri"/>
              </a:rPr>
              <a:t>Lessons-</a:t>
            </a:r>
            <a:r>
              <a:rPr sz="2800" dirty="0">
                <a:latin typeface="Calibri"/>
                <a:cs typeface="Calibri"/>
              </a:rPr>
              <a:t>learned</a:t>
            </a:r>
            <a:r>
              <a:rPr sz="2800" spc="35" dirty="0">
                <a:latin typeface="Calibri"/>
                <a:cs typeface="Calibri"/>
              </a:rPr>
              <a:t> </a:t>
            </a:r>
            <a:r>
              <a:rPr sz="2800" spc="-10" dirty="0">
                <a:latin typeface="Calibri"/>
                <a:cs typeface="Calibri"/>
              </a:rPr>
              <a:t>reports</a:t>
            </a:r>
            <a:endParaRPr sz="3200" dirty="0">
              <a:latin typeface="Calibri"/>
              <a:cs typeface="Calibri"/>
            </a:endParaRPr>
          </a:p>
          <a:p>
            <a:pPr marL="287020" marR="168910" indent="-274320">
              <a:lnSpc>
                <a:spcPct val="70100"/>
              </a:lnSpc>
              <a:buClr>
                <a:srgbClr val="F5821F"/>
              </a:buClr>
              <a:buFont typeface="Arial"/>
              <a:buChar char="•"/>
              <a:tabLst>
                <a:tab pos="287020" algn="l"/>
              </a:tabLst>
            </a:pPr>
            <a:r>
              <a:rPr sz="2800" spc="-30" dirty="0">
                <a:latin typeface="Calibri"/>
                <a:cs typeface="Calibri"/>
              </a:rPr>
              <a:t>Tools</a:t>
            </a:r>
            <a:r>
              <a:rPr sz="2800" spc="-60" dirty="0">
                <a:latin typeface="Calibri"/>
                <a:cs typeface="Calibri"/>
              </a:rPr>
              <a:t> </a:t>
            </a:r>
            <a:r>
              <a:rPr sz="2800" dirty="0">
                <a:latin typeface="Calibri"/>
                <a:cs typeface="Calibri"/>
              </a:rPr>
              <a:t>already</a:t>
            </a:r>
            <a:r>
              <a:rPr sz="2800" spc="-60" dirty="0">
                <a:latin typeface="Calibri"/>
                <a:cs typeface="Calibri"/>
              </a:rPr>
              <a:t> </a:t>
            </a:r>
            <a:r>
              <a:rPr sz="2800" spc="-10" dirty="0">
                <a:latin typeface="Calibri"/>
                <a:cs typeface="Calibri"/>
              </a:rPr>
              <a:t>extensively</a:t>
            </a:r>
            <a:r>
              <a:rPr sz="2800" spc="-90" dirty="0">
                <a:latin typeface="Calibri"/>
                <a:cs typeface="Calibri"/>
              </a:rPr>
              <a:t> </a:t>
            </a:r>
            <a:r>
              <a:rPr sz="2800" dirty="0">
                <a:latin typeface="Calibri"/>
                <a:cs typeface="Calibri"/>
              </a:rPr>
              <a:t>used</a:t>
            </a:r>
            <a:r>
              <a:rPr sz="2800" spc="-75" dirty="0">
                <a:latin typeface="Calibri"/>
                <a:cs typeface="Calibri"/>
              </a:rPr>
              <a:t> </a:t>
            </a:r>
            <a:r>
              <a:rPr sz="2800" dirty="0">
                <a:latin typeface="Calibri"/>
                <a:cs typeface="Calibri"/>
              </a:rPr>
              <a:t>that</a:t>
            </a:r>
            <a:r>
              <a:rPr sz="2800" spc="-60" dirty="0">
                <a:latin typeface="Calibri"/>
                <a:cs typeface="Calibri"/>
              </a:rPr>
              <a:t> </a:t>
            </a:r>
            <a:r>
              <a:rPr sz="2800" dirty="0">
                <a:latin typeface="Calibri"/>
                <a:cs typeface="Calibri"/>
              </a:rPr>
              <a:t>have</a:t>
            </a:r>
            <a:r>
              <a:rPr sz="2800" spc="-65" dirty="0">
                <a:latin typeface="Calibri"/>
                <a:cs typeface="Calibri"/>
              </a:rPr>
              <a:t> </a:t>
            </a:r>
            <a:r>
              <a:rPr sz="2800" dirty="0">
                <a:latin typeface="Calibri"/>
                <a:cs typeface="Calibri"/>
              </a:rPr>
              <a:t>been</a:t>
            </a:r>
            <a:r>
              <a:rPr sz="2800" spc="-80" dirty="0">
                <a:latin typeface="Calibri"/>
                <a:cs typeface="Calibri"/>
              </a:rPr>
              <a:t> </a:t>
            </a:r>
            <a:r>
              <a:rPr sz="2800" dirty="0">
                <a:latin typeface="Calibri"/>
                <a:cs typeface="Calibri"/>
              </a:rPr>
              <a:t>found</a:t>
            </a:r>
            <a:r>
              <a:rPr sz="2800" spc="-75" dirty="0">
                <a:latin typeface="Calibri"/>
                <a:cs typeface="Calibri"/>
              </a:rPr>
              <a:t> </a:t>
            </a:r>
            <a:r>
              <a:rPr sz="2800" dirty="0">
                <a:latin typeface="Calibri"/>
                <a:cs typeface="Calibri"/>
              </a:rPr>
              <a:t>to</a:t>
            </a:r>
            <a:r>
              <a:rPr sz="2800" spc="-50" dirty="0">
                <a:latin typeface="Calibri"/>
                <a:cs typeface="Calibri"/>
              </a:rPr>
              <a:t> </a:t>
            </a:r>
            <a:r>
              <a:rPr sz="2800" dirty="0">
                <a:latin typeface="Calibri"/>
                <a:cs typeface="Calibri"/>
              </a:rPr>
              <a:t>improve</a:t>
            </a:r>
            <a:r>
              <a:rPr sz="2800" spc="-60" dirty="0">
                <a:latin typeface="Calibri"/>
                <a:cs typeface="Calibri"/>
              </a:rPr>
              <a:t> </a:t>
            </a:r>
            <a:r>
              <a:rPr sz="2800" spc="-10" dirty="0">
                <a:latin typeface="Calibri"/>
                <a:cs typeface="Calibri"/>
              </a:rPr>
              <a:t>project </a:t>
            </a:r>
            <a:r>
              <a:rPr sz="2800" dirty="0">
                <a:latin typeface="Calibri"/>
                <a:cs typeface="Calibri"/>
              </a:rPr>
              <a:t>importance</a:t>
            </a:r>
            <a:r>
              <a:rPr sz="2800" spc="-50" dirty="0">
                <a:latin typeface="Calibri"/>
                <a:cs typeface="Calibri"/>
              </a:rPr>
              <a:t> </a:t>
            </a:r>
            <a:r>
              <a:rPr sz="2800" spc="-10" dirty="0">
                <a:latin typeface="Calibri"/>
                <a:cs typeface="Calibri"/>
              </a:rPr>
              <a:t>include:</a:t>
            </a:r>
            <a:endParaRPr sz="2800" dirty="0">
              <a:latin typeface="Calibri"/>
              <a:cs typeface="Calibri"/>
            </a:endParaRPr>
          </a:p>
          <a:p>
            <a:pPr marL="697230" lvl="1" indent="-227965">
              <a:lnSpc>
                <a:spcPts val="2275"/>
              </a:lnSpc>
              <a:buClr>
                <a:srgbClr val="F5821F"/>
              </a:buClr>
              <a:buFont typeface="Arial"/>
              <a:buChar char="•"/>
              <a:tabLst>
                <a:tab pos="697230" algn="l"/>
              </a:tabLst>
            </a:pPr>
            <a:r>
              <a:rPr sz="2800" dirty="0">
                <a:latin typeface="Calibri"/>
                <a:cs typeface="Calibri"/>
              </a:rPr>
              <a:t>Progress</a:t>
            </a:r>
            <a:r>
              <a:rPr sz="2800" spc="-95" dirty="0">
                <a:latin typeface="Calibri"/>
                <a:cs typeface="Calibri"/>
              </a:rPr>
              <a:t> </a:t>
            </a:r>
            <a:r>
              <a:rPr sz="2800" spc="-10" dirty="0">
                <a:latin typeface="Calibri"/>
                <a:cs typeface="Calibri"/>
              </a:rPr>
              <a:t>reports</a:t>
            </a:r>
            <a:endParaRPr sz="2800" dirty="0">
              <a:latin typeface="Calibri"/>
              <a:cs typeface="Calibri"/>
            </a:endParaRPr>
          </a:p>
          <a:p>
            <a:pPr marL="697230" lvl="1" indent="-227965">
              <a:lnSpc>
                <a:spcPts val="2430"/>
              </a:lnSpc>
              <a:buClr>
                <a:srgbClr val="F5821F"/>
              </a:buClr>
              <a:buFont typeface="Arial"/>
              <a:buChar char="•"/>
              <a:tabLst>
                <a:tab pos="697230" algn="l"/>
              </a:tabLst>
            </a:pPr>
            <a:r>
              <a:rPr sz="2800" spc="-10" dirty="0">
                <a:latin typeface="Calibri"/>
                <a:cs typeface="Calibri"/>
              </a:rPr>
              <a:t>Kick-</a:t>
            </a:r>
            <a:r>
              <a:rPr sz="2800" dirty="0">
                <a:latin typeface="Calibri"/>
                <a:cs typeface="Calibri"/>
              </a:rPr>
              <a:t>off</a:t>
            </a:r>
            <a:r>
              <a:rPr sz="2800" spc="-10" dirty="0">
                <a:latin typeface="Calibri"/>
                <a:cs typeface="Calibri"/>
              </a:rPr>
              <a:t> meetings</a:t>
            </a:r>
            <a:endParaRPr sz="2800" dirty="0">
              <a:latin typeface="Calibri"/>
              <a:cs typeface="Calibri"/>
            </a:endParaRPr>
          </a:p>
          <a:p>
            <a:pPr marL="697230" lvl="1" indent="-227965">
              <a:lnSpc>
                <a:spcPts val="2430"/>
              </a:lnSpc>
              <a:buClr>
                <a:srgbClr val="F5821F"/>
              </a:buClr>
              <a:buFont typeface="Arial"/>
              <a:buChar char="•"/>
              <a:tabLst>
                <a:tab pos="697230" algn="l"/>
              </a:tabLst>
            </a:pPr>
            <a:r>
              <a:rPr sz="2800" dirty="0">
                <a:latin typeface="Calibri"/>
                <a:cs typeface="Calibri"/>
              </a:rPr>
              <a:t>Gantt</a:t>
            </a:r>
            <a:r>
              <a:rPr sz="2800" spc="-65" dirty="0">
                <a:latin typeface="Calibri"/>
                <a:cs typeface="Calibri"/>
              </a:rPr>
              <a:t> </a:t>
            </a:r>
            <a:r>
              <a:rPr sz="2800" spc="-10" dirty="0">
                <a:latin typeface="Calibri"/>
                <a:cs typeface="Calibri"/>
              </a:rPr>
              <a:t>charts</a:t>
            </a:r>
            <a:endParaRPr sz="2800" dirty="0">
              <a:latin typeface="Calibri"/>
              <a:cs typeface="Calibri"/>
            </a:endParaRPr>
          </a:p>
          <a:p>
            <a:pPr marL="697230" lvl="1" indent="-227965">
              <a:lnSpc>
                <a:spcPts val="2600"/>
              </a:lnSpc>
              <a:buClr>
                <a:srgbClr val="F5821F"/>
              </a:buClr>
              <a:buFont typeface="Arial"/>
              <a:buChar char="•"/>
              <a:tabLst>
                <a:tab pos="697230" algn="l"/>
              </a:tabLst>
            </a:pPr>
            <a:r>
              <a:rPr sz="2800" dirty="0">
                <a:latin typeface="Calibri"/>
                <a:cs typeface="Calibri"/>
              </a:rPr>
              <a:t>Change</a:t>
            </a:r>
            <a:r>
              <a:rPr sz="2800" spc="-20" dirty="0">
                <a:latin typeface="Calibri"/>
                <a:cs typeface="Calibri"/>
              </a:rPr>
              <a:t> </a:t>
            </a:r>
            <a:r>
              <a:rPr sz="2800" spc="-10" dirty="0">
                <a:latin typeface="Calibri"/>
                <a:cs typeface="Calibri"/>
              </a:rPr>
              <a:t>requests</a:t>
            </a:r>
            <a:endParaRPr sz="2800" dirty="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8373" y="169621"/>
            <a:ext cx="11517619" cy="950259"/>
          </a:xfrm>
          <a:prstGeom prst="rect">
            <a:avLst/>
          </a:prstGeom>
        </p:spPr>
        <p:txBody>
          <a:bodyPr vert="horz" wrap="square" lIns="0" tIns="453389" rIns="0" bIns="0" rtlCol="0">
            <a:spAutoFit/>
          </a:bodyPr>
          <a:lstStyle/>
          <a:p>
            <a:pPr marL="83185">
              <a:lnSpc>
                <a:spcPct val="100000"/>
              </a:lnSpc>
              <a:spcBef>
                <a:spcPts val="105"/>
              </a:spcBef>
            </a:pPr>
            <a:r>
              <a:rPr sz="3200" dirty="0"/>
              <a:t>Suggested</a:t>
            </a:r>
            <a:r>
              <a:rPr sz="3200" spc="-105" dirty="0"/>
              <a:t> </a:t>
            </a:r>
            <a:r>
              <a:rPr sz="3200" dirty="0"/>
              <a:t>Skills</a:t>
            </a:r>
            <a:r>
              <a:rPr sz="3200" spc="-95" dirty="0"/>
              <a:t> </a:t>
            </a:r>
            <a:r>
              <a:rPr sz="3200" dirty="0"/>
              <a:t>for</a:t>
            </a:r>
            <a:r>
              <a:rPr sz="3200" spc="-85" dirty="0"/>
              <a:t> </a:t>
            </a:r>
            <a:r>
              <a:rPr sz="3200" dirty="0"/>
              <a:t>Project</a:t>
            </a:r>
            <a:r>
              <a:rPr sz="3200" spc="-80" dirty="0"/>
              <a:t> </a:t>
            </a:r>
            <a:r>
              <a:rPr sz="3200" spc="-10" dirty="0"/>
              <a:t>Manage</a:t>
            </a:r>
            <a:r>
              <a:rPr lang="en-NZ" sz="3200" spc="-10" dirty="0" err="1"/>
              <a:t>ment</a:t>
            </a:r>
            <a:endParaRPr sz="3200" spc="-10" dirty="0"/>
          </a:p>
        </p:txBody>
      </p:sp>
      <p:sp>
        <p:nvSpPr>
          <p:cNvPr id="3" name="object 3"/>
          <p:cNvSpPr txBox="1"/>
          <p:nvPr/>
        </p:nvSpPr>
        <p:spPr>
          <a:xfrm>
            <a:off x="1468374" y="1219200"/>
            <a:ext cx="10114026" cy="3995325"/>
          </a:xfrm>
          <a:prstGeom prst="rect">
            <a:avLst/>
          </a:prstGeom>
        </p:spPr>
        <p:txBody>
          <a:bodyPr vert="horz" wrap="square" lIns="0" tIns="98425" rIns="0" bIns="0" rtlCol="0">
            <a:spAutoFit/>
          </a:bodyPr>
          <a:lstStyle/>
          <a:p>
            <a:pPr marL="240665" indent="-227965">
              <a:lnSpc>
                <a:spcPct val="100000"/>
              </a:lnSpc>
              <a:spcBef>
                <a:spcPts val="775"/>
              </a:spcBef>
              <a:buClr>
                <a:srgbClr val="F5821F"/>
              </a:buClr>
              <a:buFont typeface="Arial"/>
              <a:buChar char="•"/>
              <a:tabLst>
                <a:tab pos="240665" algn="l"/>
              </a:tabLst>
            </a:pPr>
            <a:r>
              <a:rPr sz="2800" dirty="0">
                <a:latin typeface="Calibri"/>
                <a:cs typeface="Calibri"/>
              </a:rPr>
              <a:t>The</a:t>
            </a:r>
            <a:r>
              <a:rPr sz="2800" spc="-75" dirty="0">
                <a:latin typeface="Calibri"/>
                <a:cs typeface="Calibri"/>
              </a:rPr>
              <a:t> </a:t>
            </a:r>
            <a:r>
              <a:rPr sz="2800" b="1" dirty="0">
                <a:latin typeface="Calibri"/>
                <a:cs typeface="Calibri"/>
              </a:rPr>
              <a:t>Project</a:t>
            </a:r>
            <a:r>
              <a:rPr sz="2800" b="1" spc="-50" dirty="0">
                <a:latin typeface="Calibri"/>
                <a:cs typeface="Calibri"/>
              </a:rPr>
              <a:t> </a:t>
            </a:r>
            <a:r>
              <a:rPr sz="2800" b="1" spc="-10" dirty="0">
                <a:latin typeface="Calibri"/>
                <a:cs typeface="Calibri"/>
              </a:rPr>
              <a:t>Management</a:t>
            </a:r>
            <a:r>
              <a:rPr sz="2800" b="1" spc="-65" dirty="0">
                <a:latin typeface="Calibri"/>
                <a:cs typeface="Calibri"/>
              </a:rPr>
              <a:t> </a:t>
            </a:r>
            <a:r>
              <a:rPr sz="2800" b="1" dirty="0">
                <a:latin typeface="Calibri"/>
                <a:cs typeface="Calibri"/>
              </a:rPr>
              <a:t>Body</a:t>
            </a:r>
            <a:r>
              <a:rPr sz="2800" b="1" spc="-70" dirty="0">
                <a:latin typeface="Calibri"/>
                <a:cs typeface="Calibri"/>
              </a:rPr>
              <a:t> </a:t>
            </a:r>
            <a:r>
              <a:rPr sz="2800" b="1" dirty="0">
                <a:latin typeface="Calibri"/>
                <a:cs typeface="Calibri"/>
              </a:rPr>
              <a:t>of</a:t>
            </a:r>
            <a:r>
              <a:rPr sz="2800" b="1" spc="-80" dirty="0">
                <a:latin typeface="Calibri"/>
                <a:cs typeface="Calibri"/>
              </a:rPr>
              <a:t> </a:t>
            </a:r>
            <a:r>
              <a:rPr sz="2800" b="1" spc="-20" dirty="0">
                <a:latin typeface="Calibri"/>
                <a:cs typeface="Calibri"/>
              </a:rPr>
              <a:t>Knowledge</a:t>
            </a:r>
            <a:r>
              <a:rPr sz="2800" b="1" spc="-75" dirty="0">
                <a:latin typeface="Calibri"/>
                <a:cs typeface="Calibri"/>
              </a:rPr>
              <a:t> </a:t>
            </a:r>
            <a:r>
              <a:rPr sz="2800" b="1" dirty="0">
                <a:latin typeface="Calibri"/>
                <a:cs typeface="Calibri"/>
              </a:rPr>
              <a:t>(PMBOK)</a:t>
            </a:r>
            <a:r>
              <a:rPr sz="2800" b="1" spc="-40" dirty="0">
                <a:latin typeface="Calibri"/>
                <a:cs typeface="Calibri"/>
              </a:rPr>
              <a:t> </a:t>
            </a:r>
            <a:r>
              <a:rPr sz="2800" dirty="0">
                <a:latin typeface="Calibri"/>
                <a:cs typeface="Calibri"/>
              </a:rPr>
              <a:t>-</a:t>
            </a:r>
            <a:r>
              <a:rPr sz="2800" spc="-65" dirty="0">
                <a:latin typeface="Calibri"/>
                <a:cs typeface="Calibri"/>
              </a:rPr>
              <a:t> </a:t>
            </a:r>
            <a:r>
              <a:rPr sz="2800" spc="-25" dirty="0">
                <a:latin typeface="Calibri"/>
                <a:cs typeface="Calibri"/>
              </a:rPr>
              <a:t>PMI</a:t>
            </a:r>
            <a:endParaRPr sz="2800" dirty="0">
              <a:latin typeface="Calibri"/>
              <a:cs typeface="Calibri"/>
            </a:endParaRPr>
          </a:p>
          <a:p>
            <a:pPr marL="240665" indent="-227965">
              <a:lnSpc>
                <a:spcPct val="100000"/>
              </a:lnSpc>
              <a:spcBef>
                <a:spcPts val="675"/>
              </a:spcBef>
              <a:buClr>
                <a:srgbClr val="F5821F"/>
              </a:buClr>
              <a:buFont typeface="Arial"/>
              <a:buChar char="•"/>
              <a:tabLst>
                <a:tab pos="240665" algn="l"/>
              </a:tabLst>
            </a:pPr>
            <a:r>
              <a:rPr sz="2800" spc="-10" dirty="0">
                <a:latin typeface="Calibri"/>
                <a:cs typeface="Calibri"/>
              </a:rPr>
              <a:t>Application</a:t>
            </a:r>
            <a:r>
              <a:rPr sz="2800" spc="-70" dirty="0">
                <a:latin typeface="Calibri"/>
                <a:cs typeface="Calibri"/>
              </a:rPr>
              <a:t> </a:t>
            </a:r>
            <a:r>
              <a:rPr sz="2800" dirty="0">
                <a:latin typeface="Calibri"/>
                <a:cs typeface="Calibri"/>
              </a:rPr>
              <a:t>area</a:t>
            </a:r>
            <a:r>
              <a:rPr sz="2800" spc="-95" dirty="0">
                <a:latin typeface="Calibri"/>
                <a:cs typeface="Calibri"/>
              </a:rPr>
              <a:t> </a:t>
            </a:r>
            <a:r>
              <a:rPr sz="2800" spc="-10" dirty="0">
                <a:latin typeface="Calibri"/>
                <a:cs typeface="Calibri"/>
              </a:rPr>
              <a:t>knowledge,</a:t>
            </a:r>
            <a:r>
              <a:rPr sz="2800" spc="-85" dirty="0">
                <a:latin typeface="Calibri"/>
                <a:cs typeface="Calibri"/>
              </a:rPr>
              <a:t> </a:t>
            </a:r>
            <a:r>
              <a:rPr sz="2800" spc="-10" dirty="0">
                <a:latin typeface="Calibri"/>
                <a:cs typeface="Calibri"/>
              </a:rPr>
              <a:t>standards,</a:t>
            </a:r>
            <a:r>
              <a:rPr sz="2800" spc="-55" dirty="0">
                <a:latin typeface="Calibri"/>
                <a:cs typeface="Calibri"/>
              </a:rPr>
              <a:t> </a:t>
            </a:r>
            <a:r>
              <a:rPr sz="2800" dirty="0">
                <a:latin typeface="Calibri"/>
                <a:cs typeface="Calibri"/>
              </a:rPr>
              <a:t>and</a:t>
            </a:r>
            <a:r>
              <a:rPr sz="2800" spc="-75" dirty="0">
                <a:latin typeface="Calibri"/>
                <a:cs typeface="Calibri"/>
              </a:rPr>
              <a:t> </a:t>
            </a:r>
            <a:r>
              <a:rPr sz="2800" spc="-10" dirty="0">
                <a:latin typeface="Calibri"/>
                <a:cs typeface="Calibri"/>
              </a:rPr>
              <a:t>regulations</a:t>
            </a:r>
            <a:endParaRPr sz="2800" dirty="0">
              <a:latin typeface="Calibri"/>
              <a:cs typeface="Calibri"/>
            </a:endParaRPr>
          </a:p>
          <a:p>
            <a:pPr marL="240665" indent="-227965">
              <a:lnSpc>
                <a:spcPct val="100000"/>
              </a:lnSpc>
              <a:spcBef>
                <a:spcPts val="660"/>
              </a:spcBef>
              <a:buClr>
                <a:srgbClr val="F5821F"/>
              </a:buClr>
              <a:buFont typeface="Arial"/>
              <a:buChar char="•"/>
              <a:tabLst>
                <a:tab pos="240665" algn="l"/>
              </a:tabLst>
            </a:pPr>
            <a:r>
              <a:rPr sz="2800" dirty="0">
                <a:latin typeface="Calibri"/>
                <a:cs typeface="Calibri"/>
              </a:rPr>
              <a:t>Project</a:t>
            </a:r>
            <a:r>
              <a:rPr sz="2800" spc="-110" dirty="0">
                <a:latin typeface="Calibri"/>
                <a:cs typeface="Calibri"/>
              </a:rPr>
              <a:t> </a:t>
            </a:r>
            <a:r>
              <a:rPr sz="2800" spc="-20" dirty="0">
                <a:latin typeface="Calibri"/>
                <a:cs typeface="Calibri"/>
              </a:rPr>
              <a:t>enviro</a:t>
            </a:r>
            <a:r>
              <a:rPr sz="2800" spc="-20" dirty="0">
                <a:latin typeface="Calibri" panose="020F0502020204030204" pitchFamily="34" charset="0"/>
                <a:ea typeface="Calibri" panose="020F0502020204030204" pitchFamily="34" charset="0"/>
                <a:cs typeface="Calibri" panose="020F0502020204030204" pitchFamily="34" charset="0"/>
              </a:rPr>
              <a:t>nment</a:t>
            </a:r>
            <a:r>
              <a:rPr sz="2800" spc="-80" dirty="0">
                <a:latin typeface="Calibri" panose="020F0502020204030204" pitchFamily="34" charset="0"/>
                <a:ea typeface="Calibri" panose="020F0502020204030204" pitchFamily="34" charset="0"/>
                <a:cs typeface="Calibri" panose="020F0502020204030204" pitchFamily="34" charset="0"/>
              </a:rPr>
              <a:t> </a:t>
            </a:r>
            <a:r>
              <a:rPr sz="2800" spc="-10" dirty="0">
                <a:latin typeface="Calibri" panose="020F0502020204030204" pitchFamily="34" charset="0"/>
                <a:ea typeface="Calibri" panose="020F0502020204030204" pitchFamily="34" charset="0"/>
                <a:cs typeface="Calibri" panose="020F0502020204030204" pitchFamily="34" charset="0"/>
              </a:rPr>
              <a:t>knowledge</a:t>
            </a:r>
            <a:endParaRPr sz="2800" dirty="0">
              <a:latin typeface="Calibri" panose="020F0502020204030204" pitchFamily="34" charset="0"/>
              <a:ea typeface="Calibri" panose="020F0502020204030204" pitchFamily="34" charset="0"/>
              <a:cs typeface="Calibri" panose="020F0502020204030204" pitchFamily="34" charset="0"/>
            </a:endParaRPr>
          </a:p>
          <a:p>
            <a:pPr marL="240665" indent="-227965">
              <a:lnSpc>
                <a:spcPct val="100000"/>
              </a:lnSpc>
              <a:spcBef>
                <a:spcPts val="660"/>
              </a:spcBef>
              <a:buClr>
                <a:srgbClr val="F5821F"/>
              </a:buClr>
              <a:buFont typeface="Arial"/>
              <a:buChar char="•"/>
              <a:tabLst>
                <a:tab pos="240665" algn="l"/>
              </a:tabLst>
            </a:pPr>
            <a:r>
              <a:rPr sz="2800" spc="-10" dirty="0">
                <a:latin typeface="Calibri" panose="020F0502020204030204" pitchFamily="34" charset="0"/>
                <a:ea typeface="Calibri" panose="020F0502020204030204" pitchFamily="34" charset="0"/>
                <a:cs typeface="Calibri" panose="020F0502020204030204" pitchFamily="34" charset="0"/>
              </a:rPr>
              <a:t>General</a:t>
            </a:r>
            <a:r>
              <a:rPr sz="2800" spc="-105" dirty="0">
                <a:latin typeface="Calibri" panose="020F0502020204030204" pitchFamily="34" charset="0"/>
                <a:ea typeface="Calibri" panose="020F0502020204030204" pitchFamily="34" charset="0"/>
                <a:cs typeface="Calibri" panose="020F0502020204030204" pitchFamily="34" charset="0"/>
              </a:rPr>
              <a:t> </a:t>
            </a:r>
            <a:r>
              <a:rPr sz="2800" spc="-10" dirty="0">
                <a:latin typeface="Calibri" panose="020F0502020204030204" pitchFamily="34" charset="0"/>
                <a:ea typeface="Calibri" panose="020F0502020204030204" pitchFamily="34" charset="0"/>
                <a:cs typeface="Calibri" panose="020F0502020204030204" pitchFamily="34" charset="0"/>
              </a:rPr>
              <a:t>management</a:t>
            </a:r>
            <a:r>
              <a:rPr sz="2800" spc="-95" dirty="0">
                <a:latin typeface="Calibri" panose="020F0502020204030204" pitchFamily="34" charset="0"/>
                <a:ea typeface="Calibri" panose="020F0502020204030204" pitchFamily="34" charset="0"/>
                <a:cs typeface="Calibri" panose="020F0502020204030204" pitchFamily="34" charset="0"/>
              </a:rPr>
              <a:t> </a:t>
            </a:r>
            <a:r>
              <a:rPr sz="2800" spc="-10" dirty="0">
                <a:latin typeface="Calibri" panose="020F0502020204030204" pitchFamily="34" charset="0"/>
                <a:ea typeface="Calibri" panose="020F0502020204030204" pitchFamily="34" charset="0"/>
                <a:cs typeface="Calibri" panose="020F0502020204030204" pitchFamily="34" charset="0"/>
              </a:rPr>
              <a:t>knowledge</a:t>
            </a:r>
            <a:r>
              <a:rPr sz="2800" spc="-100"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and</a:t>
            </a:r>
            <a:r>
              <a:rPr sz="2800" spc="-90" dirty="0">
                <a:latin typeface="Calibri" panose="020F0502020204030204" pitchFamily="34" charset="0"/>
                <a:ea typeface="Calibri" panose="020F0502020204030204" pitchFamily="34" charset="0"/>
                <a:cs typeface="Calibri" panose="020F0502020204030204" pitchFamily="34" charset="0"/>
              </a:rPr>
              <a:t> </a:t>
            </a:r>
            <a:r>
              <a:rPr sz="2800" spc="-10" dirty="0">
                <a:latin typeface="Calibri" panose="020F0502020204030204" pitchFamily="34" charset="0"/>
                <a:ea typeface="Calibri" panose="020F0502020204030204" pitchFamily="34" charset="0"/>
                <a:cs typeface="Calibri" panose="020F0502020204030204" pitchFamily="34" charset="0"/>
              </a:rPr>
              <a:t>skills</a:t>
            </a:r>
            <a:endParaRPr sz="2800" dirty="0">
              <a:latin typeface="Calibri" panose="020F0502020204030204" pitchFamily="34" charset="0"/>
              <a:ea typeface="Calibri" panose="020F0502020204030204" pitchFamily="34" charset="0"/>
              <a:cs typeface="Calibri" panose="020F0502020204030204" pitchFamily="34" charset="0"/>
            </a:endParaRPr>
          </a:p>
          <a:p>
            <a:pPr marL="240665" indent="-227965">
              <a:lnSpc>
                <a:spcPct val="100000"/>
              </a:lnSpc>
              <a:spcBef>
                <a:spcPts val="675"/>
              </a:spcBef>
              <a:buClr>
                <a:srgbClr val="F5821F"/>
              </a:buClr>
              <a:buFont typeface="Arial"/>
              <a:buChar char="•"/>
              <a:tabLst>
                <a:tab pos="240665" algn="l"/>
              </a:tabLst>
            </a:pPr>
            <a:r>
              <a:rPr sz="2800" spc="-30" dirty="0">
                <a:latin typeface="Calibri" panose="020F0502020204030204" pitchFamily="34" charset="0"/>
                <a:ea typeface="Calibri" panose="020F0502020204030204" pitchFamily="34" charset="0"/>
                <a:cs typeface="Calibri" panose="020F0502020204030204" pitchFamily="34" charset="0"/>
              </a:rPr>
              <a:t>Inter-</a:t>
            </a:r>
            <a:r>
              <a:rPr sz="2800" dirty="0">
                <a:latin typeface="Calibri" panose="020F0502020204030204" pitchFamily="34" charset="0"/>
                <a:ea typeface="Calibri" panose="020F0502020204030204" pitchFamily="34" charset="0"/>
                <a:cs typeface="Calibri" panose="020F0502020204030204" pitchFamily="34" charset="0"/>
              </a:rPr>
              <a:t>personal</a:t>
            </a:r>
            <a:r>
              <a:rPr sz="2800" spc="-70"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(soft)</a:t>
            </a:r>
            <a:r>
              <a:rPr sz="2800" spc="-70"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or</a:t>
            </a:r>
            <a:r>
              <a:rPr sz="2800" spc="-90"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human</a:t>
            </a:r>
            <a:r>
              <a:rPr sz="2800" spc="-60" dirty="0">
                <a:latin typeface="Calibri" panose="020F0502020204030204" pitchFamily="34" charset="0"/>
                <a:ea typeface="Calibri" panose="020F0502020204030204" pitchFamily="34" charset="0"/>
                <a:cs typeface="Calibri" panose="020F0502020204030204" pitchFamily="34" charset="0"/>
              </a:rPr>
              <a:t> </a:t>
            </a:r>
            <a:r>
              <a:rPr sz="2800" spc="-10" dirty="0">
                <a:latin typeface="Calibri" panose="020F0502020204030204" pitchFamily="34" charset="0"/>
                <a:ea typeface="Calibri" panose="020F0502020204030204" pitchFamily="34" charset="0"/>
                <a:cs typeface="Calibri" panose="020F0502020204030204" pitchFamily="34" charset="0"/>
              </a:rPr>
              <a:t>relations</a:t>
            </a:r>
            <a:r>
              <a:rPr sz="2800" spc="-80" dirty="0">
                <a:latin typeface="Calibri" panose="020F0502020204030204" pitchFamily="34" charset="0"/>
                <a:ea typeface="Calibri" panose="020F0502020204030204" pitchFamily="34" charset="0"/>
                <a:cs typeface="Calibri" panose="020F0502020204030204" pitchFamily="34" charset="0"/>
              </a:rPr>
              <a:t> </a:t>
            </a:r>
            <a:r>
              <a:rPr sz="2800" spc="-10" dirty="0">
                <a:latin typeface="Calibri" panose="020F0502020204030204" pitchFamily="34" charset="0"/>
                <a:ea typeface="Calibri" panose="020F0502020204030204" pitchFamily="34" charset="0"/>
                <a:cs typeface="Calibri" panose="020F0502020204030204" pitchFamily="34" charset="0"/>
              </a:rPr>
              <a:t>skills</a:t>
            </a:r>
            <a:endParaRPr lang="en-NZ" sz="2800" spc="-10" dirty="0">
              <a:latin typeface="Calibri" panose="020F0502020204030204" pitchFamily="34" charset="0"/>
              <a:ea typeface="Calibri" panose="020F0502020204030204" pitchFamily="34" charset="0"/>
              <a:cs typeface="Calibri" panose="020F0502020204030204" pitchFamily="34" charset="0"/>
            </a:endParaRPr>
          </a:p>
          <a:p>
            <a:pPr marL="240665" indent="-227965">
              <a:lnSpc>
                <a:spcPct val="100000"/>
              </a:lnSpc>
              <a:spcBef>
                <a:spcPts val="675"/>
              </a:spcBef>
              <a:buClr>
                <a:srgbClr val="F5821F"/>
              </a:buClr>
              <a:buFont typeface="Arial"/>
              <a:buChar char="•"/>
              <a:tabLst>
                <a:tab pos="240665" algn="l"/>
              </a:tabLst>
            </a:pPr>
            <a:r>
              <a:rPr lang="en-NZ" sz="2800" spc="-10" dirty="0">
                <a:latin typeface="Calibri" panose="020F0502020204030204" pitchFamily="34" charset="0"/>
                <a:ea typeface="Calibri" panose="020F0502020204030204" pitchFamily="34" charset="0"/>
                <a:cs typeface="Calibri" panose="020F0502020204030204" pitchFamily="34" charset="0"/>
              </a:rPr>
              <a:t>For the Technical Skills required of a PM see Thorpe and </a:t>
            </a:r>
            <a:r>
              <a:rPr lang="en-NZ" sz="2800" dirty="0">
                <a:latin typeface="Calibri" panose="020F0502020204030204" pitchFamily="34" charset="0"/>
                <a:ea typeface="Calibri" panose="020F0502020204030204" pitchFamily="34" charset="0"/>
                <a:cs typeface="Calibri" panose="020F0502020204030204" pitchFamily="34" charset="0"/>
              </a:rPr>
              <a:t>Krstić (2006) </a:t>
            </a:r>
            <a:r>
              <a:rPr lang="en-NZ" sz="2800" i="1" dirty="0">
                <a:latin typeface="Calibri" panose="020F0502020204030204" pitchFamily="34" charset="0"/>
                <a:ea typeface="Calibri" panose="020F0502020204030204" pitchFamily="34" charset="0"/>
                <a:cs typeface="Calibri" panose="020F0502020204030204" pitchFamily="34" charset="0"/>
                <a:hlinkClick r:id="rId2"/>
              </a:rPr>
              <a:t>Beyond the Generalist: The Overlooked Importance of Technical Expertise in IT Project Management</a:t>
            </a:r>
            <a:endParaRPr sz="2800" i="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8374" y="169621"/>
            <a:ext cx="10264012" cy="950259"/>
          </a:xfrm>
          <a:prstGeom prst="rect">
            <a:avLst/>
          </a:prstGeom>
        </p:spPr>
        <p:txBody>
          <a:bodyPr vert="horz" wrap="square" lIns="0" tIns="453389" rIns="0" bIns="0" rtlCol="0">
            <a:spAutoFit/>
          </a:bodyPr>
          <a:lstStyle/>
          <a:p>
            <a:pPr marL="83185">
              <a:lnSpc>
                <a:spcPct val="100000"/>
              </a:lnSpc>
              <a:spcBef>
                <a:spcPts val="105"/>
              </a:spcBef>
            </a:pPr>
            <a:r>
              <a:rPr sz="3200" dirty="0"/>
              <a:t>Importance</a:t>
            </a:r>
            <a:r>
              <a:rPr sz="3200" spc="-80" dirty="0"/>
              <a:t> </a:t>
            </a:r>
            <a:r>
              <a:rPr sz="3200" dirty="0"/>
              <a:t>of</a:t>
            </a:r>
            <a:r>
              <a:rPr sz="3200" spc="-60" dirty="0"/>
              <a:t> </a:t>
            </a:r>
            <a:r>
              <a:rPr sz="3200" dirty="0"/>
              <a:t>Leadership</a:t>
            </a:r>
            <a:r>
              <a:rPr sz="3200" spc="-85" dirty="0"/>
              <a:t> </a:t>
            </a:r>
            <a:r>
              <a:rPr sz="3200" spc="-10" dirty="0"/>
              <a:t>Skills</a:t>
            </a:r>
          </a:p>
        </p:txBody>
      </p:sp>
      <p:sp>
        <p:nvSpPr>
          <p:cNvPr id="3" name="object 3"/>
          <p:cNvSpPr txBox="1"/>
          <p:nvPr/>
        </p:nvSpPr>
        <p:spPr>
          <a:xfrm>
            <a:off x="1539366" y="1618993"/>
            <a:ext cx="10246360" cy="2898229"/>
          </a:xfrm>
          <a:prstGeom prst="rect">
            <a:avLst/>
          </a:prstGeom>
        </p:spPr>
        <p:txBody>
          <a:bodyPr vert="horz" wrap="square" lIns="0" tIns="205740" rIns="0" bIns="0" rtlCol="0">
            <a:spAutoFit/>
          </a:bodyPr>
          <a:lstStyle/>
          <a:p>
            <a:pPr marL="240665" indent="-227965">
              <a:lnSpc>
                <a:spcPct val="100000"/>
              </a:lnSpc>
              <a:spcBef>
                <a:spcPts val="1620"/>
              </a:spcBef>
              <a:buClr>
                <a:srgbClr val="F5821F"/>
              </a:buClr>
              <a:buFont typeface="Arial"/>
              <a:buChar char="•"/>
              <a:tabLst>
                <a:tab pos="240665" algn="l"/>
              </a:tabLst>
            </a:pPr>
            <a:r>
              <a:rPr sz="2800" spc="-30" dirty="0">
                <a:latin typeface="Calibri"/>
                <a:cs typeface="Calibri"/>
              </a:rPr>
              <a:t>Effective</a:t>
            </a:r>
            <a:r>
              <a:rPr sz="2800" spc="-135" dirty="0">
                <a:latin typeface="Calibri"/>
                <a:cs typeface="Calibri"/>
              </a:rPr>
              <a:t> </a:t>
            </a:r>
            <a:r>
              <a:rPr sz="2800" dirty="0">
                <a:latin typeface="Calibri"/>
                <a:cs typeface="Calibri"/>
              </a:rPr>
              <a:t>project</a:t>
            </a:r>
            <a:r>
              <a:rPr sz="2800" spc="-80" dirty="0">
                <a:latin typeface="Calibri"/>
                <a:cs typeface="Calibri"/>
              </a:rPr>
              <a:t> </a:t>
            </a:r>
            <a:r>
              <a:rPr sz="2800" spc="-10" dirty="0">
                <a:latin typeface="Calibri"/>
                <a:cs typeface="Calibri"/>
              </a:rPr>
              <a:t>manage</a:t>
            </a:r>
            <a:r>
              <a:rPr lang="en-NZ" sz="2800" spc="-10" dirty="0" err="1">
                <a:latin typeface="Calibri"/>
                <a:cs typeface="Calibri"/>
              </a:rPr>
              <a:t>ment</a:t>
            </a:r>
            <a:r>
              <a:rPr sz="2800" spc="-105" dirty="0">
                <a:latin typeface="Calibri"/>
                <a:cs typeface="Calibri"/>
              </a:rPr>
              <a:t> </a:t>
            </a:r>
            <a:r>
              <a:rPr sz="2800" dirty="0">
                <a:latin typeface="Calibri"/>
                <a:cs typeface="Calibri"/>
              </a:rPr>
              <a:t>provide</a:t>
            </a:r>
            <a:r>
              <a:rPr sz="2800" spc="-90" dirty="0">
                <a:latin typeface="Calibri"/>
                <a:cs typeface="Calibri"/>
              </a:rPr>
              <a:t> </a:t>
            </a:r>
            <a:r>
              <a:rPr sz="2800" spc="-10" dirty="0">
                <a:latin typeface="Calibri"/>
                <a:cs typeface="Calibri"/>
              </a:rPr>
              <a:t>leadership</a:t>
            </a:r>
            <a:r>
              <a:rPr sz="2800" spc="-85" dirty="0">
                <a:latin typeface="Calibri"/>
                <a:cs typeface="Calibri"/>
              </a:rPr>
              <a:t> </a:t>
            </a:r>
            <a:r>
              <a:rPr sz="2800" dirty="0">
                <a:latin typeface="Calibri"/>
                <a:cs typeface="Calibri"/>
              </a:rPr>
              <a:t>by</a:t>
            </a:r>
            <a:r>
              <a:rPr sz="2800" spc="-100" dirty="0">
                <a:latin typeface="Calibri"/>
                <a:cs typeface="Calibri"/>
              </a:rPr>
              <a:t> </a:t>
            </a:r>
            <a:r>
              <a:rPr sz="2800" spc="-10" dirty="0">
                <a:latin typeface="Calibri"/>
                <a:cs typeface="Calibri"/>
              </a:rPr>
              <a:t>example</a:t>
            </a:r>
            <a:endParaRPr sz="2800" dirty="0">
              <a:latin typeface="Calibri"/>
              <a:cs typeface="Calibri"/>
            </a:endParaRPr>
          </a:p>
          <a:p>
            <a:pPr marL="241300" marR="142875" indent="-228600">
              <a:lnSpc>
                <a:spcPts val="3020"/>
              </a:lnSpc>
              <a:spcBef>
                <a:spcPts val="1895"/>
              </a:spcBef>
              <a:buClr>
                <a:srgbClr val="F5821F"/>
              </a:buClr>
              <a:buFont typeface="Arial"/>
              <a:buChar char="•"/>
              <a:tabLst>
                <a:tab pos="241300" algn="l"/>
              </a:tabLst>
            </a:pPr>
            <a:r>
              <a:rPr sz="2800" dirty="0">
                <a:latin typeface="Calibri"/>
                <a:cs typeface="Calibri"/>
              </a:rPr>
              <a:t>A</a:t>
            </a:r>
            <a:r>
              <a:rPr sz="2800" spc="-70" dirty="0">
                <a:latin typeface="Calibri"/>
                <a:cs typeface="Calibri"/>
              </a:rPr>
              <a:t> </a:t>
            </a:r>
            <a:r>
              <a:rPr sz="2800" b="1" dirty="0">
                <a:latin typeface="Calibri"/>
                <a:cs typeface="Calibri"/>
              </a:rPr>
              <a:t>leader</a:t>
            </a:r>
            <a:r>
              <a:rPr sz="2800" b="1" spc="-65" dirty="0">
                <a:latin typeface="Calibri"/>
                <a:cs typeface="Calibri"/>
              </a:rPr>
              <a:t> </a:t>
            </a:r>
            <a:r>
              <a:rPr sz="2800" dirty="0">
                <a:latin typeface="Calibri"/>
                <a:cs typeface="Calibri"/>
              </a:rPr>
              <a:t>focuses</a:t>
            </a:r>
            <a:r>
              <a:rPr sz="2800" spc="-65" dirty="0">
                <a:latin typeface="Calibri"/>
                <a:cs typeface="Calibri"/>
              </a:rPr>
              <a:t> </a:t>
            </a:r>
            <a:r>
              <a:rPr sz="2800" dirty="0">
                <a:latin typeface="Calibri"/>
                <a:cs typeface="Calibri"/>
              </a:rPr>
              <a:t>on</a:t>
            </a:r>
            <a:r>
              <a:rPr sz="2800" spc="-65" dirty="0">
                <a:latin typeface="Calibri"/>
                <a:cs typeface="Calibri"/>
              </a:rPr>
              <a:t> </a:t>
            </a:r>
            <a:r>
              <a:rPr sz="2800" u="sng" spc="-25" dirty="0">
                <a:uFill>
                  <a:solidFill>
                    <a:srgbClr val="000000"/>
                  </a:solidFill>
                </a:uFill>
                <a:latin typeface="Calibri"/>
                <a:cs typeface="Calibri"/>
              </a:rPr>
              <a:t>long-</a:t>
            </a:r>
            <a:r>
              <a:rPr sz="2800" u="sng" dirty="0">
                <a:uFill>
                  <a:solidFill>
                    <a:srgbClr val="000000"/>
                  </a:solidFill>
                </a:uFill>
                <a:latin typeface="Calibri"/>
                <a:cs typeface="Calibri"/>
              </a:rPr>
              <a:t>term</a:t>
            </a:r>
            <a:r>
              <a:rPr sz="2800" u="sng" spc="-75" dirty="0">
                <a:uFill>
                  <a:solidFill>
                    <a:srgbClr val="000000"/>
                  </a:solidFill>
                </a:uFill>
                <a:latin typeface="Calibri"/>
                <a:cs typeface="Calibri"/>
              </a:rPr>
              <a:t> </a:t>
            </a:r>
            <a:r>
              <a:rPr sz="2800" u="sng" dirty="0">
                <a:uFill>
                  <a:solidFill>
                    <a:srgbClr val="000000"/>
                  </a:solidFill>
                </a:uFill>
                <a:latin typeface="Calibri"/>
                <a:cs typeface="Calibri"/>
              </a:rPr>
              <a:t>goals</a:t>
            </a:r>
            <a:r>
              <a:rPr sz="2800" spc="-80" dirty="0">
                <a:latin typeface="Calibri"/>
                <a:cs typeface="Calibri"/>
              </a:rPr>
              <a:t> </a:t>
            </a:r>
            <a:r>
              <a:rPr sz="2800" dirty="0">
                <a:latin typeface="Calibri"/>
                <a:cs typeface="Calibri"/>
              </a:rPr>
              <a:t>and</a:t>
            </a:r>
            <a:r>
              <a:rPr sz="2800" spc="-65" dirty="0">
                <a:latin typeface="Calibri"/>
                <a:cs typeface="Calibri"/>
              </a:rPr>
              <a:t> </a:t>
            </a:r>
            <a:r>
              <a:rPr sz="2800" spc="-20" dirty="0">
                <a:latin typeface="Calibri"/>
                <a:cs typeface="Calibri"/>
              </a:rPr>
              <a:t>big-</a:t>
            </a:r>
            <a:r>
              <a:rPr sz="2800" dirty="0">
                <a:latin typeface="Calibri"/>
                <a:cs typeface="Calibri"/>
              </a:rPr>
              <a:t>picture</a:t>
            </a:r>
            <a:r>
              <a:rPr sz="2800" spc="-50" dirty="0">
                <a:latin typeface="Calibri"/>
                <a:cs typeface="Calibri"/>
              </a:rPr>
              <a:t> </a:t>
            </a:r>
            <a:r>
              <a:rPr sz="2800" dirty="0">
                <a:latin typeface="Calibri"/>
                <a:cs typeface="Calibri"/>
              </a:rPr>
              <a:t>objectives</a:t>
            </a:r>
            <a:r>
              <a:rPr sz="2800" spc="-75" dirty="0">
                <a:latin typeface="Calibri"/>
                <a:cs typeface="Calibri"/>
              </a:rPr>
              <a:t> </a:t>
            </a:r>
            <a:r>
              <a:rPr sz="2800" spc="-10" dirty="0">
                <a:latin typeface="Calibri"/>
                <a:cs typeface="Calibri"/>
              </a:rPr>
              <a:t>while </a:t>
            </a:r>
            <a:r>
              <a:rPr sz="2800" dirty="0">
                <a:latin typeface="Calibri"/>
                <a:cs typeface="Calibri"/>
              </a:rPr>
              <a:t>inspiring</a:t>
            </a:r>
            <a:r>
              <a:rPr sz="2800" spc="-50" dirty="0">
                <a:latin typeface="Calibri"/>
                <a:cs typeface="Calibri"/>
              </a:rPr>
              <a:t> </a:t>
            </a:r>
            <a:r>
              <a:rPr sz="2800" dirty="0">
                <a:latin typeface="Calibri"/>
                <a:cs typeface="Calibri"/>
              </a:rPr>
              <a:t>people</a:t>
            </a:r>
            <a:r>
              <a:rPr sz="2800" spc="-75" dirty="0">
                <a:latin typeface="Calibri"/>
                <a:cs typeface="Calibri"/>
              </a:rPr>
              <a:t> </a:t>
            </a:r>
            <a:r>
              <a:rPr sz="2800" dirty="0">
                <a:latin typeface="Calibri"/>
                <a:cs typeface="Calibri"/>
              </a:rPr>
              <a:t>to</a:t>
            </a:r>
            <a:r>
              <a:rPr sz="2800" spc="-90" dirty="0">
                <a:latin typeface="Calibri"/>
                <a:cs typeface="Calibri"/>
              </a:rPr>
              <a:t> </a:t>
            </a:r>
            <a:r>
              <a:rPr sz="2800" dirty="0">
                <a:latin typeface="Calibri"/>
                <a:cs typeface="Calibri"/>
              </a:rPr>
              <a:t>reach</a:t>
            </a:r>
            <a:r>
              <a:rPr sz="2800" spc="-90" dirty="0">
                <a:latin typeface="Calibri"/>
                <a:cs typeface="Calibri"/>
              </a:rPr>
              <a:t> </a:t>
            </a:r>
            <a:r>
              <a:rPr sz="2800" dirty="0">
                <a:latin typeface="Calibri"/>
                <a:cs typeface="Calibri"/>
              </a:rPr>
              <a:t>those</a:t>
            </a:r>
            <a:r>
              <a:rPr sz="2800" spc="-75" dirty="0">
                <a:latin typeface="Calibri"/>
                <a:cs typeface="Calibri"/>
              </a:rPr>
              <a:t> </a:t>
            </a:r>
            <a:r>
              <a:rPr sz="2800" dirty="0">
                <a:latin typeface="Calibri"/>
                <a:cs typeface="Calibri"/>
              </a:rPr>
              <a:t>goals</a:t>
            </a:r>
            <a:r>
              <a:rPr sz="2800" spc="-90" dirty="0">
                <a:latin typeface="Calibri"/>
                <a:cs typeface="Calibri"/>
              </a:rPr>
              <a:t> </a:t>
            </a:r>
            <a:r>
              <a:rPr sz="2800" dirty="0">
                <a:latin typeface="Calibri"/>
                <a:cs typeface="Calibri"/>
              </a:rPr>
              <a:t>and</a:t>
            </a:r>
            <a:r>
              <a:rPr sz="2800" spc="-70" dirty="0">
                <a:latin typeface="Calibri"/>
                <a:cs typeface="Calibri"/>
              </a:rPr>
              <a:t> </a:t>
            </a:r>
            <a:r>
              <a:rPr sz="2800" spc="-10" dirty="0">
                <a:latin typeface="Calibri"/>
                <a:cs typeface="Calibri"/>
              </a:rPr>
              <a:t>removing</a:t>
            </a:r>
            <a:r>
              <a:rPr sz="2800" spc="-75" dirty="0">
                <a:latin typeface="Calibri"/>
                <a:cs typeface="Calibri"/>
              </a:rPr>
              <a:t> </a:t>
            </a:r>
            <a:r>
              <a:rPr sz="2800" spc="-10" dirty="0">
                <a:latin typeface="Calibri"/>
                <a:cs typeface="Calibri"/>
              </a:rPr>
              <a:t>obstacles</a:t>
            </a:r>
            <a:endParaRPr sz="2800" dirty="0">
              <a:latin typeface="Calibri"/>
              <a:cs typeface="Calibri"/>
            </a:endParaRPr>
          </a:p>
          <a:p>
            <a:pPr marL="240665" indent="-227965">
              <a:lnSpc>
                <a:spcPct val="100000"/>
              </a:lnSpc>
              <a:spcBef>
                <a:spcPts val="1475"/>
              </a:spcBef>
              <a:buClr>
                <a:srgbClr val="F5821F"/>
              </a:buClr>
              <a:buFont typeface="Arial"/>
              <a:buChar char="•"/>
              <a:tabLst>
                <a:tab pos="240665" algn="l"/>
              </a:tabLst>
            </a:pPr>
            <a:r>
              <a:rPr sz="2800" dirty="0">
                <a:latin typeface="Calibri"/>
                <a:cs typeface="Calibri"/>
              </a:rPr>
              <a:t>A</a:t>
            </a:r>
            <a:r>
              <a:rPr sz="2800" spc="-70" dirty="0">
                <a:latin typeface="Calibri"/>
                <a:cs typeface="Calibri"/>
              </a:rPr>
              <a:t> </a:t>
            </a:r>
            <a:r>
              <a:rPr sz="2800" b="1" dirty="0">
                <a:latin typeface="Calibri"/>
                <a:cs typeface="Calibri"/>
              </a:rPr>
              <a:t>manager</a:t>
            </a:r>
            <a:r>
              <a:rPr sz="2800" b="1" spc="-65" dirty="0">
                <a:latin typeface="Calibri"/>
                <a:cs typeface="Calibri"/>
              </a:rPr>
              <a:t> </a:t>
            </a:r>
            <a:r>
              <a:rPr sz="2800" dirty="0">
                <a:latin typeface="Calibri"/>
                <a:cs typeface="Calibri"/>
              </a:rPr>
              <a:t>deals</a:t>
            </a:r>
            <a:r>
              <a:rPr sz="2800" spc="-70" dirty="0">
                <a:latin typeface="Calibri"/>
                <a:cs typeface="Calibri"/>
              </a:rPr>
              <a:t> </a:t>
            </a:r>
            <a:r>
              <a:rPr sz="2800" dirty="0">
                <a:latin typeface="Calibri"/>
                <a:cs typeface="Calibri"/>
              </a:rPr>
              <a:t>with</a:t>
            </a:r>
            <a:r>
              <a:rPr sz="2800" spc="-80" dirty="0">
                <a:latin typeface="Calibri"/>
                <a:cs typeface="Calibri"/>
              </a:rPr>
              <a:t> </a:t>
            </a:r>
            <a:r>
              <a:rPr sz="2800" dirty="0">
                <a:latin typeface="Calibri"/>
                <a:cs typeface="Calibri"/>
              </a:rPr>
              <a:t>the</a:t>
            </a:r>
            <a:r>
              <a:rPr sz="2800" spc="-70" dirty="0">
                <a:latin typeface="Calibri"/>
                <a:cs typeface="Calibri"/>
              </a:rPr>
              <a:t> </a:t>
            </a:r>
            <a:r>
              <a:rPr sz="2800" u="sng" spc="-35" dirty="0">
                <a:uFill>
                  <a:solidFill>
                    <a:srgbClr val="000000"/>
                  </a:solidFill>
                </a:uFill>
                <a:latin typeface="Calibri"/>
                <a:cs typeface="Calibri"/>
              </a:rPr>
              <a:t>day-</a:t>
            </a:r>
            <a:r>
              <a:rPr sz="2800" u="sng" spc="-30" dirty="0">
                <a:uFill>
                  <a:solidFill>
                    <a:srgbClr val="000000"/>
                  </a:solidFill>
                </a:uFill>
                <a:latin typeface="Calibri"/>
                <a:cs typeface="Calibri"/>
              </a:rPr>
              <a:t>to-</a:t>
            </a:r>
            <a:r>
              <a:rPr sz="2800" u="sng" dirty="0">
                <a:uFill>
                  <a:solidFill>
                    <a:srgbClr val="000000"/>
                  </a:solidFill>
                </a:uFill>
                <a:latin typeface="Calibri"/>
                <a:cs typeface="Calibri"/>
              </a:rPr>
              <a:t>day</a:t>
            </a:r>
            <a:r>
              <a:rPr sz="2800" u="sng" spc="-70" dirty="0">
                <a:uFill>
                  <a:solidFill>
                    <a:srgbClr val="000000"/>
                  </a:solidFill>
                </a:uFill>
                <a:latin typeface="Calibri"/>
                <a:cs typeface="Calibri"/>
              </a:rPr>
              <a:t> </a:t>
            </a:r>
            <a:r>
              <a:rPr sz="2800" u="sng" dirty="0">
                <a:uFill>
                  <a:solidFill>
                    <a:srgbClr val="000000"/>
                  </a:solidFill>
                </a:uFill>
                <a:latin typeface="Calibri"/>
                <a:cs typeface="Calibri"/>
              </a:rPr>
              <a:t>details</a:t>
            </a:r>
            <a:r>
              <a:rPr sz="2800" spc="-70" dirty="0">
                <a:latin typeface="Calibri"/>
                <a:cs typeface="Calibri"/>
              </a:rPr>
              <a:t> </a:t>
            </a:r>
            <a:r>
              <a:rPr sz="2800" dirty="0">
                <a:latin typeface="Calibri"/>
                <a:cs typeface="Calibri"/>
              </a:rPr>
              <a:t>of</a:t>
            </a:r>
            <a:r>
              <a:rPr sz="2800" spc="-80" dirty="0">
                <a:latin typeface="Calibri"/>
                <a:cs typeface="Calibri"/>
              </a:rPr>
              <a:t> </a:t>
            </a:r>
            <a:r>
              <a:rPr sz="2800" dirty="0">
                <a:latin typeface="Calibri"/>
                <a:cs typeface="Calibri"/>
              </a:rPr>
              <a:t>meeting</a:t>
            </a:r>
            <a:r>
              <a:rPr sz="2800" spc="-80" dirty="0">
                <a:latin typeface="Calibri"/>
                <a:cs typeface="Calibri"/>
              </a:rPr>
              <a:t> </a:t>
            </a:r>
            <a:r>
              <a:rPr sz="2800" dirty="0">
                <a:latin typeface="Calibri"/>
                <a:cs typeface="Calibri"/>
              </a:rPr>
              <a:t>specific</a:t>
            </a:r>
            <a:r>
              <a:rPr sz="2800" spc="-60" dirty="0">
                <a:latin typeface="Calibri"/>
                <a:cs typeface="Calibri"/>
              </a:rPr>
              <a:t> </a:t>
            </a:r>
            <a:r>
              <a:rPr sz="2800" spc="-10" dirty="0">
                <a:latin typeface="Calibri"/>
                <a:cs typeface="Calibri"/>
              </a:rPr>
              <a:t>goals</a:t>
            </a:r>
            <a:endParaRPr sz="2800" dirty="0">
              <a:latin typeface="Calibri"/>
              <a:cs typeface="Calibri"/>
            </a:endParaRPr>
          </a:p>
          <a:p>
            <a:pPr marL="240665" indent="-227965">
              <a:lnSpc>
                <a:spcPct val="100000"/>
              </a:lnSpc>
              <a:spcBef>
                <a:spcPts val="1515"/>
              </a:spcBef>
              <a:buClr>
                <a:srgbClr val="F5821F"/>
              </a:buClr>
              <a:buFont typeface="Arial"/>
              <a:buChar char="•"/>
              <a:tabLst>
                <a:tab pos="240665" algn="l"/>
              </a:tabLst>
            </a:pPr>
            <a:r>
              <a:rPr sz="2800" dirty="0">
                <a:latin typeface="Calibri"/>
                <a:cs typeface="Calibri"/>
              </a:rPr>
              <a:t>Project</a:t>
            </a:r>
            <a:r>
              <a:rPr sz="2800" spc="-70" dirty="0">
                <a:latin typeface="Calibri"/>
                <a:cs typeface="Calibri"/>
              </a:rPr>
              <a:t> </a:t>
            </a:r>
            <a:r>
              <a:rPr lang="en-NZ" sz="2800" spc="-10" dirty="0">
                <a:latin typeface="Calibri"/>
                <a:cs typeface="Calibri"/>
              </a:rPr>
              <a:t>management </a:t>
            </a:r>
            <a:r>
              <a:rPr lang="en-NZ" sz="2800" dirty="0">
                <a:latin typeface="Calibri"/>
                <a:cs typeface="Calibri"/>
              </a:rPr>
              <a:t>requires both. To be a </a:t>
            </a:r>
            <a:r>
              <a:rPr sz="2800" dirty="0">
                <a:latin typeface="Calibri"/>
                <a:cs typeface="Calibri"/>
              </a:rPr>
              <a:t>leader</a:t>
            </a:r>
            <a:r>
              <a:rPr sz="2800" spc="-90" dirty="0">
                <a:latin typeface="Calibri"/>
                <a:cs typeface="Calibri"/>
              </a:rPr>
              <a:t> </a:t>
            </a:r>
            <a:r>
              <a:rPr sz="2800" dirty="0">
                <a:latin typeface="Calibri"/>
                <a:cs typeface="Calibri"/>
              </a:rPr>
              <a:t>and</a:t>
            </a:r>
            <a:r>
              <a:rPr sz="2800" spc="-70" dirty="0">
                <a:latin typeface="Calibri"/>
                <a:cs typeface="Calibri"/>
              </a:rPr>
              <a:t> </a:t>
            </a:r>
            <a:r>
              <a:rPr lang="en-NZ" sz="2800" spc="-70" dirty="0">
                <a:latin typeface="Calibri"/>
                <a:cs typeface="Calibri"/>
              </a:rPr>
              <a:t>a </a:t>
            </a:r>
            <a:r>
              <a:rPr sz="2800" spc="-10" dirty="0">
                <a:latin typeface="Calibri"/>
                <a:cs typeface="Calibri"/>
              </a:rPr>
              <a:t>manager</a:t>
            </a:r>
            <a:endParaRPr sz="2800" dirty="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8374" y="169621"/>
            <a:ext cx="10264012" cy="807259"/>
          </a:xfrm>
          <a:prstGeom prst="rect">
            <a:avLst/>
          </a:prstGeom>
        </p:spPr>
        <p:txBody>
          <a:bodyPr vert="horz" wrap="square" lIns="0" tIns="357047" rIns="0" bIns="0" rtlCol="0">
            <a:spAutoFit/>
          </a:bodyPr>
          <a:lstStyle/>
          <a:p>
            <a:pPr marL="83185" marR="5080">
              <a:lnSpc>
                <a:spcPts val="3779"/>
              </a:lnSpc>
              <a:spcBef>
                <a:spcPts val="580"/>
              </a:spcBef>
            </a:pPr>
            <a:r>
              <a:rPr sz="2400" spc="-30" dirty="0"/>
              <a:t>Table</a:t>
            </a:r>
            <a:r>
              <a:rPr sz="2400" spc="-90" dirty="0"/>
              <a:t> </a:t>
            </a:r>
            <a:r>
              <a:rPr sz="2400" dirty="0"/>
              <a:t>1.3</a:t>
            </a:r>
            <a:r>
              <a:rPr sz="2400" spc="-50" dirty="0"/>
              <a:t> </a:t>
            </a:r>
            <a:r>
              <a:rPr sz="2400" spc="-60" dirty="0"/>
              <a:t>Ten</a:t>
            </a:r>
            <a:r>
              <a:rPr sz="2400" spc="-70" dirty="0"/>
              <a:t> </a:t>
            </a:r>
            <a:r>
              <a:rPr sz="2400" dirty="0"/>
              <a:t>Most</a:t>
            </a:r>
            <a:r>
              <a:rPr sz="2400" spc="-50" dirty="0"/>
              <a:t> </a:t>
            </a:r>
            <a:r>
              <a:rPr sz="2400" dirty="0"/>
              <a:t>Important</a:t>
            </a:r>
            <a:r>
              <a:rPr sz="2400" spc="-80" dirty="0"/>
              <a:t> </a:t>
            </a:r>
            <a:r>
              <a:rPr sz="2400" dirty="0"/>
              <a:t>Skills</a:t>
            </a:r>
            <a:r>
              <a:rPr sz="2400" spc="-65" dirty="0"/>
              <a:t> </a:t>
            </a:r>
            <a:r>
              <a:rPr sz="2400" dirty="0"/>
              <a:t>and</a:t>
            </a:r>
            <a:r>
              <a:rPr sz="2400" spc="-70" dirty="0"/>
              <a:t> </a:t>
            </a:r>
            <a:r>
              <a:rPr sz="2400" spc="-10" dirty="0"/>
              <a:t>Competencies </a:t>
            </a:r>
            <a:r>
              <a:rPr sz="2400" dirty="0"/>
              <a:t>for</a:t>
            </a:r>
            <a:r>
              <a:rPr sz="2400" spc="-75" dirty="0"/>
              <a:t> </a:t>
            </a:r>
            <a:r>
              <a:rPr lang="en-NZ" sz="2400" spc="-75" dirty="0"/>
              <a:t>PM </a:t>
            </a:r>
            <a:endParaRPr sz="2400" dirty="0"/>
          </a:p>
        </p:txBody>
      </p:sp>
      <p:sp>
        <p:nvSpPr>
          <p:cNvPr id="3" name="object 3"/>
          <p:cNvSpPr txBox="1"/>
          <p:nvPr/>
        </p:nvSpPr>
        <p:spPr>
          <a:xfrm>
            <a:off x="1468374" y="1143000"/>
            <a:ext cx="8976234" cy="4732706"/>
          </a:xfrm>
          <a:prstGeom prst="rect">
            <a:avLst/>
          </a:prstGeom>
        </p:spPr>
        <p:txBody>
          <a:bodyPr vert="horz" wrap="square" lIns="0" tIns="13335" rIns="0" bIns="0" rtlCol="0">
            <a:spAutoFit/>
          </a:bodyPr>
          <a:lstStyle/>
          <a:p>
            <a:pPr marL="337185" indent="-324485">
              <a:lnSpc>
                <a:spcPct val="100000"/>
              </a:lnSpc>
              <a:spcBef>
                <a:spcPts val="105"/>
              </a:spcBef>
              <a:buAutoNum type="arabicPeriod"/>
              <a:tabLst>
                <a:tab pos="337185" algn="l"/>
              </a:tabLst>
            </a:pPr>
            <a:r>
              <a:rPr sz="2000" b="1" dirty="0">
                <a:latin typeface="+mj-lt"/>
                <a:cs typeface="Calibri"/>
              </a:rPr>
              <a:t>People</a:t>
            </a:r>
            <a:r>
              <a:rPr sz="2000" b="1" spc="-90" dirty="0">
                <a:latin typeface="+mj-lt"/>
                <a:cs typeface="Calibri"/>
              </a:rPr>
              <a:t> </a:t>
            </a:r>
            <a:r>
              <a:rPr sz="2000" b="1" spc="-10" dirty="0">
                <a:latin typeface="+mj-lt"/>
                <a:cs typeface="Calibri"/>
              </a:rPr>
              <a:t>skills</a:t>
            </a:r>
            <a:r>
              <a:rPr lang="en-NZ" sz="2000" b="1" spc="-10" dirty="0">
                <a:latin typeface="+mj-lt"/>
                <a:cs typeface="Calibri"/>
              </a:rPr>
              <a:t>: </a:t>
            </a:r>
            <a:r>
              <a:rPr lang="en-US" sz="2000" dirty="0">
                <a:latin typeface="+mj-lt"/>
              </a:rPr>
              <a:t>Work effectively with different personalities to get results through others. </a:t>
            </a:r>
            <a:r>
              <a:rPr sz="2000" spc="-10" dirty="0">
                <a:latin typeface="+mj-lt"/>
                <a:cs typeface="Calibri"/>
              </a:rPr>
              <a:t>Leadership</a:t>
            </a:r>
            <a:endParaRPr sz="2000" dirty="0">
              <a:latin typeface="+mj-lt"/>
              <a:cs typeface="Calibri"/>
            </a:endParaRPr>
          </a:p>
          <a:p>
            <a:pPr marL="337820" indent="-325120">
              <a:lnSpc>
                <a:spcPct val="100000"/>
              </a:lnSpc>
              <a:spcBef>
                <a:spcPts val="60"/>
              </a:spcBef>
              <a:buFont typeface="Calibri"/>
              <a:buAutoNum type="arabicPeriod"/>
              <a:tabLst>
                <a:tab pos="337820" algn="l"/>
              </a:tabLst>
            </a:pPr>
            <a:r>
              <a:rPr sz="2000" b="1" spc="-10" dirty="0">
                <a:latin typeface="+mj-lt"/>
                <a:cs typeface="Calibri"/>
              </a:rPr>
              <a:t>Listening</a:t>
            </a:r>
            <a:r>
              <a:rPr lang="en-NZ" sz="2000" b="1" spc="-10" dirty="0">
                <a:latin typeface="+mj-lt"/>
                <a:cs typeface="Calibri"/>
              </a:rPr>
              <a:t>: </a:t>
            </a:r>
            <a:r>
              <a:rPr lang="en-US" sz="2000" dirty="0">
                <a:latin typeface="+mj-lt"/>
              </a:rPr>
              <a:t>Set direction, motivate the team, and make timely decisions.</a:t>
            </a:r>
            <a:endParaRPr sz="2000" dirty="0">
              <a:latin typeface="+mj-lt"/>
              <a:cs typeface="Calibri"/>
            </a:endParaRPr>
          </a:p>
          <a:p>
            <a:pPr marL="337185" indent="-324485">
              <a:lnSpc>
                <a:spcPct val="100000"/>
              </a:lnSpc>
              <a:spcBef>
                <a:spcPts val="70"/>
              </a:spcBef>
              <a:buAutoNum type="arabicPeriod"/>
              <a:tabLst>
                <a:tab pos="337185" algn="l"/>
              </a:tabLst>
            </a:pPr>
            <a:r>
              <a:rPr sz="2000" spc="-20" dirty="0">
                <a:latin typeface="+mj-lt"/>
                <a:cs typeface="Calibri"/>
              </a:rPr>
              <a:t>Integrity</a:t>
            </a:r>
            <a:r>
              <a:rPr lang="en-NZ" sz="2000" spc="-20" dirty="0">
                <a:latin typeface="+mj-lt"/>
                <a:cs typeface="Calibri"/>
              </a:rPr>
              <a:t> &amp;</a:t>
            </a:r>
            <a:r>
              <a:rPr sz="2000" spc="-100" dirty="0">
                <a:latin typeface="+mj-lt"/>
                <a:cs typeface="Calibri"/>
              </a:rPr>
              <a:t> </a:t>
            </a:r>
            <a:r>
              <a:rPr sz="2000" dirty="0">
                <a:latin typeface="+mj-lt"/>
                <a:cs typeface="Calibri"/>
              </a:rPr>
              <a:t>ethical</a:t>
            </a:r>
            <a:r>
              <a:rPr sz="2000" spc="-70" dirty="0">
                <a:latin typeface="+mj-lt"/>
                <a:cs typeface="Calibri"/>
              </a:rPr>
              <a:t> </a:t>
            </a:r>
            <a:r>
              <a:rPr lang="en-NZ" sz="2000" spc="-20" dirty="0">
                <a:latin typeface="+mj-lt"/>
                <a:cs typeface="Calibri"/>
              </a:rPr>
              <a:t>behaviour</a:t>
            </a:r>
            <a:r>
              <a:rPr lang="en-NZ" sz="2000" b="1" spc="-10" dirty="0">
                <a:latin typeface="+mj-lt"/>
                <a:cs typeface="Calibri"/>
              </a:rPr>
              <a:t>-PMI code of ethics: </a:t>
            </a:r>
            <a:r>
              <a:rPr lang="en-US" sz="2000" dirty="0">
                <a:latin typeface="+mj-lt"/>
              </a:rPr>
              <a:t>Do what’s right, consistently and transparently. </a:t>
            </a:r>
          </a:p>
          <a:p>
            <a:pPr marL="337185" indent="-324485">
              <a:lnSpc>
                <a:spcPct val="100000"/>
              </a:lnSpc>
              <a:spcBef>
                <a:spcPts val="70"/>
              </a:spcBef>
              <a:buAutoNum type="arabicPeriod"/>
              <a:tabLst>
                <a:tab pos="337185" algn="l"/>
              </a:tabLst>
            </a:pPr>
            <a:r>
              <a:rPr lang="en-NZ" sz="2000" b="1" dirty="0">
                <a:latin typeface="+mj-lt"/>
                <a:cs typeface="Calibri"/>
              </a:rPr>
              <a:t>B</a:t>
            </a:r>
            <a:r>
              <a:rPr sz="2000" b="1" dirty="0" err="1">
                <a:latin typeface="+mj-lt"/>
                <a:cs typeface="Calibri"/>
              </a:rPr>
              <a:t>uilding</a:t>
            </a:r>
            <a:r>
              <a:rPr sz="2000" b="1" spc="-40" dirty="0">
                <a:latin typeface="+mj-lt"/>
                <a:cs typeface="Calibri"/>
              </a:rPr>
              <a:t> </a:t>
            </a:r>
            <a:r>
              <a:rPr sz="2000" b="1" spc="-10" dirty="0">
                <a:latin typeface="+mj-lt"/>
                <a:cs typeface="Calibri"/>
              </a:rPr>
              <a:t>trust</a:t>
            </a:r>
            <a:r>
              <a:rPr lang="en-NZ" sz="2000" b="1" spc="-10" dirty="0">
                <a:latin typeface="+mj-lt"/>
                <a:cs typeface="Calibri"/>
              </a:rPr>
              <a:t>: </a:t>
            </a:r>
            <a:r>
              <a:rPr lang="en-US" sz="2000" dirty="0">
                <a:latin typeface="+mj-lt"/>
              </a:rPr>
              <a:t>Create reliability through follow-through and honesty.</a:t>
            </a:r>
            <a:endParaRPr sz="2000" b="1" dirty="0">
              <a:latin typeface="+mj-lt"/>
              <a:cs typeface="Calibri"/>
            </a:endParaRPr>
          </a:p>
          <a:p>
            <a:pPr marL="337185" indent="-324485">
              <a:lnSpc>
                <a:spcPct val="100000"/>
              </a:lnSpc>
              <a:spcBef>
                <a:spcPts val="60"/>
              </a:spcBef>
              <a:buAutoNum type="arabicPeriod"/>
              <a:tabLst>
                <a:tab pos="337185" algn="l"/>
              </a:tabLst>
            </a:pPr>
            <a:r>
              <a:rPr sz="2000" b="1" dirty="0">
                <a:latin typeface="+mj-lt"/>
                <a:cs typeface="Calibri"/>
              </a:rPr>
              <a:t>Verbal</a:t>
            </a:r>
            <a:r>
              <a:rPr sz="2000" b="1" spc="-135" dirty="0">
                <a:latin typeface="+mj-lt"/>
                <a:cs typeface="Calibri"/>
              </a:rPr>
              <a:t> </a:t>
            </a:r>
            <a:r>
              <a:rPr sz="2000" b="1" spc="-10" dirty="0">
                <a:latin typeface="+mj-lt"/>
                <a:cs typeface="Calibri"/>
              </a:rPr>
              <a:t>communication</a:t>
            </a:r>
            <a:r>
              <a:rPr lang="en-NZ" sz="2000" b="1" spc="-10" dirty="0">
                <a:latin typeface="+mj-lt"/>
                <a:cs typeface="Calibri"/>
              </a:rPr>
              <a:t>: </a:t>
            </a:r>
            <a:r>
              <a:rPr lang="en-US" sz="2000" dirty="0">
                <a:latin typeface="+mj-lt"/>
              </a:rPr>
              <a:t>Communicate clearly, confidently, and to the right audience.</a:t>
            </a:r>
            <a:endParaRPr sz="2000" dirty="0">
              <a:latin typeface="+mj-lt"/>
              <a:cs typeface="Calibri"/>
            </a:endParaRPr>
          </a:p>
          <a:p>
            <a:pPr marL="337185" indent="-324485">
              <a:lnSpc>
                <a:spcPct val="100000"/>
              </a:lnSpc>
              <a:spcBef>
                <a:spcPts val="70"/>
              </a:spcBef>
              <a:buAutoNum type="arabicPeriod"/>
              <a:tabLst>
                <a:tab pos="337185" algn="l"/>
              </a:tabLst>
            </a:pPr>
            <a:r>
              <a:rPr sz="2000" dirty="0">
                <a:latin typeface="+mj-lt"/>
                <a:cs typeface="Calibri"/>
              </a:rPr>
              <a:t>Strong</a:t>
            </a:r>
            <a:r>
              <a:rPr sz="2000" spc="-55" dirty="0">
                <a:latin typeface="+mj-lt"/>
                <a:cs typeface="Calibri"/>
              </a:rPr>
              <a:t> </a:t>
            </a:r>
            <a:r>
              <a:rPr sz="2000" dirty="0">
                <a:latin typeface="+mj-lt"/>
                <a:cs typeface="Calibri"/>
              </a:rPr>
              <a:t>at</a:t>
            </a:r>
            <a:r>
              <a:rPr sz="2000" spc="-25" dirty="0">
                <a:latin typeface="+mj-lt"/>
                <a:cs typeface="Calibri"/>
              </a:rPr>
              <a:t> </a:t>
            </a:r>
            <a:r>
              <a:rPr sz="2000" b="1" dirty="0">
                <a:latin typeface="+mj-lt"/>
                <a:cs typeface="Calibri"/>
              </a:rPr>
              <a:t>building</a:t>
            </a:r>
            <a:r>
              <a:rPr sz="2000" b="1" spc="-5" dirty="0">
                <a:latin typeface="+mj-lt"/>
                <a:cs typeface="Calibri"/>
              </a:rPr>
              <a:t> </a:t>
            </a:r>
            <a:r>
              <a:rPr sz="2000" b="1" spc="-10" dirty="0">
                <a:latin typeface="+mj-lt"/>
                <a:cs typeface="Calibri"/>
              </a:rPr>
              <a:t>teams</a:t>
            </a:r>
            <a:r>
              <a:rPr lang="en-NZ" sz="2000" b="1" spc="-10" dirty="0">
                <a:latin typeface="+mj-lt"/>
                <a:cs typeface="Calibri"/>
              </a:rPr>
              <a:t>: </a:t>
            </a:r>
            <a:r>
              <a:rPr lang="en-US" sz="2000" dirty="0">
                <a:latin typeface="+mj-lt"/>
              </a:rPr>
              <a:t>Form and develop a team that performs well together.</a:t>
            </a:r>
            <a:endParaRPr sz="2000" dirty="0">
              <a:latin typeface="+mj-lt"/>
              <a:cs typeface="Calibri"/>
            </a:endParaRPr>
          </a:p>
          <a:p>
            <a:pPr marL="337185" indent="-324485">
              <a:lnSpc>
                <a:spcPct val="100000"/>
              </a:lnSpc>
              <a:spcBef>
                <a:spcPts val="60"/>
              </a:spcBef>
              <a:buAutoNum type="arabicPeriod"/>
              <a:tabLst>
                <a:tab pos="337185" algn="l"/>
              </a:tabLst>
            </a:pPr>
            <a:r>
              <a:rPr sz="2000" b="1" dirty="0">
                <a:latin typeface="+mj-lt"/>
                <a:cs typeface="Calibri"/>
              </a:rPr>
              <a:t>Conflict</a:t>
            </a:r>
            <a:r>
              <a:rPr sz="2000" b="1" spc="-65" dirty="0">
                <a:latin typeface="+mj-lt"/>
                <a:cs typeface="Calibri"/>
              </a:rPr>
              <a:t> </a:t>
            </a:r>
            <a:r>
              <a:rPr sz="2000" b="1" dirty="0">
                <a:latin typeface="+mj-lt"/>
                <a:cs typeface="Calibri"/>
              </a:rPr>
              <a:t>resolution,</a:t>
            </a:r>
            <a:r>
              <a:rPr sz="2000" b="1" spc="-50" dirty="0">
                <a:latin typeface="+mj-lt"/>
                <a:cs typeface="Calibri"/>
              </a:rPr>
              <a:t> </a:t>
            </a:r>
            <a:r>
              <a:rPr sz="2000" b="1" dirty="0">
                <a:latin typeface="+mj-lt"/>
                <a:cs typeface="Calibri"/>
              </a:rPr>
              <a:t>conflict</a:t>
            </a:r>
            <a:r>
              <a:rPr sz="2000" b="1" spc="-35" dirty="0">
                <a:latin typeface="+mj-lt"/>
                <a:cs typeface="Calibri"/>
              </a:rPr>
              <a:t> </a:t>
            </a:r>
            <a:r>
              <a:rPr sz="2000" b="1" spc="-10" dirty="0">
                <a:latin typeface="+mj-lt"/>
                <a:cs typeface="Calibri"/>
              </a:rPr>
              <a:t>management</a:t>
            </a:r>
            <a:r>
              <a:rPr lang="en-NZ" sz="2000" b="1" spc="-10" dirty="0">
                <a:latin typeface="+mj-lt"/>
                <a:cs typeface="Calibri"/>
              </a:rPr>
              <a:t>: </a:t>
            </a:r>
            <a:r>
              <a:rPr lang="en-US" sz="2000" dirty="0">
                <a:latin typeface="+mj-lt"/>
              </a:rPr>
              <a:t>Address tension early and turn it into constructive outcomes.</a:t>
            </a:r>
            <a:endParaRPr sz="2000" dirty="0">
              <a:latin typeface="+mj-lt"/>
              <a:cs typeface="Calibri"/>
            </a:endParaRPr>
          </a:p>
          <a:p>
            <a:pPr marL="337185" indent="-324485">
              <a:lnSpc>
                <a:spcPct val="100000"/>
              </a:lnSpc>
              <a:spcBef>
                <a:spcPts val="65"/>
              </a:spcBef>
              <a:buAutoNum type="arabicPeriod"/>
              <a:tabLst>
                <a:tab pos="337185" algn="l"/>
              </a:tabLst>
            </a:pPr>
            <a:r>
              <a:rPr sz="2000" b="1" dirty="0">
                <a:latin typeface="+mj-lt"/>
                <a:cs typeface="Calibri"/>
              </a:rPr>
              <a:t>Critical</a:t>
            </a:r>
            <a:r>
              <a:rPr sz="2000" b="1" spc="-20" dirty="0">
                <a:latin typeface="+mj-lt"/>
                <a:cs typeface="Calibri"/>
              </a:rPr>
              <a:t> </a:t>
            </a:r>
            <a:r>
              <a:rPr sz="2000" b="1" dirty="0">
                <a:latin typeface="+mj-lt"/>
                <a:cs typeface="Calibri"/>
              </a:rPr>
              <a:t>thinking,</a:t>
            </a:r>
            <a:r>
              <a:rPr sz="2000" b="1" spc="-25" dirty="0">
                <a:latin typeface="+mj-lt"/>
                <a:cs typeface="Calibri"/>
              </a:rPr>
              <a:t> </a:t>
            </a:r>
            <a:r>
              <a:rPr lang="en-NZ" sz="2000" b="1" dirty="0">
                <a:latin typeface="+mj-lt"/>
                <a:cs typeface="Calibri"/>
              </a:rPr>
              <a:t>problem-solving: </a:t>
            </a:r>
            <a:r>
              <a:rPr lang="en-US" sz="2000" dirty="0">
                <a:latin typeface="+mj-lt"/>
              </a:rPr>
              <a:t>Analyse issues logically and choose practical solutions.</a:t>
            </a:r>
            <a:endParaRPr lang="en-US" sz="2000" dirty="0">
              <a:latin typeface="+mj-lt"/>
              <a:cs typeface="Calibri"/>
            </a:endParaRPr>
          </a:p>
          <a:p>
            <a:pPr marL="337185" indent="-324485">
              <a:lnSpc>
                <a:spcPct val="100000"/>
              </a:lnSpc>
              <a:spcBef>
                <a:spcPts val="65"/>
              </a:spcBef>
              <a:buAutoNum type="arabicPeriod"/>
              <a:tabLst>
                <a:tab pos="337185" algn="l"/>
              </a:tabLst>
            </a:pPr>
            <a:r>
              <a:rPr lang="en-NZ" sz="2000" b="1" spc="-10" dirty="0">
                <a:latin typeface="+mj-lt"/>
                <a:cs typeface="Calibri"/>
              </a:rPr>
              <a:t>Understand</a:t>
            </a:r>
            <a:r>
              <a:rPr sz="2000" b="1" spc="-65" dirty="0">
                <a:latin typeface="+mj-lt"/>
                <a:cs typeface="Calibri"/>
              </a:rPr>
              <a:t> </a:t>
            </a:r>
            <a:r>
              <a:rPr sz="2000" b="1" dirty="0">
                <a:latin typeface="+mj-lt"/>
                <a:cs typeface="Calibri"/>
              </a:rPr>
              <a:t>and</a:t>
            </a:r>
            <a:r>
              <a:rPr sz="2000" b="1" spc="-35" dirty="0">
                <a:latin typeface="+mj-lt"/>
                <a:cs typeface="Calibri"/>
              </a:rPr>
              <a:t> </a:t>
            </a:r>
            <a:r>
              <a:rPr lang="en-NZ" sz="2000" b="1" dirty="0">
                <a:latin typeface="+mj-lt"/>
                <a:cs typeface="Calibri"/>
              </a:rPr>
              <a:t>balance</a:t>
            </a:r>
            <a:r>
              <a:rPr sz="2000" b="1" spc="-40" dirty="0">
                <a:latin typeface="+mj-lt"/>
                <a:cs typeface="Calibri"/>
              </a:rPr>
              <a:t> </a:t>
            </a:r>
            <a:r>
              <a:rPr sz="2000" b="1" spc="-10" dirty="0">
                <a:latin typeface="+mj-lt"/>
                <a:cs typeface="Calibri"/>
              </a:rPr>
              <a:t>priorities</a:t>
            </a:r>
            <a:r>
              <a:rPr lang="en-NZ" sz="2000" b="1" spc="-10" dirty="0">
                <a:latin typeface="+mj-lt"/>
                <a:cs typeface="Calibri"/>
              </a:rPr>
              <a:t>:</a:t>
            </a:r>
            <a:r>
              <a:rPr lang="en-US" sz="2000" b="1" dirty="0">
                <a:latin typeface="+mj-lt"/>
              </a:rPr>
              <a:t> </a:t>
            </a:r>
            <a:r>
              <a:rPr lang="en-US" sz="2000" dirty="0">
                <a:latin typeface="+mj-lt"/>
              </a:rPr>
              <a:t>Manage trade-offs across scope, time, cost, risk, and value</a:t>
            </a:r>
            <a:r>
              <a:rPr lang="en-US" sz="2000" dirty="0"/>
              <a:t>.</a:t>
            </a:r>
            <a:endParaRPr sz="2000" dirty="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9335-E784-5FB7-31CF-7B517671CCA8}"/>
              </a:ext>
            </a:extLst>
          </p:cNvPr>
          <p:cNvSpPr>
            <a:spLocks noGrp="1"/>
          </p:cNvSpPr>
          <p:nvPr>
            <p:ph type="title"/>
          </p:nvPr>
        </p:nvSpPr>
        <p:spPr>
          <a:xfrm>
            <a:off x="1468374" y="169621"/>
            <a:ext cx="10264012" cy="677108"/>
          </a:xfrm>
        </p:spPr>
        <p:txBody>
          <a:bodyPr/>
          <a:lstStyle/>
          <a:p>
            <a:r>
              <a:rPr lang="en-NZ" dirty="0"/>
              <a:t>Skills for a PM on a Technical Project</a:t>
            </a:r>
          </a:p>
        </p:txBody>
      </p:sp>
      <p:sp>
        <p:nvSpPr>
          <p:cNvPr id="3" name="Text Placeholder 2">
            <a:extLst>
              <a:ext uri="{FF2B5EF4-FFF2-40B4-BE49-F238E27FC236}">
                <a16:creationId xmlns:a16="http://schemas.microsoft.com/office/drawing/2014/main" id="{EB5CF23B-71FA-BC7A-954F-BD8B47EC5BD5}"/>
              </a:ext>
            </a:extLst>
          </p:cNvPr>
          <p:cNvSpPr>
            <a:spLocks noGrp="1"/>
          </p:cNvSpPr>
          <p:nvPr>
            <p:ph type="body" idx="1"/>
          </p:nvPr>
        </p:nvSpPr>
        <p:spPr>
          <a:xfrm>
            <a:off x="1295400" y="6267699"/>
            <a:ext cx="10287635" cy="492443"/>
          </a:xfrm>
        </p:spPr>
        <p:txBody>
          <a:bodyPr/>
          <a:lstStyle/>
          <a:p>
            <a:r>
              <a:rPr lang="en-NZ" sz="1600" dirty="0"/>
              <a:t>Thorpe, S. J., &amp; Krstić, L. (2025). </a:t>
            </a:r>
            <a:r>
              <a:rPr lang="en-NZ" sz="1600" dirty="0">
                <a:hlinkClick r:id="rId2"/>
              </a:rPr>
              <a:t>Beyond the Generalist: The Overlooked Importance of Technical Expertise in IT Project Management</a:t>
            </a:r>
            <a:r>
              <a:rPr lang="en-NZ" sz="1600" dirty="0"/>
              <a:t>. </a:t>
            </a:r>
            <a:r>
              <a:rPr lang="en-NZ" sz="1600" i="1" dirty="0"/>
              <a:t>International Journal of Information Technology Project Management</a:t>
            </a:r>
            <a:r>
              <a:rPr lang="en-NZ" sz="1600" dirty="0"/>
              <a:t> (IJITPM), 16(1), 1-23.</a:t>
            </a:r>
          </a:p>
        </p:txBody>
      </p:sp>
      <p:pic>
        <p:nvPicPr>
          <p:cNvPr id="5" name="Picture 4">
            <a:extLst>
              <a:ext uri="{FF2B5EF4-FFF2-40B4-BE49-F238E27FC236}">
                <a16:creationId xmlns:a16="http://schemas.microsoft.com/office/drawing/2014/main" id="{500B2912-50E8-FB09-EE4F-880457FE08CE}"/>
              </a:ext>
            </a:extLst>
          </p:cNvPr>
          <p:cNvPicPr>
            <a:picLocks noChangeAspect="1"/>
          </p:cNvPicPr>
          <p:nvPr/>
        </p:nvPicPr>
        <p:blipFill>
          <a:blip r:embed="rId3"/>
          <a:stretch>
            <a:fillRect/>
          </a:stretch>
        </p:blipFill>
        <p:spPr>
          <a:xfrm>
            <a:off x="2047310" y="990600"/>
            <a:ext cx="8097380" cy="5239481"/>
          </a:xfrm>
          <a:prstGeom prst="rect">
            <a:avLst/>
          </a:prstGeom>
        </p:spPr>
      </p:pic>
    </p:spTree>
    <p:extLst>
      <p:ext uri="{BB962C8B-B14F-4D97-AF65-F5344CB8AC3E}">
        <p14:creationId xmlns:p14="http://schemas.microsoft.com/office/powerpoint/2010/main" val="910029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3389" rIns="0" bIns="0" rtlCol="0">
            <a:spAutoFit/>
          </a:bodyPr>
          <a:lstStyle/>
          <a:p>
            <a:pPr marL="82550">
              <a:lnSpc>
                <a:spcPct val="100000"/>
              </a:lnSpc>
              <a:spcBef>
                <a:spcPts val="105"/>
              </a:spcBef>
            </a:pPr>
            <a:r>
              <a:rPr dirty="0"/>
              <a:t>Project</a:t>
            </a:r>
            <a:r>
              <a:rPr spc="-120" dirty="0"/>
              <a:t> </a:t>
            </a:r>
            <a:r>
              <a:rPr dirty="0"/>
              <a:t>Management</a:t>
            </a:r>
            <a:r>
              <a:rPr spc="-114" dirty="0"/>
              <a:t> </a:t>
            </a:r>
            <a:r>
              <a:rPr spc="-10" dirty="0"/>
              <a:t>Institute</a:t>
            </a:r>
          </a:p>
        </p:txBody>
      </p:sp>
      <p:sp>
        <p:nvSpPr>
          <p:cNvPr id="3" name="object 3"/>
          <p:cNvSpPr txBox="1"/>
          <p:nvPr/>
        </p:nvSpPr>
        <p:spPr>
          <a:xfrm>
            <a:off x="1538477" y="1811273"/>
            <a:ext cx="10300335" cy="4032885"/>
          </a:xfrm>
          <a:prstGeom prst="rect">
            <a:avLst/>
          </a:prstGeom>
        </p:spPr>
        <p:txBody>
          <a:bodyPr vert="horz" wrap="square" lIns="0" tIns="60960" rIns="0" bIns="0" rtlCol="0">
            <a:spAutoFit/>
          </a:bodyPr>
          <a:lstStyle/>
          <a:p>
            <a:pPr marL="287020" marR="1508125" indent="-274320">
              <a:lnSpc>
                <a:spcPts val="3020"/>
              </a:lnSpc>
              <a:spcBef>
                <a:spcPts val="480"/>
              </a:spcBef>
              <a:buClr>
                <a:srgbClr val="F5821F"/>
              </a:buClr>
              <a:buFont typeface="Arial"/>
              <a:buChar char="•"/>
              <a:tabLst>
                <a:tab pos="287020" algn="l"/>
              </a:tabLst>
            </a:pPr>
            <a:r>
              <a:rPr sz="2800" dirty="0">
                <a:latin typeface="Calibri"/>
                <a:cs typeface="Calibri"/>
              </a:rPr>
              <a:t>The</a:t>
            </a:r>
            <a:r>
              <a:rPr sz="2800" spc="-75" dirty="0">
                <a:latin typeface="Calibri"/>
                <a:cs typeface="Calibri"/>
              </a:rPr>
              <a:t> </a:t>
            </a:r>
            <a:r>
              <a:rPr sz="2800" dirty="0">
                <a:latin typeface="Calibri"/>
                <a:cs typeface="Calibri"/>
              </a:rPr>
              <a:t>Project</a:t>
            </a:r>
            <a:r>
              <a:rPr sz="2800" spc="-55" dirty="0">
                <a:latin typeface="Calibri"/>
                <a:cs typeface="Calibri"/>
              </a:rPr>
              <a:t> </a:t>
            </a:r>
            <a:r>
              <a:rPr sz="2800" spc="-10" dirty="0">
                <a:latin typeface="Calibri"/>
                <a:cs typeface="Calibri"/>
              </a:rPr>
              <a:t>Management</a:t>
            </a:r>
            <a:r>
              <a:rPr sz="2800" spc="-65" dirty="0">
                <a:latin typeface="Calibri"/>
                <a:cs typeface="Calibri"/>
              </a:rPr>
              <a:t> </a:t>
            </a:r>
            <a:r>
              <a:rPr sz="2800" spc="-10" dirty="0">
                <a:latin typeface="Calibri"/>
                <a:cs typeface="Calibri"/>
              </a:rPr>
              <a:t>Institute</a:t>
            </a:r>
            <a:r>
              <a:rPr sz="2800" spc="-50" dirty="0">
                <a:latin typeface="Calibri"/>
                <a:cs typeface="Calibri"/>
              </a:rPr>
              <a:t> </a:t>
            </a:r>
            <a:r>
              <a:rPr sz="2800" dirty="0">
                <a:latin typeface="Calibri"/>
                <a:cs typeface="Calibri"/>
              </a:rPr>
              <a:t>(PMI)</a:t>
            </a:r>
            <a:r>
              <a:rPr sz="2800" spc="-70" dirty="0">
                <a:latin typeface="Calibri"/>
                <a:cs typeface="Calibri"/>
              </a:rPr>
              <a:t> </a:t>
            </a:r>
            <a:r>
              <a:rPr sz="2800" dirty="0">
                <a:latin typeface="Calibri"/>
                <a:cs typeface="Calibri"/>
              </a:rPr>
              <a:t>is</a:t>
            </a:r>
            <a:r>
              <a:rPr sz="2800" spc="-80" dirty="0">
                <a:latin typeface="Calibri"/>
                <a:cs typeface="Calibri"/>
              </a:rPr>
              <a:t> </a:t>
            </a:r>
            <a:r>
              <a:rPr sz="2800" dirty="0">
                <a:latin typeface="Calibri"/>
                <a:cs typeface="Calibri"/>
              </a:rPr>
              <a:t>an</a:t>
            </a:r>
            <a:r>
              <a:rPr sz="2800" spc="-65" dirty="0">
                <a:latin typeface="Calibri"/>
                <a:cs typeface="Calibri"/>
              </a:rPr>
              <a:t> </a:t>
            </a:r>
            <a:r>
              <a:rPr sz="2800" spc="-10" dirty="0">
                <a:latin typeface="Calibri"/>
                <a:cs typeface="Calibri"/>
              </a:rPr>
              <a:t>international </a:t>
            </a:r>
            <a:r>
              <a:rPr sz="2800" spc="-20" dirty="0">
                <a:latin typeface="Calibri"/>
                <a:cs typeface="Calibri"/>
              </a:rPr>
              <a:t>professional</a:t>
            </a:r>
            <a:r>
              <a:rPr sz="2800" spc="-75" dirty="0">
                <a:latin typeface="Calibri"/>
                <a:cs typeface="Calibri"/>
              </a:rPr>
              <a:t> </a:t>
            </a:r>
            <a:r>
              <a:rPr sz="2800" dirty="0">
                <a:latin typeface="Calibri"/>
                <a:cs typeface="Calibri"/>
              </a:rPr>
              <a:t>society</a:t>
            </a:r>
            <a:r>
              <a:rPr sz="2800" spc="-85" dirty="0">
                <a:latin typeface="Calibri"/>
                <a:cs typeface="Calibri"/>
              </a:rPr>
              <a:t> </a:t>
            </a:r>
            <a:r>
              <a:rPr sz="2800" dirty="0">
                <a:latin typeface="Calibri"/>
                <a:cs typeface="Calibri"/>
              </a:rPr>
              <a:t>for</a:t>
            </a:r>
            <a:r>
              <a:rPr sz="2800" spc="-90" dirty="0">
                <a:latin typeface="Calibri"/>
                <a:cs typeface="Calibri"/>
              </a:rPr>
              <a:t> </a:t>
            </a:r>
            <a:r>
              <a:rPr sz="2800" dirty="0">
                <a:latin typeface="Calibri"/>
                <a:cs typeface="Calibri"/>
              </a:rPr>
              <a:t>project</a:t>
            </a:r>
            <a:r>
              <a:rPr sz="2800" spc="-80" dirty="0">
                <a:latin typeface="Calibri"/>
                <a:cs typeface="Calibri"/>
              </a:rPr>
              <a:t> </a:t>
            </a:r>
            <a:r>
              <a:rPr sz="2800" spc="-10" dirty="0">
                <a:latin typeface="Calibri"/>
                <a:cs typeface="Calibri"/>
              </a:rPr>
              <a:t>managers</a:t>
            </a:r>
            <a:r>
              <a:rPr sz="2800" spc="-85" dirty="0">
                <a:latin typeface="Calibri"/>
                <a:cs typeface="Calibri"/>
              </a:rPr>
              <a:t> </a:t>
            </a:r>
            <a:r>
              <a:rPr sz="2800" spc="-10" dirty="0">
                <a:latin typeface="Calibri"/>
                <a:cs typeface="Calibri"/>
              </a:rPr>
              <a:t>founded</a:t>
            </a:r>
            <a:r>
              <a:rPr sz="2800" spc="-75" dirty="0">
                <a:latin typeface="Calibri"/>
                <a:cs typeface="Calibri"/>
              </a:rPr>
              <a:t> </a:t>
            </a:r>
            <a:r>
              <a:rPr sz="2800" dirty="0">
                <a:latin typeface="Calibri"/>
                <a:cs typeface="Calibri"/>
              </a:rPr>
              <a:t>in</a:t>
            </a:r>
            <a:r>
              <a:rPr sz="2800" spc="-95" dirty="0">
                <a:latin typeface="Calibri"/>
                <a:cs typeface="Calibri"/>
              </a:rPr>
              <a:t> </a:t>
            </a:r>
            <a:r>
              <a:rPr sz="2800" spc="-20" dirty="0">
                <a:latin typeface="Calibri"/>
                <a:cs typeface="Calibri"/>
              </a:rPr>
              <a:t>1969</a:t>
            </a:r>
            <a:endParaRPr sz="2800" dirty="0">
              <a:latin typeface="Calibri"/>
              <a:cs typeface="Calibri"/>
            </a:endParaRPr>
          </a:p>
          <a:p>
            <a:pPr marL="286385" indent="-273685">
              <a:lnSpc>
                <a:spcPct val="100000"/>
              </a:lnSpc>
              <a:spcBef>
                <a:spcPts val="225"/>
              </a:spcBef>
              <a:buClr>
                <a:srgbClr val="F5821F"/>
              </a:buClr>
              <a:buFont typeface="Arial"/>
              <a:buChar char="•"/>
              <a:tabLst>
                <a:tab pos="286385" algn="l"/>
              </a:tabLst>
            </a:pPr>
            <a:r>
              <a:rPr sz="2800" dirty="0">
                <a:latin typeface="Calibri"/>
                <a:cs typeface="Calibri"/>
              </a:rPr>
              <a:t>Over</a:t>
            </a:r>
            <a:r>
              <a:rPr sz="2800" spc="-105" dirty="0">
                <a:latin typeface="Calibri"/>
                <a:cs typeface="Calibri"/>
              </a:rPr>
              <a:t> </a:t>
            </a:r>
            <a:r>
              <a:rPr lang="en-NZ" sz="2800" dirty="0">
                <a:latin typeface="Calibri"/>
                <a:cs typeface="Calibri"/>
              </a:rPr>
              <a:t>7</a:t>
            </a:r>
            <a:r>
              <a:rPr sz="2800" dirty="0">
                <a:latin typeface="Calibri"/>
                <a:cs typeface="Calibri"/>
              </a:rPr>
              <a:t>00,000</a:t>
            </a:r>
            <a:r>
              <a:rPr sz="2800" spc="-50" dirty="0">
                <a:latin typeface="Calibri"/>
                <a:cs typeface="Calibri"/>
              </a:rPr>
              <a:t> </a:t>
            </a:r>
            <a:r>
              <a:rPr sz="2800" dirty="0">
                <a:latin typeface="Calibri"/>
                <a:cs typeface="Calibri"/>
              </a:rPr>
              <a:t>PMI</a:t>
            </a:r>
            <a:r>
              <a:rPr sz="2800" spc="-95" dirty="0">
                <a:latin typeface="Calibri"/>
                <a:cs typeface="Calibri"/>
              </a:rPr>
              <a:t> </a:t>
            </a:r>
            <a:r>
              <a:rPr sz="2800" dirty="0">
                <a:latin typeface="Calibri"/>
                <a:cs typeface="Calibri"/>
              </a:rPr>
              <a:t>members</a:t>
            </a:r>
            <a:r>
              <a:rPr sz="2800" spc="-85" dirty="0">
                <a:latin typeface="Calibri"/>
                <a:cs typeface="Calibri"/>
              </a:rPr>
              <a:t> </a:t>
            </a:r>
            <a:r>
              <a:rPr sz="2800" spc="-10" dirty="0">
                <a:latin typeface="Calibri"/>
                <a:cs typeface="Calibri"/>
              </a:rPr>
              <a:t>worldwide</a:t>
            </a:r>
            <a:endParaRPr sz="2800" dirty="0">
              <a:latin typeface="Calibri"/>
              <a:cs typeface="Calibri"/>
            </a:endParaRPr>
          </a:p>
          <a:p>
            <a:pPr marL="240665" indent="-227965">
              <a:lnSpc>
                <a:spcPts val="3190"/>
              </a:lnSpc>
              <a:spcBef>
                <a:spcPts val="670"/>
              </a:spcBef>
              <a:buClr>
                <a:srgbClr val="F5821F"/>
              </a:buClr>
              <a:buFont typeface="Arial"/>
              <a:buChar char="•"/>
              <a:tabLst>
                <a:tab pos="240665" algn="l"/>
              </a:tabLst>
            </a:pPr>
            <a:r>
              <a:rPr sz="2800" dirty="0">
                <a:latin typeface="Calibri"/>
                <a:cs typeface="Calibri"/>
              </a:rPr>
              <a:t>PMI</a:t>
            </a:r>
            <a:r>
              <a:rPr sz="2800" spc="-80" dirty="0">
                <a:latin typeface="Calibri"/>
                <a:cs typeface="Calibri"/>
              </a:rPr>
              <a:t> </a:t>
            </a:r>
            <a:r>
              <a:rPr sz="2800" dirty="0">
                <a:latin typeface="Calibri"/>
                <a:cs typeface="Calibri"/>
              </a:rPr>
              <a:t>provides</a:t>
            </a:r>
            <a:r>
              <a:rPr sz="2800" spc="-65" dirty="0">
                <a:latin typeface="Calibri"/>
                <a:cs typeface="Calibri"/>
              </a:rPr>
              <a:t> </a:t>
            </a:r>
            <a:r>
              <a:rPr sz="2800" spc="-10" dirty="0">
                <a:latin typeface="Calibri"/>
                <a:cs typeface="Calibri"/>
              </a:rPr>
              <a:t>certification</a:t>
            </a:r>
            <a:r>
              <a:rPr sz="2800" spc="-85" dirty="0">
                <a:latin typeface="Calibri"/>
                <a:cs typeface="Calibri"/>
              </a:rPr>
              <a:t> </a:t>
            </a:r>
            <a:r>
              <a:rPr sz="2800" dirty="0">
                <a:latin typeface="Calibri"/>
                <a:cs typeface="Calibri"/>
              </a:rPr>
              <a:t>as</a:t>
            </a:r>
            <a:r>
              <a:rPr sz="2800" spc="-90" dirty="0">
                <a:latin typeface="Calibri"/>
                <a:cs typeface="Calibri"/>
              </a:rPr>
              <a:t> </a:t>
            </a:r>
            <a:r>
              <a:rPr sz="2800" dirty="0">
                <a:latin typeface="Calibri"/>
                <a:cs typeface="Calibri"/>
              </a:rPr>
              <a:t>a</a:t>
            </a:r>
            <a:r>
              <a:rPr sz="2800" spc="-60" dirty="0">
                <a:latin typeface="Calibri"/>
                <a:cs typeface="Calibri"/>
              </a:rPr>
              <a:t> </a:t>
            </a:r>
            <a:r>
              <a:rPr sz="2800" b="1" dirty="0">
                <a:latin typeface="Calibri"/>
                <a:cs typeface="Calibri"/>
              </a:rPr>
              <a:t>Project</a:t>
            </a:r>
            <a:r>
              <a:rPr sz="2800" b="1" spc="-70" dirty="0">
                <a:latin typeface="Calibri"/>
                <a:cs typeface="Calibri"/>
              </a:rPr>
              <a:t> </a:t>
            </a:r>
            <a:r>
              <a:rPr sz="2800" b="1" spc="-10" dirty="0">
                <a:latin typeface="Calibri"/>
                <a:cs typeface="Calibri"/>
              </a:rPr>
              <a:t>Management</a:t>
            </a:r>
            <a:r>
              <a:rPr sz="2800" b="1" spc="-65" dirty="0">
                <a:latin typeface="Calibri"/>
                <a:cs typeface="Calibri"/>
              </a:rPr>
              <a:t> </a:t>
            </a:r>
            <a:r>
              <a:rPr sz="2800" b="1" spc="-10" dirty="0">
                <a:latin typeface="Calibri"/>
                <a:cs typeface="Calibri"/>
              </a:rPr>
              <a:t>Professional</a:t>
            </a:r>
            <a:endParaRPr sz="2800" dirty="0">
              <a:latin typeface="Calibri"/>
              <a:cs typeface="Calibri"/>
            </a:endParaRPr>
          </a:p>
          <a:p>
            <a:pPr marL="240665">
              <a:lnSpc>
                <a:spcPts val="3190"/>
              </a:lnSpc>
            </a:pPr>
            <a:r>
              <a:rPr sz="2800" spc="-10" dirty="0">
                <a:latin typeface="Calibri"/>
                <a:cs typeface="Calibri"/>
              </a:rPr>
              <a:t>(</a:t>
            </a:r>
            <a:r>
              <a:rPr sz="2800" b="1" spc="-10" dirty="0">
                <a:latin typeface="Calibri"/>
                <a:cs typeface="Calibri"/>
              </a:rPr>
              <a:t>PMP</a:t>
            </a:r>
            <a:r>
              <a:rPr sz="2800" spc="-10" dirty="0">
                <a:latin typeface="Calibri"/>
                <a:cs typeface="Calibri"/>
              </a:rPr>
              <a:t>)</a:t>
            </a:r>
            <a:endParaRPr sz="2800" dirty="0">
              <a:latin typeface="Calibri"/>
              <a:cs typeface="Calibri"/>
            </a:endParaRPr>
          </a:p>
          <a:p>
            <a:pPr marL="697865" marR="5080" lvl="1" indent="-228600">
              <a:lnSpc>
                <a:spcPts val="2590"/>
              </a:lnSpc>
              <a:spcBef>
                <a:spcPts val="565"/>
              </a:spcBef>
              <a:buClr>
                <a:srgbClr val="F5821F"/>
              </a:buClr>
              <a:buFont typeface="Arial"/>
              <a:buChar char="•"/>
              <a:tabLst>
                <a:tab pos="697865" algn="l"/>
              </a:tabLst>
            </a:pPr>
            <a:r>
              <a:rPr sz="2400" dirty="0">
                <a:latin typeface="Calibri"/>
                <a:cs typeface="Calibri"/>
              </a:rPr>
              <a:t>A</a:t>
            </a:r>
            <a:r>
              <a:rPr sz="2400" spc="-50" dirty="0">
                <a:latin typeface="Calibri"/>
                <a:cs typeface="Calibri"/>
              </a:rPr>
              <a:t> </a:t>
            </a:r>
            <a:r>
              <a:rPr sz="2400" dirty="0">
                <a:latin typeface="Calibri"/>
                <a:cs typeface="Calibri"/>
              </a:rPr>
              <a:t>PMP</a:t>
            </a:r>
            <a:r>
              <a:rPr sz="2400" spc="-30" dirty="0">
                <a:latin typeface="Calibri"/>
                <a:cs typeface="Calibri"/>
              </a:rPr>
              <a:t> </a:t>
            </a:r>
            <a:r>
              <a:rPr sz="2400" dirty="0">
                <a:latin typeface="Calibri"/>
                <a:cs typeface="Calibri"/>
              </a:rPr>
              <a:t>has</a:t>
            </a:r>
            <a:r>
              <a:rPr sz="2400" spc="-35" dirty="0">
                <a:latin typeface="Calibri"/>
                <a:cs typeface="Calibri"/>
              </a:rPr>
              <a:t> </a:t>
            </a:r>
            <a:r>
              <a:rPr sz="2400" dirty="0">
                <a:latin typeface="Calibri"/>
                <a:cs typeface="Calibri"/>
              </a:rPr>
              <a:t>documented</a:t>
            </a:r>
            <a:r>
              <a:rPr sz="2400" spc="-45" dirty="0">
                <a:latin typeface="Calibri"/>
                <a:cs typeface="Calibri"/>
              </a:rPr>
              <a:t> </a:t>
            </a:r>
            <a:r>
              <a:rPr sz="2400" dirty="0">
                <a:latin typeface="Calibri"/>
                <a:cs typeface="Calibri"/>
              </a:rPr>
              <a:t>sufficient</a:t>
            </a:r>
            <a:r>
              <a:rPr sz="2400" spc="-25" dirty="0">
                <a:latin typeface="Calibri"/>
                <a:cs typeface="Calibri"/>
              </a:rPr>
              <a:t> </a:t>
            </a:r>
            <a:r>
              <a:rPr sz="2400" dirty="0">
                <a:latin typeface="Calibri"/>
                <a:cs typeface="Calibri"/>
              </a:rPr>
              <a:t>project</a:t>
            </a:r>
            <a:r>
              <a:rPr sz="2400" spc="-60" dirty="0">
                <a:latin typeface="Calibri"/>
                <a:cs typeface="Calibri"/>
              </a:rPr>
              <a:t> </a:t>
            </a:r>
            <a:r>
              <a:rPr sz="2400" dirty="0">
                <a:latin typeface="Calibri"/>
                <a:cs typeface="Calibri"/>
              </a:rPr>
              <a:t>experience,</a:t>
            </a:r>
            <a:r>
              <a:rPr sz="2400" spc="-45" dirty="0">
                <a:latin typeface="Calibri"/>
                <a:cs typeface="Calibri"/>
              </a:rPr>
              <a:t> </a:t>
            </a:r>
            <a:r>
              <a:rPr sz="2400" dirty="0">
                <a:latin typeface="Calibri"/>
                <a:cs typeface="Calibri"/>
              </a:rPr>
              <a:t>agreed</a:t>
            </a:r>
            <a:r>
              <a:rPr sz="2400" spc="-35"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follow</a:t>
            </a:r>
            <a:r>
              <a:rPr sz="2400" spc="-30" dirty="0">
                <a:latin typeface="Calibri"/>
                <a:cs typeface="Calibri"/>
              </a:rPr>
              <a:t> </a:t>
            </a:r>
            <a:r>
              <a:rPr sz="2400" dirty="0">
                <a:latin typeface="Calibri"/>
                <a:cs typeface="Calibri"/>
              </a:rPr>
              <a:t>a</a:t>
            </a:r>
            <a:r>
              <a:rPr sz="2400" spc="-30" dirty="0">
                <a:latin typeface="Calibri"/>
                <a:cs typeface="Calibri"/>
              </a:rPr>
              <a:t> </a:t>
            </a:r>
            <a:r>
              <a:rPr sz="2400" spc="-20" dirty="0">
                <a:latin typeface="Calibri"/>
                <a:cs typeface="Calibri"/>
              </a:rPr>
              <a:t>code </a:t>
            </a:r>
            <a:r>
              <a:rPr sz="2400" dirty="0">
                <a:latin typeface="Calibri"/>
                <a:cs typeface="Calibri"/>
              </a:rPr>
              <a:t>of</a:t>
            </a:r>
            <a:r>
              <a:rPr sz="2400" spc="-15" dirty="0">
                <a:latin typeface="Calibri"/>
                <a:cs typeface="Calibri"/>
              </a:rPr>
              <a:t> </a:t>
            </a:r>
            <a:r>
              <a:rPr sz="2400" dirty="0">
                <a:latin typeface="Calibri"/>
                <a:cs typeface="Calibri"/>
              </a:rPr>
              <a:t>ethics,</a:t>
            </a:r>
            <a:r>
              <a:rPr sz="2400" spc="-30" dirty="0">
                <a:latin typeface="Calibri"/>
                <a:cs typeface="Calibri"/>
              </a:rPr>
              <a:t> </a:t>
            </a:r>
            <a:r>
              <a:rPr sz="2400" dirty="0">
                <a:latin typeface="Calibri"/>
                <a:cs typeface="Calibri"/>
              </a:rPr>
              <a:t>and</a:t>
            </a:r>
            <a:r>
              <a:rPr sz="2400" spc="-5" dirty="0">
                <a:latin typeface="Calibri"/>
                <a:cs typeface="Calibri"/>
              </a:rPr>
              <a:t> </a:t>
            </a:r>
            <a:r>
              <a:rPr sz="2400" dirty="0">
                <a:latin typeface="Calibri"/>
                <a:cs typeface="Calibri"/>
              </a:rPr>
              <a:t>passed the</a:t>
            </a:r>
            <a:r>
              <a:rPr sz="2400" spc="-20" dirty="0">
                <a:latin typeface="Calibri"/>
                <a:cs typeface="Calibri"/>
              </a:rPr>
              <a:t> </a:t>
            </a:r>
            <a:r>
              <a:rPr sz="2400" dirty="0">
                <a:latin typeface="Calibri"/>
                <a:cs typeface="Calibri"/>
              </a:rPr>
              <a:t>PMP</a:t>
            </a:r>
            <a:r>
              <a:rPr sz="2400" spc="-5" dirty="0">
                <a:latin typeface="Calibri"/>
                <a:cs typeface="Calibri"/>
              </a:rPr>
              <a:t> </a:t>
            </a:r>
            <a:r>
              <a:rPr sz="2400" spc="-20" dirty="0">
                <a:latin typeface="Calibri"/>
                <a:cs typeface="Calibri"/>
              </a:rPr>
              <a:t>exam</a:t>
            </a:r>
            <a:endParaRPr sz="2400" dirty="0">
              <a:latin typeface="Calibri"/>
              <a:cs typeface="Calibri"/>
            </a:endParaRPr>
          </a:p>
          <a:p>
            <a:pPr marL="697230" lvl="1" indent="-227965">
              <a:lnSpc>
                <a:spcPct val="100000"/>
              </a:lnSpc>
              <a:spcBef>
                <a:spcPts val="180"/>
              </a:spcBef>
              <a:buClr>
                <a:srgbClr val="F5821F"/>
              </a:buClr>
              <a:buFont typeface="Arial"/>
              <a:buChar char="•"/>
              <a:tabLst>
                <a:tab pos="697230" algn="l"/>
              </a:tabLst>
            </a:pPr>
            <a:r>
              <a:rPr sz="2400" dirty="0">
                <a:latin typeface="Calibri"/>
                <a:cs typeface="Calibri"/>
              </a:rPr>
              <a:t>more</a:t>
            </a:r>
            <a:r>
              <a:rPr sz="2400" spc="-30" dirty="0">
                <a:latin typeface="Calibri"/>
                <a:cs typeface="Calibri"/>
              </a:rPr>
              <a:t> </a:t>
            </a:r>
            <a:r>
              <a:rPr sz="2400" dirty="0">
                <a:latin typeface="Calibri"/>
                <a:cs typeface="Calibri"/>
              </a:rPr>
              <a:t>than</a:t>
            </a:r>
            <a:r>
              <a:rPr sz="2400" spc="-40" dirty="0">
                <a:latin typeface="Calibri"/>
                <a:cs typeface="Calibri"/>
              </a:rPr>
              <a:t> </a:t>
            </a:r>
            <a:r>
              <a:rPr sz="2400" dirty="0">
                <a:latin typeface="Calibri"/>
                <a:cs typeface="Calibri"/>
              </a:rPr>
              <a:t>1,000,000</a:t>
            </a:r>
            <a:r>
              <a:rPr sz="2400" spc="-35" dirty="0">
                <a:latin typeface="Calibri"/>
                <a:cs typeface="Calibri"/>
              </a:rPr>
              <a:t> </a:t>
            </a:r>
            <a:r>
              <a:rPr sz="2400" dirty="0">
                <a:latin typeface="Calibri"/>
                <a:cs typeface="Calibri"/>
              </a:rPr>
              <a:t>PMP</a:t>
            </a:r>
            <a:r>
              <a:rPr sz="2400" spc="-25" dirty="0">
                <a:latin typeface="Calibri"/>
                <a:cs typeface="Calibri"/>
              </a:rPr>
              <a:t> </a:t>
            </a:r>
            <a:r>
              <a:rPr sz="2400" dirty="0">
                <a:latin typeface="Calibri"/>
                <a:cs typeface="Calibri"/>
              </a:rPr>
              <a:t>certification</a:t>
            </a:r>
            <a:r>
              <a:rPr sz="2400" spc="-45" dirty="0">
                <a:latin typeface="Calibri"/>
                <a:cs typeface="Calibri"/>
              </a:rPr>
              <a:t> </a:t>
            </a:r>
            <a:r>
              <a:rPr sz="2400" dirty="0">
                <a:latin typeface="Calibri"/>
                <a:cs typeface="Calibri"/>
              </a:rPr>
              <a:t>holders</a:t>
            </a:r>
            <a:r>
              <a:rPr sz="2400" spc="-40" dirty="0">
                <a:latin typeface="Calibri"/>
                <a:cs typeface="Calibri"/>
              </a:rPr>
              <a:t> </a:t>
            </a:r>
            <a:r>
              <a:rPr sz="2400" spc="-10" dirty="0">
                <a:latin typeface="Calibri"/>
                <a:cs typeface="Calibri"/>
              </a:rPr>
              <a:t>worldwide</a:t>
            </a:r>
            <a:endParaRPr sz="2400" dirty="0">
              <a:latin typeface="Calibri"/>
              <a:cs typeface="Calibri"/>
            </a:endParaRPr>
          </a:p>
          <a:p>
            <a:pPr marL="697865" marR="513080" lvl="1" indent="-228600">
              <a:lnSpc>
                <a:spcPts val="2590"/>
              </a:lnSpc>
              <a:spcBef>
                <a:spcPts val="545"/>
              </a:spcBef>
              <a:buClr>
                <a:srgbClr val="F5821F"/>
              </a:buClr>
              <a:buFont typeface="Arial"/>
              <a:buChar char="•"/>
              <a:tabLst>
                <a:tab pos="697865" algn="l"/>
              </a:tabLst>
            </a:pPr>
            <a:r>
              <a:rPr sz="2400" dirty="0">
                <a:latin typeface="Calibri"/>
                <a:cs typeface="Calibri"/>
              </a:rPr>
              <a:t>Students</a:t>
            </a:r>
            <a:r>
              <a:rPr sz="2400" spc="-40" dirty="0">
                <a:latin typeface="Calibri"/>
                <a:cs typeface="Calibri"/>
              </a:rPr>
              <a:t> </a:t>
            </a:r>
            <a:r>
              <a:rPr sz="2400" dirty="0">
                <a:latin typeface="Calibri"/>
                <a:cs typeface="Calibri"/>
              </a:rPr>
              <a:t>can</a:t>
            </a:r>
            <a:r>
              <a:rPr sz="2400" spc="-40" dirty="0">
                <a:latin typeface="Calibri"/>
                <a:cs typeface="Calibri"/>
              </a:rPr>
              <a:t> </a:t>
            </a:r>
            <a:r>
              <a:rPr sz="2400" dirty="0">
                <a:latin typeface="Calibri"/>
                <a:cs typeface="Calibri"/>
              </a:rPr>
              <a:t>join</a:t>
            </a:r>
            <a:r>
              <a:rPr sz="2400" spc="-25" dirty="0">
                <a:latin typeface="Calibri"/>
                <a:cs typeface="Calibri"/>
              </a:rPr>
              <a:t> </a:t>
            </a:r>
            <a:r>
              <a:rPr sz="2400" dirty="0">
                <a:latin typeface="Calibri"/>
                <a:cs typeface="Calibri"/>
              </a:rPr>
              <a:t>PMI</a:t>
            </a:r>
            <a:r>
              <a:rPr sz="2400" spc="-35" dirty="0">
                <a:latin typeface="Calibri"/>
                <a:cs typeface="Calibri"/>
              </a:rPr>
              <a:t> </a:t>
            </a:r>
            <a:r>
              <a:rPr sz="2400" dirty="0">
                <a:latin typeface="Calibri"/>
                <a:cs typeface="Calibri"/>
              </a:rPr>
              <a:t>at</a:t>
            </a:r>
            <a:r>
              <a:rPr sz="2400" spc="-35" dirty="0">
                <a:latin typeface="Calibri"/>
                <a:cs typeface="Calibri"/>
              </a:rPr>
              <a:t> </a:t>
            </a:r>
            <a:r>
              <a:rPr sz="2400" dirty="0">
                <a:latin typeface="Calibri"/>
                <a:cs typeface="Calibri"/>
              </a:rPr>
              <a:t>a</a:t>
            </a:r>
            <a:r>
              <a:rPr sz="2400" spc="-30" dirty="0">
                <a:latin typeface="Calibri"/>
                <a:cs typeface="Calibri"/>
              </a:rPr>
              <a:t> </a:t>
            </a:r>
            <a:r>
              <a:rPr sz="2400" dirty="0">
                <a:latin typeface="Calibri"/>
                <a:cs typeface="Calibri"/>
              </a:rPr>
              <a:t>reduced</a:t>
            </a:r>
            <a:r>
              <a:rPr sz="2400" spc="-20" dirty="0">
                <a:latin typeface="Calibri"/>
                <a:cs typeface="Calibri"/>
              </a:rPr>
              <a:t> </a:t>
            </a:r>
            <a:r>
              <a:rPr sz="2400" dirty="0">
                <a:latin typeface="Calibri"/>
                <a:cs typeface="Calibri"/>
              </a:rPr>
              <a:t>fee</a:t>
            </a:r>
            <a:r>
              <a:rPr sz="2400" spc="-20" dirty="0">
                <a:latin typeface="Calibri"/>
                <a:cs typeface="Calibri"/>
              </a:rPr>
              <a:t> </a:t>
            </a:r>
            <a:r>
              <a:rPr sz="2400" dirty="0">
                <a:latin typeface="Calibri"/>
                <a:cs typeface="Calibri"/>
              </a:rPr>
              <a:t>and</a:t>
            </a:r>
            <a:r>
              <a:rPr sz="2400" spc="-25" dirty="0">
                <a:latin typeface="Calibri"/>
                <a:cs typeface="Calibri"/>
              </a:rPr>
              <a:t> </a:t>
            </a:r>
            <a:r>
              <a:rPr sz="2400" dirty="0">
                <a:latin typeface="Calibri"/>
                <a:cs typeface="Calibri"/>
              </a:rPr>
              <a:t>earn</a:t>
            </a:r>
            <a:r>
              <a:rPr sz="2400" spc="-25" dirty="0">
                <a:latin typeface="Calibri"/>
                <a:cs typeface="Calibri"/>
              </a:rPr>
              <a:t> </a:t>
            </a:r>
            <a:r>
              <a:rPr sz="2400" dirty="0">
                <a:latin typeface="Calibri"/>
                <a:cs typeface="Calibri"/>
              </a:rPr>
              <a:t>the</a:t>
            </a:r>
            <a:r>
              <a:rPr sz="2400" spc="-25" dirty="0">
                <a:latin typeface="Calibri"/>
                <a:cs typeface="Calibri"/>
              </a:rPr>
              <a:t> </a:t>
            </a:r>
            <a:r>
              <a:rPr sz="2400" dirty="0">
                <a:latin typeface="Calibri"/>
                <a:cs typeface="Calibri"/>
              </a:rPr>
              <a:t>Certified</a:t>
            </a:r>
            <a:r>
              <a:rPr sz="2400" spc="-45" dirty="0">
                <a:latin typeface="Calibri"/>
                <a:cs typeface="Calibri"/>
              </a:rPr>
              <a:t> </a:t>
            </a:r>
            <a:r>
              <a:rPr sz="2400" dirty="0">
                <a:latin typeface="Calibri"/>
                <a:cs typeface="Calibri"/>
              </a:rPr>
              <a:t>Associate</a:t>
            </a:r>
            <a:r>
              <a:rPr sz="2400" spc="-30" dirty="0">
                <a:latin typeface="Calibri"/>
                <a:cs typeface="Calibri"/>
              </a:rPr>
              <a:t> </a:t>
            </a:r>
            <a:r>
              <a:rPr sz="2400" spc="-25" dirty="0">
                <a:latin typeface="Calibri"/>
                <a:cs typeface="Calibri"/>
              </a:rPr>
              <a:t>in </a:t>
            </a:r>
            <a:r>
              <a:rPr sz="2400" dirty="0">
                <a:latin typeface="Calibri"/>
                <a:cs typeface="Calibri"/>
              </a:rPr>
              <a:t>Project</a:t>
            </a:r>
            <a:r>
              <a:rPr sz="2400" spc="-55" dirty="0">
                <a:latin typeface="Calibri"/>
                <a:cs typeface="Calibri"/>
              </a:rPr>
              <a:t> </a:t>
            </a:r>
            <a:r>
              <a:rPr sz="2400" dirty="0">
                <a:latin typeface="Calibri"/>
                <a:cs typeface="Calibri"/>
              </a:rPr>
              <a:t>Management</a:t>
            </a:r>
            <a:r>
              <a:rPr sz="2400" spc="-45" dirty="0">
                <a:latin typeface="Calibri"/>
                <a:cs typeface="Calibri"/>
              </a:rPr>
              <a:t> </a:t>
            </a:r>
            <a:r>
              <a:rPr sz="2400" dirty="0">
                <a:latin typeface="Calibri"/>
                <a:cs typeface="Calibri"/>
              </a:rPr>
              <a:t>(CAPM)</a:t>
            </a:r>
            <a:r>
              <a:rPr sz="2400" spc="-65" dirty="0">
                <a:latin typeface="Calibri"/>
                <a:cs typeface="Calibri"/>
              </a:rPr>
              <a:t> </a:t>
            </a:r>
            <a:r>
              <a:rPr sz="2400" dirty="0">
                <a:latin typeface="Calibri"/>
                <a:cs typeface="Calibri"/>
              </a:rPr>
              <a:t>certification</a:t>
            </a:r>
            <a:r>
              <a:rPr sz="2400" spc="-60" dirty="0">
                <a:latin typeface="Calibri"/>
                <a:cs typeface="Calibri"/>
              </a:rPr>
              <a:t> </a:t>
            </a:r>
            <a:r>
              <a:rPr sz="2400" dirty="0">
                <a:latin typeface="Calibri"/>
                <a:cs typeface="Calibri"/>
              </a:rPr>
              <a:t>(see</a:t>
            </a:r>
            <a:r>
              <a:rPr sz="2400" spc="-25" dirty="0">
                <a:latin typeface="Calibri"/>
                <a:cs typeface="Calibri"/>
              </a:rPr>
              <a:t> </a:t>
            </a:r>
            <a:r>
              <a:rPr sz="2400" u="sng" dirty="0">
                <a:solidFill>
                  <a:srgbClr val="0462C1"/>
                </a:solidFill>
                <a:uFill>
                  <a:solidFill>
                    <a:srgbClr val="0462C1"/>
                  </a:solidFill>
                </a:uFill>
                <a:latin typeface="Calibri"/>
                <a:cs typeface="Calibri"/>
                <a:hlinkClick r:id="rId2"/>
              </a:rPr>
              <a:t>PMI</a:t>
            </a:r>
            <a:r>
              <a:rPr sz="2400" spc="-45" dirty="0">
                <a:solidFill>
                  <a:srgbClr val="0462C1"/>
                </a:solidFill>
                <a:latin typeface="Calibri"/>
                <a:cs typeface="Calibri"/>
              </a:rPr>
              <a:t> </a:t>
            </a:r>
            <a:r>
              <a:rPr sz="2400" dirty="0">
                <a:latin typeface="Calibri"/>
                <a:cs typeface="Calibri"/>
              </a:rPr>
              <a:t>for</a:t>
            </a:r>
            <a:r>
              <a:rPr sz="2400" spc="-30" dirty="0">
                <a:latin typeface="Calibri"/>
                <a:cs typeface="Calibri"/>
              </a:rPr>
              <a:t> </a:t>
            </a:r>
            <a:r>
              <a:rPr sz="2400" spc="-10" dirty="0">
                <a:latin typeface="Calibri"/>
                <a:cs typeface="Calibri"/>
              </a:rPr>
              <a:t>details)</a:t>
            </a:r>
            <a:endParaRPr sz="2400" dirty="0">
              <a:latin typeface="Calibri"/>
              <a:cs typeface="Calibri"/>
            </a:endParaRPr>
          </a:p>
        </p:txBody>
      </p:sp>
      <p:pic>
        <p:nvPicPr>
          <p:cNvPr id="4" name="object 4"/>
          <p:cNvPicPr/>
          <p:nvPr/>
        </p:nvPicPr>
        <p:blipFill>
          <a:blip r:embed="rId3" cstate="print"/>
          <a:stretch>
            <a:fillRect/>
          </a:stretch>
        </p:blipFill>
        <p:spPr>
          <a:xfrm>
            <a:off x="9287247" y="451104"/>
            <a:ext cx="2668040" cy="9657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3389" rIns="0" bIns="0" rtlCol="0">
            <a:spAutoFit/>
          </a:bodyPr>
          <a:lstStyle/>
          <a:p>
            <a:pPr marL="83185">
              <a:lnSpc>
                <a:spcPct val="100000"/>
              </a:lnSpc>
              <a:spcBef>
                <a:spcPts val="105"/>
              </a:spcBef>
            </a:pPr>
            <a:r>
              <a:rPr dirty="0"/>
              <a:t>Project</a:t>
            </a:r>
            <a:r>
              <a:rPr spc="-130" dirty="0"/>
              <a:t> </a:t>
            </a:r>
            <a:r>
              <a:rPr dirty="0"/>
              <a:t>Management</a:t>
            </a:r>
            <a:r>
              <a:rPr spc="-140" dirty="0"/>
              <a:t> </a:t>
            </a:r>
            <a:r>
              <a:rPr dirty="0"/>
              <a:t>Software</a:t>
            </a:r>
            <a:r>
              <a:rPr spc="-110" dirty="0"/>
              <a:t> </a:t>
            </a:r>
            <a:r>
              <a:rPr spc="-10" dirty="0"/>
              <a:t>(PMS)</a:t>
            </a:r>
          </a:p>
        </p:txBody>
      </p:sp>
      <p:sp>
        <p:nvSpPr>
          <p:cNvPr id="3" name="object 3"/>
          <p:cNvSpPr txBox="1"/>
          <p:nvPr/>
        </p:nvSpPr>
        <p:spPr>
          <a:xfrm>
            <a:off x="1539366" y="1789704"/>
            <a:ext cx="9909810" cy="3472815"/>
          </a:xfrm>
          <a:prstGeom prst="rect">
            <a:avLst/>
          </a:prstGeom>
        </p:spPr>
        <p:txBody>
          <a:bodyPr vert="horz" wrap="square" lIns="0" tIns="34925" rIns="0" bIns="0" rtlCol="0">
            <a:spAutoFit/>
          </a:bodyPr>
          <a:lstStyle/>
          <a:p>
            <a:pPr marL="286385" indent="-273685">
              <a:lnSpc>
                <a:spcPct val="100000"/>
              </a:lnSpc>
              <a:spcBef>
                <a:spcPts val="275"/>
              </a:spcBef>
              <a:buClr>
                <a:srgbClr val="F5821F"/>
              </a:buClr>
              <a:buFont typeface="Arial"/>
              <a:buChar char="•"/>
              <a:tabLst>
                <a:tab pos="286385" algn="l"/>
              </a:tabLst>
            </a:pPr>
            <a:r>
              <a:rPr sz="2800" dirty="0">
                <a:latin typeface="Calibri"/>
                <a:cs typeface="Calibri"/>
              </a:rPr>
              <a:t>Three</a:t>
            </a:r>
            <a:r>
              <a:rPr sz="2800" spc="-90" dirty="0">
                <a:latin typeface="Calibri"/>
                <a:cs typeface="Calibri"/>
              </a:rPr>
              <a:t> </a:t>
            </a:r>
            <a:r>
              <a:rPr sz="2800" dirty="0">
                <a:latin typeface="Calibri"/>
                <a:cs typeface="Calibri"/>
              </a:rPr>
              <a:t>main</a:t>
            </a:r>
            <a:r>
              <a:rPr sz="2800" spc="-90" dirty="0">
                <a:latin typeface="Calibri"/>
                <a:cs typeface="Calibri"/>
              </a:rPr>
              <a:t> </a:t>
            </a:r>
            <a:r>
              <a:rPr sz="2800" spc="-10" dirty="0">
                <a:latin typeface="Calibri"/>
                <a:cs typeface="Calibri"/>
              </a:rPr>
              <a:t>categories</a:t>
            </a:r>
            <a:r>
              <a:rPr sz="2800" spc="-95" dirty="0">
                <a:latin typeface="Calibri"/>
                <a:cs typeface="Calibri"/>
              </a:rPr>
              <a:t> </a:t>
            </a:r>
            <a:r>
              <a:rPr sz="2800" dirty="0">
                <a:latin typeface="Calibri"/>
                <a:cs typeface="Calibri"/>
              </a:rPr>
              <a:t>of</a:t>
            </a:r>
            <a:r>
              <a:rPr sz="2800" spc="-90" dirty="0">
                <a:latin typeface="Calibri"/>
                <a:cs typeface="Calibri"/>
              </a:rPr>
              <a:t> </a:t>
            </a:r>
            <a:r>
              <a:rPr sz="2800" spc="-10" dirty="0">
                <a:latin typeface="Calibri"/>
                <a:cs typeface="Calibri"/>
              </a:rPr>
              <a:t>tools:</a:t>
            </a:r>
            <a:endParaRPr sz="2800" dirty="0">
              <a:latin typeface="Calibri"/>
              <a:cs typeface="Calibri"/>
            </a:endParaRPr>
          </a:p>
          <a:p>
            <a:pPr marL="561340" marR="161290" lvl="1" indent="-229235">
              <a:lnSpc>
                <a:spcPts val="2590"/>
              </a:lnSpc>
              <a:spcBef>
                <a:spcPts val="475"/>
              </a:spcBef>
              <a:buClr>
                <a:srgbClr val="F5821F"/>
              </a:buClr>
              <a:buFont typeface="Arial"/>
              <a:buChar char="•"/>
              <a:tabLst>
                <a:tab pos="561340" algn="l"/>
              </a:tabLst>
            </a:pPr>
            <a:r>
              <a:rPr sz="2400" b="1" spc="-10" dirty="0">
                <a:latin typeface="Calibri"/>
                <a:cs typeface="Calibri"/>
              </a:rPr>
              <a:t>Low-</a:t>
            </a:r>
            <a:r>
              <a:rPr sz="2400" b="1" dirty="0">
                <a:latin typeface="Calibri"/>
                <a:cs typeface="Calibri"/>
              </a:rPr>
              <a:t>end</a:t>
            </a:r>
            <a:r>
              <a:rPr sz="2400" b="1" spc="-35" dirty="0">
                <a:latin typeface="Calibri"/>
                <a:cs typeface="Calibri"/>
              </a:rPr>
              <a:t> </a:t>
            </a:r>
            <a:r>
              <a:rPr sz="2400" b="1" dirty="0">
                <a:latin typeface="Calibri"/>
                <a:cs typeface="Calibri"/>
              </a:rPr>
              <a:t>tools</a:t>
            </a:r>
            <a:r>
              <a:rPr sz="2400" dirty="0">
                <a:latin typeface="Calibri"/>
                <a:cs typeface="Calibri"/>
              </a:rPr>
              <a:t>:</a:t>
            </a:r>
            <a:r>
              <a:rPr sz="2400" spc="-25" dirty="0">
                <a:latin typeface="Calibri"/>
                <a:cs typeface="Calibri"/>
              </a:rPr>
              <a:t> </a:t>
            </a:r>
            <a:r>
              <a:rPr sz="2400" dirty="0">
                <a:latin typeface="Calibri"/>
                <a:cs typeface="Calibri"/>
              </a:rPr>
              <a:t>Handle</a:t>
            </a:r>
            <a:r>
              <a:rPr sz="2400" spc="-15" dirty="0">
                <a:latin typeface="Calibri"/>
                <a:cs typeface="Calibri"/>
              </a:rPr>
              <a:t> </a:t>
            </a:r>
            <a:r>
              <a:rPr sz="2400" dirty="0">
                <a:latin typeface="Calibri"/>
                <a:cs typeface="Calibri"/>
              </a:rPr>
              <a:t>single</a:t>
            </a:r>
            <a:r>
              <a:rPr sz="2400" spc="-25" dirty="0">
                <a:latin typeface="Calibri"/>
                <a:cs typeface="Calibri"/>
              </a:rPr>
              <a:t> </a:t>
            </a:r>
            <a:r>
              <a:rPr sz="2400" dirty="0">
                <a:latin typeface="Calibri"/>
                <a:cs typeface="Calibri"/>
              </a:rPr>
              <a:t>or</a:t>
            </a:r>
            <a:r>
              <a:rPr sz="2400" spc="-15" dirty="0">
                <a:latin typeface="Calibri"/>
                <a:cs typeface="Calibri"/>
              </a:rPr>
              <a:t> </a:t>
            </a:r>
            <a:r>
              <a:rPr sz="2400" dirty="0">
                <a:latin typeface="Calibri"/>
                <a:cs typeface="Calibri"/>
              </a:rPr>
              <a:t>smaller</a:t>
            </a:r>
            <a:r>
              <a:rPr sz="2400" spc="-40" dirty="0">
                <a:latin typeface="Calibri"/>
                <a:cs typeface="Calibri"/>
              </a:rPr>
              <a:t> </a:t>
            </a:r>
            <a:r>
              <a:rPr sz="2400" dirty="0">
                <a:latin typeface="Calibri"/>
                <a:cs typeface="Calibri"/>
              </a:rPr>
              <a:t>projects</a:t>
            </a:r>
            <a:r>
              <a:rPr sz="2400" spc="-30" dirty="0">
                <a:latin typeface="Calibri"/>
                <a:cs typeface="Calibri"/>
              </a:rPr>
              <a:t> </a:t>
            </a:r>
            <a:r>
              <a:rPr sz="2400" dirty="0">
                <a:latin typeface="Calibri"/>
                <a:cs typeface="Calibri"/>
              </a:rPr>
              <a:t>well,</a:t>
            </a:r>
            <a:r>
              <a:rPr sz="2400" spc="-10" dirty="0">
                <a:latin typeface="Calibri"/>
                <a:cs typeface="Calibri"/>
              </a:rPr>
              <a:t> </a:t>
            </a:r>
            <a:r>
              <a:rPr sz="2400" dirty="0">
                <a:latin typeface="Calibri"/>
                <a:cs typeface="Calibri"/>
              </a:rPr>
              <a:t>cost</a:t>
            </a:r>
            <a:r>
              <a:rPr sz="2400" spc="-30" dirty="0">
                <a:latin typeface="Calibri"/>
                <a:cs typeface="Calibri"/>
              </a:rPr>
              <a:t> </a:t>
            </a:r>
            <a:r>
              <a:rPr sz="2400" dirty="0">
                <a:latin typeface="Calibri"/>
                <a:cs typeface="Calibri"/>
              </a:rPr>
              <a:t>under</a:t>
            </a:r>
            <a:r>
              <a:rPr sz="2400" spc="-15" dirty="0">
                <a:latin typeface="Calibri"/>
                <a:cs typeface="Calibri"/>
              </a:rPr>
              <a:t> </a:t>
            </a:r>
            <a:r>
              <a:rPr sz="2400" dirty="0">
                <a:latin typeface="Calibri"/>
                <a:cs typeface="Calibri"/>
              </a:rPr>
              <a:t>$200</a:t>
            </a:r>
            <a:r>
              <a:rPr sz="2400" spc="-20" dirty="0">
                <a:latin typeface="Calibri"/>
                <a:cs typeface="Calibri"/>
              </a:rPr>
              <a:t> </a:t>
            </a:r>
            <a:r>
              <a:rPr sz="2400" spc="-25" dirty="0">
                <a:latin typeface="Calibri"/>
                <a:cs typeface="Calibri"/>
              </a:rPr>
              <a:t>per </a:t>
            </a:r>
            <a:r>
              <a:rPr sz="2400" spc="-20" dirty="0">
                <a:latin typeface="Calibri"/>
                <a:cs typeface="Calibri"/>
              </a:rPr>
              <a:t>user</a:t>
            </a:r>
            <a:endParaRPr sz="2400" dirty="0">
              <a:latin typeface="Calibri"/>
              <a:cs typeface="Calibri"/>
            </a:endParaRPr>
          </a:p>
          <a:p>
            <a:pPr marL="561340" marR="155575" lvl="1" indent="-229235">
              <a:lnSpc>
                <a:spcPts val="2590"/>
              </a:lnSpc>
              <a:spcBef>
                <a:spcPts val="400"/>
              </a:spcBef>
              <a:buClr>
                <a:srgbClr val="F5821F"/>
              </a:buClr>
              <a:buFont typeface="Arial"/>
              <a:buChar char="•"/>
              <a:tabLst>
                <a:tab pos="561340" algn="l"/>
                <a:tab pos="2690495" algn="l"/>
              </a:tabLst>
            </a:pPr>
            <a:r>
              <a:rPr sz="2400" b="1" dirty="0">
                <a:latin typeface="Calibri"/>
                <a:cs typeface="Calibri"/>
              </a:rPr>
              <a:t>Midrange</a:t>
            </a:r>
            <a:r>
              <a:rPr sz="2400" b="1" spc="-120" dirty="0">
                <a:latin typeface="Calibri"/>
                <a:cs typeface="Calibri"/>
              </a:rPr>
              <a:t> </a:t>
            </a:r>
            <a:r>
              <a:rPr sz="2400" b="1" spc="-10" dirty="0">
                <a:latin typeface="Calibri"/>
                <a:cs typeface="Calibri"/>
              </a:rPr>
              <a:t>tools</a:t>
            </a:r>
            <a:r>
              <a:rPr sz="2400" spc="-10" dirty="0">
                <a:latin typeface="Calibri"/>
                <a:cs typeface="Calibri"/>
              </a:rPr>
              <a:t>:</a:t>
            </a:r>
            <a:r>
              <a:rPr sz="2400" dirty="0">
                <a:latin typeface="Calibri"/>
                <a:cs typeface="Calibri"/>
              </a:rPr>
              <a:t>	Handle</a:t>
            </a:r>
            <a:r>
              <a:rPr sz="2400" spc="-35" dirty="0">
                <a:latin typeface="Calibri"/>
                <a:cs typeface="Calibri"/>
              </a:rPr>
              <a:t> </a:t>
            </a:r>
            <a:r>
              <a:rPr sz="2400" dirty="0">
                <a:latin typeface="Calibri"/>
                <a:cs typeface="Calibri"/>
              </a:rPr>
              <a:t>multiple</a:t>
            </a:r>
            <a:r>
              <a:rPr sz="2400" spc="-45" dirty="0">
                <a:latin typeface="Calibri"/>
                <a:cs typeface="Calibri"/>
              </a:rPr>
              <a:t> </a:t>
            </a:r>
            <a:r>
              <a:rPr sz="2400" dirty="0">
                <a:latin typeface="Calibri"/>
                <a:cs typeface="Calibri"/>
              </a:rPr>
              <a:t>projects</a:t>
            </a:r>
            <a:r>
              <a:rPr sz="2400" spc="-40" dirty="0">
                <a:latin typeface="Calibri"/>
                <a:cs typeface="Calibri"/>
              </a:rPr>
              <a:t> </a:t>
            </a:r>
            <a:r>
              <a:rPr sz="2400" dirty="0">
                <a:latin typeface="Calibri"/>
                <a:cs typeface="Calibri"/>
              </a:rPr>
              <a:t>and</a:t>
            </a:r>
            <a:r>
              <a:rPr sz="2400" spc="-30" dirty="0">
                <a:latin typeface="Calibri"/>
                <a:cs typeface="Calibri"/>
              </a:rPr>
              <a:t> </a:t>
            </a:r>
            <a:r>
              <a:rPr sz="2400" dirty="0">
                <a:latin typeface="Calibri"/>
                <a:cs typeface="Calibri"/>
              </a:rPr>
              <a:t>users,</a:t>
            </a:r>
            <a:r>
              <a:rPr sz="2400" spc="-25" dirty="0">
                <a:latin typeface="Calibri"/>
                <a:cs typeface="Calibri"/>
              </a:rPr>
              <a:t> </a:t>
            </a:r>
            <a:r>
              <a:rPr sz="2400" dirty="0">
                <a:latin typeface="Calibri"/>
                <a:cs typeface="Calibri"/>
              </a:rPr>
              <a:t>cost</a:t>
            </a:r>
            <a:r>
              <a:rPr sz="2400" spc="-40" dirty="0">
                <a:latin typeface="Calibri"/>
                <a:cs typeface="Calibri"/>
              </a:rPr>
              <a:t> </a:t>
            </a:r>
            <a:r>
              <a:rPr sz="2400" spc="-10" dirty="0">
                <a:latin typeface="Calibri"/>
                <a:cs typeface="Calibri"/>
              </a:rPr>
              <a:t>$200-</a:t>
            </a:r>
            <a:r>
              <a:rPr sz="2400" dirty="0">
                <a:latin typeface="Calibri"/>
                <a:cs typeface="Calibri"/>
              </a:rPr>
              <a:t>$1,000</a:t>
            </a:r>
            <a:r>
              <a:rPr sz="2400" spc="-25" dirty="0">
                <a:latin typeface="Calibri"/>
                <a:cs typeface="Calibri"/>
              </a:rPr>
              <a:t> per </a:t>
            </a:r>
            <a:r>
              <a:rPr sz="2400" spc="-20" dirty="0">
                <a:latin typeface="Calibri"/>
                <a:cs typeface="Calibri"/>
              </a:rPr>
              <a:t>user,</a:t>
            </a:r>
            <a:r>
              <a:rPr sz="2400" spc="-55" dirty="0">
                <a:latin typeface="Calibri"/>
                <a:cs typeface="Calibri"/>
              </a:rPr>
              <a:t> </a:t>
            </a:r>
            <a:r>
              <a:rPr sz="2400" dirty="0">
                <a:latin typeface="Calibri"/>
                <a:cs typeface="Calibri"/>
              </a:rPr>
              <a:t>MS</a:t>
            </a:r>
            <a:r>
              <a:rPr sz="2400" spc="-65" dirty="0">
                <a:latin typeface="Calibri"/>
                <a:cs typeface="Calibri"/>
              </a:rPr>
              <a:t> </a:t>
            </a:r>
            <a:r>
              <a:rPr sz="2400" dirty="0">
                <a:latin typeface="Calibri"/>
                <a:cs typeface="Calibri"/>
              </a:rPr>
              <a:t>Project</a:t>
            </a:r>
            <a:r>
              <a:rPr sz="2400" spc="-55" dirty="0">
                <a:latin typeface="Calibri"/>
                <a:cs typeface="Calibri"/>
              </a:rPr>
              <a:t> </a:t>
            </a:r>
            <a:r>
              <a:rPr sz="2400" dirty="0">
                <a:latin typeface="Calibri"/>
                <a:cs typeface="Calibri"/>
              </a:rPr>
              <a:t>2019</a:t>
            </a:r>
            <a:r>
              <a:rPr sz="2400" spc="-60" dirty="0">
                <a:latin typeface="Calibri"/>
                <a:cs typeface="Calibri"/>
              </a:rPr>
              <a:t> </a:t>
            </a:r>
            <a:r>
              <a:rPr sz="2400" dirty="0">
                <a:latin typeface="Calibri"/>
                <a:cs typeface="Calibri"/>
              </a:rPr>
              <a:t>most</a:t>
            </a:r>
            <a:r>
              <a:rPr sz="2400" spc="-60" dirty="0">
                <a:latin typeface="Calibri"/>
                <a:cs typeface="Calibri"/>
              </a:rPr>
              <a:t> </a:t>
            </a:r>
            <a:r>
              <a:rPr sz="2400" spc="-10" dirty="0">
                <a:latin typeface="Calibri"/>
                <a:cs typeface="Calibri"/>
              </a:rPr>
              <a:t>popular</a:t>
            </a:r>
            <a:endParaRPr sz="2400" dirty="0">
              <a:latin typeface="Calibri"/>
              <a:cs typeface="Calibri"/>
            </a:endParaRPr>
          </a:p>
          <a:p>
            <a:pPr marL="561340" marR="5080" lvl="1" indent="-229235">
              <a:lnSpc>
                <a:spcPts val="2590"/>
              </a:lnSpc>
              <a:spcBef>
                <a:spcPts val="405"/>
              </a:spcBef>
              <a:buClr>
                <a:srgbClr val="F5821F"/>
              </a:buClr>
              <a:buFont typeface="Arial"/>
              <a:buChar char="•"/>
              <a:tabLst>
                <a:tab pos="561340" algn="l"/>
                <a:tab pos="2613025" algn="l"/>
              </a:tabLst>
            </a:pPr>
            <a:r>
              <a:rPr sz="2400" b="1" spc="-10" dirty="0">
                <a:latin typeface="Calibri"/>
                <a:cs typeface="Calibri"/>
              </a:rPr>
              <a:t>High-</a:t>
            </a:r>
            <a:r>
              <a:rPr sz="2400" b="1" dirty="0">
                <a:latin typeface="Calibri"/>
                <a:cs typeface="Calibri"/>
              </a:rPr>
              <a:t>end</a:t>
            </a:r>
            <a:r>
              <a:rPr sz="2400" b="1" spc="35" dirty="0">
                <a:latin typeface="Calibri"/>
                <a:cs typeface="Calibri"/>
              </a:rPr>
              <a:t> </a:t>
            </a:r>
            <a:r>
              <a:rPr sz="2400" b="1" spc="-10" dirty="0">
                <a:latin typeface="Calibri"/>
                <a:cs typeface="Calibri"/>
              </a:rPr>
              <a:t>tools</a:t>
            </a:r>
            <a:r>
              <a:rPr sz="2400" spc="-10" dirty="0">
                <a:latin typeface="Calibri"/>
                <a:cs typeface="Calibri"/>
              </a:rPr>
              <a:t>:</a:t>
            </a:r>
            <a:r>
              <a:rPr sz="2400" dirty="0">
                <a:latin typeface="Calibri"/>
                <a:cs typeface="Calibri"/>
              </a:rPr>
              <a:t>	Also</a:t>
            </a:r>
            <a:r>
              <a:rPr sz="2400" spc="-60" dirty="0">
                <a:latin typeface="Calibri"/>
                <a:cs typeface="Calibri"/>
              </a:rPr>
              <a:t> </a:t>
            </a:r>
            <a:r>
              <a:rPr sz="2400" dirty="0">
                <a:latin typeface="Calibri"/>
                <a:cs typeface="Calibri"/>
              </a:rPr>
              <a:t>called</a:t>
            </a:r>
            <a:r>
              <a:rPr sz="2400" spc="-60" dirty="0">
                <a:latin typeface="Calibri"/>
                <a:cs typeface="Calibri"/>
              </a:rPr>
              <a:t> </a:t>
            </a:r>
            <a:r>
              <a:rPr sz="2400" dirty="0">
                <a:latin typeface="Calibri"/>
                <a:cs typeface="Calibri"/>
              </a:rPr>
              <a:t>enterprise</a:t>
            </a:r>
            <a:r>
              <a:rPr sz="2400" spc="-45" dirty="0">
                <a:latin typeface="Calibri"/>
                <a:cs typeface="Calibri"/>
              </a:rPr>
              <a:t> </a:t>
            </a:r>
            <a:r>
              <a:rPr sz="2400" dirty="0">
                <a:latin typeface="Calibri"/>
                <a:cs typeface="Calibri"/>
              </a:rPr>
              <a:t>project</a:t>
            </a:r>
            <a:r>
              <a:rPr sz="2400" spc="-50" dirty="0">
                <a:latin typeface="Calibri"/>
                <a:cs typeface="Calibri"/>
              </a:rPr>
              <a:t> </a:t>
            </a:r>
            <a:r>
              <a:rPr sz="2400" dirty="0">
                <a:latin typeface="Calibri"/>
                <a:cs typeface="Calibri"/>
              </a:rPr>
              <a:t>management</a:t>
            </a:r>
            <a:r>
              <a:rPr sz="2400" spc="-70" dirty="0">
                <a:latin typeface="Calibri"/>
                <a:cs typeface="Calibri"/>
              </a:rPr>
              <a:t> </a:t>
            </a:r>
            <a:r>
              <a:rPr sz="2400" dirty="0">
                <a:latin typeface="Calibri"/>
                <a:cs typeface="Calibri"/>
              </a:rPr>
              <a:t>software,</a:t>
            </a:r>
            <a:r>
              <a:rPr sz="2400" spc="-35" dirty="0">
                <a:latin typeface="Calibri"/>
                <a:cs typeface="Calibri"/>
              </a:rPr>
              <a:t> </a:t>
            </a:r>
            <a:r>
              <a:rPr sz="2400" spc="-10" dirty="0">
                <a:latin typeface="Calibri"/>
                <a:cs typeface="Calibri"/>
              </a:rPr>
              <a:t>often </a:t>
            </a:r>
            <a:r>
              <a:rPr sz="2400" dirty="0">
                <a:latin typeface="Calibri"/>
                <a:cs typeface="Calibri"/>
              </a:rPr>
              <a:t>licensed</a:t>
            </a:r>
            <a:r>
              <a:rPr sz="2400" spc="-30" dirty="0">
                <a:latin typeface="Calibri"/>
                <a:cs typeface="Calibri"/>
              </a:rPr>
              <a:t> </a:t>
            </a:r>
            <a:r>
              <a:rPr sz="2400" dirty="0">
                <a:latin typeface="Calibri"/>
                <a:cs typeface="Calibri"/>
              </a:rPr>
              <a:t>on</a:t>
            </a:r>
            <a:r>
              <a:rPr sz="2400" spc="-5" dirty="0">
                <a:latin typeface="Calibri"/>
                <a:cs typeface="Calibri"/>
              </a:rPr>
              <a:t> </a:t>
            </a:r>
            <a:r>
              <a:rPr sz="2400" dirty="0">
                <a:latin typeface="Calibri"/>
                <a:cs typeface="Calibri"/>
              </a:rPr>
              <a:t>a</a:t>
            </a:r>
            <a:r>
              <a:rPr sz="2400" spc="-15" dirty="0">
                <a:latin typeface="Calibri"/>
                <a:cs typeface="Calibri"/>
              </a:rPr>
              <a:t> </a:t>
            </a:r>
            <a:r>
              <a:rPr sz="2400" dirty="0">
                <a:latin typeface="Calibri"/>
                <a:cs typeface="Calibri"/>
              </a:rPr>
              <a:t>per-user</a:t>
            </a:r>
            <a:r>
              <a:rPr sz="2400" spc="10" dirty="0">
                <a:latin typeface="Calibri"/>
                <a:cs typeface="Calibri"/>
              </a:rPr>
              <a:t> </a:t>
            </a:r>
            <a:r>
              <a:rPr sz="2400" spc="-10" dirty="0">
                <a:latin typeface="Calibri"/>
                <a:cs typeface="Calibri"/>
              </a:rPr>
              <a:t>basis</a:t>
            </a:r>
            <a:endParaRPr sz="2400" dirty="0">
              <a:latin typeface="Calibri"/>
              <a:cs typeface="Calibri"/>
            </a:endParaRPr>
          </a:p>
          <a:p>
            <a:pPr>
              <a:lnSpc>
                <a:spcPct val="100000"/>
              </a:lnSpc>
              <a:spcBef>
                <a:spcPts val="10"/>
              </a:spcBef>
            </a:pPr>
            <a:endParaRPr sz="2800" dirty="0">
              <a:latin typeface="Calibri"/>
              <a:cs typeface="Calibri"/>
            </a:endParaRPr>
          </a:p>
          <a:p>
            <a:pPr marL="304165" indent="-227965">
              <a:lnSpc>
                <a:spcPct val="100000"/>
              </a:lnSpc>
              <a:buClr>
                <a:srgbClr val="F5821F"/>
              </a:buClr>
              <a:buFont typeface="Arial"/>
              <a:buChar char="•"/>
              <a:tabLst>
                <a:tab pos="304165" algn="l"/>
              </a:tabLst>
            </a:pPr>
            <a:r>
              <a:rPr sz="2800" spc="-10" dirty="0">
                <a:latin typeface="Calibri"/>
                <a:cs typeface="Calibri"/>
              </a:rPr>
              <a:t>Several</a:t>
            </a:r>
            <a:r>
              <a:rPr sz="2800" spc="-95" dirty="0">
                <a:latin typeface="Calibri"/>
                <a:cs typeface="Calibri"/>
              </a:rPr>
              <a:t> </a:t>
            </a:r>
            <a:r>
              <a:rPr sz="2800" i="1" dirty="0">
                <a:latin typeface="Calibri"/>
                <a:cs typeface="Calibri"/>
              </a:rPr>
              <a:t>free</a:t>
            </a:r>
            <a:r>
              <a:rPr sz="2800" i="1" spc="-60" dirty="0">
                <a:latin typeface="Calibri"/>
                <a:cs typeface="Calibri"/>
              </a:rPr>
              <a:t> </a:t>
            </a:r>
            <a:r>
              <a:rPr sz="2800" i="1" dirty="0">
                <a:latin typeface="Calibri"/>
                <a:cs typeface="Calibri"/>
              </a:rPr>
              <a:t>or</a:t>
            </a:r>
            <a:r>
              <a:rPr sz="2800" i="1" spc="-70" dirty="0">
                <a:latin typeface="Calibri"/>
                <a:cs typeface="Calibri"/>
              </a:rPr>
              <a:t> </a:t>
            </a:r>
            <a:r>
              <a:rPr sz="2800" i="1" spc="-20" dirty="0">
                <a:latin typeface="Calibri"/>
                <a:cs typeface="Calibri"/>
              </a:rPr>
              <a:t>open-</a:t>
            </a:r>
            <a:r>
              <a:rPr sz="2800" i="1" dirty="0">
                <a:latin typeface="Calibri"/>
                <a:cs typeface="Calibri"/>
              </a:rPr>
              <a:t>source</a:t>
            </a:r>
            <a:r>
              <a:rPr sz="2800" i="1" spc="-70" dirty="0">
                <a:latin typeface="Calibri"/>
                <a:cs typeface="Calibri"/>
              </a:rPr>
              <a:t> </a:t>
            </a:r>
            <a:r>
              <a:rPr sz="2800" i="1" dirty="0">
                <a:latin typeface="Calibri"/>
                <a:cs typeface="Calibri"/>
              </a:rPr>
              <a:t>tools</a:t>
            </a:r>
            <a:r>
              <a:rPr sz="2800" i="1" spc="-65" dirty="0">
                <a:latin typeface="Calibri"/>
                <a:cs typeface="Calibri"/>
              </a:rPr>
              <a:t> </a:t>
            </a:r>
            <a:r>
              <a:rPr sz="2800" dirty="0">
                <a:latin typeface="Calibri"/>
                <a:cs typeface="Calibri"/>
              </a:rPr>
              <a:t>are</a:t>
            </a:r>
            <a:r>
              <a:rPr sz="2800" spc="-85" dirty="0">
                <a:latin typeface="Calibri"/>
                <a:cs typeface="Calibri"/>
              </a:rPr>
              <a:t> </a:t>
            </a:r>
            <a:r>
              <a:rPr sz="2800" dirty="0">
                <a:latin typeface="Calibri"/>
                <a:cs typeface="Calibri"/>
              </a:rPr>
              <a:t>also</a:t>
            </a:r>
            <a:r>
              <a:rPr sz="2800" spc="-70" dirty="0">
                <a:latin typeface="Calibri"/>
                <a:cs typeface="Calibri"/>
              </a:rPr>
              <a:t> </a:t>
            </a:r>
            <a:r>
              <a:rPr sz="2800" spc="-10" dirty="0">
                <a:latin typeface="Calibri"/>
                <a:cs typeface="Calibri"/>
              </a:rPr>
              <a:t>available</a:t>
            </a:r>
            <a:endParaRPr sz="28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3389" rIns="0" bIns="0" rtlCol="0">
            <a:spAutoFit/>
          </a:bodyPr>
          <a:lstStyle/>
          <a:p>
            <a:pPr marL="83185">
              <a:lnSpc>
                <a:spcPct val="100000"/>
              </a:lnSpc>
              <a:spcBef>
                <a:spcPts val="105"/>
              </a:spcBef>
            </a:pPr>
            <a:r>
              <a:rPr dirty="0"/>
              <a:t>Any</a:t>
            </a:r>
            <a:r>
              <a:rPr spc="-95" dirty="0"/>
              <a:t> </a:t>
            </a:r>
            <a:r>
              <a:rPr spc="-10" dirty="0"/>
              <a:t>questions?</a:t>
            </a:r>
          </a:p>
        </p:txBody>
      </p:sp>
      <p:pic>
        <p:nvPicPr>
          <p:cNvPr id="3" name="object 3"/>
          <p:cNvPicPr/>
          <p:nvPr/>
        </p:nvPicPr>
        <p:blipFill>
          <a:blip r:embed="rId2" cstate="print"/>
          <a:stretch>
            <a:fillRect/>
          </a:stretch>
        </p:blipFill>
        <p:spPr>
          <a:xfrm>
            <a:off x="5168230" y="2142001"/>
            <a:ext cx="2692215" cy="398415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3389" rIns="0" bIns="0" rtlCol="0">
            <a:spAutoFit/>
          </a:bodyPr>
          <a:lstStyle/>
          <a:p>
            <a:pPr marL="83185">
              <a:lnSpc>
                <a:spcPct val="100000"/>
              </a:lnSpc>
              <a:spcBef>
                <a:spcPts val="105"/>
              </a:spcBef>
            </a:pPr>
            <a:r>
              <a:rPr spc="-10" dirty="0"/>
              <a:t>Homework</a:t>
            </a:r>
          </a:p>
        </p:txBody>
      </p:sp>
      <p:sp>
        <p:nvSpPr>
          <p:cNvPr id="3" name="object 3"/>
          <p:cNvSpPr txBox="1"/>
          <p:nvPr/>
        </p:nvSpPr>
        <p:spPr>
          <a:xfrm>
            <a:off x="1539366" y="1812112"/>
            <a:ext cx="9897745" cy="4245648"/>
          </a:xfrm>
          <a:prstGeom prst="rect">
            <a:avLst/>
          </a:prstGeom>
        </p:spPr>
        <p:txBody>
          <a:bodyPr vert="horz" wrap="square" lIns="0" tIns="55244" rIns="0" bIns="0" rtlCol="0">
            <a:spAutoFit/>
          </a:bodyPr>
          <a:lstStyle/>
          <a:p>
            <a:pPr marL="241300" marR="5080" indent="-228600" algn="just">
              <a:lnSpc>
                <a:spcPct val="90000"/>
              </a:lnSpc>
              <a:spcBef>
                <a:spcPts val="434"/>
              </a:spcBef>
              <a:buClr>
                <a:srgbClr val="F5821F"/>
              </a:buClr>
              <a:buFont typeface="Arial"/>
              <a:buChar char="•"/>
              <a:tabLst>
                <a:tab pos="241300" algn="l"/>
              </a:tabLst>
            </a:pPr>
            <a:r>
              <a:rPr sz="2800" dirty="0">
                <a:latin typeface="Calibri"/>
                <a:cs typeface="Calibri"/>
              </a:rPr>
              <a:t>If</a:t>
            </a:r>
            <a:r>
              <a:rPr sz="2800" spc="-90" dirty="0">
                <a:latin typeface="Calibri"/>
                <a:cs typeface="Calibri"/>
              </a:rPr>
              <a:t> </a:t>
            </a:r>
            <a:r>
              <a:rPr sz="2800" dirty="0">
                <a:latin typeface="Calibri"/>
                <a:cs typeface="Calibri"/>
              </a:rPr>
              <a:t>you</a:t>
            </a:r>
            <a:r>
              <a:rPr sz="2800" spc="-70" dirty="0">
                <a:latin typeface="Calibri"/>
                <a:cs typeface="Calibri"/>
              </a:rPr>
              <a:t> </a:t>
            </a:r>
            <a:r>
              <a:rPr sz="2800" spc="-10" dirty="0">
                <a:latin typeface="Calibri"/>
                <a:cs typeface="Calibri"/>
              </a:rPr>
              <a:t>haven’t</a:t>
            </a:r>
            <a:r>
              <a:rPr sz="2800" spc="-75" dirty="0">
                <a:latin typeface="Calibri"/>
                <a:cs typeface="Calibri"/>
              </a:rPr>
              <a:t> </a:t>
            </a:r>
            <a:r>
              <a:rPr sz="2800" dirty="0">
                <a:latin typeface="Calibri"/>
                <a:cs typeface="Calibri"/>
              </a:rPr>
              <a:t>done</a:t>
            </a:r>
            <a:r>
              <a:rPr sz="2800" spc="-65" dirty="0">
                <a:latin typeface="Calibri"/>
                <a:cs typeface="Calibri"/>
              </a:rPr>
              <a:t> </a:t>
            </a:r>
            <a:r>
              <a:rPr sz="2800" dirty="0">
                <a:latin typeface="Calibri"/>
                <a:cs typeface="Calibri"/>
              </a:rPr>
              <a:t>so,</a:t>
            </a:r>
            <a:r>
              <a:rPr sz="2800" spc="-80" dirty="0">
                <a:latin typeface="Calibri"/>
                <a:cs typeface="Calibri"/>
              </a:rPr>
              <a:t> </a:t>
            </a:r>
            <a:r>
              <a:rPr sz="2800" spc="-10" dirty="0">
                <a:latin typeface="Calibri"/>
                <a:cs typeface="Calibri"/>
              </a:rPr>
              <a:t>complete</a:t>
            </a:r>
            <a:r>
              <a:rPr sz="2800" spc="-85" dirty="0">
                <a:latin typeface="Calibri"/>
                <a:cs typeface="Calibri"/>
              </a:rPr>
              <a:t> </a:t>
            </a:r>
            <a:r>
              <a:rPr sz="2800" dirty="0">
                <a:latin typeface="Calibri"/>
                <a:cs typeface="Calibri"/>
              </a:rPr>
              <a:t>the</a:t>
            </a:r>
            <a:r>
              <a:rPr sz="2800" spc="-80" dirty="0">
                <a:latin typeface="Calibri"/>
                <a:cs typeface="Calibri"/>
              </a:rPr>
              <a:t> </a:t>
            </a:r>
            <a:r>
              <a:rPr sz="2800" spc="-10" dirty="0">
                <a:latin typeface="Calibri"/>
                <a:cs typeface="Calibri"/>
              </a:rPr>
              <a:t>Week</a:t>
            </a:r>
            <a:r>
              <a:rPr sz="2800" spc="-80" dirty="0">
                <a:latin typeface="Calibri"/>
                <a:cs typeface="Calibri"/>
              </a:rPr>
              <a:t> </a:t>
            </a:r>
            <a:r>
              <a:rPr sz="2800" dirty="0">
                <a:latin typeface="Calibri"/>
                <a:cs typeface="Calibri"/>
              </a:rPr>
              <a:t>1</a:t>
            </a:r>
            <a:r>
              <a:rPr sz="2800" spc="-80" dirty="0">
                <a:latin typeface="Calibri"/>
                <a:cs typeface="Calibri"/>
              </a:rPr>
              <a:t> </a:t>
            </a:r>
            <a:r>
              <a:rPr sz="2800" dirty="0">
                <a:latin typeface="Calibri"/>
                <a:cs typeface="Calibri"/>
              </a:rPr>
              <a:t>readings</a:t>
            </a:r>
            <a:r>
              <a:rPr sz="2800" spc="-65" dirty="0">
                <a:latin typeface="Calibri"/>
                <a:cs typeface="Calibri"/>
              </a:rPr>
              <a:t> </a:t>
            </a:r>
            <a:r>
              <a:rPr sz="2800" dirty="0">
                <a:latin typeface="Calibri"/>
                <a:cs typeface="Calibri"/>
              </a:rPr>
              <a:t>-</a:t>
            </a:r>
            <a:r>
              <a:rPr sz="2800" spc="-75" dirty="0">
                <a:latin typeface="Calibri"/>
                <a:cs typeface="Calibri"/>
              </a:rPr>
              <a:t> </a:t>
            </a:r>
            <a:r>
              <a:rPr sz="2800" spc="-10" dirty="0">
                <a:latin typeface="Calibri"/>
                <a:cs typeface="Calibri"/>
              </a:rPr>
              <a:t>Chapters</a:t>
            </a:r>
            <a:r>
              <a:rPr sz="2800" spc="-65" dirty="0">
                <a:latin typeface="Calibri"/>
                <a:cs typeface="Calibri"/>
              </a:rPr>
              <a:t> </a:t>
            </a:r>
            <a:r>
              <a:rPr sz="2800" spc="-50" dirty="0">
                <a:latin typeface="Calibri"/>
                <a:cs typeface="Calibri"/>
              </a:rPr>
              <a:t>1 </a:t>
            </a:r>
            <a:r>
              <a:rPr sz="2800" dirty="0">
                <a:latin typeface="Calibri"/>
                <a:cs typeface="Calibri"/>
              </a:rPr>
              <a:t>and</a:t>
            </a:r>
            <a:r>
              <a:rPr sz="2800" spc="-80" dirty="0">
                <a:latin typeface="Calibri"/>
                <a:cs typeface="Calibri"/>
              </a:rPr>
              <a:t> </a:t>
            </a:r>
            <a:r>
              <a:rPr sz="2800" dirty="0">
                <a:latin typeface="Calibri"/>
                <a:cs typeface="Calibri"/>
              </a:rPr>
              <a:t>2</a:t>
            </a:r>
            <a:r>
              <a:rPr sz="2800" spc="-75" dirty="0">
                <a:latin typeface="Calibri"/>
                <a:cs typeface="Calibri"/>
              </a:rPr>
              <a:t> </a:t>
            </a:r>
            <a:r>
              <a:rPr sz="2800" dirty="0">
                <a:latin typeface="Calibri"/>
                <a:cs typeface="Calibri"/>
              </a:rPr>
              <a:t>from</a:t>
            </a:r>
            <a:r>
              <a:rPr sz="2800" spc="-60" dirty="0">
                <a:latin typeface="Calibri"/>
                <a:cs typeface="Calibri"/>
              </a:rPr>
              <a:t> </a:t>
            </a:r>
            <a:r>
              <a:rPr sz="2800" i="1" spc="-10" dirty="0">
                <a:latin typeface="Calibri"/>
                <a:cs typeface="Calibri"/>
              </a:rPr>
              <a:t>Information</a:t>
            </a:r>
            <a:r>
              <a:rPr sz="2800" i="1" spc="-90" dirty="0">
                <a:latin typeface="Calibri"/>
                <a:cs typeface="Calibri"/>
              </a:rPr>
              <a:t> </a:t>
            </a:r>
            <a:r>
              <a:rPr sz="2800" i="1" spc="-30" dirty="0">
                <a:latin typeface="Calibri"/>
                <a:cs typeface="Calibri"/>
              </a:rPr>
              <a:t>Technology</a:t>
            </a:r>
            <a:r>
              <a:rPr sz="2800" i="1" spc="-85" dirty="0">
                <a:latin typeface="Calibri"/>
                <a:cs typeface="Calibri"/>
              </a:rPr>
              <a:t> </a:t>
            </a:r>
            <a:r>
              <a:rPr sz="2800" i="1" dirty="0">
                <a:latin typeface="Calibri"/>
                <a:cs typeface="Calibri"/>
              </a:rPr>
              <a:t>Project</a:t>
            </a:r>
            <a:r>
              <a:rPr sz="2800" i="1" spc="-60" dirty="0">
                <a:latin typeface="Calibri"/>
                <a:cs typeface="Calibri"/>
              </a:rPr>
              <a:t> </a:t>
            </a:r>
            <a:r>
              <a:rPr sz="2800" i="1" spc="-10" dirty="0">
                <a:latin typeface="Calibri"/>
                <a:cs typeface="Calibri"/>
              </a:rPr>
              <a:t>Management</a:t>
            </a:r>
            <a:r>
              <a:rPr sz="2800" i="1" spc="-45" dirty="0">
                <a:latin typeface="Calibri"/>
                <a:cs typeface="Calibri"/>
              </a:rPr>
              <a:t> </a:t>
            </a:r>
            <a:r>
              <a:rPr sz="2800" dirty="0">
                <a:latin typeface="Calibri"/>
                <a:cs typeface="Calibri"/>
              </a:rPr>
              <a:t>(2019)</a:t>
            </a:r>
            <a:r>
              <a:rPr sz="2800" spc="-45" dirty="0">
                <a:latin typeface="Calibri"/>
                <a:cs typeface="Calibri"/>
              </a:rPr>
              <a:t> </a:t>
            </a:r>
            <a:r>
              <a:rPr sz="2800" spc="-25" dirty="0">
                <a:latin typeface="Calibri"/>
                <a:cs typeface="Calibri"/>
              </a:rPr>
              <a:t>by </a:t>
            </a:r>
            <a:r>
              <a:rPr sz="2800" spc="-20" dirty="0">
                <a:latin typeface="Calibri"/>
                <a:cs typeface="Calibri"/>
              </a:rPr>
              <a:t>Kathy</a:t>
            </a:r>
            <a:r>
              <a:rPr sz="2800" spc="-100" dirty="0">
                <a:latin typeface="Calibri"/>
                <a:cs typeface="Calibri"/>
              </a:rPr>
              <a:t> </a:t>
            </a:r>
            <a:r>
              <a:rPr sz="2800" spc="-10" dirty="0">
                <a:latin typeface="Calibri"/>
                <a:cs typeface="Calibri"/>
              </a:rPr>
              <a:t>Schwalbe.</a:t>
            </a:r>
            <a:endParaRPr sz="2800" dirty="0">
              <a:latin typeface="Calibri"/>
              <a:cs typeface="Calibri"/>
            </a:endParaRPr>
          </a:p>
          <a:p>
            <a:pPr marL="241300" marR="1089660" indent="-228600" algn="just">
              <a:lnSpc>
                <a:spcPts val="3020"/>
              </a:lnSpc>
              <a:spcBef>
                <a:spcPts val="1055"/>
              </a:spcBef>
              <a:buClr>
                <a:srgbClr val="F5821F"/>
              </a:buClr>
              <a:buFont typeface="Arial"/>
              <a:buChar char="•"/>
              <a:tabLst>
                <a:tab pos="241300" algn="l"/>
              </a:tabLst>
            </a:pPr>
            <a:r>
              <a:rPr sz="2800" spc="-20" dirty="0">
                <a:latin typeface="Calibri"/>
                <a:cs typeface="Calibri"/>
              </a:rPr>
              <a:t>Before</a:t>
            </a:r>
            <a:r>
              <a:rPr sz="2800" spc="-85" dirty="0">
                <a:latin typeface="Calibri"/>
                <a:cs typeface="Calibri"/>
              </a:rPr>
              <a:t> </a:t>
            </a:r>
            <a:r>
              <a:rPr sz="2800" dirty="0">
                <a:latin typeface="Calibri"/>
                <a:cs typeface="Calibri"/>
              </a:rPr>
              <a:t>next</a:t>
            </a:r>
            <a:r>
              <a:rPr sz="2800" spc="-65" dirty="0">
                <a:latin typeface="Calibri"/>
                <a:cs typeface="Calibri"/>
              </a:rPr>
              <a:t> </a:t>
            </a:r>
            <a:r>
              <a:rPr sz="2800" spc="-30" dirty="0">
                <a:latin typeface="Calibri"/>
                <a:cs typeface="Calibri"/>
              </a:rPr>
              <a:t>week’s</a:t>
            </a:r>
            <a:r>
              <a:rPr sz="2800" spc="-80" dirty="0">
                <a:latin typeface="Calibri"/>
                <a:cs typeface="Calibri"/>
              </a:rPr>
              <a:t> </a:t>
            </a:r>
            <a:r>
              <a:rPr sz="2800" dirty="0">
                <a:latin typeface="Calibri"/>
                <a:cs typeface="Calibri"/>
              </a:rPr>
              <a:t>class</a:t>
            </a:r>
            <a:r>
              <a:rPr sz="2800" spc="-60" dirty="0">
                <a:latin typeface="Calibri"/>
                <a:cs typeface="Calibri"/>
              </a:rPr>
              <a:t> </a:t>
            </a:r>
            <a:r>
              <a:rPr sz="2800" spc="-10" dirty="0">
                <a:latin typeface="Calibri"/>
                <a:cs typeface="Calibri"/>
              </a:rPr>
              <a:t>Chapters</a:t>
            </a:r>
            <a:r>
              <a:rPr sz="2800" spc="-60" dirty="0">
                <a:latin typeface="Calibri"/>
                <a:cs typeface="Calibri"/>
              </a:rPr>
              <a:t> </a:t>
            </a:r>
            <a:r>
              <a:rPr sz="2800" dirty="0">
                <a:latin typeface="Calibri"/>
                <a:cs typeface="Calibri"/>
              </a:rPr>
              <a:t>3</a:t>
            </a:r>
            <a:r>
              <a:rPr sz="2800" spc="-65" dirty="0">
                <a:latin typeface="Calibri"/>
                <a:cs typeface="Calibri"/>
              </a:rPr>
              <a:t> </a:t>
            </a:r>
            <a:r>
              <a:rPr sz="2800" dirty="0">
                <a:latin typeface="Calibri"/>
                <a:cs typeface="Calibri"/>
              </a:rPr>
              <a:t>and</a:t>
            </a:r>
            <a:r>
              <a:rPr sz="2800" spc="-70" dirty="0">
                <a:latin typeface="Calibri"/>
                <a:cs typeface="Calibri"/>
              </a:rPr>
              <a:t> </a:t>
            </a:r>
            <a:r>
              <a:rPr sz="2800" dirty="0">
                <a:latin typeface="Calibri"/>
                <a:cs typeface="Calibri"/>
              </a:rPr>
              <a:t>4</a:t>
            </a:r>
            <a:r>
              <a:rPr sz="2800" spc="-65" dirty="0">
                <a:latin typeface="Calibri"/>
                <a:cs typeface="Calibri"/>
              </a:rPr>
              <a:t> </a:t>
            </a:r>
            <a:r>
              <a:rPr sz="2800" dirty="0">
                <a:latin typeface="Calibri"/>
                <a:cs typeface="Calibri"/>
              </a:rPr>
              <a:t>from</a:t>
            </a:r>
            <a:r>
              <a:rPr sz="2800" spc="-40" dirty="0">
                <a:latin typeface="Calibri"/>
                <a:cs typeface="Calibri"/>
              </a:rPr>
              <a:t> </a:t>
            </a:r>
            <a:r>
              <a:rPr sz="2800" i="1" spc="-10" dirty="0">
                <a:latin typeface="Calibri"/>
                <a:cs typeface="Calibri"/>
              </a:rPr>
              <a:t>Information </a:t>
            </a:r>
            <a:r>
              <a:rPr sz="2800" i="1" spc="-35" dirty="0">
                <a:latin typeface="Calibri"/>
                <a:cs typeface="Calibri"/>
              </a:rPr>
              <a:t>Technology</a:t>
            </a:r>
            <a:r>
              <a:rPr sz="2800" i="1" spc="-95" dirty="0">
                <a:latin typeface="Calibri"/>
                <a:cs typeface="Calibri"/>
              </a:rPr>
              <a:t> </a:t>
            </a:r>
            <a:r>
              <a:rPr sz="2800" i="1" dirty="0">
                <a:latin typeface="Calibri"/>
                <a:cs typeface="Calibri"/>
              </a:rPr>
              <a:t>Project</a:t>
            </a:r>
            <a:r>
              <a:rPr sz="2800" i="1" spc="-80" dirty="0">
                <a:latin typeface="Calibri"/>
                <a:cs typeface="Calibri"/>
              </a:rPr>
              <a:t> </a:t>
            </a:r>
            <a:r>
              <a:rPr sz="2800" i="1" spc="-10" dirty="0">
                <a:latin typeface="Calibri"/>
                <a:cs typeface="Calibri"/>
              </a:rPr>
              <a:t>Management</a:t>
            </a:r>
            <a:r>
              <a:rPr sz="2800" i="1" spc="-65" dirty="0">
                <a:latin typeface="Calibri"/>
                <a:cs typeface="Calibri"/>
              </a:rPr>
              <a:t> </a:t>
            </a:r>
            <a:r>
              <a:rPr sz="2800" dirty="0">
                <a:latin typeface="Calibri"/>
                <a:cs typeface="Calibri"/>
              </a:rPr>
              <a:t>(2019)</a:t>
            </a:r>
            <a:r>
              <a:rPr sz="2800" spc="-65" dirty="0">
                <a:latin typeface="Calibri"/>
                <a:cs typeface="Calibri"/>
              </a:rPr>
              <a:t> </a:t>
            </a:r>
            <a:r>
              <a:rPr sz="2800" dirty="0">
                <a:latin typeface="Calibri"/>
                <a:cs typeface="Calibri"/>
              </a:rPr>
              <a:t>by</a:t>
            </a:r>
            <a:r>
              <a:rPr sz="2800" spc="-85" dirty="0">
                <a:latin typeface="Calibri"/>
                <a:cs typeface="Calibri"/>
              </a:rPr>
              <a:t> </a:t>
            </a:r>
            <a:r>
              <a:rPr sz="2800" spc="-10" dirty="0">
                <a:latin typeface="Calibri"/>
                <a:cs typeface="Calibri"/>
              </a:rPr>
              <a:t>Kathy</a:t>
            </a:r>
            <a:r>
              <a:rPr sz="2800" spc="-85" dirty="0">
                <a:latin typeface="Calibri"/>
                <a:cs typeface="Calibri"/>
              </a:rPr>
              <a:t> </a:t>
            </a:r>
            <a:r>
              <a:rPr sz="2800" spc="-10" dirty="0">
                <a:latin typeface="Calibri"/>
                <a:cs typeface="Calibri"/>
              </a:rPr>
              <a:t>Schwalbe</a:t>
            </a:r>
            <a:endParaRPr lang="en-NZ" sz="2800" spc="-10" dirty="0">
              <a:latin typeface="Calibri"/>
              <a:cs typeface="Calibri"/>
            </a:endParaRPr>
          </a:p>
          <a:p>
            <a:pPr marL="241300" marR="1089660" indent="-228600" algn="just">
              <a:lnSpc>
                <a:spcPts val="3020"/>
              </a:lnSpc>
              <a:spcBef>
                <a:spcPts val="1055"/>
              </a:spcBef>
              <a:buClr>
                <a:srgbClr val="F5821F"/>
              </a:buClr>
              <a:buFont typeface="Arial"/>
              <a:buChar char="•"/>
              <a:tabLst>
                <a:tab pos="241300" algn="l"/>
              </a:tabLst>
            </a:pPr>
            <a:endParaRPr lang="en-NZ" sz="2800" spc="-10" dirty="0">
              <a:latin typeface="Calibri"/>
              <a:cs typeface="Calibri"/>
            </a:endParaRPr>
          </a:p>
          <a:p>
            <a:pPr marL="241300" marR="1089660" indent="-228600" algn="just">
              <a:lnSpc>
                <a:spcPts val="3020"/>
              </a:lnSpc>
              <a:spcBef>
                <a:spcPts val="1055"/>
              </a:spcBef>
              <a:buClr>
                <a:srgbClr val="F5821F"/>
              </a:buClr>
              <a:buFont typeface="Arial"/>
              <a:buChar char="•"/>
              <a:tabLst>
                <a:tab pos="241300" algn="l"/>
              </a:tabLst>
            </a:pPr>
            <a:r>
              <a:rPr lang="en-NZ" sz="2800" spc="-10" dirty="0">
                <a:latin typeface="Calibri"/>
                <a:cs typeface="Calibri"/>
              </a:rPr>
              <a:t>Optional:</a:t>
            </a:r>
          </a:p>
          <a:p>
            <a:pPr marL="241300" marR="1089660" indent="-228600" algn="l">
              <a:spcBef>
                <a:spcPts val="1055"/>
              </a:spcBef>
              <a:buClr>
                <a:srgbClr val="F5821F"/>
              </a:buClr>
              <a:buFont typeface="Arial"/>
              <a:buChar char="•"/>
              <a:tabLst>
                <a:tab pos="241300" algn="l"/>
              </a:tabLst>
            </a:pPr>
            <a:r>
              <a:rPr lang="en-NZ" sz="2000" dirty="0">
                <a:latin typeface="+mj-lt"/>
              </a:rPr>
              <a:t>Thorpe, S. J., &amp; Krstić, L. (2025). </a:t>
            </a:r>
            <a:r>
              <a:rPr lang="en-NZ" sz="2000" dirty="0">
                <a:latin typeface="+mj-lt"/>
                <a:hlinkClick r:id="rId2"/>
              </a:rPr>
              <a:t>Beyond the Generalist: The Overlooked Importance of Technical Expertise in IT Project Management</a:t>
            </a:r>
            <a:r>
              <a:rPr lang="en-NZ" sz="2000" dirty="0">
                <a:latin typeface="+mj-lt"/>
              </a:rPr>
              <a:t>. </a:t>
            </a:r>
            <a:r>
              <a:rPr lang="en-NZ" sz="2000" i="1" dirty="0">
                <a:latin typeface="+mj-lt"/>
              </a:rPr>
              <a:t>International Journal of Information Technology Project Management</a:t>
            </a:r>
            <a:r>
              <a:rPr lang="en-NZ" sz="2000" dirty="0">
                <a:latin typeface="+mj-lt"/>
              </a:rPr>
              <a:t> (IJITPM), 16(1), 1-23.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31755</TotalTime>
  <Words>2700</Words>
  <Application>Microsoft Office PowerPoint</Application>
  <PresentationFormat>Widescreen</PresentationFormat>
  <Paragraphs>255</Paragraphs>
  <Slides>33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Arial</vt:lpstr>
      <vt:lpstr>Calibri</vt:lpstr>
      <vt:lpstr>Times New Roman</vt:lpstr>
      <vt:lpstr>Wingdings</vt:lpstr>
      <vt:lpstr>Office Theme</vt:lpstr>
      <vt:lpstr>COMP507 IT Project Management PM Concepts, Phases and Life Cycle</vt:lpstr>
      <vt:lpstr>Learning Objectives</vt:lpstr>
      <vt:lpstr>Introduction- Why PM (Project Management)? </vt:lpstr>
      <vt:lpstr>Motivation for Studying IT Projects</vt:lpstr>
      <vt:lpstr>Principles of Project Management</vt:lpstr>
      <vt:lpstr>Measuring projects success- triple constraints </vt:lpstr>
      <vt:lpstr>Figure 1-1 The Triple Constraint of Project Management</vt:lpstr>
      <vt:lpstr>What is IT Project Management?</vt:lpstr>
      <vt:lpstr>What is IT Project Management?</vt:lpstr>
      <vt:lpstr>What enables project success- PM Methodology</vt:lpstr>
      <vt:lpstr>How to apply a PM Methodology</vt:lpstr>
      <vt:lpstr>What enables project success? PM Methodology</vt:lpstr>
      <vt:lpstr>What is a Project?</vt:lpstr>
      <vt:lpstr>PowerPoint Presentation</vt:lpstr>
      <vt:lpstr>IT Projects- two types: infrastructure or software development</vt:lpstr>
      <vt:lpstr>Project Attributes</vt:lpstr>
      <vt:lpstr>Products &amp; Services</vt:lpstr>
      <vt:lpstr>The Product Delivery Lifecyle</vt:lpstr>
      <vt:lpstr>What is Project Management?</vt:lpstr>
      <vt:lpstr>Figure 1-2 Project Management Framework</vt:lpstr>
      <vt:lpstr>Structured Project Management Methods</vt:lpstr>
      <vt:lpstr>Iterative project management methods</vt:lpstr>
      <vt:lpstr>Project Stakeholders</vt:lpstr>
      <vt:lpstr>Project Management Tools and Techniques</vt:lpstr>
      <vt:lpstr>Super Tools</vt:lpstr>
      <vt:lpstr>Suggested Skills for Project Management</vt:lpstr>
      <vt:lpstr>Importance of Leadership Skills</vt:lpstr>
      <vt:lpstr>Table 1.3 Ten Most Important Skills and Competencies for PM </vt:lpstr>
      <vt:lpstr>Skills for a PM on a Technical Project</vt:lpstr>
      <vt:lpstr>Project Management Institute</vt:lpstr>
      <vt:lpstr>Project Management Software (PMS)</vt:lpstr>
      <vt:lpstr>Any questions?</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dc:title>
  <dc:creator>Remko de Jong</dc:creator>
  <cp:lastModifiedBy>Daniel Vaipulu</cp:lastModifiedBy>
  <cp:revision>45</cp:revision>
  <dcterms:created xsi:type="dcterms:W3CDTF">2023-07-02T21:48:27Z</dcterms:created>
  <dcterms:modified xsi:type="dcterms:W3CDTF">2026-07-15T02:37:45Z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2022-07-25T00:00:00Z</vt:filetime>
  </property>
  <property fmtid="{D5CDD505-2E9C-101B-9397-08002B2CF9AE}" pid="3" name="Creator">
    <vt:lpwstr>Microsoft® PowerPoint® for Microsoft 365</vt:lpwstr>
  </property>
  <property fmtid="{D5CDD505-2E9C-101B-9397-08002B2CF9AE}" pid="4" name="LastSaved">
    <vt:filetime>2023-07-02T00:00:00Z</vt:filetime>
  </property>
  <property fmtid="{D5CDD505-2E9C-101B-9397-08002B2CF9AE}" pid="5" name="Producer">
    <vt:lpwstr>Microsoft® PowerPoint® for Microsoft 365</vt:lpwstr>
  </property>
</Properties>
</file>