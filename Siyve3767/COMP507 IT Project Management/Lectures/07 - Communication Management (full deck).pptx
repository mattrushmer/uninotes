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7.jpg" ContentType="image/jpg"/>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media/image8.jpg" ContentType="image/jpg"/>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4"/>
    <p:sldMasterId id="2147483683" r:id="rId5"/>
    <p:sldMasterId id="2147483689" r:id="rId6"/>
  </p:sldMasterIdLst>
  <p:notesMasterIdLst>
    <p:notesMasterId r:id="rId53"/>
  </p:notesMasterIdLst>
  <p:handoutMasterIdLst>
    <p:handoutMasterId r:id="rId54"/>
  </p:handoutMasterIdLst>
  <p:sldIdLst>
    <p:sldId id="646" r:id="rId7"/>
    <p:sldId id="710" r:id="rId8"/>
    <p:sldId id="704" r:id="rId9"/>
    <p:sldId id="318" r:id="rId10"/>
    <p:sldId id="707" r:id="rId11"/>
    <p:sldId id="427" r:id="rId12"/>
    <p:sldId id="706" r:id="rId13"/>
    <p:sldId id="715" r:id="rId14"/>
    <p:sldId id="705" r:id="rId15"/>
    <p:sldId id="716" r:id="rId16"/>
    <p:sldId id="717" r:id="rId17"/>
    <p:sldId id="683" r:id="rId18"/>
    <p:sldId id="702" r:id="rId19"/>
    <p:sldId id="652" r:id="rId20"/>
    <p:sldId id="718" r:id="rId21"/>
    <p:sldId id="655" r:id="rId22"/>
    <p:sldId id="724" r:id="rId23"/>
    <p:sldId id="723" r:id="rId24"/>
    <p:sldId id="664" r:id="rId25"/>
    <p:sldId id="665" r:id="rId26"/>
    <p:sldId id="668" r:id="rId27"/>
    <p:sldId id="725" r:id="rId28"/>
    <p:sldId id="708" r:id="rId29"/>
    <p:sldId id="709" r:id="rId30"/>
    <p:sldId id="726" r:id="rId31"/>
    <p:sldId id="669" r:id="rId32"/>
    <p:sldId id="670" r:id="rId33"/>
    <p:sldId id="711" r:id="rId34"/>
    <p:sldId id="671" r:id="rId35"/>
    <p:sldId id="672" r:id="rId36"/>
    <p:sldId id="673" r:id="rId37"/>
    <p:sldId id="674" r:id="rId38"/>
    <p:sldId id="719" r:id="rId39"/>
    <p:sldId id="720" r:id="rId40"/>
    <p:sldId id="677" r:id="rId41"/>
    <p:sldId id="713" r:id="rId42"/>
    <p:sldId id="727" r:id="rId43"/>
    <p:sldId id="728" r:id="rId44"/>
    <p:sldId id="729" r:id="rId45"/>
    <p:sldId id="675" r:id="rId46"/>
    <p:sldId id="676" r:id="rId47"/>
    <p:sldId id="721" r:id="rId48"/>
    <p:sldId id="722" r:id="rId49"/>
    <p:sldId id="688" r:id="rId50"/>
    <p:sldId id="625" r:id="rId51"/>
    <p:sldId id="701" r:id="rId52"/>
  </p:sldIdLst>
  <p:sldSz cx="12192000" cy="6858000"/>
  <p:notesSz cx="6858000" cy="9144000"/>
  <p:embeddedFontLst>
    <p:embeddedFont>
      <p:font typeface="Century Gothic" panose="020B0502020202020204" pitchFamily="34" charset="0"/>
      <p:regular r:id="rId55"/>
      <p:bold r:id="rId56"/>
      <p:italic r:id="rId57"/>
      <p:boldItalic r:id="rId58"/>
    </p:embeddedFont>
    <p:embeddedFont>
      <p:font typeface="Palatino Linotype" panose="02040502050505030304" pitchFamily="18" charset="0"/>
      <p:regular r:id="rId59"/>
      <p:bold r:id="rId60"/>
      <p:italic r:id="rId61"/>
      <p:boldItalic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9CF"/>
    <a:srgbClr val="F26400"/>
    <a:srgbClr val="6C3B7A"/>
    <a:srgbClr val="92722D"/>
    <a:srgbClr val="519032"/>
    <a:srgbClr val="F58220"/>
    <a:srgbClr val="DBC385"/>
    <a:srgbClr val="B3933A"/>
    <a:srgbClr val="B01116"/>
    <a:srgbClr val="F265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923" autoAdjust="0"/>
  </p:normalViewPr>
  <p:slideViewPr>
    <p:cSldViewPr snapToGrid="0">
      <p:cViewPr varScale="1">
        <p:scale>
          <a:sx n="85" d="100"/>
          <a:sy n="85" d="100"/>
        </p:scale>
        <p:origin x="1590" y="84"/>
      </p:cViewPr>
      <p:guideLst/>
    </p:cSldViewPr>
  </p:slideViewPr>
  <p:notesTextViewPr>
    <p:cViewPr>
      <p:scale>
        <a:sx n="3" d="2"/>
        <a:sy n="3" d="2"/>
      </p:scale>
      <p:origin x="0" y="0"/>
    </p:cViewPr>
  </p:notesTextViewPr>
  <p:notesViewPr>
    <p:cSldViewPr snapToGrid="0">
      <p:cViewPr varScale="1">
        <p:scale>
          <a:sx n="64" d="100"/>
          <a:sy n="64" d="100"/>
        </p:scale>
        <p:origin x="2616"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font" Target="fonts/font1.fntdata"/><Relationship Id="rId63"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notesMaster" Target="notesMasters/notesMaster1.xml"/><Relationship Id="rId58" Type="http://schemas.openxmlformats.org/officeDocument/2006/relationships/font" Target="fonts/font4.fntdata"/><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font" Target="fonts/font7.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2.fntdata"/><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font" Target="fonts/font5.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handoutMaster" Target="handoutMasters/handoutMaster1.xml"/><Relationship Id="rId62"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font" Target="fonts/font3.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font" Target="fonts/font6.fntdata"/><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13FD6E-1FDB-4DE3-9FB8-34B352973208}" type="datetimeFigureOut">
              <a:rPr lang="en-NZ" smtClean="0"/>
              <a:t>7/09/2026</a:t>
            </a:fld>
            <a:endParaRPr lang="en-NZ"/>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21E9BB-33A9-40EC-87AC-6B7FA56C6C7D}" type="slidenum">
              <a:rPr lang="en-NZ" smtClean="0"/>
              <a:t>‹#›</a:t>
            </a:fld>
            <a:endParaRPr lang="en-NZ"/>
          </a:p>
        </p:txBody>
      </p:sp>
    </p:spTree>
    <p:extLst>
      <p:ext uri="{BB962C8B-B14F-4D97-AF65-F5344CB8AC3E}">
        <p14:creationId xmlns:p14="http://schemas.microsoft.com/office/powerpoint/2010/main" val="35666205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B8C58-07EF-404D-B457-37886CF22D71}" type="datetimeFigureOut">
              <a:rPr lang="en-NZ" smtClean="0"/>
              <a:t>7/09/2026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4EF88-E836-44B1-9C0B-F43CD65EDBC6}" type="slidenum">
              <a:rPr lang="en-NZ" smtClean="0"/>
              <a:t>‹#›</a:t>
            </a:fld>
            <a:endParaRPr lang="en-NZ"/>
          </a:p>
        </p:txBody>
      </p:sp>
    </p:spTree>
    <p:extLst>
      <p:ext uri="{BB962C8B-B14F-4D97-AF65-F5344CB8AC3E}">
        <p14:creationId xmlns:p14="http://schemas.microsoft.com/office/powerpoint/2010/main" val="189425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2</a:t>
            </a:fld>
            <a:endParaRPr lang="en-NZ"/>
          </a:p>
        </p:txBody>
      </p:sp>
    </p:spTree>
    <p:extLst>
      <p:ext uri="{BB962C8B-B14F-4D97-AF65-F5344CB8AC3E}">
        <p14:creationId xmlns:p14="http://schemas.microsoft.com/office/powerpoint/2010/main" val="1511948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A0CC-B4AB-6F3A-1303-96D433ABC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39DB4-82BB-6595-3266-A598EF4DD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DDCDD-36EF-0296-3EC3-E5EE23591FD5}"/>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C80DC797-A237-5836-3D0F-C52FDD2B6D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14EF88-E836-44B1-9C0B-F43CD65EDBC6}"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769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0532B9-E56D-4CAD-9AC6-3B52B6D9E667}" type="slidenum">
              <a:rPr kumimoji="0" lang="en-NZ" sz="12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NZ" sz="12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0235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E6AB-6D99-46F2-B19E-C70353FDC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01CFC-B571-DE56-E1F3-AEC63904D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C1A24-EA9C-FEB3-094A-0CA38AEA3392}"/>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673BD96E-7B8F-213C-F158-8D1B07B1CA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5C790F-EDB6-4976-8BBD-429714DB0429}" type="slidenum">
              <a:rPr kumimoji="0" lang="en-NZ" sz="11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NZ" sz="11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4077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5C790F-EDB6-4976-8BBD-429714DB0429}" type="slidenum">
              <a:rPr kumimoji="0" lang="en-NZ" sz="1100" b="0" i="0" u="none" strike="noStrike" kern="0" cap="none" spc="0" normalizeH="0" baseline="0" noProof="0" smtClean="0">
                <a:ln>
                  <a:noFill/>
                </a:ln>
                <a:solidFill>
                  <a:sysClr val="windowText" lastClr="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NZ" sz="11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4588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C3256-6740-3DB0-1116-DE45DF099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20C86-407A-94BA-191C-7123D95A1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F04B2-448B-EA18-834A-FC8F1EEABD05}"/>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ABFA005C-681E-0693-4E0B-CB889A534B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14EF88-E836-44B1-9C0B-F43CD65EDBC6}"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1751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NZ"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03375-85CD-40CB-AC08-13D26EF37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FA744-6236-8764-832E-5C1020CBA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D481E-3104-3420-41C9-170AF67D547F}"/>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580EDA8F-BFFE-8348-50E9-994BE7801D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14EF88-E836-44B1-9C0B-F43CD65EDBC6}"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0555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NZ"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12</a:t>
            </a:fld>
            <a:endParaRPr lang="en-NZ"/>
          </a:p>
        </p:txBody>
      </p:sp>
    </p:spTree>
    <p:extLst>
      <p:ext uri="{BB962C8B-B14F-4D97-AF65-F5344CB8AC3E}">
        <p14:creationId xmlns:p14="http://schemas.microsoft.com/office/powerpoint/2010/main" val="2035014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13</a:t>
            </a:fld>
            <a:endParaRPr lang="en-NZ"/>
          </a:p>
        </p:txBody>
      </p:sp>
    </p:spTree>
    <p:extLst>
      <p:ext uri="{BB962C8B-B14F-4D97-AF65-F5344CB8AC3E}">
        <p14:creationId xmlns:p14="http://schemas.microsoft.com/office/powerpoint/2010/main" val="3965127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15</a:t>
            </a:fld>
            <a:endParaRPr lang="en-NZ"/>
          </a:p>
        </p:txBody>
      </p:sp>
    </p:spTree>
    <p:extLst>
      <p:ext uri="{BB962C8B-B14F-4D97-AF65-F5344CB8AC3E}">
        <p14:creationId xmlns:p14="http://schemas.microsoft.com/office/powerpoint/2010/main" val="1719394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21</a:t>
            </a:fld>
            <a:endParaRPr lang="en-NZ"/>
          </a:p>
        </p:txBody>
      </p:sp>
    </p:spTree>
    <p:extLst>
      <p:ext uri="{BB962C8B-B14F-4D97-AF65-F5344CB8AC3E}">
        <p14:creationId xmlns:p14="http://schemas.microsoft.com/office/powerpoint/2010/main" val="2433653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5AB66-F030-A4E2-CE42-A2D0FACB4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F814B-EAEC-8308-8299-EE5737DF31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3A4B8-280F-87E6-952F-9F8EB3783CD3}"/>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9635E91C-735B-327B-BB85-93455F3D97AB}"/>
              </a:ext>
            </a:extLst>
          </p:cNvPr>
          <p:cNvSpPr>
            <a:spLocks noGrp="1"/>
          </p:cNvSpPr>
          <p:nvPr>
            <p:ph type="sldNum" sz="quarter" idx="5"/>
          </p:nvPr>
        </p:nvSpPr>
        <p:spPr/>
        <p:txBody>
          <a:bodyPr/>
          <a:lstStyle/>
          <a:p>
            <a:fld id="{A514EF88-E836-44B1-9C0B-F43CD65EDBC6}" type="slidenum">
              <a:rPr lang="en-NZ" smtClean="0"/>
              <a:t>23</a:t>
            </a:fld>
            <a:endParaRPr lang="en-NZ"/>
          </a:p>
        </p:txBody>
      </p:sp>
    </p:spTree>
    <p:extLst>
      <p:ext uri="{BB962C8B-B14F-4D97-AF65-F5344CB8AC3E}">
        <p14:creationId xmlns:p14="http://schemas.microsoft.com/office/powerpoint/2010/main" val="3669448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2EA51-17D6-8C64-338F-E8C410FD0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A752A-33C5-A285-9E19-51D42F5D0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2B9ED-C741-44E0-70DE-458F75C17301}"/>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660D75C5-0AC7-4BDF-DCD0-C281DEC57837}"/>
              </a:ext>
            </a:extLst>
          </p:cNvPr>
          <p:cNvSpPr>
            <a:spLocks noGrp="1"/>
          </p:cNvSpPr>
          <p:nvPr>
            <p:ph type="sldNum" sz="quarter" idx="5"/>
          </p:nvPr>
        </p:nvSpPr>
        <p:spPr/>
        <p:txBody>
          <a:bodyPr/>
          <a:lstStyle/>
          <a:p>
            <a:fld id="{A514EF88-E836-44B1-9C0B-F43CD65EDBC6}" type="slidenum">
              <a:rPr lang="en-NZ" smtClean="0"/>
              <a:t>24</a:t>
            </a:fld>
            <a:endParaRPr lang="en-NZ"/>
          </a:p>
        </p:txBody>
      </p:sp>
    </p:spTree>
    <p:extLst>
      <p:ext uri="{BB962C8B-B14F-4D97-AF65-F5344CB8AC3E}">
        <p14:creationId xmlns:p14="http://schemas.microsoft.com/office/powerpoint/2010/main" val="1746495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26</a:t>
            </a:fld>
            <a:endParaRPr lang="en-NZ"/>
          </a:p>
        </p:txBody>
      </p:sp>
    </p:spTree>
    <p:extLst>
      <p:ext uri="{BB962C8B-B14F-4D97-AF65-F5344CB8AC3E}">
        <p14:creationId xmlns:p14="http://schemas.microsoft.com/office/powerpoint/2010/main" val="1825068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DDD0E-84D8-9892-7CFB-99F18B002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73038-87B0-E055-AC25-4E80713BD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B12D9-F117-8F2D-168A-E222076EF9D5}"/>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423DAC80-98CC-A9AF-045B-5D3E40C5B4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14EF88-E836-44B1-9C0B-F43CD65EDBC6}" type="slidenum">
              <a:rPr kumimoji="0" lang="en-N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N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74303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35</a:t>
            </a:fld>
            <a:endParaRPr lang="en-NZ"/>
          </a:p>
        </p:txBody>
      </p:sp>
    </p:spTree>
    <p:extLst>
      <p:ext uri="{BB962C8B-B14F-4D97-AF65-F5344CB8AC3E}">
        <p14:creationId xmlns:p14="http://schemas.microsoft.com/office/powerpoint/2010/main" val="604181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F5085-AB03-4DBB-A745-2C17BFDE9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5B678-3C5B-5562-7A05-957CD0459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9E94-C38E-7C10-37F3-F905311C6045}"/>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B4BCCFD4-DAC6-B39E-282E-516DA75CACB2}"/>
              </a:ext>
            </a:extLst>
          </p:cNvPr>
          <p:cNvSpPr>
            <a:spLocks noGrp="1"/>
          </p:cNvSpPr>
          <p:nvPr>
            <p:ph type="sldNum" sz="quarter" idx="5"/>
          </p:nvPr>
        </p:nvSpPr>
        <p:spPr/>
        <p:txBody>
          <a:bodyPr/>
          <a:lstStyle/>
          <a:p>
            <a:fld id="{A514EF88-E836-44B1-9C0B-F43CD65EDBC6}" type="slidenum">
              <a:rPr lang="en-NZ" smtClean="0"/>
              <a:t>36</a:t>
            </a:fld>
            <a:endParaRPr lang="en-NZ"/>
          </a:p>
        </p:txBody>
      </p:sp>
    </p:spTree>
    <p:extLst>
      <p:ext uri="{BB962C8B-B14F-4D97-AF65-F5344CB8AC3E}">
        <p14:creationId xmlns:p14="http://schemas.microsoft.com/office/powerpoint/2010/main" val="1056717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39</a:t>
            </a:fld>
            <a:endParaRPr lang="en-NZ"/>
          </a:p>
        </p:txBody>
      </p:sp>
    </p:spTree>
    <p:extLst>
      <p:ext uri="{BB962C8B-B14F-4D97-AF65-F5344CB8AC3E}">
        <p14:creationId xmlns:p14="http://schemas.microsoft.com/office/powerpoint/2010/main" val="6041815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585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460500" y="365125"/>
            <a:ext cx="10515600" cy="1325563"/>
          </a:xfrm>
          <a:prstGeom prst="rect">
            <a:avLst/>
          </a:prstGeom>
        </p:spPr>
        <p:txBody>
          <a:bodyPr vert="horz" lIns="91440" tIns="45720" rIns="91440" bIns="45720" rtlCol="0" anchor="ctr">
            <a:normAutofit/>
          </a:bodyPr>
          <a:lstStyle>
            <a:lvl1pPr>
              <a:defRPr>
                <a:solidFill>
                  <a:srgbClr val="F26522"/>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1460500" y="1844530"/>
            <a:ext cx="10515600" cy="4351338"/>
          </a:xfrm>
        </p:spPr>
        <p:txBody>
          <a:bodyPr/>
          <a:lstStyle>
            <a:lvl1pPr>
              <a:buClr>
                <a:srgbClr val="F58220"/>
              </a:buClr>
              <a:defRPr/>
            </a:lvl1pPr>
            <a:lvl2pPr>
              <a:buClr>
                <a:srgbClr val="F58220"/>
              </a:buClr>
              <a:defRPr/>
            </a:lvl2pPr>
            <a:lvl3pPr>
              <a:buClr>
                <a:srgbClr val="F58220"/>
              </a:buClr>
              <a:defRPr/>
            </a:lvl3pPr>
            <a:lvl4pPr>
              <a:buClr>
                <a:srgbClr val="F58220"/>
              </a:buClr>
              <a:defRPr/>
            </a:lvl4pPr>
            <a:lvl5pPr>
              <a:buClr>
                <a:srgbClr val="F582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2872869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869868" y="2414156"/>
            <a:ext cx="4237844" cy="1325563"/>
          </a:xfrm>
          <a:prstGeom prst="rect">
            <a:avLst/>
          </a:prstGeom>
        </p:spPr>
        <p:txBody>
          <a:bodyPr vert="horz" lIns="91440" tIns="45720" rIns="91440" bIns="45720" rtlCol="0" anchor="ctr">
            <a:normAutofit/>
          </a:bodyPr>
          <a:lstStyle>
            <a:lvl1pPr>
              <a:defRPr sz="3600">
                <a:solidFill>
                  <a:srgbClr val="F26400"/>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6869868" y="3913172"/>
            <a:ext cx="4237844" cy="1063562"/>
          </a:xfrm>
        </p:spPr>
        <p:txBody>
          <a:bodyPr/>
          <a:lstStyle>
            <a:lvl1pPr marL="0" indent="0">
              <a:buClr>
                <a:srgbClr val="ED1C24"/>
              </a:buClr>
              <a:buNone/>
              <a:defRPr/>
            </a:lvl1pPr>
            <a:lvl2pPr>
              <a:buClr>
                <a:srgbClr val="ED1C24"/>
              </a:buClr>
              <a:defRPr/>
            </a:lvl2pPr>
            <a:lvl3pPr>
              <a:buClr>
                <a:srgbClr val="ED1C24"/>
              </a:buClr>
              <a:defRPr/>
            </a:lvl3pPr>
            <a:lvl4pPr>
              <a:buClr>
                <a:srgbClr val="ED1C24"/>
              </a:buClr>
              <a:defRPr/>
            </a:lvl4pPr>
            <a:lvl5pPr>
              <a:buClr>
                <a:srgbClr val="ED1C24"/>
              </a:buClr>
              <a:defRPr/>
            </a:lvl5pPr>
          </a:lstStyle>
          <a:p>
            <a:pPr lvl="0"/>
            <a:r>
              <a:rPr lang="en-US" dirty="0"/>
              <a:t>Click to edit Master text styles</a:t>
            </a:r>
          </a:p>
        </p:txBody>
      </p:sp>
    </p:spTree>
    <p:extLst>
      <p:ext uri="{BB962C8B-B14F-4D97-AF65-F5344CB8AC3E}">
        <p14:creationId xmlns:p14="http://schemas.microsoft.com/office/powerpoint/2010/main" val="780845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40099"/>
            <a:ext cx="9182100" cy="2146301"/>
          </a:xfrm>
          <a:prstGeom prst="rect">
            <a:avLst/>
          </a:prstGeom>
          <a:solidFill>
            <a:srgbClr val="F26522">
              <a:alpha val="8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NZ" sz="800"/>
          </a:p>
        </p:txBody>
      </p:sp>
      <p:sp>
        <p:nvSpPr>
          <p:cNvPr id="5" name="Title 1"/>
          <p:cNvSpPr>
            <a:spLocks noGrp="1"/>
          </p:cNvSpPr>
          <p:nvPr>
            <p:ph type="title"/>
          </p:nvPr>
        </p:nvSpPr>
        <p:spPr>
          <a:xfrm>
            <a:off x="749300" y="3556000"/>
            <a:ext cx="8140700" cy="1277938"/>
          </a:xfrm>
        </p:spPr>
        <p:txBody>
          <a:bodyPr anchor="b"/>
          <a:lstStyle>
            <a:lvl1pPr>
              <a:defRPr>
                <a:solidFill>
                  <a:schemeClr val="bg1"/>
                </a:solidFill>
              </a:defRPr>
            </a:lvl1pPr>
          </a:lstStyle>
          <a:p>
            <a:r>
              <a:rPr lang="en-US" dirty="0"/>
              <a:t>Click to edit Master title style</a:t>
            </a:r>
            <a:endParaRPr lang="en-NZ" dirty="0"/>
          </a:p>
        </p:txBody>
      </p:sp>
      <p:sp>
        <p:nvSpPr>
          <p:cNvPr id="6" name="Subtitle 2"/>
          <p:cNvSpPr>
            <a:spLocks noGrp="1"/>
          </p:cNvSpPr>
          <p:nvPr>
            <p:ph type="subTitle" idx="1"/>
          </p:nvPr>
        </p:nvSpPr>
        <p:spPr>
          <a:xfrm>
            <a:off x="749300" y="4833938"/>
            <a:ext cx="8140700" cy="6016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NZ"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78522" y="0"/>
            <a:ext cx="2007556" cy="1995055"/>
          </a:xfrm>
          <a:prstGeom prst="rect">
            <a:avLst/>
          </a:prstGeom>
        </p:spPr>
      </p:pic>
    </p:spTree>
    <p:extLst>
      <p:ext uri="{BB962C8B-B14F-4D97-AF65-F5344CB8AC3E}">
        <p14:creationId xmlns:p14="http://schemas.microsoft.com/office/powerpoint/2010/main" val="4128043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200" b="0" i="0">
                <a:solidFill>
                  <a:srgbClr val="595958"/>
                </a:solidFill>
                <a:latin typeface="Century Gothic"/>
                <a:cs typeface="Century Gothic"/>
              </a:defRPr>
            </a:lvl1pPr>
          </a:lstStyle>
          <a:p>
            <a:pPr marL="25400"/>
            <a:fld id="{81D60167-4931-47E6-BA6A-407CBD079E47}" type="slidenum">
              <a:rPr lang="en-NZ" smtClean="0"/>
              <a:pPr marL="25400"/>
              <a:t>‹#›</a:t>
            </a:fld>
            <a:endParaRPr lang="en-NZ" dirty="0"/>
          </a:p>
        </p:txBody>
      </p:sp>
    </p:spTree>
    <p:extLst>
      <p:ext uri="{BB962C8B-B14F-4D97-AF65-F5344CB8AC3E}">
        <p14:creationId xmlns:p14="http://schemas.microsoft.com/office/powerpoint/2010/main" val="3416468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sz="1800"/>
          </a:p>
        </p:txBody>
      </p:sp>
      <p:sp>
        <p:nvSpPr>
          <p:cNvPr id="17" name="bk object 17"/>
          <p:cNvSpPr/>
          <p:nvPr/>
        </p:nvSpPr>
        <p:spPr>
          <a:xfrm>
            <a:off x="11277600" y="6500967"/>
            <a:ext cx="111760" cy="81280"/>
          </a:xfrm>
          <a:custGeom>
            <a:avLst/>
            <a:gdLst/>
            <a:ahLst/>
            <a:cxnLst/>
            <a:rect l="l" t="t" r="r" b="b"/>
            <a:pathLst>
              <a:path w="83820" h="81279">
                <a:moveTo>
                  <a:pt x="32295" y="0"/>
                </a:moveTo>
                <a:lnTo>
                  <a:pt x="19438" y="5417"/>
                </a:lnTo>
                <a:lnTo>
                  <a:pt x="9204" y="14588"/>
                </a:lnTo>
                <a:lnTo>
                  <a:pt x="2442" y="26666"/>
                </a:lnTo>
                <a:lnTo>
                  <a:pt x="0" y="40802"/>
                </a:lnTo>
                <a:lnTo>
                  <a:pt x="412" y="46652"/>
                </a:lnTo>
                <a:lnTo>
                  <a:pt x="36328" y="79943"/>
                </a:lnTo>
                <a:lnTo>
                  <a:pt x="53988" y="80924"/>
                </a:lnTo>
                <a:lnTo>
                  <a:pt x="65922" y="74939"/>
                </a:lnTo>
                <a:lnTo>
                  <a:pt x="75343" y="65274"/>
                </a:lnTo>
                <a:lnTo>
                  <a:pt x="81504" y="52477"/>
                </a:lnTo>
                <a:lnTo>
                  <a:pt x="83656" y="37096"/>
                </a:lnTo>
                <a:lnTo>
                  <a:pt x="80561" y="24915"/>
                </a:lnTo>
                <a:lnTo>
                  <a:pt x="73683" y="14486"/>
                </a:lnTo>
                <a:lnTo>
                  <a:pt x="63218" y="6438"/>
                </a:lnTo>
                <a:lnTo>
                  <a:pt x="49358" y="1400"/>
                </a:lnTo>
                <a:lnTo>
                  <a:pt x="32295" y="0"/>
                </a:lnTo>
                <a:close/>
              </a:path>
            </a:pathLst>
          </a:custGeom>
          <a:solidFill>
            <a:srgbClr val="808080"/>
          </a:solidFill>
        </p:spPr>
        <p:txBody>
          <a:bodyPr wrap="square" lIns="0" tIns="0" rIns="0" bIns="0" rtlCol="0"/>
          <a:lstStyle/>
          <a:p>
            <a:endParaRPr sz="1800"/>
          </a:p>
        </p:txBody>
      </p:sp>
      <p:sp>
        <p:nvSpPr>
          <p:cNvPr id="18" name="bk object 18"/>
          <p:cNvSpPr/>
          <p:nvPr/>
        </p:nvSpPr>
        <p:spPr>
          <a:xfrm>
            <a:off x="757935" y="6501089"/>
            <a:ext cx="113453" cy="80645"/>
          </a:xfrm>
          <a:custGeom>
            <a:avLst/>
            <a:gdLst/>
            <a:ahLst/>
            <a:cxnLst/>
            <a:rect l="l" t="t" r="r" b="b"/>
            <a:pathLst>
              <a:path w="85090" h="80645">
                <a:moveTo>
                  <a:pt x="32372" y="0"/>
                </a:moveTo>
                <a:lnTo>
                  <a:pt x="19470" y="5499"/>
                </a:lnTo>
                <a:lnTo>
                  <a:pt x="9213" y="14663"/>
                </a:lnTo>
                <a:lnTo>
                  <a:pt x="2443" y="26665"/>
                </a:lnTo>
                <a:lnTo>
                  <a:pt x="0" y="40681"/>
                </a:lnTo>
                <a:lnTo>
                  <a:pt x="696" y="48163"/>
                </a:lnTo>
                <a:lnTo>
                  <a:pt x="38078" y="79686"/>
                </a:lnTo>
                <a:lnTo>
                  <a:pt x="56139" y="80423"/>
                </a:lnTo>
                <a:lnTo>
                  <a:pt x="67845" y="74207"/>
                </a:lnTo>
                <a:lnTo>
                  <a:pt x="77044" y="64402"/>
                </a:lnTo>
                <a:lnTo>
                  <a:pt x="83022" y="51466"/>
                </a:lnTo>
                <a:lnTo>
                  <a:pt x="85060" y="35858"/>
                </a:lnTo>
                <a:lnTo>
                  <a:pt x="81650" y="24004"/>
                </a:lnTo>
                <a:lnTo>
                  <a:pt x="74509" y="13890"/>
                </a:lnTo>
                <a:lnTo>
                  <a:pt x="63804" y="6117"/>
                </a:lnTo>
                <a:lnTo>
                  <a:pt x="49703" y="1287"/>
                </a:lnTo>
                <a:lnTo>
                  <a:pt x="32372" y="0"/>
                </a:lnTo>
                <a:close/>
              </a:path>
            </a:pathLst>
          </a:custGeom>
          <a:solidFill>
            <a:srgbClr val="808080"/>
          </a:solidFill>
        </p:spPr>
        <p:txBody>
          <a:bodyPr wrap="square" lIns="0" tIns="0" rIns="0" bIns="0" rtlCol="0"/>
          <a:lstStyle/>
          <a:p>
            <a:endParaRPr sz="1800"/>
          </a:p>
        </p:txBody>
      </p:sp>
      <p:sp>
        <p:nvSpPr>
          <p:cNvPr id="19" name="bk object 19"/>
          <p:cNvSpPr/>
          <p:nvPr/>
        </p:nvSpPr>
        <p:spPr>
          <a:xfrm>
            <a:off x="2700527" y="504445"/>
            <a:ext cx="6786879" cy="1543811"/>
          </a:xfrm>
          <a:prstGeom prst="rect">
            <a:avLst/>
          </a:prstGeom>
          <a:blipFill>
            <a:blip r:embed="rId3" cstate="print"/>
            <a:stretch>
              <a:fillRect/>
            </a:stretch>
          </a:blipFill>
        </p:spPr>
        <p:txBody>
          <a:bodyPr wrap="square" lIns="0" tIns="0" rIns="0" bIns="0" rtlCol="0"/>
          <a:lstStyle/>
          <a:p>
            <a:endParaRPr sz="1800"/>
          </a:p>
        </p:txBody>
      </p:sp>
      <p:sp>
        <p:nvSpPr>
          <p:cNvPr id="2" name="Holder 2"/>
          <p:cNvSpPr>
            <a:spLocks noGrp="1"/>
          </p:cNvSpPr>
          <p:nvPr>
            <p:ph type="title"/>
          </p:nvPr>
        </p:nvSpPr>
        <p:spPr/>
        <p:txBody>
          <a:bodyPr lIns="0" tIns="0" rIns="0" bIns="0"/>
          <a:lstStyle>
            <a:lvl1pPr>
              <a:defRPr sz="5400" b="0" i="0">
                <a:solidFill>
                  <a:srgbClr val="2F5897"/>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p:txBody>
          <a:bodyPr lIns="0" tIns="0" rIns="0" bIns="0"/>
          <a:lstStyle>
            <a:lvl1pPr>
              <a:defRPr sz="1200" b="0" i="0">
                <a:solidFill>
                  <a:srgbClr val="595958"/>
                </a:solidFill>
                <a:latin typeface="Century Gothic"/>
                <a:cs typeface="Century Gothic"/>
              </a:defRPr>
            </a:lvl1pPr>
          </a:lstStyle>
          <a:p>
            <a:pPr marL="25400"/>
            <a:fld id="{81D60167-4931-47E6-BA6A-407CBD079E47}" type="slidenum">
              <a:rPr lang="en-NZ" smtClean="0"/>
              <a:pPr marL="25400"/>
              <a:t>‹#›</a:t>
            </a:fld>
            <a:endParaRPr lang="en-NZ" dirty="0"/>
          </a:p>
        </p:txBody>
      </p:sp>
    </p:spTree>
    <p:extLst>
      <p:ext uri="{BB962C8B-B14F-4D97-AF65-F5344CB8AC3E}">
        <p14:creationId xmlns:p14="http://schemas.microsoft.com/office/powerpoint/2010/main" val="503694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98177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71356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5456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84205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02031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F1642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35405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1642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2351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1642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60791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1642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32552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1018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p:cNvSpPr>
            <a:spLocks noGrp="1"/>
          </p:cNvSpPr>
          <p:nvPr>
            <p:ph type="dt" sz="half" idx="10"/>
          </p:nvPr>
        </p:nvSpPr>
        <p:spPr/>
        <p:txBody>
          <a:bodyPr/>
          <a:lstStyle/>
          <a:p>
            <a:fld id="{DD005C3B-553F-4E5D-8A4D-9A118C27BC84}" type="datetimeFigureOut">
              <a:rPr lang="en-NZ" smtClean="0"/>
              <a:pPr/>
              <a:t>7/09/2026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C3183401-397B-4D5E-959D-32604BFE8D3F}" type="slidenum">
              <a:rPr lang="en-NZ" smtClean="0"/>
              <a:pPr/>
              <a:t>‹#›</a:t>
            </a:fld>
            <a:endParaRPr lang="en-NZ"/>
          </a:p>
        </p:txBody>
      </p:sp>
    </p:spTree>
    <p:extLst>
      <p:ext uri="{BB962C8B-B14F-4D97-AF65-F5344CB8AC3E}">
        <p14:creationId xmlns:p14="http://schemas.microsoft.com/office/powerpoint/2010/main" val="1694083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40099"/>
            <a:ext cx="9182100" cy="2146301"/>
          </a:xfrm>
          <a:prstGeom prst="rect">
            <a:avLst/>
          </a:prstGeom>
          <a:solidFill>
            <a:srgbClr val="F26522">
              <a:alpha val="8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NZ" sz="800"/>
          </a:p>
        </p:txBody>
      </p:sp>
      <p:sp>
        <p:nvSpPr>
          <p:cNvPr id="5" name="Title 1"/>
          <p:cNvSpPr>
            <a:spLocks noGrp="1"/>
          </p:cNvSpPr>
          <p:nvPr>
            <p:ph type="title"/>
          </p:nvPr>
        </p:nvSpPr>
        <p:spPr>
          <a:xfrm>
            <a:off x="749300" y="3556000"/>
            <a:ext cx="8140700" cy="1277938"/>
          </a:xfrm>
        </p:spPr>
        <p:txBody>
          <a:bodyPr anchor="b"/>
          <a:lstStyle>
            <a:lvl1pPr>
              <a:defRPr>
                <a:solidFill>
                  <a:schemeClr val="bg1"/>
                </a:solidFill>
              </a:defRPr>
            </a:lvl1pPr>
          </a:lstStyle>
          <a:p>
            <a:r>
              <a:rPr lang="en-US" dirty="0"/>
              <a:t>Click to edit Master title style</a:t>
            </a:r>
            <a:endParaRPr lang="en-NZ" dirty="0"/>
          </a:p>
        </p:txBody>
      </p:sp>
      <p:sp>
        <p:nvSpPr>
          <p:cNvPr id="6" name="Subtitle 2"/>
          <p:cNvSpPr>
            <a:spLocks noGrp="1"/>
          </p:cNvSpPr>
          <p:nvPr>
            <p:ph type="subTitle" idx="1"/>
          </p:nvPr>
        </p:nvSpPr>
        <p:spPr>
          <a:xfrm>
            <a:off x="749300" y="4833938"/>
            <a:ext cx="8140700" cy="6016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NZ" dirty="0"/>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78522" y="0"/>
            <a:ext cx="2007556" cy="1995055"/>
          </a:xfrm>
          <a:prstGeom prst="rect">
            <a:avLst/>
          </a:prstGeom>
        </p:spPr>
      </p:pic>
    </p:spTree>
    <p:extLst>
      <p:ext uri="{BB962C8B-B14F-4D97-AF65-F5344CB8AC3E}">
        <p14:creationId xmlns:p14="http://schemas.microsoft.com/office/powerpoint/2010/main" val="42325537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7.jp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8.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NZ"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3093605729"/>
      </p:ext>
    </p:extLst>
  </p:cSld>
  <p:clrMap bg1="lt1" tx1="dk1" bg2="lt2" tx2="dk2" accent1="accent1" accent2="accent2" accent3="accent3" accent4="accent4" accent5="accent5" accent6="accent6" hlink="hlink" folHlink="folHlink"/>
  <p:sldLayoutIdLst>
    <p:sldLayoutId id="2147483671" r:id="rId1"/>
    <p:sldLayoutId id="2147483668" r:id="rId2"/>
    <p:sldLayoutId id="2147483677" r:id="rId3"/>
    <p:sldLayoutId id="2147483663" r:id="rId4"/>
    <p:sldLayoutId id="2147483679" r:id="rId5"/>
    <p:sldLayoutId id="2147483680" r:id="rId6"/>
  </p:sldLayoutIdLst>
  <p:hf hdr="0" dt="0"/>
  <p:txStyles>
    <p:titleStyle>
      <a:lvl1pPr algn="l" defTabSz="914400" rtl="0" eaLnBrk="1" latinLnBrk="0" hangingPunct="1">
        <a:lnSpc>
          <a:spcPct val="90000"/>
        </a:lnSpc>
        <a:spcBef>
          <a:spcPct val="0"/>
        </a:spcBef>
        <a:buNone/>
        <a:defRPr sz="4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 cy="6857997"/>
          </a:xfrm>
          <a:prstGeom prst="rect">
            <a:avLst/>
          </a:prstGeom>
        </p:spPr>
      </p:pic>
      <p:sp>
        <p:nvSpPr>
          <p:cNvPr id="2" name="Holder 2"/>
          <p:cNvSpPr>
            <a:spLocks noGrp="1"/>
          </p:cNvSpPr>
          <p:nvPr>
            <p:ph type="title"/>
          </p:nvPr>
        </p:nvSpPr>
        <p:spPr>
          <a:xfrm>
            <a:off x="1468374" y="169621"/>
            <a:ext cx="10264012" cy="1439087"/>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a:xfrm>
            <a:off x="1539366" y="1392453"/>
            <a:ext cx="10287635" cy="373570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8297404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0" y="0"/>
            <a:ext cx="1219200" cy="6857998"/>
          </a:xfrm>
          <a:prstGeom prst="rect">
            <a:avLst/>
          </a:prstGeom>
        </p:spPr>
      </p:pic>
      <p:sp>
        <p:nvSpPr>
          <p:cNvPr id="2" name="Holder 2"/>
          <p:cNvSpPr>
            <a:spLocks noGrp="1"/>
          </p:cNvSpPr>
          <p:nvPr>
            <p:ph type="title"/>
          </p:nvPr>
        </p:nvSpPr>
        <p:spPr>
          <a:xfrm>
            <a:off x="1238199" y="50672"/>
            <a:ext cx="10325912" cy="1256233"/>
          </a:xfrm>
          <a:prstGeom prst="rect">
            <a:avLst/>
          </a:prstGeom>
        </p:spPr>
        <p:txBody>
          <a:bodyPr wrap="square" lIns="0" tIns="0" rIns="0" bIns="0">
            <a:spAutoFit/>
          </a:bodyPr>
          <a:lstStyle>
            <a:lvl1pPr>
              <a:defRPr sz="4400" b="0" i="0">
                <a:solidFill>
                  <a:srgbClr val="F16421"/>
                </a:solidFill>
                <a:latin typeface="Calibri Light"/>
                <a:cs typeface="Calibri Light"/>
              </a:defRPr>
            </a:lvl1pPr>
          </a:lstStyle>
          <a:p>
            <a:endParaRPr/>
          </a:p>
        </p:txBody>
      </p:sp>
      <p:sp>
        <p:nvSpPr>
          <p:cNvPr id="3" name="Holder 3"/>
          <p:cNvSpPr>
            <a:spLocks noGrp="1"/>
          </p:cNvSpPr>
          <p:nvPr>
            <p:ph type="body" idx="1"/>
          </p:nvPr>
        </p:nvSpPr>
        <p:spPr>
          <a:xfrm>
            <a:off x="1539366" y="1756029"/>
            <a:ext cx="10266045" cy="4156075"/>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3730470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211" y="3767808"/>
            <a:ext cx="8140700" cy="1277938"/>
          </a:xfrm>
        </p:spPr>
        <p:txBody>
          <a:bodyPr>
            <a:normAutofit fontScale="90000"/>
          </a:bodyPr>
          <a:lstStyle/>
          <a:p>
            <a:r>
              <a:rPr lang="en-US" sz="4800" dirty="0"/>
              <a:t>COMP507 IT Project Management</a:t>
            </a:r>
            <a:br>
              <a:rPr lang="en-US" sz="4800" dirty="0"/>
            </a:br>
            <a:r>
              <a:rPr lang="en-US" sz="4800" dirty="0"/>
              <a:t>Communications Management</a:t>
            </a:r>
            <a:endParaRPr lang="en-NZ" dirty="0"/>
          </a:p>
        </p:txBody>
      </p:sp>
    </p:spTree>
    <p:extLst>
      <p:ext uri="{BB962C8B-B14F-4D97-AF65-F5344CB8AC3E}">
        <p14:creationId xmlns:p14="http://schemas.microsoft.com/office/powerpoint/2010/main" val="37704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89CA6-5B6D-49C6-B5AB-FD2EDB095F9C}"/>
              </a:ext>
            </a:extLst>
          </p:cNvPr>
          <p:cNvSpPr>
            <a:spLocks noGrp="1"/>
          </p:cNvSpPr>
          <p:nvPr>
            <p:ph type="title"/>
          </p:nvPr>
        </p:nvSpPr>
        <p:spPr/>
        <p:txBody>
          <a:bodyPr/>
          <a:lstStyle/>
          <a:p>
            <a:r>
              <a:rPr lang="en-NZ" dirty="0"/>
              <a:t>Agenda</a:t>
            </a:r>
          </a:p>
        </p:txBody>
      </p:sp>
      <p:sp>
        <p:nvSpPr>
          <p:cNvPr id="3" name="Text Placeholder 2">
            <a:extLst>
              <a:ext uri="{FF2B5EF4-FFF2-40B4-BE49-F238E27FC236}">
                <a16:creationId xmlns:a16="http://schemas.microsoft.com/office/drawing/2014/main" id="{346031E1-E1CB-4D30-AD2B-D2846019FEA9}"/>
              </a:ext>
            </a:extLst>
          </p:cNvPr>
          <p:cNvSpPr>
            <a:spLocks noGrp="1"/>
          </p:cNvSpPr>
          <p:nvPr>
            <p:ph type="body" sz="quarter" idx="13"/>
          </p:nvPr>
        </p:nvSpPr>
        <p:spPr/>
        <p:txBody>
          <a:bodyPr/>
          <a:lstStyle/>
          <a:p>
            <a:pPr>
              <a:defRPr sz="3000"/>
            </a:pPr>
            <a:r>
              <a:t>Why communications?</a:t>
            </a:r>
          </a:p>
          <a:p>
            <a:pPr>
              <a:defRPr sz="3000"/>
            </a:pPr>
            <a:r>
              <a:t>Determine the number of communication channels</a:t>
            </a:r>
          </a:p>
          <a:p>
            <a:pPr>
              <a:defRPr sz="3000"/>
            </a:pPr>
            <a:r>
              <a:t>Communications management processes: plan, manage and monitor</a:t>
            </a:r>
          </a:p>
          <a:p>
            <a:pPr>
              <a:defRPr sz="3000"/>
            </a:pPr>
            <a:r>
              <a:t>PMI communication model, 5 Cs, tailoring and monitoring</a:t>
            </a:r>
          </a:p>
          <a:p>
            <a:pPr>
              <a:defRPr sz="3000"/>
            </a:pPr>
            <a:r>
              <a:t>Best practice</a:t>
            </a:r>
          </a:p>
        </p:txBody>
      </p:sp>
    </p:spTree>
    <p:extLst>
      <p:ext uri="{BB962C8B-B14F-4D97-AF65-F5344CB8AC3E}">
        <p14:creationId xmlns:p14="http://schemas.microsoft.com/office/powerpoint/2010/main" val="3401232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9ED39-6A72-769A-01AA-0872EB43D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804A1-FC04-0B0A-27A4-604E65E12BFA}"/>
              </a:ext>
            </a:extLst>
          </p:cNvPr>
          <p:cNvSpPr>
            <a:spLocks noGrp="1"/>
          </p:cNvSpPr>
          <p:nvPr>
            <p:ph type="title"/>
          </p:nvPr>
        </p:nvSpPr>
        <p:spPr/>
        <p:txBody>
          <a:bodyPr/>
          <a:lstStyle/>
          <a:p>
            <a:r>
              <a:rPr lang="en-NZ" dirty="0"/>
              <a:t>Recap: Project requirements</a:t>
            </a:r>
          </a:p>
        </p:txBody>
      </p:sp>
      <p:sp>
        <p:nvSpPr>
          <p:cNvPr id="3" name="Text Placeholder 2">
            <a:extLst>
              <a:ext uri="{FF2B5EF4-FFF2-40B4-BE49-F238E27FC236}">
                <a16:creationId xmlns:a16="http://schemas.microsoft.com/office/drawing/2014/main" id="{5121848B-48B3-8F35-7B84-0CCA54AC773F}"/>
              </a:ext>
            </a:extLst>
          </p:cNvPr>
          <p:cNvSpPr>
            <a:spLocks noGrp="1"/>
          </p:cNvSpPr>
          <p:nvPr>
            <p:ph type="body" sz="quarter" idx="13"/>
          </p:nvPr>
        </p:nvSpPr>
        <p:spPr/>
        <p:txBody>
          <a:bodyPr>
            <a:normAutofit/>
          </a:bodyPr>
          <a:lstStyle/>
          <a:p>
            <a:r>
              <a:rPr lang="en-NZ" dirty="0"/>
              <a:t>Projects have phases.</a:t>
            </a:r>
          </a:p>
          <a:p>
            <a:r>
              <a:rPr lang="en-NZ" dirty="0"/>
              <a:t>Project phases are planning, analysis, design, development, testing, and deployment. You can’t have an ad hoc approach to your project. A common theme with our R&amp;D projects</a:t>
            </a:r>
          </a:p>
          <a:p>
            <a:r>
              <a:rPr lang="en-NZ" dirty="0"/>
              <a:t>Need a formal PM methodology with clearly identified planning, analysis, design, development, testing, and deployment phases together with tasks for each phase. A PM methodology also helps to decide project roles.</a:t>
            </a:r>
          </a:p>
          <a:p>
            <a:r>
              <a:rPr lang="en-NZ" dirty="0"/>
              <a:t>PM methodology- Planning phase, the first phase must be based on PMI.</a:t>
            </a:r>
          </a:p>
          <a:p>
            <a:endParaRPr lang="en-NZ" dirty="0"/>
          </a:p>
        </p:txBody>
      </p:sp>
    </p:spTree>
    <p:extLst>
      <p:ext uri="{BB962C8B-B14F-4D97-AF65-F5344CB8AC3E}">
        <p14:creationId xmlns:p14="http://schemas.microsoft.com/office/powerpoint/2010/main" val="1277467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AEB7C-EA86-6C0C-744B-EC75FCEF70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E189B8-608D-7C9B-9E06-C6CFAD8129E2}"/>
              </a:ext>
            </a:extLst>
          </p:cNvPr>
          <p:cNvSpPr txBox="1">
            <a:spLocks noGrp="1"/>
          </p:cNvSpPr>
          <p:nvPr>
            <p:ph type="title"/>
          </p:nvPr>
        </p:nvSpPr>
        <p:spPr>
          <a:xfrm>
            <a:off x="1468374" y="169621"/>
            <a:ext cx="10264012" cy="1439087"/>
          </a:xfrm>
        </p:spPr>
        <p:txBody>
          <a:bodyPr vert="horz" wrap="square" lIns="0" tIns="0" rIns="0" bIns="0" rtlCol="0" anchor="ctr">
            <a:normAutofit/>
          </a:bodyPr>
          <a:lstStyle/>
          <a:p>
            <a:pPr marL="83185">
              <a:spcBef>
                <a:spcPts val="105"/>
              </a:spcBef>
            </a:pPr>
            <a:r>
              <a:rPr lang="en-US" b="1" i="0"/>
              <a:t>The Product Delivery Lifecyle</a:t>
            </a:r>
            <a:endParaRPr lang="en-US" b="1" i="0" spc="-10"/>
          </a:p>
        </p:txBody>
      </p:sp>
      <p:pic>
        <p:nvPicPr>
          <p:cNvPr id="5" name="Picture 4">
            <a:extLst>
              <a:ext uri="{FF2B5EF4-FFF2-40B4-BE49-F238E27FC236}">
                <a16:creationId xmlns:a16="http://schemas.microsoft.com/office/drawing/2014/main" id="{179663FE-4582-78B5-DCCF-0453C75D7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1524000"/>
            <a:ext cx="9578340" cy="4692015"/>
          </a:xfrm>
          <a:prstGeom prst="rect">
            <a:avLst/>
          </a:prstGeom>
        </p:spPr>
      </p:pic>
    </p:spTree>
    <p:extLst>
      <p:ext uri="{BB962C8B-B14F-4D97-AF65-F5344CB8AC3E}">
        <p14:creationId xmlns:p14="http://schemas.microsoft.com/office/powerpoint/2010/main" val="3791503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410C-60BA-C312-4B84-FFF189E4E67D}"/>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B86DED9A-B08E-3A36-9CC7-F91DC48484C7}"/>
              </a:ext>
            </a:extLst>
          </p:cNvPr>
          <p:cNvSpPr txBox="1">
            <a:spLocks noGrp="1"/>
          </p:cNvSpPr>
          <p:nvPr>
            <p:ph type="title"/>
          </p:nvPr>
        </p:nvSpPr>
        <p:spPr>
          <a:xfrm>
            <a:off x="1600200" y="152400"/>
            <a:ext cx="9601200" cy="690574"/>
          </a:xfrm>
          <a:prstGeom prst="rect">
            <a:avLst/>
          </a:prstGeom>
        </p:spPr>
        <p:txBody>
          <a:bodyPr vert="horz" wrap="square" lIns="0" tIns="13335" rIns="0" bIns="0" rtlCol="0">
            <a:spAutoFit/>
          </a:bodyPr>
          <a:lstStyle/>
          <a:p>
            <a:pPr marL="12700">
              <a:lnSpc>
                <a:spcPct val="100000"/>
              </a:lnSpc>
              <a:spcBef>
                <a:spcPts val="105"/>
              </a:spcBef>
            </a:pPr>
            <a:r>
              <a:rPr lang="en-NZ" dirty="0"/>
              <a:t>Communication complexity </a:t>
            </a:r>
            <a:endParaRPr spc="-10" dirty="0"/>
          </a:p>
        </p:txBody>
      </p:sp>
      <p:sp>
        <p:nvSpPr>
          <p:cNvPr id="3" name="TextBox 2">
            <a:extLst>
              <a:ext uri="{FF2B5EF4-FFF2-40B4-BE49-F238E27FC236}">
                <a16:creationId xmlns:a16="http://schemas.microsoft.com/office/drawing/2014/main" id="{C20DB00A-762F-5E19-454A-A084A399667E}"/>
              </a:ext>
            </a:extLst>
          </p:cNvPr>
          <p:cNvSpPr txBox="1"/>
          <p:nvPr/>
        </p:nvSpPr>
        <p:spPr>
          <a:xfrm>
            <a:off x="1543050" y="834390"/>
            <a:ext cx="9601200" cy="563231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1200" cap="none" spc="0" normalizeH="0" baseline="0" noProof="0" dirty="0">
                <a:ln>
                  <a:noFill/>
                </a:ln>
                <a:solidFill>
                  <a:prstClr val="black"/>
                </a:solidFill>
                <a:effectLst/>
                <a:uLnTx/>
                <a:uFillTx/>
                <a:latin typeface="Calibri"/>
                <a:ea typeface="+mn-ea"/>
                <a:cs typeface="+mn-cs"/>
              </a:rPr>
              <a:t>Communication is a major project management problem because many projects struggle or fail when project information is not communicated clearly to stakeholders.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1200" cap="none" spc="0" normalizeH="0" baseline="0" noProof="0" dirty="0">
                <a:ln>
                  <a:noFill/>
                </a:ln>
                <a:solidFill>
                  <a:prstClr val="black"/>
                </a:solidFill>
                <a:effectLst/>
                <a:uLnTx/>
                <a:uFillTx/>
                <a:latin typeface="Calibri"/>
                <a:ea typeface="+mn-ea"/>
                <a:cs typeface="+mn-cs"/>
              </a:rPr>
              <a:t>Stakeholders often do not receive the full picture of project goals, progress, risks, issues, and expectations, which creates misunderstanding and misalignment.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1200" cap="none" spc="0" normalizeH="0" baseline="0" noProof="0" dirty="0">
                <a:ln>
                  <a:noFill/>
                </a:ln>
                <a:solidFill>
                  <a:prstClr val="black"/>
                </a:solidFill>
                <a:effectLst/>
                <a:uLnTx/>
                <a:uFillTx/>
                <a:latin typeface="Calibri"/>
                <a:ea typeface="+mn-ea"/>
                <a:cs typeface="+mn-cs"/>
              </a:rPr>
              <a:t>Poor communication is a common failure factor. In the Bull Survey of 203 IT and project managers across several UK sectors, poor communications was identified by 40% of respondents as a project failure criterion and ranked third among the causes.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1200" cap="none" spc="0" normalizeH="0" baseline="0" noProof="0" dirty="0">
                <a:ln>
                  <a:noFill/>
                </a:ln>
                <a:solidFill>
                  <a:prstClr val="black"/>
                </a:solidFill>
                <a:effectLst/>
                <a:uLnTx/>
                <a:uFillTx/>
                <a:latin typeface="Calibri"/>
                <a:ea typeface="+mn-ea"/>
                <a:cs typeface="+mn-cs"/>
              </a:rPr>
              <a:t>Lack of user input creates communication failure. The Chaos Report showed that one of the top reasons for project failure was lack of user input (12.8%), which suggests weak communication between the project team and users.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1200" cap="none" spc="0" normalizeH="0" baseline="0" noProof="0" dirty="0">
                <a:ln>
                  <a:noFill/>
                </a:ln>
                <a:solidFill>
                  <a:prstClr val="black"/>
                </a:solidFill>
                <a:effectLst/>
                <a:uLnTx/>
                <a:uFillTx/>
                <a:latin typeface="Calibri"/>
                <a:ea typeface="+mn-ea"/>
                <a:cs typeface="+mn-cs"/>
              </a:rPr>
              <a:t>Incomplete requirements and specifications also reflect communication breakdown. The Chaos Report identified incomplete requirements and specifications (12.3%) as another top failure reason, showing that project needs were not communicated, clarified, or documented properly.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1200" cap="none" spc="0" normalizeH="0" baseline="0" noProof="0" dirty="0">
                <a:ln>
                  <a:noFill/>
                </a:ln>
                <a:solidFill>
                  <a:prstClr val="black"/>
                </a:solidFill>
                <a:effectLst/>
                <a:uLnTx/>
                <a:uFillTx/>
                <a:latin typeface="Calibri"/>
                <a:ea typeface="+mn-ea"/>
                <a:cs typeface="+mn-cs"/>
              </a:rPr>
              <a:t>Project communication is complex because it must work across multiple directions between managers, team members, users, customers, and other stakeholders.</a:t>
            </a:r>
          </a:p>
        </p:txBody>
      </p:sp>
    </p:spTree>
    <p:extLst>
      <p:ext uri="{BB962C8B-B14F-4D97-AF65-F5344CB8AC3E}">
        <p14:creationId xmlns:p14="http://schemas.microsoft.com/office/powerpoint/2010/main" val="268558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D616-118D-6715-0366-13F91EE074DB}"/>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30978395-4AFD-F564-7DD4-686904BCA56A}"/>
              </a:ext>
            </a:extLst>
          </p:cNvPr>
          <p:cNvSpPr txBox="1">
            <a:spLocks noGrp="1"/>
          </p:cNvSpPr>
          <p:nvPr>
            <p:ph type="title"/>
          </p:nvPr>
        </p:nvSpPr>
        <p:spPr>
          <a:xfrm>
            <a:off x="1600200" y="152400"/>
            <a:ext cx="9601200" cy="690574"/>
          </a:xfrm>
          <a:prstGeom prst="rect">
            <a:avLst/>
          </a:prstGeom>
        </p:spPr>
        <p:txBody>
          <a:bodyPr vert="horz" wrap="square" lIns="0" tIns="13335" rIns="0" bIns="0" rtlCol="0">
            <a:spAutoFit/>
          </a:bodyPr>
          <a:lstStyle/>
          <a:p>
            <a:pPr marL="12700">
              <a:lnSpc>
                <a:spcPct val="100000"/>
              </a:lnSpc>
              <a:spcBef>
                <a:spcPts val="105"/>
              </a:spcBef>
            </a:pPr>
            <a:r>
              <a:rPr lang="en-NZ" dirty="0"/>
              <a:t>The importance of Communication</a:t>
            </a:r>
            <a:endParaRPr spc="-10" dirty="0"/>
          </a:p>
        </p:txBody>
      </p:sp>
      <p:pic>
        <p:nvPicPr>
          <p:cNvPr id="4" name="Picture 3">
            <a:extLst>
              <a:ext uri="{FF2B5EF4-FFF2-40B4-BE49-F238E27FC236}">
                <a16:creationId xmlns:a16="http://schemas.microsoft.com/office/drawing/2014/main" id="{E0D8EC64-820B-CA9B-BF88-732A5AF0D4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00200" y="1033474"/>
            <a:ext cx="9309961" cy="4396482"/>
          </a:xfrm>
          <a:prstGeom prst="rect">
            <a:avLst/>
          </a:prstGeom>
        </p:spPr>
      </p:pic>
    </p:spTree>
    <p:extLst>
      <p:ext uri="{BB962C8B-B14F-4D97-AF65-F5344CB8AC3E}">
        <p14:creationId xmlns:p14="http://schemas.microsoft.com/office/powerpoint/2010/main" val="4074092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6B4AD-6DD4-0C7C-4FEA-39BCF37CF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D9948-AE07-4D60-CB23-35BE4E062860}"/>
              </a:ext>
            </a:extLst>
          </p:cNvPr>
          <p:cNvSpPr>
            <a:spLocks noGrp="1"/>
          </p:cNvSpPr>
          <p:nvPr>
            <p:ph type="title"/>
          </p:nvPr>
        </p:nvSpPr>
        <p:spPr/>
        <p:txBody>
          <a:bodyPr/>
          <a:lstStyle/>
          <a:p>
            <a:r>
              <a:rPr lang="en-NZ" dirty="0"/>
              <a:t>Process of communication</a:t>
            </a:r>
          </a:p>
        </p:txBody>
      </p:sp>
      <p:sp>
        <p:nvSpPr>
          <p:cNvPr id="3" name="Text Placeholder 2">
            <a:extLst>
              <a:ext uri="{FF2B5EF4-FFF2-40B4-BE49-F238E27FC236}">
                <a16:creationId xmlns:a16="http://schemas.microsoft.com/office/drawing/2014/main" id="{168EED6D-6C45-98F9-DBAA-AC6202D417E2}"/>
              </a:ext>
            </a:extLst>
          </p:cNvPr>
          <p:cNvSpPr>
            <a:spLocks noGrp="1"/>
          </p:cNvSpPr>
          <p:nvPr>
            <p:ph type="body" sz="quarter" idx="13"/>
          </p:nvPr>
        </p:nvSpPr>
        <p:spPr>
          <a:xfrm>
            <a:off x="1460500" y="1844530"/>
            <a:ext cx="9436100" cy="4351338"/>
          </a:xfrm>
        </p:spPr>
        <p:txBody>
          <a:bodyPr>
            <a:normAutofit/>
          </a:bodyPr>
          <a:lstStyle/>
          <a:p>
            <a:pPr algn="l">
              <a:buFont typeface="Arial" panose="020B0604020202020204" pitchFamily="34" charset="0"/>
              <a:buChar char="•"/>
            </a:pPr>
            <a:r>
              <a:rPr lang="en-NZ" sz="3200" i="0" dirty="0">
                <a:effectLst/>
                <a:highlight>
                  <a:srgbClr val="FFFFFF"/>
                </a:highlight>
                <a:ea typeface="Calibri" panose="020F0502020204030204" pitchFamily="34" charset="0"/>
                <a:cs typeface="Calibri" panose="020F0502020204030204" pitchFamily="34" charset="0"/>
              </a:rPr>
              <a:t>The communicator is the originator of the message. </a:t>
            </a:r>
          </a:p>
          <a:p>
            <a:pPr algn="l">
              <a:buFont typeface="Arial" panose="020B0604020202020204" pitchFamily="34" charset="0"/>
              <a:buChar char="•"/>
            </a:pPr>
            <a:r>
              <a:rPr lang="en-NZ" sz="3200" i="0" dirty="0">
                <a:effectLst/>
                <a:highlight>
                  <a:srgbClr val="FFFFFF"/>
                </a:highlight>
                <a:ea typeface="Calibri" panose="020F0502020204030204" pitchFamily="34" charset="0"/>
                <a:cs typeface="Calibri" panose="020F0502020204030204" pitchFamily="34" charset="0"/>
              </a:rPr>
              <a:t>The message we want to convey may consist of thoughts, feelings, or ideas.</a:t>
            </a:r>
          </a:p>
          <a:p>
            <a:pPr algn="l">
              <a:buFont typeface="Arial" panose="020B0604020202020204" pitchFamily="34" charset="0"/>
              <a:buChar char="•"/>
            </a:pPr>
            <a:r>
              <a:rPr lang="en-NZ" sz="3200" i="0" dirty="0">
                <a:effectLst/>
                <a:highlight>
                  <a:srgbClr val="FFFFFF"/>
                </a:highlight>
                <a:ea typeface="Calibri" panose="020F0502020204030204" pitchFamily="34" charset="0"/>
                <a:cs typeface="Calibri" panose="020F0502020204030204" pitchFamily="34" charset="0"/>
              </a:rPr>
              <a:t>The medium, the vehicle or method, used to convey the message, will also colour the message and ultimately influence its effect. </a:t>
            </a:r>
          </a:p>
          <a:p>
            <a:r>
              <a:rPr lang="en-NZ" sz="3200" dirty="0">
                <a:ea typeface="Calibri" panose="020F0502020204030204" pitchFamily="34" charset="0"/>
                <a:cs typeface="Calibri" panose="020F0502020204030204" pitchFamily="34" charset="0"/>
              </a:rPr>
              <a:t>The recipient is the player who “makes or breaks” the communication process.</a:t>
            </a:r>
            <a:endParaRPr lang="en-NZ" sz="3200" i="0" dirty="0">
              <a:effectLst/>
              <a:highlight>
                <a:srgbClr val="FFFFFF"/>
              </a:highligh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5590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PMI Communication Model</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Encode: sender turns an idea into a message</a:t>
            </a:r>
          </a:p>
          <a:p>
            <a:pPr>
              <a:spcAft>
                <a:spcPts val="600"/>
              </a:spcAft>
              <a:defRPr sz="2700">
                <a:solidFill>
                  <a:srgbClr val="000000"/>
                </a:solidFill>
              </a:defRPr>
            </a:pPr>
            <a:r>
              <a:t>Transmit: message is sent through a selected medium</a:t>
            </a:r>
          </a:p>
          <a:p>
            <a:pPr>
              <a:spcAft>
                <a:spcPts val="600"/>
              </a:spcAft>
              <a:defRPr sz="2700">
                <a:solidFill>
                  <a:srgbClr val="000000"/>
                </a:solidFill>
              </a:defRPr>
            </a:pPr>
            <a:r>
              <a:t>Decode: receiver interprets the message</a:t>
            </a:r>
          </a:p>
          <a:p>
            <a:pPr>
              <a:spcAft>
                <a:spcPts val="600"/>
              </a:spcAft>
              <a:defRPr sz="2700">
                <a:solidFill>
                  <a:srgbClr val="000000"/>
                </a:solidFill>
              </a:defRPr>
            </a:pPr>
            <a:r>
              <a:t>Acknowledge: receiver confirms the message was received</a:t>
            </a:r>
          </a:p>
          <a:p>
            <a:pPr>
              <a:spcAft>
                <a:spcPts val="600"/>
              </a:spcAft>
              <a:defRPr sz="2700">
                <a:solidFill>
                  <a:srgbClr val="000000"/>
                </a:solidFill>
              </a:defRPr>
            </a:pPr>
            <a:r>
              <a:t>Feedback/response: receiver shows whether meaning was understood</a:t>
            </a:r>
          </a:p>
          <a:p>
            <a:pPr>
              <a:spcAft>
                <a:spcPts val="600"/>
              </a:spcAft>
              <a:defRPr sz="2700">
                <a:solidFill>
                  <a:srgbClr val="000000"/>
                </a:solidFill>
              </a:defRPr>
            </a:pPr>
            <a:r>
              <a:t>Noise: barriers that distort or block the message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DEFF7-754B-53B0-1CAB-6B37149EB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7AFF6-ED14-A372-A4AB-B1007A44D91E}"/>
              </a:ext>
            </a:extLst>
          </p:cNvPr>
          <p:cNvSpPr>
            <a:spLocks noGrp="1"/>
          </p:cNvSpPr>
          <p:nvPr>
            <p:ph type="title"/>
          </p:nvPr>
        </p:nvSpPr>
        <p:spPr/>
        <p:txBody>
          <a:bodyPr/>
          <a:lstStyle/>
          <a:p>
            <a:r>
              <a:rPr lang="en-NZ" dirty="0"/>
              <a:t>Main roles for communication </a:t>
            </a:r>
          </a:p>
        </p:txBody>
      </p:sp>
      <p:sp>
        <p:nvSpPr>
          <p:cNvPr id="3" name="Text Placeholder 2">
            <a:extLst>
              <a:ext uri="{FF2B5EF4-FFF2-40B4-BE49-F238E27FC236}">
                <a16:creationId xmlns:a16="http://schemas.microsoft.com/office/drawing/2014/main" id="{01A45560-C2CB-07D3-90D3-CE35BE14F23C}"/>
              </a:ext>
            </a:extLst>
          </p:cNvPr>
          <p:cNvSpPr>
            <a:spLocks noGrp="1"/>
          </p:cNvSpPr>
          <p:nvPr>
            <p:ph type="body" sz="quarter" idx="13"/>
          </p:nvPr>
        </p:nvSpPr>
        <p:spPr>
          <a:xfrm>
            <a:off x="1460500" y="1810664"/>
            <a:ext cx="9436100" cy="4351338"/>
          </a:xfrm>
        </p:spPr>
        <p:txBody>
          <a:bodyPr>
            <a:normAutofit fontScale="62500" lnSpcReduction="20000"/>
          </a:bodyPr>
          <a:lstStyle/>
          <a:p>
            <a:r>
              <a:rPr lang="en-NZ" b="0" i="0" dirty="0">
                <a:solidFill>
                  <a:srgbClr val="033535"/>
                </a:solidFill>
                <a:effectLst/>
                <a:highlight>
                  <a:srgbClr val="FFFFFF"/>
                </a:highlight>
                <a:ea typeface="Calibri" panose="020F0502020204030204" pitchFamily="34" charset="0"/>
                <a:cs typeface="Calibri" panose="020F0502020204030204" pitchFamily="34" charset="0"/>
              </a:rPr>
              <a:t>The project manager must be a communicator: to upper management, to the project team, and to members outside the project who have an interest in the project's results.</a:t>
            </a:r>
          </a:p>
          <a:p>
            <a:r>
              <a:rPr lang="en-NZ" b="0" i="0" dirty="0">
                <a:solidFill>
                  <a:srgbClr val="033535"/>
                </a:solidFill>
                <a:effectLst/>
                <a:highlight>
                  <a:srgbClr val="FFFFFF"/>
                </a:highlight>
                <a:ea typeface="Calibri" panose="020F0502020204030204" pitchFamily="34" charset="0"/>
                <a:cs typeface="Calibri" panose="020F0502020204030204" pitchFamily="34" charset="0"/>
              </a:rPr>
              <a:t>Portfolio managers must be communicators: to business strategy leaders, to program and project layers, and to stakeholders who need visibility of priorities, investment choices, and delivery value.</a:t>
            </a:r>
          </a:p>
          <a:p>
            <a:r>
              <a:rPr lang="en-NZ" b="0" i="0" dirty="0">
                <a:solidFill>
                  <a:srgbClr val="033535"/>
                </a:solidFill>
                <a:effectLst/>
                <a:highlight>
                  <a:srgbClr val="FFFFFF"/>
                </a:highlight>
                <a:ea typeface="Calibri" panose="020F0502020204030204" pitchFamily="34" charset="0"/>
                <a:cs typeface="Calibri" panose="020F0502020204030204" pitchFamily="34" charset="0"/>
              </a:rPr>
              <a:t>Program managers must be communicators: to portfolio management, to project managers and cross-team delivery groups, and to stakeholders affected by coordination, dependencies, and readiness.</a:t>
            </a:r>
          </a:p>
          <a:p>
            <a:r>
              <a:rPr lang="en-NZ" b="0" i="0" dirty="0">
                <a:solidFill>
                  <a:srgbClr val="033535"/>
                </a:solidFill>
                <a:effectLst/>
                <a:highlight>
                  <a:srgbClr val="FFFFFF"/>
                </a:highlight>
                <a:ea typeface="Calibri" panose="020F0502020204030204" pitchFamily="34" charset="0"/>
                <a:cs typeface="Calibri" panose="020F0502020204030204" pitchFamily="34" charset="0"/>
              </a:rPr>
              <a:t>Operation managers must be communicators: to delivery teams, to support and service teams, and to users and business stakeholders concerned with service performance, incidents, and ongoing product value.</a:t>
            </a:r>
          </a:p>
          <a:p>
            <a:r>
              <a:rPr lang="en-NZ" b="0" i="0" dirty="0">
                <a:solidFill>
                  <a:srgbClr val="033535"/>
                </a:solidFill>
                <a:effectLst/>
                <a:highlight>
                  <a:srgbClr val="FFFFFF"/>
                </a:highlight>
                <a:ea typeface="Calibri" panose="020F0502020204030204" pitchFamily="34" charset="0"/>
                <a:cs typeface="Calibri" panose="020F0502020204030204" pitchFamily="34" charset="0"/>
              </a:rPr>
              <a:t>Support manager must be communicators: to operations management, to delivery teams, and to customers and users who provide feedback on product issues and service quality.</a:t>
            </a:r>
          </a:p>
          <a:p>
            <a:r>
              <a:rPr lang="en-NZ" b="0" i="0" dirty="0">
                <a:solidFill>
                  <a:srgbClr val="033535"/>
                </a:solidFill>
                <a:effectLst/>
                <a:highlight>
                  <a:srgbClr val="FFFFFF"/>
                </a:highlight>
                <a:ea typeface="Calibri" panose="020F0502020204030204" pitchFamily="34" charset="0"/>
                <a:cs typeface="Calibri" panose="020F0502020204030204" pitchFamily="34" charset="0"/>
              </a:rPr>
              <a:t>C-level executives must be communicators: to business strategy and portfolio management, to operations and support teams, and to customers and stakeholders affected by withdrawal, replacement, or transition plans.</a:t>
            </a:r>
          </a:p>
          <a:p>
            <a:pPr marL="0" indent="0" algn="l">
              <a:buNone/>
            </a:pPr>
            <a:endParaRPr lang="en-NZ" b="0" i="0" dirty="0">
              <a:solidFill>
                <a:srgbClr val="033535"/>
              </a:solidFill>
              <a:effectLst/>
              <a:highlight>
                <a:srgbClr val="FFFFFF"/>
              </a:highligh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9185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Dimensions of Project Communication</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Internal: communication within the project and organisation</a:t>
            </a:r>
          </a:p>
          <a:p>
            <a:pPr>
              <a:spcAft>
                <a:spcPts val="600"/>
              </a:spcAft>
              <a:defRPr sz="2700">
                <a:solidFill>
                  <a:srgbClr val="000000"/>
                </a:solidFill>
              </a:defRPr>
            </a:pPr>
            <a:r>
              <a:t>External: customers, vendors, regulators, public groups</a:t>
            </a:r>
          </a:p>
          <a:p>
            <a:pPr>
              <a:spcAft>
                <a:spcPts val="600"/>
              </a:spcAft>
              <a:defRPr sz="2700">
                <a:solidFill>
                  <a:srgbClr val="000000"/>
                </a:solidFill>
              </a:defRPr>
            </a:pPr>
            <a:r>
              <a:t>Formal: reports, meetings, presentations, official documents</a:t>
            </a:r>
          </a:p>
          <a:p>
            <a:pPr>
              <a:spcAft>
                <a:spcPts val="600"/>
              </a:spcAft>
              <a:defRPr sz="2700">
                <a:solidFill>
                  <a:srgbClr val="000000"/>
                </a:solidFill>
              </a:defRPr>
            </a:pPr>
            <a:r>
              <a:t>Informal: quick discussions, email, chat, social communication</a:t>
            </a:r>
          </a:p>
          <a:p>
            <a:pPr>
              <a:spcAft>
                <a:spcPts val="600"/>
              </a:spcAft>
              <a:defRPr sz="2700">
                <a:solidFill>
                  <a:srgbClr val="000000"/>
                </a:solidFill>
              </a:defRPr>
            </a:pPr>
            <a:r>
              <a:t>Upward, downward and horizontal communication</a:t>
            </a:r>
          </a:p>
          <a:p>
            <a:pPr>
              <a:spcAft>
                <a:spcPts val="600"/>
              </a:spcAft>
              <a:defRPr sz="2700">
                <a:solidFill>
                  <a:srgbClr val="000000"/>
                </a:solidFill>
              </a:defRPr>
            </a:pPr>
            <a:r>
              <a:t>Official / unofficial and written / oral / non-verbal communication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Effective Project Communication: The 5 Cs</a:t>
            </a:r>
          </a:p>
        </p:txBody>
      </p:sp>
      <p:sp>
        <p:nvSpPr>
          <p:cNvPr id="3" name="Text Placeholder 2"/>
          <p:cNvSpPr>
            <a:spLocks noGrp="1"/>
          </p:cNvSpPr>
          <p:nvPr>
            <p:ph type="body" sz="quarter" idx="13"/>
          </p:nvPr>
        </p:nvSpPr>
        <p:spPr/>
        <p:txBody>
          <a:bodyPr wrap="square" lIns="0" tIns="0" rIns="0" bIns="0"/>
          <a:lstStyle/>
          <a:p>
            <a:pPr>
              <a:spcAft>
                <a:spcPts val="600"/>
              </a:spcAft>
              <a:defRPr sz="2900">
                <a:solidFill>
                  <a:srgbClr val="000000"/>
                </a:solidFill>
              </a:defRPr>
            </a:pPr>
            <a:r>
              <a:t>Correct: accurate facts, grammar, names and terminology</a:t>
            </a:r>
          </a:p>
          <a:p>
            <a:pPr>
              <a:spcAft>
                <a:spcPts val="600"/>
              </a:spcAft>
              <a:defRPr sz="2900">
                <a:solidFill>
                  <a:srgbClr val="000000"/>
                </a:solidFill>
              </a:defRPr>
            </a:pPr>
            <a:r>
              <a:t>Concise: remove unnecessary words and repeated information</a:t>
            </a:r>
          </a:p>
          <a:p>
            <a:pPr>
              <a:spcAft>
                <a:spcPts val="600"/>
              </a:spcAft>
              <a:defRPr sz="2900">
                <a:solidFill>
                  <a:srgbClr val="000000"/>
                </a:solidFill>
              </a:defRPr>
            </a:pPr>
            <a:r>
              <a:t>Clear: make the purpose and expected action obvious</a:t>
            </a:r>
          </a:p>
          <a:p>
            <a:pPr>
              <a:spcAft>
                <a:spcPts val="600"/>
              </a:spcAft>
              <a:defRPr sz="2900">
                <a:solidFill>
                  <a:srgbClr val="000000"/>
                </a:solidFill>
              </a:defRPr>
            </a:pPr>
            <a:r>
              <a:t>Coherent: organise ideas in a logical order</a:t>
            </a:r>
          </a:p>
          <a:p>
            <a:pPr>
              <a:spcAft>
                <a:spcPts val="600"/>
              </a:spcAft>
              <a:defRPr sz="2900">
                <a:solidFill>
                  <a:srgbClr val="000000"/>
                </a:solidFill>
              </a:defRPr>
            </a:pPr>
            <a:r>
              <a:t>Controlled: structure the message so important points are easy to follow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37DA-8FCB-4FCD-BCB7-E06FA84F792D}"/>
              </a:ext>
            </a:extLst>
          </p:cNvPr>
          <p:cNvSpPr>
            <a:spLocks noGrp="1"/>
          </p:cNvSpPr>
          <p:nvPr>
            <p:ph type="title"/>
          </p:nvPr>
        </p:nvSpPr>
        <p:spPr/>
        <p:txBody>
          <a:bodyPr/>
          <a:lstStyle/>
          <a:p>
            <a:r>
              <a:rPr lang="en-NZ" dirty="0"/>
              <a:t>Communication- critical for project success</a:t>
            </a:r>
          </a:p>
        </p:txBody>
      </p:sp>
      <p:pic>
        <p:nvPicPr>
          <p:cNvPr id="4" name="Picture 3">
            <a:extLst>
              <a:ext uri="{FF2B5EF4-FFF2-40B4-BE49-F238E27FC236}">
                <a16:creationId xmlns:a16="http://schemas.microsoft.com/office/drawing/2014/main" id="{EAD729F4-79A3-E0E3-9A88-45293773EDBA}"/>
              </a:ext>
            </a:extLst>
          </p:cNvPr>
          <p:cNvPicPr>
            <a:picLocks noChangeAspect="1"/>
          </p:cNvPicPr>
          <p:nvPr/>
        </p:nvPicPr>
        <p:blipFill>
          <a:blip r:embed="rId3"/>
          <a:stretch>
            <a:fillRect/>
          </a:stretch>
        </p:blipFill>
        <p:spPr>
          <a:xfrm>
            <a:off x="2286000" y="2143125"/>
            <a:ext cx="7620000" cy="2571750"/>
          </a:xfrm>
          <a:prstGeom prst="rect">
            <a:avLst/>
          </a:prstGeom>
        </p:spPr>
      </p:pic>
      <p:sp>
        <p:nvSpPr>
          <p:cNvPr id="3" name="Text Placeholder 2">
            <a:extLst>
              <a:ext uri="{FF2B5EF4-FFF2-40B4-BE49-F238E27FC236}">
                <a16:creationId xmlns:a16="http://schemas.microsoft.com/office/drawing/2014/main" id="{1C87E446-A519-4461-97C4-81815FAF4DE6}"/>
              </a:ext>
            </a:extLst>
          </p:cNvPr>
          <p:cNvSpPr>
            <a:spLocks noGrp="1"/>
          </p:cNvSpPr>
          <p:nvPr>
            <p:ph type="body" sz="quarter" idx="13"/>
          </p:nvPr>
        </p:nvSpPr>
        <p:spPr/>
        <p:txBody>
          <a:bodyPr/>
          <a:lstStyle/>
          <a:p>
            <a:endParaRPr lang="en-NZ" dirty="0"/>
          </a:p>
          <a:p>
            <a:endParaRPr lang="en-NZ" dirty="0"/>
          </a:p>
          <a:p>
            <a:endParaRPr lang="en-NZ" dirty="0"/>
          </a:p>
          <a:p>
            <a:endParaRPr lang="en-NZ" dirty="0"/>
          </a:p>
          <a:p>
            <a:pPr marL="0" indent="0">
              <a:buNone/>
            </a:pPr>
            <a:endParaRPr lang="en-NZ" dirty="0"/>
          </a:p>
          <a:p>
            <a:pPr marL="0" indent="0">
              <a:buNone/>
            </a:pPr>
            <a:r>
              <a:rPr lang="en-NZ" sz="1400" dirty="0"/>
              <a:t>                                                     </a:t>
            </a:r>
          </a:p>
          <a:p>
            <a:pPr marL="0" indent="0">
              <a:buNone/>
            </a:pPr>
            <a:r>
              <a:rPr lang="en-NZ" sz="1400" dirty="0"/>
              <a:t>                                                                        Source- Institute Project Management </a:t>
            </a:r>
          </a:p>
        </p:txBody>
      </p:sp>
    </p:spTree>
    <p:extLst>
      <p:ext uri="{BB962C8B-B14F-4D97-AF65-F5344CB8AC3E}">
        <p14:creationId xmlns:p14="http://schemas.microsoft.com/office/powerpoint/2010/main" val="2875100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B7C6-A29B-3108-2EB1-ED8D50B020D6}"/>
              </a:ext>
            </a:extLst>
          </p:cNvPr>
          <p:cNvSpPr>
            <a:spLocks noGrp="1"/>
          </p:cNvSpPr>
          <p:nvPr>
            <p:ph type="title"/>
          </p:nvPr>
        </p:nvSpPr>
        <p:spPr/>
        <p:txBody>
          <a:bodyPr/>
          <a:lstStyle/>
          <a:p>
            <a:r>
              <a:rPr lang="en-NZ" dirty="0">
                <a:ea typeface="Calibri" panose="020F0502020204030204" pitchFamily="34" charset="0"/>
                <a:cs typeface="Calibri" panose="020F0502020204030204" pitchFamily="34" charset="0"/>
              </a:rPr>
              <a:t>Project Communication Management: What is it all about?</a:t>
            </a:r>
          </a:p>
        </p:txBody>
      </p:sp>
      <p:sp>
        <p:nvSpPr>
          <p:cNvPr id="3" name="Text Placeholder 2">
            <a:extLst>
              <a:ext uri="{FF2B5EF4-FFF2-40B4-BE49-F238E27FC236}">
                <a16:creationId xmlns:a16="http://schemas.microsoft.com/office/drawing/2014/main" id="{A584AC9B-CBFA-45DF-7208-4D48DC6C6290}"/>
              </a:ext>
            </a:extLst>
          </p:cNvPr>
          <p:cNvSpPr>
            <a:spLocks noGrp="1"/>
          </p:cNvSpPr>
          <p:nvPr>
            <p:ph type="body" sz="quarter" idx="13"/>
          </p:nvPr>
        </p:nvSpPr>
        <p:spPr>
          <a:xfrm>
            <a:off x="1460500" y="1844530"/>
            <a:ext cx="9049456" cy="4556270"/>
          </a:xfrm>
        </p:spPr>
        <p:txBody>
          <a:bodyPr>
            <a:normAutofit lnSpcReduction="10000"/>
          </a:bodyPr>
          <a:lstStyle/>
          <a:p>
            <a:pPr marL="0" indent="0">
              <a:buNone/>
            </a:pPr>
            <a:r>
              <a:rPr lang="en-NZ" sz="2000" b="1" i="0" dirty="0">
                <a:solidFill>
                  <a:srgbClr val="033535"/>
                </a:solidFill>
                <a:effectLst/>
                <a:highlight>
                  <a:srgbClr val="FFFFFF"/>
                </a:highlight>
                <a:ea typeface="Calibri" panose="020F0502020204030204" pitchFamily="34" charset="0"/>
                <a:cs typeface="Calibri" panose="020F0502020204030204" pitchFamily="34" charset="0"/>
              </a:rPr>
              <a:t>When </a:t>
            </a:r>
            <a:r>
              <a:rPr lang="en-NZ" sz="2000" b="1" dirty="0">
                <a:solidFill>
                  <a:srgbClr val="033535"/>
                </a:solidFill>
                <a:highlight>
                  <a:srgbClr val="FFFFFF"/>
                </a:highlight>
                <a:ea typeface="Calibri" panose="020F0502020204030204" pitchFamily="34" charset="0"/>
                <a:cs typeface="Calibri" panose="020F0502020204030204" pitchFamily="34" charset="0"/>
              </a:rPr>
              <a:t>d</a:t>
            </a:r>
            <a:r>
              <a:rPr lang="en-NZ" sz="2000" b="1" i="0" dirty="0">
                <a:solidFill>
                  <a:srgbClr val="033535"/>
                </a:solidFill>
                <a:effectLst/>
                <a:highlight>
                  <a:srgbClr val="FFFFFF"/>
                </a:highlight>
                <a:ea typeface="Calibri" panose="020F0502020204030204" pitchFamily="34" charset="0"/>
                <a:cs typeface="Calibri" panose="020F0502020204030204" pitchFamily="34" charset="0"/>
              </a:rPr>
              <a:t>oes </a:t>
            </a:r>
            <a:r>
              <a:rPr lang="en-NZ" sz="2000" b="1" dirty="0">
                <a:solidFill>
                  <a:srgbClr val="033535"/>
                </a:solidFill>
                <a:highlight>
                  <a:srgbClr val="FFFFFF"/>
                </a:highlight>
                <a:ea typeface="Calibri" panose="020F0502020204030204" pitchFamily="34" charset="0"/>
                <a:cs typeface="Calibri" panose="020F0502020204030204" pitchFamily="34" charset="0"/>
              </a:rPr>
              <a:t>p</a:t>
            </a:r>
            <a:r>
              <a:rPr lang="en-NZ" sz="2000" b="1" i="0" dirty="0">
                <a:solidFill>
                  <a:srgbClr val="033535"/>
                </a:solidFill>
                <a:effectLst/>
                <a:highlight>
                  <a:srgbClr val="FFFFFF"/>
                </a:highlight>
                <a:ea typeface="Calibri" panose="020F0502020204030204" pitchFamily="34" charset="0"/>
                <a:cs typeface="Calibri" panose="020F0502020204030204" pitchFamily="34" charset="0"/>
              </a:rPr>
              <a:t>roject </a:t>
            </a:r>
            <a:r>
              <a:rPr lang="en-NZ" sz="2000" b="1" dirty="0">
                <a:solidFill>
                  <a:srgbClr val="033535"/>
                </a:solidFill>
                <a:highlight>
                  <a:srgbClr val="FFFFFF"/>
                </a:highlight>
                <a:ea typeface="Calibri" panose="020F0502020204030204" pitchFamily="34" charset="0"/>
                <a:cs typeface="Calibri" panose="020F0502020204030204" pitchFamily="34" charset="0"/>
              </a:rPr>
              <a:t>c</a:t>
            </a:r>
            <a:r>
              <a:rPr lang="en-NZ" sz="2000" b="1" i="0" dirty="0">
                <a:solidFill>
                  <a:srgbClr val="033535"/>
                </a:solidFill>
                <a:effectLst/>
                <a:highlight>
                  <a:srgbClr val="FFFFFF"/>
                </a:highlight>
                <a:ea typeface="Calibri" panose="020F0502020204030204" pitchFamily="34" charset="0"/>
                <a:cs typeface="Calibri" panose="020F0502020204030204" pitchFamily="34" charset="0"/>
              </a:rPr>
              <a:t>ommunication happen?</a:t>
            </a:r>
          </a:p>
          <a:p>
            <a:pPr algn="l">
              <a:buFont typeface="Arial" panose="020B0604020202020204" pitchFamily="34" charset="0"/>
              <a:buChar char="•"/>
            </a:pPr>
            <a:r>
              <a:rPr lang="en-NZ" sz="2000" b="0" i="0" dirty="0">
                <a:solidFill>
                  <a:srgbClr val="033535"/>
                </a:solidFill>
                <a:effectLst/>
                <a:highlight>
                  <a:srgbClr val="FFFF00"/>
                </a:highlight>
                <a:ea typeface="Calibri" panose="020F0502020204030204" pitchFamily="34" charset="0"/>
                <a:cs typeface="Calibri" panose="020F0502020204030204" pitchFamily="34" charset="0"/>
              </a:rPr>
              <a:t>Project kick-off meeting- when and why?</a:t>
            </a:r>
          </a:p>
          <a:p>
            <a:r>
              <a:rPr lang="en-NZ" sz="2000" dirty="0">
                <a:solidFill>
                  <a:srgbClr val="033535"/>
                </a:solidFill>
                <a:highlight>
                  <a:srgbClr val="FFFF00"/>
                </a:highlight>
                <a:ea typeface="Calibri" panose="020F0502020204030204" pitchFamily="34" charset="0"/>
                <a:cs typeface="Calibri" panose="020F0502020204030204" pitchFamily="34" charset="0"/>
              </a:rPr>
              <a:t>Team meetings- when and how frequent? The daily standup or weekly or monthly meetings?</a:t>
            </a:r>
          </a:p>
          <a:p>
            <a:pPr algn="l">
              <a:buFont typeface="Arial" panose="020B0604020202020204" pitchFamily="34" charset="0"/>
              <a:buChar char="•"/>
            </a:pPr>
            <a:r>
              <a:rPr lang="en-NZ" sz="2000" dirty="0">
                <a:solidFill>
                  <a:srgbClr val="033535"/>
                </a:solidFill>
                <a:highlight>
                  <a:srgbClr val="FFFF00"/>
                </a:highlight>
                <a:ea typeface="Calibri" panose="020F0502020204030204" pitchFamily="34" charset="0"/>
                <a:cs typeface="Calibri" panose="020F0502020204030204" pitchFamily="34" charset="0"/>
              </a:rPr>
              <a:t>Client meetings (PO &amp; PM meeting)- when and how frequently?  </a:t>
            </a:r>
            <a:endParaRPr lang="en-NZ" sz="2000" b="0" i="0" dirty="0">
              <a:solidFill>
                <a:srgbClr val="033535"/>
              </a:solidFill>
              <a:effectLst/>
              <a:highlight>
                <a:srgbClr val="FFFF00"/>
              </a:highlight>
              <a:ea typeface="Calibri" panose="020F0502020204030204" pitchFamily="34" charset="0"/>
              <a:cs typeface="Calibri" panose="020F0502020204030204" pitchFamily="34" charset="0"/>
            </a:endParaRPr>
          </a:p>
          <a:p>
            <a:r>
              <a:rPr lang="en-NZ" sz="2000" dirty="0">
                <a:solidFill>
                  <a:srgbClr val="033535"/>
                </a:solidFill>
                <a:highlight>
                  <a:srgbClr val="FFFF00"/>
                </a:highlight>
                <a:ea typeface="Calibri" panose="020F0502020204030204" pitchFamily="34" charset="0"/>
                <a:cs typeface="Calibri" panose="020F0502020204030204" pitchFamily="34" charset="0"/>
              </a:rPr>
              <a:t>Status update meetings- when and how often?  </a:t>
            </a:r>
          </a:p>
          <a:p>
            <a:r>
              <a:rPr lang="en-NZ" sz="2000" b="0" i="0" dirty="0">
                <a:solidFill>
                  <a:srgbClr val="033535"/>
                </a:solidFill>
                <a:effectLst/>
                <a:highlight>
                  <a:srgbClr val="FFFF00"/>
                </a:highlight>
                <a:ea typeface="Calibri" panose="020F0502020204030204" pitchFamily="34" charset="0"/>
                <a:cs typeface="Calibri" panose="020F0502020204030204" pitchFamily="34" charset="0"/>
              </a:rPr>
              <a:t>Milestone meetings to discuss progress and project risks and determine a path forward- when and how? </a:t>
            </a:r>
          </a:p>
          <a:p>
            <a:pPr algn="l">
              <a:buFont typeface="Arial" panose="020B0604020202020204" pitchFamily="34" charset="0"/>
              <a:buChar char="•"/>
            </a:pPr>
            <a:r>
              <a:rPr lang="en-NZ" sz="2000" b="0" i="0" dirty="0">
                <a:solidFill>
                  <a:srgbClr val="033535"/>
                </a:solidFill>
                <a:effectLst/>
                <a:highlight>
                  <a:srgbClr val="FFFF00"/>
                </a:highlight>
                <a:ea typeface="Calibri" panose="020F0502020204030204" pitchFamily="34" charset="0"/>
                <a:cs typeface="Calibri" panose="020F0502020204030204" pitchFamily="34" charset="0"/>
              </a:rPr>
              <a:t>Review meetings to present and get acceptance on project deliverables periodically- when and how often?</a:t>
            </a:r>
          </a:p>
          <a:p>
            <a:r>
              <a:rPr lang="en-NZ" sz="2000" b="0" i="0" dirty="0">
                <a:solidFill>
                  <a:srgbClr val="033535"/>
                </a:solidFill>
                <a:effectLst/>
                <a:highlight>
                  <a:srgbClr val="FFFF00"/>
                </a:highlight>
                <a:ea typeface="Calibri" panose="020F0502020204030204" pitchFamily="34" charset="0"/>
                <a:cs typeface="Calibri" panose="020F0502020204030204" pitchFamily="34" charset="0"/>
              </a:rPr>
              <a:t>Lessons learned meetings or retrospectives.</a:t>
            </a:r>
            <a:r>
              <a:rPr lang="en-NZ" sz="2000" dirty="0">
                <a:solidFill>
                  <a:srgbClr val="033535"/>
                </a:solidFill>
                <a:highlight>
                  <a:srgbClr val="FFFF00"/>
                </a:highlight>
                <a:ea typeface="Calibri" panose="020F0502020204030204" pitchFamily="34" charset="0"/>
                <a:cs typeface="Calibri" panose="020F0502020204030204" pitchFamily="34" charset="0"/>
              </a:rPr>
              <a:t> Presentations for clients, customers, or other stakeholders- when and how often</a:t>
            </a:r>
          </a:p>
          <a:p>
            <a:r>
              <a:rPr lang="en-NZ" sz="2000" dirty="0">
                <a:solidFill>
                  <a:srgbClr val="033535"/>
                </a:solidFill>
                <a:highlight>
                  <a:srgbClr val="FFFF00"/>
                </a:highlight>
                <a:ea typeface="Calibri" panose="020F0502020204030204" pitchFamily="34" charset="0"/>
                <a:cs typeface="Calibri" panose="020F0502020204030204" pitchFamily="34" charset="0"/>
              </a:rPr>
              <a:t>Executive updates, written briefs and presentations- when and how often</a:t>
            </a:r>
          </a:p>
          <a:p>
            <a:pPr algn="l">
              <a:buFont typeface="Arial" panose="020B0604020202020204" pitchFamily="34" charset="0"/>
              <a:buChar char="•"/>
            </a:pPr>
            <a:endParaRPr lang="en-NZ" sz="2000" b="0" i="0" dirty="0">
              <a:solidFill>
                <a:srgbClr val="033535"/>
              </a:solidFill>
              <a:effectLst/>
              <a:highlight>
                <a:srgbClr val="FFFFFF"/>
              </a:highlight>
              <a:latin typeface="-apple-system"/>
            </a:endParaRPr>
          </a:p>
        </p:txBody>
      </p:sp>
    </p:spTree>
    <p:extLst>
      <p:ext uri="{BB962C8B-B14F-4D97-AF65-F5344CB8AC3E}">
        <p14:creationId xmlns:p14="http://schemas.microsoft.com/office/powerpoint/2010/main" val="658189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90A9-2514-4305-97E9-9F9E1F1FEE48}"/>
              </a:ext>
            </a:extLst>
          </p:cNvPr>
          <p:cNvSpPr>
            <a:spLocks noGrp="1"/>
          </p:cNvSpPr>
          <p:nvPr>
            <p:ph type="title"/>
          </p:nvPr>
        </p:nvSpPr>
        <p:spPr>
          <a:xfrm>
            <a:off x="1460500" y="365126"/>
            <a:ext cx="10515600" cy="921808"/>
          </a:xfrm>
        </p:spPr>
        <p:txBody>
          <a:bodyPr/>
          <a:lstStyle/>
          <a:p>
            <a:r>
              <a:rPr lang="en-NZ" dirty="0"/>
              <a:t>Communication- a critical knowledge area</a:t>
            </a:r>
          </a:p>
        </p:txBody>
      </p:sp>
      <p:sp>
        <p:nvSpPr>
          <p:cNvPr id="3" name="Text Placeholder 2">
            <a:extLst>
              <a:ext uri="{FF2B5EF4-FFF2-40B4-BE49-F238E27FC236}">
                <a16:creationId xmlns:a16="http://schemas.microsoft.com/office/drawing/2014/main" id="{C8BDBC7A-7CFC-48F8-A4BA-B838E85AB91B}"/>
              </a:ext>
            </a:extLst>
          </p:cNvPr>
          <p:cNvSpPr>
            <a:spLocks noGrp="1"/>
          </p:cNvSpPr>
          <p:nvPr>
            <p:ph type="body" sz="quarter" idx="13"/>
          </p:nvPr>
        </p:nvSpPr>
        <p:spPr>
          <a:xfrm>
            <a:off x="1460500" y="1388533"/>
            <a:ext cx="10515600" cy="4807335"/>
          </a:xfrm>
        </p:spPr>
        <p:txBody>
          <a:bodyPr>
            <a:normAutofit/>
          </a:bodyPr>
          <a:lstStyle/>
          <a:p>
            <a:pPr marL="0" indent="0">
              <a:buNone/>
            </a:pPr>
            <a:r>
              <a:rPr lang="en-NZ" dirty="0"/>
              <a:t>Projects require a significant level of communication</a:t>
            </a:r>
          </a:p>
          <a:p>
            <a:r>
              <a:rPr lang="en-NZ" dirty="0"/>
              <a:t>Several important concepts can help</a:t>
            </a:r>
          </a:p>
          <a:p>
            <a:pPr lvl="1"/>
            <a:r>
              <a:rPr lang="en-NZ" dirty="0"/>
              <a:t>Focus on stakeholder and team (group) and individual communication needs</a:t>
            </a:r>
          </a:p>
          <a:p>
            <a:pPr lvl="1"/>
            <a:r>
              <a:rPr lang="en-NZ" dirty="0"/>
              <a:t>Use formal and informal methods for communicating</a:t>
            </a:r>
          </a:p>
          <a:p>
            <a:pPr lvl="2"/>
            <a:r>
              <a:rPr lang="en-NZ" dirty="0"/>
              <a:t>Many people prefer informal communications</a:t>
            </a:r>
          </a:p>
          <a:p>
            <a:pPr lvl="1"/>
            <a:r>
              <a:rPr lang="en-NZ" dirty="0"/>
              <a:t>Distribute important information in an effective and timely manner</a:t>
            </a:r>
          </a:p>
          <a:p>
            <a:pPr lvl="2"/>
            <a:r>
              <a:rPr lang="en-NZ" dirty="0"/>
              <a:t>E.g., agile projects have daily meetings (daily stand-up meetings) to make sure everyone is on the same page</a:t>
            </a:r>
          </a:p>
          <a:p>
            <a:pPr lvl="1"/>
            <a:r>
              <a:rPr lang="en-NZ" b="1" dirty="0"/>
              <a:t>Determine the number of communication channels</a:t>
            </a:r>
          </a:p>
          <a:p>
            <a:pPr lvl="1"/>
            <a:r>
              <a:rPr lang="en-NZ" b="1" dirty="0"/>
              <a:t>Simplify communication complexity by reducing communication channels</a:t>
            </a:r>
          </a:p>
          <a:p>
            <a:endParaRPr lang="en-NZ" dirty="0"/>
          </a:p>
        </p:txBody>
      </p:sp>
    </p:spTree>
    <p:extLst>
      <p:ext uri="{BB962C8B-B14F-4D97-AF65-F5344CB8AC3E}">
        <p14:creationId xmlns:p14="http://schemas.microsoft.com/office/powerpoint/2010/main" val="2019147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90A9-2514-4305-97E9-9F9E1F1FEE48}"/>
              </a:ext>
            </a:extLst>
          </p:cNvPr>
          <p:cNvSpPr>
            <a:spLocks noGrp="1"/>
          </p:cNvSpPr>
          <p:nvPr>
            <p:ph type="title"/>
          </p:nvPr>
        </p:nvSpPr>
        <p:spPr>
          <a:xfrm>
            <a:off x="1460500" y="365126"/>
            <a:ext cx="10515600" cy="921808"/>
          </a:xfrm>
        </p:spPr>
        <p:txBody>
          <a:bodyPr/>
          <a:lstStyle/>
          <a:p>
            <a:r>
              <a:rPr lang="en-NZ" dirty="0"/>
              <a:t>Communication- a critical knowledge area</a:t>
            </a:r>
          </a:p>
        </p:txBody>
      </p:sp>
      <p:sp>
        <p:nvSpPr>
          <p:cNvPr id="3" name="Text Placeholder 2">
            <a:extLst>
              <a:ext uri="{FF2B5EF4-FFF2-40B4-BE49-F238E27FC236}">
                <a16:creationId xmlns:a16="http://schemas.microsoft.com/office/drawing/2014/main" id="{C8BDBC7A-7CFC-48F8-A4BA-B838E85AB91B}"/>
              </a:ext>
            </a:extLst>
          </p:cNvPr>
          <p:cNvSpPr>
            <a:spLocks noGrp="1"/>
          </p:cNvSpPr>
          <p:nvPr>
            <p:ph type="body" sz="quarter" idx="13"/>
          </p:nvPr>
        </p:nvSpPr>
        <p:spPr>
          <a:xfrm>
            <a:off x="1460500" y="1388533"/>
            <a:ext cx="10515600" cy="4807335"/>
          </a:xfrm>
        </p:spPr>
        <p:txBody>
          <a:bodyPr>
            <a:normAutofit/>
          </a:bodyPr>
          <a:lstStyle/>
          <a:p>
            <a:pPr marL="0" indent="0">
              <a:buNone/>
            </a:pPr>
            <a:r>
              <a:rPr lang="en-NZ" dirty="0"/>
              <a:t>Projects require a significant level of communication</a:t>
            </a:r>
          </a:p>
          <a:p>
            <a:r>
              <a:rPr lang="en-NZ" dirty="0"/>
              <a:t>Several important concepts can help</a:t>
            </a:r>
          </a:p>
          <a:p>
            <a:pPr lvl="1"/>
            <a:r>
              <a:rPr lang="en-NZ" dirty="0"/>
              <a:t>Focus on stakeholder and team (group) and individual communication needs</a:t>
            </a:r>
          </a:p>
          <a:p>
            <a:pPr lvl="1"/>
            <a:r>
              <a:rPr lang="en-NZ" dirty="0"/>
              <a:t>Use formal and informal methods for communicating</a:t>
            </a:r>
          </a:p>
          <a:p>
            <a:pPr lvl="2"/>
            <a:r>
              <a:rPr lang="en-NZ" dirty="0"/>
              <a:t>Many people prefer informal communications</a:t>
            </a:r>
          </a:p>
          <a:p>
            <a:pPr lvl="1"/>
            <a:r>
              <a:rPr lang="en-NZ" dirty="0"/>
              <a:t>Distribute important information in an effective and timely manner</a:t>
            </a:r>
          </a:p>
          <a:p>
            <a:pPr lvl="2"/>
            <a:r>
              <a:rPr lang="en-NZ" dirty="0"/>
              <a:t>E.g., agile projects have daily meetings (daily stand-up meetings) to make sure everyone is on the same page</a:t>
            </a:r>
          </a:p>
          <a:p>
            <a:pPr lvl="1"/>
            <a:r>
              <a:rPr lang="en-NZ" b="1" dirty="0"/>
              <a:t>Determine the number of communication channels</a:t>
            </a:r>
          </a:p>
          <a:p>
            <a:pPr lvl="1"/>
            <a:r>
              <a:rPr lang="en-NZ" b="1" dirty="0"/>
              <a:t>Simplify communication complexity by reducing communication channels</a:t>
            </a:r>
          </a:p>
          <a:p>
            <a:endParaRPr lang="en-NZ" dirty="0"/>
          </a:p>
        </p:txBody>
      </p:sp>
    </p:spTree>
    <p:extLst>
      <p:ext uri="{BB962C8B-B14F-4D97-AF65-F5344CB8AC3E}">
        <p14:creationId xmlns:p14="http://schemas.microsoft.com/office/powerpoint/2010/main" val="2772876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098EA-CA44-4AF6-85DE-712416F04B75}"/>
              </a:ext>
            </a:extLst>
          </p:cNvPr>
          <p:cNvSpPr>
            <a:spLocks noGrp="1"/>
          </p:cNvSpPr>
          <p:nvPr>
            <p:ph type="title"/>
          </p:nvPr>
        </p:nvSpPr>
        <p:spPr/>
        <p:txBody>
          <a:bodyPr>
            <a:normAutofit/>
          </a:bodyPr>
          <a:lstStyle/>
          <a:p>
            <a:r>
              <a:rPr lang="en-NZ" dirty="0"/>
              <a:t>Determine the number of communication channels</a:t>
            </a:r>
          </a:p>
        </p:txBody>
      </p:sp>
      <p:pic>
        <p:nvPicPr>
          <p:cNvPr id="4" name="Picture 3" descr="Image illustrates how the number of communication channels impact communication. &#10;">
            <a:extLst>
              <a:ext uri="{FF2B5EF4-FFF2-40B4-BE49-F238E27FC236}">
                <a16:creationId xmlns:a16="http://schemas.microsoft.com/office/drawing/2014/main" id="{74C52BC4-6801-46AF-8682-0540B24EF2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81282" y="1854055"/>
            <a:ext cx="6838968" cy="4711994"/>
          </a:xfrm>
          <a:prstGeom prst="rect">
            <a:avLst/>
          </a:prstGeom>
        </p:spPr>
      </p:pic>
    </p:spTree>
    <p:extLst>
      <p:ext uri="{BB962C8B-B14F-4D97-AF65-F5344CB8AC3E}">
        <p14:creationId xmlns:p14="http://schemas.microsoft.com/office/powerpoint/2010/main" val="117573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a:solidFill>
                  <a:srgbClr val="F26424"/>
                </a:solidFill>
              </a:rPr>
              <a:t>Forms of Project Communication</a:t>
            </a:r>
          </a:p>
        </p:txBody>
      </p:sp>
      <p:sp>
        <p:nvSpPr>
          <p:cNvPr id="3" name="Text Placeholder 2"/>
          <p:cNvSpPr>
            <a:spLocks noGrp="1"/>
          </p:cNvSpPr>
          <p:nvPr>
            <p:ph type="body" sz="quarter" idx="13"/>
          </p:nvPr>
        </p:nvSpPr>
        <p:spPr/>
        <p:txBody>
          <a:bodyPr wrap="square" lIns="0" rIns="0">
            <a:normAutofit lnSpcReduction="10000"/>
          </a:bodyPr>
          <a:lstStyle/>
          <a:p>
            <a:pPr>
              <a:spcAft>
                <a:spcPts val="1000"/>
              </a:spcAft>
            </a:pPr>
            <a:r>
              <a:rPr sz="2500" b="1"/>
              <a:t>Interpersonal: </a:t>
            </a:r>
            <a:r>
              <a:rPr sz="2500"/>
              <a:t>one person communicating directly with another person</a:t>
            </a:r>
          </a:p>
          <a:p>
            <a:pPr>
              <a:spcAft>
                <a:spcPts val="1000"/>
              </a:spcAft>
            </a:pPr>
            <a:r>
              <a:rPr sz="2500" b="1"/>
              <a:t>Small-group: </a:t>
            </a:r>
            <a:r>
              <a:rPr sz="2500"/>
              <a:t>communication within a small team or working group</a:t>
            </a:r>
          </a:p>
          <a:p>
            <a:pPr>
              <a:spcAft>
                <a:spcPts val="1000"/>
              </a:spcAft>
            </a:pPr>
            <a:r>
              <a:rPr sz="2500" b="1"/>
              <a:t>Public: </a:t>
            </a:r>
            <a:r>
              <a:rPr sz="2500"/>
              <a:t>one person communicating to a larger project audience</a:t>
            </a:r>
          </a:p>
          <a:p>
            <a:pPr>
              <a:spcAft>
                <a:spcPts val="1000"/>
              </a:spcAft>
            </a:pPr>
            <a:r>
              <a:rPr sz="2500" b="1"/>
              <a:t>Mass: </a:t>
            </a:r>
            <a:r>
              <a:rPr sz="2500"/>
              <a:t>information distributed to a large audience with limited direct interaction</a:t>
            </a:r>
          </a:p>
          <a:p>
            <a:pPr>
              <a:spcAft>
                <a:spcPts val="1000"/>
              </a:spcAft>
            </a:pPr>
            <a:r>
              <a:rPr sz="2500" b="1"/>
              <a:t>Network and social: </a:t>
            </a:r>
            <a:r>
              <a:rPr sz="2500"/>
              <a:t>many-to-many communication through digital or social platforms</a:t>
            </a:r>
          </a:p>
          <a:p>
            <a:pPr>
              <a:spcAft>
                <a:spcPts val="1000"/>
              </a:spcAft>
            </a:pPr>
            <a:r>
              <a:rPr sz="2500" b="1"/>
              <a:t>Main point: </a:t>
            </a:r>
            <a:r>
              <a:rPr sz="2500"/>
              <a:t>communication method and audience setting are different decisions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300">
                <a:solidFill>
                  <a:srgbClr val="F26424"/>
                </a:solidFill>
              </a:rPr>
              <a:t>Communication Strategy, Plan and Project Communications</a:t>
            </a:r>
          </a:p>
        </p:txBody>
      </p:sp>
      <p:sp>
        <p:nvSpPr>
          <p:cNvPr id="3" name="Text Placeholder 2"/>
          <p:cNvSpPr>
            <a:spLocks noGrp="1"/>
          </p:cNvSpPr>
          <p:nvPr>
            <p:ph type="body" sz="quarter" idx="13"/>
          </p:nvPr>
        </p:nvSpPr>
        <p:spPr/>
        <p:txBody>
          <a:bodyPr wrap="square" lIns="0" rIns="0"/>
          <a:lstStyle/>
          <a:p>
            <a:pPr>
              <a:spcAft>
                <a:spcPts val="1000"/>
              </a:spcAft>
            </a:pPr>
            <a:r>
              <a:rPr sz="2700" b="1"/>
              <a:t>Communication strategy: </a:t>
            </a:r>
            <a:r>
              <a:rPr sz="2700"/>
              <a:t>the overall approach for effective stakeholder communication</a:t>
            </a:r>
          </a:p>
          <a:p>
            <a:pPr>
              <a:spcAft>
                <a:spcPts val="1000"/>
              </a:spcAft>
            </a:pPr>
            <a:r>
              <a:rPr sz="2700" b="1"/>
              <a:t>Communications management plan: </a:t>
            </a:r>
            <a:r>
              <a:rPr sz="2700"/>
              <a:t>how communication will be planned, structured, implemented and monitored</a:t>
            </a:r>
          </a:p>
          <a:p>
            <a:pPr>
              <a:spcAft>
                <a:spcPts val="1000"/>
              </a:spcAft>
            </a:pPr>
            <a:r>
              <a:rPr sz="2700" b="1"/>
              <a:t>Project communications: </a:t>
            </a:r>
            <a:r>
              <a:rPr sz="2700"/>
              <a:t>the actual reports, presentations, meeting minutes, updates and dashboards</a:t>
            </a:r>
          </a:p>
          <a:p>
            <a:pPr>
              <a:spcAft>
                <a:spcPts val="1000"/>
              </a:spcAft>
            </a:pPr>
            <a:r>
              <a:rPr sz="2700" b="1"/>
              <a:t>Main point: </a:t>
            </a:r>
            <a:r>
              <a:rPr sz="2700"/>
              <a:t>strategy decides the approach; the plan organises the work; communications deliver the information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6E51-1034-4F13-B99A-AC864C24F6F8}"/>
              </a:ext>
            </a:extLst>
          </p:cNvPr>
          <p:cNvSpPr>
            <a:spLocks noGrp="1"/>
          </p:cNvSpPr>
          <p:nvPr>
            <p:ph type="title"/>
          </p:nvPr>
        </p:nvSpPr>
        <p:spPr/>
        <p:txBody>
          <a:bodyPr>
            <a:normAutofit/>
          </a:bodyPr>
          <a:lstStyle/>
          <a:p>
            <a:r>
              <a:rPr lang="en-US" dirty="0"/>
              <a:t>Main processes in project communications management</a:t>
            </a:r>
            <a:endParaRPr lang="en-NZ" dirty="0"/>
          </a:p>
        </p:txBody>
      </p:sp>
      <p:sp>
        <p:nvSpPr>
          <p:cNvPr id="3" name="Text Placeholder 2">
            <a:extLst>
              <a:ext uri="{FF2B5EF4-FFF2-40B4-BE49-F238E27FC236}">
                <a16:creationId xmlns:a16="http://schemas.microsoft.com/office/drawing/2014/main" id="{B62128D5-D02B-4769-9164-7F2C965A909A}"/>
              </a:ext>
            </a:extLst>
          </p:cNvPr>
          <p:cNvSpPr>
            <a:spLocks noGrp="1"/>
          </p:cNvSpPr>
          <p:nvPr>
            <p:ph type="body" sz="quarter" idx="13"/>
          </p:nvPr>
        </p:nvSpPr>
        <p:spPr/>
        <p:txBody>
          <a:bodyPr/>
          <a:lstStyle/>
          <a:p>
            <a:r>
              <a:rPr lang="en-NZ" dirty="0"/>
              <a:t>Planning communications management</a:t>
            </a:r>
          </a:p>
          <a:p>
            <a:r>
              <a:rPr lang="en-NZ" dirty="0"/>
              <a:t>Executing the communication plan to managing communications</a:t>
            </a:r>
          </a:p>
          <a:p>
            <a:r>
              <a:rPr lang="en-NZ" dirty="0"/>
              <a:t>Monitoring communications</a:t>
            </a:r>
          </a:p>
          <a:p>
            <a:pPr marL="0" indent="0">
              <a:buNone/>
            </a:pPr>
            <a:endParaRPr lang="en-NZ" dirty="0"/>
          </a:p>
        </p:txBody>
      </p:sp>
    </p:spTree>
    <p:extLst>
      <p:ext uri="{BB962C8B-B14F-4D97-AF65-F5344CB8AC3E}">
        <p14:creationId xmlns:p14="http://schemas.microsoft.com/office/powerpoint/2010/main" val="2769893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9797B-DED7-49DD-9032-41DE285C3B72}"/>
              </a:ext>
            </a:extLst>
          </p:cNvPr>
          <p:cNvSpPr>
            <a:spLocks noGrp="1"/>
          </p:cNvSpPr>
          <p:nvPr>
            <p:ph type="title"/>
          </p:nvPr>
        </p:nvSpPr>
        <p:spPr/>
        <p:txBody>
          <a:bodyPr/>
          <a:lstStyle/>
          <a:p>
            <a:r>
              <a:rPr lang="en-NZ" dirty="0"/>
              <a:t>Communications management plan</a:t>
            </a:r>
          </a:p>
        </p:txBody>
      </p:sp>
      <p:sp>
        <p:nvSpPr>
          <p:cNvPr id="3" name="Text Placeholder 2">
            <a:extLst>
              <a:ext uri="{FF2B5EF4-FFF2-40B4-BE49-F238E27FC236}">
                <a16:creationId xmlns:a16="http://schemas.microsoft.com/office/drawing/2014/main" id="{7F311A7A-E2D4-4A76-9BB7-50523D2310E7}"/>
              </a:ext>
            </a:extLst>
          </p:cNvPr>
          <p:cNvSpPr>
            <a:spLocks noGrp="1"/>
          </p:cNvSpPr>
          <p:nvPr>
            <p:ph type="body" sz="quarter" idx="13"/>
          </p:nvPr>
        </p:nvSpPr>
        <p:spPr/>
        <p:txBody>
          <a:bodyPr/>
          <a:lstStyle/>
          <a:p>
            <a:r>
              <a:rPr lang="en-US" dirty="0"/>
              <a:t>Communications management plan contents</a:t>
            </a:r>
          </a:p>
          <a:p>
            <a:pPr lvl="1"/>
            <a:r>
              <a:rPr lang="en-US" dirty="0"/>
              <a:t>Stakeholder communications requirements</a:t>
            </a:r>
          </a:p>
          <a:p>
            <a:pPr lvl="1"/>
            <a:r>
              <a:rPr lang="en-US" dirty="0"/>
              <a:t>Information to be communicated, including format, content, and level of detail</a:t>
            </a:r>
          </a:p>
          <a:p>
            <a:pPr lvl="1"/>
            <a:r>
              <a:rPr lang="en-US" dirty="0"/>
              <a:t>Who will receive the information and who will produce it</a:t>
            </a:r>
          </a:p>
          <a:p>
            <a:pPr lvl="1"/>
            <a:r>
              <a:rPr lang="en-US" dirty="0"/>
              <a:t>Suggested methods or technologies for conveying the information</a:t>
            </a:r>
          </a:p>
          <a:p>
            <a:pPr lvl="1"/>
            <a:r>
              <a:rPr lang="en-US" dirty="0"/>
              <a:t>Frequency of communication</a:t>
            </a:r>
          </a:p>
          <a:p>
            <a:pPr lvl="1"/>
            <a:r>
              <a:rPr lang="en-US" dirty="0"/>
              <a:t>Escalation procedures for resolving issues</a:t>
            </a:r>
          </a:p>
          <a:p>
            <a:pPr lvl="1"/>
            <a:r>
              <a:rPr lang="en-US" dirty="0"/>
              <a:t>Revision procedures for updating the communications management plan</a:t>
            </a:r>
          </a:p>
          <a:p>
            <a:pPr lvl="1"/>
            <a:r>
              <a:rPr lang="en-US" dirty="0"/>
              <a:t>A glossary of common terminology</a:t>
            </a:r>
          </a:p>
          <a:p>
            <a:endParaRPr lang="en-NZ" dirty="0"/>
          </a:p>
        </p:txBody>
      </p:sp>
    </p:spTree>
    <p:extLst>
      <p:ext uri="{BB962C8B-B14F-4D97-AF65-F5344CB8AC3E}">
        <p14:creationId xmlns:p14="http://schemas.microsoft.com/office/powerpoint/2010/main" val="1215506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55967-8129-44CD-B8A5-E33E64CAAA81}"/>
              </a:ext>
            </a:extLst>
          </p:cNvPr>
          <p:cNvSpPr>
            <a:spLocks noGrp="1"/>
          </p:cNvSpPr>
          <p:nvPr>
            <p:ph type="title"/>
          </p:nvPr>
        </p:nvSpPr>
        <p:spPr>
          <a:xfrm>
            <a:off x="1460500" y="365125"/>
            <a:ext cx="10515600" cy="571853"/>
          </a:xfrm>
        </p:spPr>
        <p:txBody>
          <a:bodyPr>
            <a:normAutofit/>
          </a:bodyPr>
          <a:lstStyle/>
          <a:p>
            <a:r>
              <a:rPr lang="en-NZ" sz="2800" dirty="0"/>
              <a:t>Stakeholder communications analysis-</a:t>
            </a:r>
          </a:p>
        </p:txBody>
      </p:sp>
      <p:sp>
        <p:nvSpPr>
          <p:cNvPr id="3" name="Text Placeholder 2">
            <a:extLst>
              <a:ext uri="{FF2B5EF4-FFF2-40B4-BE49-F238E27FC236}">
                <a16:creationId xmlns:a16="http://schemas.microsoft.com/office/drawing/2014/main" id="{E28347D0-9EBB-559F-5472-4501B1835BF8}"/>
              </a:ext>
            </a:extLst>
          </p:cNvPr>
          <p:cNvSpPr>
            <a:spLocks noGrp="1"/>
          </p:cNvSpPr>
          <p:nvPr>
            <p:ph type="body" sz="quarter" idx="13"/>
          </p:nvPr>
        </p:nvSpPr>
        <p:spPr>
          <a:xfrm>
            <a:off x="1460500" y="1080872"/>
            <a:ext cx="10515600" cy="4351338"/>
          </a:xfrm>
        </p:spPr>
        <p:txBody>
          <a:bodyPr>
            <a:normAutofit/>
          </a:bodyPr>
          <a:lstStyle/>
          <a:p>
            <a:r>
              <a:rPr lang="en-NZ" sz="1600" dirty="0"/>
              <a:t>Communication analysis is done based on the stakeholder register and included in the communication plan. You must complete this for your assignment 1 Part 2 based on your stakeholder register.</a:t>
            </a:r>
          </a:p>
        </p:txBody>
      </p:sp>
      <p:graphicFrame>
        <p:nvGraphicFramePr>
          <p:cNvPr id="4" name="Content Placeholder 1">
            <a:extLst>
              <a:ext uri="{FF2B5EF4-FFF2-40B4-BE49-F238E27FC236}">
                <a16:creationId xmlns:a16="http://schemas.microsoft.com/office/drawing/2014/main" id="{5177E3DB-B687-4C1F-90B2-A4E123B75955}"/>
              </a:ext>
            </a:extLst>
          </p:cNvPr>
          <p:cNvGraphicFramePr>
            <a:graphicFrameLocks/>
          </p:cNvGraphicFramePr>
          <p:nvPr>
            <p:extLst>
              <p:ext uri="{D42A27DB-BD31-4B8C-83A1-F6EECF244321}">
                <p14:modId xmlns:p14="http://schemas.microsoft.com/office/powerpoint/2010/main" val="1724665849"/>
              </p:ext>
            </p:extLst>
          </p:nvPr>
        </p:nvGraphicFramePr>
        <p:xfrm>
          <a:off x="1553634" y="1560124"/>
          <a:ext cx="10329332" cy="5297876"/>
        </p:xfrm>
        <a:graphic>
          <a:graphicData uri="http://schemas.openxmlformats.org/drawingml/2006/table">
            <a:tbl>
              <a:tblPr firstRow="1" bandRow="1">
                <a:tableStyleId>{5C22544A-7EE6-4342-B048-85BDC9FD1C3A}</a:tableStyleId>
              </a:tblPr>
              <a:tblGrid>
                <a:gridCol w="2111871">
                  <a:extLst>
                    <a:ext uri="{9D8B030D-6E8A-4147-A177-3AD203B41FA5}">
                      <a16:colId xmlns:a16="http://schemas.microsoft.com/office/drawing/2014/main" val="375641142"/>
                    </a:ext>
                  </a:extLst>
                </a:gridCol>
                <a:gridCol w="1971863">
                  <a:extLst>
                    <a:ext uri="{9D8B030D-6E8A-4147-A177-3AD203B41FA5}">
                      <a16:colId xmlns:a16="http://schemas.microsoft.com/office/drawing/2014/main" val="1708888386"/>
                    </a:ext>
                  </a:extLst>
                </a:gridCol>
                <a:gridCol w="2944297">
                  <a:extLst>
                    <a:ext uri="{9D8B030D-6E8A-4147-A177-3AD203B41FA5}">
                      <a16:colId xmlns:a16="http://schemas.microsoft.com/office/drawing/2014/main" val="1280512451"/>
                    </a:ext>
                  </a:extLst>
                </a:gridCol>
                <a:gridCol w="1223270">
                  <a:extLst>
                    <a:ext uri="{9D8B030D-6E8A-4147-A177-3AD203B41FA5}">
                      <a16:colId xmlns:a16="http://schemas.microsoft.com/office/drawing/2014/main" val="1252165213"/>
                    </a:ext>
                  </a:extLst>
                </a:gridCol>
                <a:gridCol w="2078031">
                  <a:extLst>
                    <a:ext uri="{9D8B030D-6E8A-4147-A177-3AD203B41FA5}">
                      <a16:colId xmlns:a16="http://schemas.microsoft.com/office/drawing/2014/main" val="3126641408"/>
                    </a:ext>
                  </a:extLst>
                </a:gridCol>
              </a:tblGrid>
              <a:tr h="430190">
                <a:tc>
                  <a:txBody>
                    <a:bodyPr/>
                    <a:lstStyle/>
                    <a:p>
                      <a:r>
                        <a:rPr lang="en-US" sz="1400" dirty="0"/>
                        <a:t>Stakeholders</a:t>
                      </a:r>
                    </a:p>
                  </a:txBody>
                  <a:tcPr/>
                </a:tc>
                <a:tc>
                  <a:txBody>
                    <a:bodyPr/>
                    <a:lstStyle/>
                    <a:p>
                      <a:r>
                        <a:rPr lang="en-US" sz="1400" dirty="0"/>
                        <a:t>Communication document (Type)</a:t>
                      </a:r>
                    </a:p>
                  </a:txBody>
                  <a:tcPr/>
                </a:tc>
                <a:tc>
                  <a:txBody>
                    <a:bodyPr/>
                    <a:lstStyle/>
                    <a:p>
                      <a:r>
                        <a:rPr lang="en-US" sz="1400" dirty="0"/>
                        <a:t>Document Format</a:t>
                      </a:r>
                    </a:p>
                  </a:txBody>
                  <a:tcPr/>
                </a:tc>
                <a:tc>
                  <a:txBody>
                    <a:bodyPr/>
                    <a:lstStyle/>
                    <a:p>
                      <a:r>
                        <a:rPr lang="en-US" sz="1400" dirty="0"/>
                        <a:t>Contact Person</a:t>
                      </a:r>
                    </a:p>
                  </a:txBody>
                  <a:tcPr/>
                </a:tc>
                <a:tc>
                  <a:txBody>
                    <a:bodyPr/>
                    <a:lstStyle/>
                    <a:p>
                      <a:r>
                        <a:rPr lang="en-US" sz="1400" dirty="0"/>
                        <a:t>Due &amp; frequency</a:t>
                      </a:r>
                    </a:p>
                  </a:txBody>
                  <a:tcPr/>
                </a:tc>
                <a:extLst>
                  <a:ext uri="{0D108BD9-81ED-4DB2-BD59-A6C34878D82A}">
                    <a16:rowId xmlns:a16="http://schemas.microsoft.com/office/drawing/2014/main" val="2727547795"/>
                  </a:ext>
                </a:extLst>
              </a:tr>
              <a:tr h="944638">
                <a:tc>
                  <a:txBody>
                    <a:bodyPr/>
                    <a:lstStyle/>
                    <a:p>
                      <a:r>
                        <a:rPr lang="en-US" sz="1200" dirty="0"/>
                        <a:t>Product manager (lecturer)</a:t>
                      </a:r>
                    </a:p>
                  </a:txBody>
                  <a:tcPr/>
                </a:tc>
                <a:tc>
                  <a:txBody>
                    <a:bodyPr/>
                    <a:lstStyle/>
                    <a:p>
                      <a:r>
                        <a:rPr lang="en-US" sz="1200" dirty="0"/>
                        <a:t>Assignment1- part 1 &amp; Part 2- uploaded on canvas</a:t>
                      </a:r>
                    </a:p>
                    <a:p>
                      <a:r>
                        <a:rPr lang="en-US" sz="1200" dirty="0"/>
                        <a:t>Meeting Agenda items (meeting)-email or face to face</a:t>
                      </a:r>
                    </a:p>
                    <a:p>
                      <a:endParaRPr lang="en-US" sz="1200" dirty="0"/>
                    </a:p>
                  </a:txBody>
                  <a:tcPr/>
                </a:tc>
                <a:tc>
                  <a:txBody>
                    <a:bodyPr/>
                    <a:lstStyle/>
                    <a:p>
                      <a:r>
                        <a:rPr lang="en-US" sz="1200" dirty="0"/>
                        <a:t>Hard copy (use assignment and PMI templates)</a:t>
                      </a:r>
                    </a:p>
                    <a:p>
                      <a:r>
                        <a:rPr lang="en-US" sz="1200" dirty="0"/>
                        <a:t>Meetings (use PMI template) document </a:t>
                      </a:r>
                    </a:p>
                  </a:txBody>
                  <a:tcPr/>
                </a:tc>
                <a:tc>
                  <a:txBody>
                    <a:bodyPr/>
                    <a:lstStyle/>
                    <a:p>
                      <a:r>
                        <a:rPr lang="en-US" sz="1200" dirty="0"/>
                        <a:t>Project manager </a:t>
                      </a:r>
                    </a:p>
                  </a:txBody>
                  <a:tcPr/>
                </a:tc>
                <a:tc>
                  <a:txBody>
                    <a:bodyPr/>
                    <a:lstStyle/>
                    <a:p>
                      <a:r>
                        <a:rPr lang="en-US" sz="1200" dirty="0"/>
                        <a:t>Part 1 due date</a:t>
                      </a:r>
                    </a:p>
                    <a:p>
                      <a:r>
                        <a:rPr lang="en-US" sz="1200" dirty="0"/>
                        <a:t>Part 2 due date</a:t>
                      </a:r>
                    </a:p>
                    <a:p>
                      <a:r>
                        <a:rPr lang="en-US" sz="1200" dirty="0"/>
                        <a:t>Meetings as required (weekly lecture and labs)</a:t>
                      </a:r>
                    </a:p>
                  </a:txBody>
                  <a:tcPr/>
                </a:tc>
                <a:extLst>
                  <a:ext uri="{0D108BD9-81ED-4DB2-BD59-A6C34878D82A}">
                    <a16:rowId xmlns:a16="http://schemas.microsoft.com/office/drawing/2014/main" val="3153387238"/>
                  </a:ext>
                </a:extLst>
              </a:tr>
              <a:tr h="944638">
                <a:tc>
                  <a:txBody>
                    <a:bodyPr/>
                    <a:lstStyle/>
                    <a:p>
                      <a:r>
                        <a:rPr lang="en-US" sz="1200" dirty="0"/>
                        <a:t>PO (TAs)</a:t>
                      </a:r>
                    </a:p>
                  </a:txBody>
                  <a:tcPr/>
                </a:tc>
                <a:tc>
                  <a:txBody>
                    <a:bodyPr/>
                    <a:lstStyle/>
                    <a:p>
                      <a:r>
                        <a:rPr lang="en-US" sz="1200" dirty="0"/>
                        <a:t>Assignment1- part 1 &amp; Part 2</a:t>
                      </a:r>
                    </a:p>
                    <a:p>
                      <a:r>
                        <a:rPr lang="en-US" sz="1200" dirty="0"/>
                        <a:t>Meeting Agenda items (meetings)</a:t>
                      </a:r>
                    </a:p>
                    <a:p>
                      <a:endParaRPr lang="en-US" sz="1200" dirty="0"/>
                    </a:p>
                  </a:txBody>
                  <a:tcPr/>
                </a:tc>
                <a:tc>
                  <a:txBody>
                    <a:bodyPr/>
                    <a:lstStyle/>
                    <a:p>
                      <a:r>
                        <a:rPr lang="en-NZ" sz="1200" dirty="0"/>
                        <a:t>Hard copy (use assignment  and PMI templates)</a:t>
                      </a:r>
                    </a:p>
                    <a:p>
                      <a:r>
                        <a:rPr lang="en-NZ" sz="1200" dirty="0"/>
                        <a:t>Meeting (use PMI template) document </a:t>
                      </a:r>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Project manager </a:t>
                      </a:r>
                    </a:p>
                    <a:p>
                      <a:r>
                        <a:rPr lang="en-US" sz="1200" dirty="0"/>
                        <a:t>Team</a:t>
                      </a:r>
                    </a:p>
                  </a:txBody>
                  <a:tcPr/>
                </a:tc>
                <a:tc>
                  <a:txBody>
                    <a:bodyPr/>
                    <a:lstStyle/>
                    <a:p>
                      <a:r>
                        <a:rPr lang="en-NZ" sz="1200" dirty="0"/>
                        <a:t>Part 1 due date</a:t>
                      </a:r>
                    </a:p>
                    <a:p>
                      <a:r>
                        <a:rPr lang="en-NZ" sz="1200" dirty="0"/>
                        <a:t>Part 2 due date</a:t>
                      </a:r>
                    </a:p>
                    <a:p>
                      <a:r>
                        <a:rPr lang="en-NZ" sz="1200" dirty="0"/>
                        <a:t>Meetings (weekly labs)</a:t>
                      </a:r>
                    </a:p>
                  </a:txBody>
                  <a:tcPr/>
                </a:tc>
                <a:extLst>
                  <a:ext uri="{0D108BD9-81ED-4DB2-BD59-A6C34878D82A}">
                    <a16:rowId xmlns:a16="http://schemas.microsoft.com/office/drawing/2014/main" val="102010149"/>
                  </a:ext>
                </a:extLst>
              </a:tr>
              <a:tr h="480506">
                <a:tc>
                  <a:txBody>
                    <a:bodyPr/>
                    <a:lstStyle/>
                    <a:p>
                      <a:r>
                        <a:rPr lang="en-US" sz="1200" dirty="0"/>
                        <a:t>BCIS programme leader </a:t>
                      </a:r>
                    </a:p>
                  </a:txBody>
                  <a:tcPr/>
                </a:tc>
                <a:tc>
                  <a:txBody>
                    <a:bodyPr/>
                    <a:lstStyle/>
                    <a:p>
                      <a:r>
                        <a:rPr lang="en-US" sz="1200" dirty="0"/>
                        <a:t>Monthly status</a:t>
                      </a:r>
                    </a:p>
                    <a:p>
                      <a:r>
                        <a:rPr lang="en-US" sz="1200" dirty="0"/>
                        <a:t>Reports- email</a:t>
                      </a:r>
                    </a:p>
                  </a:txBody>
                  <a:tcPr/>
                </a:tc>
                <a:tc>
                  <a:txBody>
                    <a:bodyPr/>
                    <a:lstStyle/>
                    <a:p>
                      <a:r>
                        <a:rPr lang="en-US" sz="1200" dirty="0"/>
                        <a:t>Status (template)   report </a:t>
                      </a:r>
                    </a:p>
                  </a:txBody>
                  <a:tcPr/>
                </a:tc>
                <a:tc>
                  <a:txBody>
                    <a:bodyPr/>
                    <a:lstStyle/>
                    <a:p>
                      <a:endParaRPr lang="en-US" sz="1200" dirty="0"/>
                    </a:p>
                  </a:txBody>
                  <a:tcPr/>
                </a:tc>
                <a:tc>
                  <a:txBody>
                    <a:bodyPr/>
                    <a:lstStyle/>
                    <a:p>
                      <a:r>
                        <a:rPr lang="en-US" sz="1200" dirty="0"/>
                        <a:t>End of the month</a:t>
                      </a:r>
                    </a:p>
                  </a:txBody>
                  <a:tcPr/>
                </a:tc>
                <a:extLst>
                  <a:ext uri="{0D108BD9-81ED-4DB2-BD59-A6C34878D82A}">
                    <a16:rowId xmlns:a16="http://schemas.microsoft.com/office/drawing/2014/main" val="434158006"/>
                  </a:ext>
                </a:extLst>
              </a:tr>
              <a:tr h="480506">
                <a:tc>
                  <a:txBody>
                    <a:bodyPr/>
                    <a:lstStyle/>
                    <a:p>
                      <a:r>
                        <a:rPr lang="en-US" sz="1200" dirty="0"/>
                        <a:t>HOD</a:t>
                      </a:r>
                    </a:p>
                  </a:txBody>
                  <a:tcPr/>
                </a:tc>
                <a:tc>
                  <a:txBody>
                    <a:bodyPr/>
                    <a:lstStyle/>
                    <a:p>
                      <a:r>
                        <a:rPr lang="en-US" sz="1200" dirty="0"/>
                        <a:t>Monthly status reports- email</a:t>
                      </a:r>
                    </a:p>
                  </a:txBody>
                  <a:tcPr/>
                </a:tc>
                <a:tc>
                  <a:txBody>
                    <a:bodyPr/>
                    <a:lstStyle/>
                    <a:p>
                      <a:r>
                        <a:rPr lang="en-US" sz="1200" dirty="0"/>
                        <a:t>Status (template)   report </a:t>
                      </a:r>
                    </a:p>
                  </a:txBody>
                  <a:tcPr/>
                </a:tc>
                <a:tc>
                  <a:txBody>
                    <a:bodyPr/>
                    <a:lstStyle/>
                    <a:p>
                      <a:endParaRPr lang="en-US" sz="1200" dirty="0"/>
                    </a:p>
                  </a:txBody>
                  <a:tcPr/>
                </a:tc>
                <a:tc>
                  <a:txBody>
                    <a:bodyPr/>
                    <a:lstStyle/>
                    <a:p>
                      <a:r>
                        <a:rPr lang="en-US" sz="1200" dirty="0"/>
                        <a:t>End of the month</a:t>
                      </a:r>
                    </a:p>
                  </a:txBody>
                  <a:tcPr/>
                </a:tc>
                <a:extLst>
                  <a:ext uri="{0D108BD9-81ED-4DB2-BD59-A6C34878D82A}">
                    <a16:rowId xmlns:a16="http://schemas.microsoft.com/office/drawing/2014/main" val="3910025987"/>
                  </a:ext>
                </a:extLst>
              </a:tr>
              <a:tr h="480506">
                <a:tc>
                  <a:txBody>
                    <a:bodyPr/>
                    <a:lstStyle/>
                    <a:p>
                      <a:r>
                        <a:rPr lang="en-US" sz="1200" dirty="0"/>
                        <a:t>HOS</a:t>
                      </a:r>
                    </a:p>
                  </a:txBody>
                  <a:tcPr/>
                </a:tc>
                <a:tc>
                  <a:txBody>
                    <a:bodyPr/>
                    <a:lstStyle/>
                    <a:p>
                      <a:r>
                        <a:rPr lang="en-US" sz="1200" dirty="0"/>
                        <a:t>Monthly status report- email</a:t>
                      </a:r>
                    </a:p>
                  </a:txBody>
                  <a:tcPr/>
                </a:tc>
                <a:tc>
                  <a:txBody>
                    <a:bodyPr/>
                    <a:lstStyle/>
                    <a:p>
                      <a:r>
                        <a:rPr lang="en-US" sz="1200" dirty="0"/>
                        <a:t>Status (template)   report </a:t>
                      </a:r>
                    </a:p>
                  </a:txBody>
                  <a:tcPr/>
                </a:tc>
                <a:tc>
                  <a:txBody>
                    <a:bodyPr/>
                    <a:lstStyle/>
                    <a:p>
                      <a:endParaRPr lang="en-US" sz="1200" dirty="0"/>
                    </a:p>
                  </a:txBody>
                  <a:tcPr/>
                </a:tc>
                <a:tc>
                  <a:txBody>
                    <a:bodyPr/>
                    <a:lstStyle/>
                    <a:p>
                      <a:r>
                        <a:rPr lang="en-US" sz="1200" dirty="0"/>
                        <a:t>End of the month</a:t>
                      </a:r>
                    </a:p>
                  </a:txBody>
                  <a:tcPr/>
                </a:tc>
                <a:extLst>
                  <a:ext uri="{0D108BD9-81ED-4DB2-BD59-A6C34878D82A}">
                    <a16:rowId xmlns:a16="http://schemas.microsoft.com/office/drawing/2014/main" val="793361068"/>
                  </a:ext>
                </a:extLst>
              </a:tr>
              <a:tr h="429381">
                <a:tc>
                  <a:txBody>
                    <a:bodyPr/>
                    <a:lstStyle/>
                    <a:p>
                      <a:r>
                        <a:rPr lang="en-US" sz="1200" dirty="0"/>
                        <a:t>School Manager </a:t>
                      </a:r>
                    </a:p>
                  </a:txBody>
                  <a:tcPr/>
                </a:tc>
                <a:tc>
                  <a:txBody>
                    <a:bodyPr/>
                    <a:lstStyle/>
                    <a:p>
                      <a:r>
                        <a:rPr lang="en-US" sz="1200" dirty="0"/>
                        <a:t>Monthly status report- email</a:t>
                      </a:r>
                    </a:p>
                    <a:p>
                      <a:endParaRPr lang="en-US" sz="1200" dirty="0"/>
                    </a:p>
                  </a:txBody>
                  <a:tcPr/>
                </a:tc>
                <a:tc>
                  <a:txBody>
                    <a:bodyPr/>
                    <a:lstStyle/>
                    <a:p>
                      <a:r>
                        <a:rPr lang="en-US" sz="1200" dirty="0"/>
                        <a:t>Status (template)   report </a:t>
                      </a:r>
                    </a:p>
                  </a:txBody>
                  <a:tcPr/>
                </a:tc>
                <a:tc>
                  <a:txBody>
                    <a:bodyPr/>
                    <a:lstStyle/>
                    <a:p>
                      <a:endParaRPr lang="en-US" sz="1200" dirty="0"/>
                    </a:p>
                  </a:txBody>
                  <a:tcPr/>
                </a:tc>
                <a:tc>
                  <a:txBody>
                    <a:bodyPr/>
                    <a:lstStyle/>
                    <a:p>
                      <a:r>
                        <a:rPr lang="en-US" sz="1200" dirty="0"/>
                        <a:t>End of the month</a:t>
                      </a:r>
                    </a:p>
                    <a:p>
                      <a:endParaRPr lang="en-US" sz="1200" dirty="0"/>
                    </a:p>
                  </a:txBody>
                  <a:tcPr/>
                </a:tc>
                <a:extLst>
                  <a:ext uri="{0D108BD9-81ED-4DB2-BD59-A6C34878D82A}">
                    <a16:rowId xmlns:a16="http://schemas.microsoft.com/office/drawing/2014/main" val="656492320"/>
                  </a:ext>
                </a:extLst>
              </a:tr>
              <a:tr h="686438">
                <a:tc>
                  <a:txBody>
                    <a:bodyPr/>
                    <a:lstStyle/>
                    <a:p>
                      <a:r>
                        <a:rPr lang="en-US" sz="1200" dirty="0"/>
                        <a:t>Team members </a:t>
                      </a:r>
                    </a:p>
                  </a:txBody>
                  <a:tcPr/>
                </a:tc>
                <a:tc>
                  <a:txBody>
                    <a:bodyPr/>
                    <a:lstStyle/>
                    <a:p>
                      <a:r>
                        <a:rPr lang="en-US" sz="1200" dirty="0"/>
                        <a:t>???</a:t>
                      </a:r>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556949773"/>
                  </a:ext>
                </a:extLst>
              </a:tr>
            </a:tbl>
          </a:graphicData>
        </a:graphic>
      </p:graphicFrame>
    </p:spTree>
    <p:extLst>
      <p:ext uri="{BB962C8B-B14F-4D97-AF65-F5344CB8AC3E}">
        <p14:creationId xmlns:p14="http://schemas.microsoft.com/office/powerpoint/2010/main" val="4010414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300">
                <a:solidFill>
                  <a:srgbClr val="F26424"/>
                </a:solidFill>
              </a:rPr>
              <a:t>Communication Should Change Stakeholder Engagement</a:t>
            </a:r>
          </a:p>
        </p:txBody>
      </p:sp>
      <p:sp>
        <p:nvSpPr>
          <p:cNvPr id="3" name="Text Placeholder 2"/>
          <p:cNvSpPr>
            <a:spLocks noGrp="1"/>
          </p:cNvSpPr>
          <p:nvPr>
            <p:ph type="body" sz="quarter" idx="13"/>
          </p:nvPr>
        </p:nvSpPr>
        <p:spPr/>
        <p:txBody>
          <a:bodyPr wrap="square" lIns="0" rIns="0"/>
          <a:lstStyle/>
          <a:p>
            <a:pPr>
              <a:spcAft>
                <a:spcPts val="1000"/>
              </a:spcAft>
            </a:pPr>
            <a:r>
              <a:rPr sz="2700" b="1"/>
              <a:t>Current engagement: </a:t>
            </a:r>
            <a:r>
              <a:rPr sz="2700"/>
              <a:t>how the stakeholder is involved or behaving now</a:t>
            </a:r>
          </a:p>
          <a:p>
            <a:pPr>
              <a:spcAft>
                <a:spcPts val="1000"/>
              </a:spcAft>
            </a:pPr>
            <a:r>
              <a:rPr sz="2700" b="1"/>
              <a:t>Desired engagement: </a:t>
            </a:r>
            <a:r>
              <a:rPr sz="2700"/>
              <a:t>the level of involvement needed for project success</a:t>
            </a:r>
          </a:p>
          <a:p>
            <a:pPr>
              <a:spcAft>
                <a:spcPts val="1000"/>
              </a:spcAft>
            </a:pPr>
            <a:r>
              <a:rPr sz="2700" b="1"/>
              <a:t>Engagement gap: </a:t>
            </a:r>
            <a:r>
              <a:rPr sz="2700"/>
              <a:t>the difference between current and desired engagement</a:t>
            </a:r>
          </a:p>
          <a:p>
            <a:pPr>
              <a:spcAft>
                <a:spcPts val="1000"/>
              </a:spcAft>
            </a:pPr>
            <a:r>
              <a:rPr sz="2700" b="1"/>
              <a:t>Communication response: </a:t>
            </a:r>
            <a:r>
              <a:rPr sz="2700"/>
              <a:t>targeted communication used to close the gap</a:t>
            </a:r>
          </a:p>
          <a:p>
            <a:pPr>
              <a:spcAft>
                <a:spcPts val="1000"/>
              </a:spcAft>
            </a:pPr>
            <a:r>
              <a:rPr sz="2700" b="1"/>
              <a:t>Main point: </a:t>
            </a:r>
            <a:r>
              <a:rPr sz="2700"/>
              <a:t>communication is used to increase support and reduce resistance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D33ED-F850-1B1D-79C9-85446C785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5597F-E08F-A2F4-CF8F-7C5B660E6051}"/>
              </a:ext>
            </a:extLst>
          </p:cNvPr>
          <p:cNvSpPr>
            <a:spLocks noGrp="1"/>
          </p:cNvSpPr>
          <p:nvPr>
            <p:ph type="title"/>
          </p:nvPr>
        </p:nvSpPr>
        <p:spPr>
          <a:xfrm>
            <a:off x="1460500" y="365125"/>
            <a:ext cx="10515600" cy="571853"/>
          </a:xfrm>
        </p:spPr>
        <p:txBody>
          <a:bodyPr>
            <a:normAutofit/>
          </a:bodyPr>
          <a:lstStyle/>
          <a:p>
            <a:r>
              <a:rPr lang="en-NZ" sz="2800" dirty="0"/>
              <a:t>Activity One: Stakeholder communications plan</a:t>
            </a:r>
          </a:p>
        </p:txBody>
      </p:sp>
      <p:sp>
        <p:nvSpPr>
          <p:cNvPr id="3" name="Text Placeholder 2">
            <a:extLst>
              <a:ext uri="{FF2B5EF4-FFF2-40B4-BE49-F238E27FC236}">
                <a16:creationId xmlns:a16="http://schemas.microsoft.com/office/drawing/2014/main" id="{9C4D9F46-7799-70EE-882C-66DBC775FC2F}"/>
              </a:ext>
            </a:extLst>
          </p:cNvPr>
          <p:cNvSpPr>
            <a:spLocks noGrp="1"/>
          </p:cNvSpPr>
          <p:nvPr>
            <p:ph type="body" sz="quarter" idx="13"/>
          </p:nvPr>
        </p:nvSpPr>
        <p:spPr>
          <a:xfrm>
            <a:off x="1460500" y="1080871"/>
            <a:ext cx="10515600" cy="3242773"/>
          </a:xfrm>
        </p:spPr>
        <p:txBody>
          <a:bodyPr>
            <a:noAutofit/>
          </a:bodyPr>
          <a:lstStyle/>
          <a:p>
            <a:pPr marL="0" indent="0">
              <a:buNone/>
            </a:pPr>
            <a:r>
              <a:rPr lang="en-NZ" sz="2400" dirty="0"/>
              <a:t>A university is developing a Student Mental Health Support App before the next academic year. The Project Sponsor wants quick visibility of progress, risks, and delivery. The Counselling Team needs to clarify how the app should support real counselling workflows. The IT Development Team needs regularly updated technical information. The Cybersecurity and Privacy Office requires evidence before approving sensitive data decisions. The Student Association wants student feedback considered before design decisions are finalised. The University Executive Committee only wants major milestone and budget information. Students will eventually need simple information about launch and use.</a:t>
            </a:r>
          </a:p>
          <a:p>
            <a:endParaRPr lang="en-NZ" sz="2400" dirty="0"/>
          </a:p>
          <a:p>
            <a:pPr marL="0" indent="0">
              <a:buNone/>
            </a:pPr>
            <a:r>
              <a:rPr lang="en-NZ" sz="2400" dirty="0"/>
              <a:t>For each stakeholder, identify the most appropriate:</a:t>
            </a:r>
          </a:p>
          <a:p>
            <a:pPr lvl="0"/>
            <a:r>
              <a:rPr lang="en-NZ" sz="2400" b="1" dirty="0"/>
              <a:t>Communication document type</a:t>
            </a:r>
            <a:r>
              <a:rPr lang="en-NZ" sz="2400" dirty="0"/>
              <a:t> </a:t>
            </a:r>
          </a:p>
          <a:p>
            <a:pPr lvl="0"/>
            <a:r>
              <a:rPr lang="en-NZ" sz="2400" b="1" dirty="0"/>
              <a:t>Document format</a:t>
            </a:r>
            <a:endParaRPr lang="en-NZ" sz="2400" dirty="0"/>
          </a:p>
          <a:p>
            <a:endParaRPr lang="en-NZ" sz="2400" dirty="0"/>
          </a:p>
          <a:p>
            <a:endParaRPr lang="en-NZ" sz="1800" dirty="0"/>
          </a:p>
        </p:txBody>
      </p:sp>
    </p:spTree>
    <p:extLst>
      <p:ext uri="{BB962C8B-B14F-4D97-AF65-F5344CB8AC3E}">
        <p14:creationId xmlns:p14="http://schemas.microsoft.com/office/powerpoint/2010/main" val="3220534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0FC9-D7CB-D747-1497-E5512BC80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B0418-913A-3CD7-E535-C5E2CF3FA671}"/>
              </a:ext>
            </a:extLst>
          </p:cNvPr>
          <p:cNvSpPr>
            <a:spLocks noGrp="1"/>
          </p:cNvSpPr>
          <p:nvPr>
            <p:ph type="title"/>
          </p:nvPr>
        </p:nvSpPr>
        <p:spPr>
          <a:xfrm>
            <a:off x="1460500" y="365125"/>
            <a:ext cx="10515600" cy="571853"/>
          </a:xfrm>
        </p:spPr>
        <p:txBody>
          <a:bodyPr>
            <a:normAutofit/>
          </a:bodyPr>
          <a:lstStyle/>
          <a:p>
            <a:r>
              <a:rPr lang="en-NZ" sz="2800" dirty="0"/>
              <a:t>Activity One: Stakeholder communications plan</a:t>
            </a:r>
          </a:p>
        </p:txBody>
      </p:sp>
      <p:graphicFrame>
        <p:nvGraphicFramePr>
          <p:cNvPr id="4" name="Content Placeholder 1">
            <a:extLst>
              <a:ext uri="{FF2B5EF4-FFF2-40B4-BE49-F238E27FC236}">
                <a16:creationId xmlns:a16="http://schemas.microsoft.com/office/drawing/2014/main" id="{3DF5A422-CE2B-A249-E8F1-3CD4D180E3D5}"/>
              </a:ext>
            </a:extLst>
          </p:cNvPr>
          <p:cNvGraphicFramePr>
            <a:graphicFrameLocks/>
          </p:cNvGraphicFramePr>
          <p:nvPr>
            <p:extLst>
              <p:ext uri="{D42A27DB-BD31-4B8C-83A1-F6EECF244321}">
                <p14:modId xmlns:p14="http://schemas.microsoft.com/office/powerpoint/2010/main" val="3127973199"/>
              </p:ext>
            </p:extLst>
          </p:nvPr>
        </p:nvGraphicFramePr>
        <p:xfrm>
          <a:off x="2050345" y="1080872"/>
          <a:ext cx="8482188" cy="4999445"/>
        </p:xfrm>
        <a:graphic>
          <a:graphicData uri="http://schemas.openxmlformats.org/drawingml/2006/table">
            <a:tbl>
              <a:tblPr firstRow="1" bandRow="1">
                <a:tableStyleId>{5C22544A-7EE6-4342-B048-85BDC9FD1C3A}</a:tableStyleId>
              </a:tblPr>
              <a:tblGrid>
                <a:gridCol w="2548834">
                  <a:extLst>
                    <a:ext uri="{9D8B030D-6E8A-4147-A177-3AD203B41FA5}">
                      <a16:colId xmlns:a16="http://schemas.microsoft.com/office/drawing/2014/main" val="375641142"/>
                    </a:ext>
                  </a:extLst>
                </a:gridCol>
                <a:gridCol w="2379858">
                  <a:extLst>
                    <a:ext uri="{9D8B030D-6E8A-4147-A177-3AD203B41FA5}">
                      <a16:colId xmlns:a16="http://schemas.microsoft.com/office/drawing/2014/main" val="1708888386"/>
                    </a:ext>
                  </a:extLst>
                </a:gridCol>
                <a:gridCol w="3553496">
                  <a:extLst>
                    <a:ext uri="{9D8B030D-6E8A-4147-A177-3AD203B41FA5}">
                      <a16:colId xmlns:a16="http://schemas.microsoft.com/office/drawing/2014/main" val="1280512451"/>
                    </a:ext>
                  </a:extLst>
                </a:gridCol>
              </a:tblGrid>
              <a:tr h="430190">
                <a:tc>
                  <a:txBody>
                    <a:bodyPr/>
                    <a:lstStyle/>
                    <a:p>
                      <a:r>
                        <a:rPr lang="en-US" sz="1400" dirty="0"/>
                        <a:t>Stakeholders</a:t>
                      </a:r>
                    </a:p>
                  </a:txBody>
                  <a:tcPr/>
                </a:tc>
                <a:tc>
                  <a:txBody>
                    <a:bodyPr/>
                    <a:lstStyle/>
                    <a:p>
                      <a:r>
                        <a:rPr lang="en-US" sz="1400" dirty="0"/>
                        <a:t>Communication document (Type)</a:t>
                      </a:r>
                    </a:p>
                  </a:txBody>
                  <a:tcPr/>
                </a:tc>
                <a:tc>
                  <a:txBody>
                    <a:bodyPr/>
                    <a:lstStyle/>
                    <a:p>
                      <a:r>
                        <a:rPr lang="en-US" sz="1400" dirty="0"/>
                        <a:t>Document Format</a:t>
                      </a:r>
                    </a:p>
                  </a:txBody>
                  <a:tcPr/>
                </a:tc>
                <a:extLst>
                  <a:ext uri="{0D108BD9-81ED-4DB2-BD59-A6C34878D82A}">
                    <a16:rowId xmlns:a16="http://schemas.microsoft.com/office/drawing/2014/main" val="2727547795"/>
                  </a:ext>
                </a:extLst>
              </a:tr>
              <a:tr h="944638">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153387238"/>
                  </a:ext>
                </a:extLst>
              </a:tr>
              <a:tr h="944638">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02010149"/>
                  </a:ext>
                </a:extLst>
              </a:tr>
              <a:tr h="480506">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434158006"/>
                  </a:ext>
                </a:extLst>
              </a:tr>
              <a:tr h="515178">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910025987"/>
                  </a:ext>
                </a:extLst>
              </a:tr>
              <a:tr h="480506">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793361068"/>
                  </a:ext>
                </a:extLst>
              </a:tr>
              <a:tr h="429381">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656492320"/>
                  </a:ext>
                </a:extLst>
              </a:tr>
              <a:tr h="686438">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556949773"/>
                  </a:ext>
                </a:extLst>
              </a:tr>
            </a:tbl>
          </a:graphicData>
        </a:graphic>
      </p:graphicFrame>
    </p:spTree>
    <p:extLst>
      <p:ext uri="{BB962C8B-B14F-4D97-AF65-F5344CB8AC3E}">
        <p14:creationId xmlns:p14="http://schemas.microsoft.com/office/powerpoint/2010/main" val="2354542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a:solidFill>
                  <a:srgbClr val="F26424"/>
                </a:solidFill>
              </a:rPr>
              <a:t>Tailoring Communication to the Stakeholder</a:t>
            </a:r>
          </a:p>
        </p:txBody>
      </p:sp>
      <p:sp>
        <p:nvSpPr>
          <p:cNvPr id="3" name="Text Placeholder 2"/>
          <p:cNvSpPr>
            <a:spLocks noGrp="1"/>
          </p:cNvSpPr>
          <p:nvPr>
            <p:ph type="body" sz="quarter" idx="13"/>
          </p:nvPr>
        </p:nvSpPr>
        <p:spPr/>
        <p:txBody>
          <a:bodyPr wrap="square" lIns="0" rIns="0"/>
          <a:lstStyle/>
          <a:p>
            <a:pPr>
              <a:spcAft>
                <a:spcPts val="1000"/>
              </a:spcAft>
            </a:pPr>
            <a:r>
              <a:rPr sz="2500" b="1"/>
              <a:t>Communication style: </a:t>
            </a:r>
            <a:r>
              <a:rPr sz="2500"/>
              <a:t>preferred method, format and level of detail</a:t>
            </a:r>
          </a:p>
          <a:p>
            <a:pPr>
              <a:spcAft>
                <a:spcPts val="1000"/>
              </a:spcAft>
            </a:pPr>
            <a:r>
              <a:rPr sz="2500" b="1"/>
              <a:t>Power and influence: </a:t>
            </a:r>
            <a:r>
              <a:rPr sz="2500"/>
              <a:t>formal authority and informal influence</a:t>
            </a:r>
          </a:p>
          <a:p>
            <a:pPr>
              <a:spcAft>
                <a:spcPts val="1000"/>
              </a:spcAft>
            </a:pPr>
            <a:r>
              <a:rPr sz="2500" b="1"/>
              <a:t>Culture: </a:t>
            </a:r>
            <a:r>
              <a:rPr sz="2500"/>
              <a:t>language, hierarchy and norms that shape interpretation</a:t>
            </a:r>
          </a:p>
          <a:p>
            <a:pPr>
              <a:spcAft>
                <a:spcPts val="1000"/>
              </a:spcAft>
            </a:pPr>
            <a:r>
              <a:rPr sz="2500" b="1"/>
              <a:t>Information preference: </a:t>
            </a:r>
            <a:r>
              <a:rPr sz="2500"/>
              <a:t>high-level summary or detailed evidence</a:t>
            </a:r>
          </a:p>
          <a:p>
            <a:pPr>
              <a:spcAft>
                <a:spcPts val="1000"/>
              </a:spcAft>
            </a:pPr>
            <a:r>
              <a:rPr sz="2500" b="1"/>
              <a:t>Engagement need: </a:t>
            </a:r>
            <a:r>
              <a:rPr sz="2500"/>
              <a:t>normal updates or additional targeted communication</a:t>
            </a:r>
          </a:p>
          <a:p>
            <a:pPr>
              <a:spcAft>
                <a:spcPts val="1000"/>
              </a:spcAft>
            </a:pPr>
            <a:r>
              <a:rPr sz="2500" b="1"/>
              <a:t>Main point: </a:t>
            </a:r>
            <a:r>
              <a:rPr sz="2500"/>
              <a:t>do not communicate with every stakeholder in exactly the same way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6D9F8-FB1D-425B-9372-E708B1095886}"/>
              </a:ext>
            </a:extLst>
          </p:cNvPr>
          <p:cNvSpPr>
            <a:spLocks noGrp="1"/>
          </p:cNvSpPr>
          <p:nvPr>
            <p:ph type="title"/>
          </p:nvPr>
        </p:nvSpPr>
        <p:spPr/>
        <p:txBody>
          <a:bodyPr/>
          <a:lstStyle/>
          <a:p>
            <a:r>
              <a:rPr lang="en-US" dirty="0"/>
              <a:t>Managing Communications</a:t>
            </a:r>
            <a:endParaRPr lang="en-NZ" dirty="0"/>
          </a:p>
        </p:txBody>
      </p:sp>
      <p:sp>
        <p:nvSpPr>
          <p:cNvPr id="3" name="Text Placeholder 2">
            <a:extLst>
              <a:ext uri="{FF2B5EF4-FFF2-40B4-BE49-F238E27FC236}">
                <a16:creationId xmlns:a16="http://schemas.microsoft.com/office/drawing/2014/main" id="{579A23F3-0F9B-4D57-8199-6E19B46541BD}"/>
              </a:ext>
            </a:extLst>
          </p:cNvPr>
          <p:cNvSpPr>
            <a:spLocks noGrp="1"/>
          </p:cNvSpPr>
          <p:nvPr>
            <p:ph type="body" sz="quarter" idx="13"/>
          </p:nvPr>
        </p:nvSpPr>
        <p:spPr/>
        <p:txBody>
          <a:bodyPr/>
          <a:lstStyle/>
          <a:p>
            <a:r>
              <a:rPr lang="en-US" dirty="0"/>
              <a:t>Managing communications is a large part of team’s job</a:t>
            </a:r>
          </a:p>
          <a:p>
            <a:pPr lvl="1"/>
            <a:r>
              <a:rPr lang="en-US" dirty="0"/>
              <a:t>Getting project information to the right people at the right time and in a useful format is just as important as developing the information in the first place</a:t>
            </a:r>
          </a:p>
          <a:p>
            <a:r>
              <a:rPr lang="en-US" dirty="0"/>
              <a:t>Important considerations </a:t>
            </a:r>
          </a:p>
          <a:p>
            <a:pPr lvl="1"/>
            <a:r>
              <a:rPr lang="en-US" dirty="0"/>
              <a:t>Use of technology</a:t>
            </a:r>
          </a:p>
          <a:p>
            <a:pPr lvl="1"/>
            <a:r>
              <a:rPr lang="en-US" dirty="0"/>
              <a:t>Appropriate methods and media to use</a:t>
            </a:r>
          </a:p>
          <a:p>
            <a:pPr lvl="1"/>
            <a:r>
              <a:rPr lang="en-US" dirty="0"/>
              <a:t>Performance reporting</a:t>
            </a:r>
          </a:p>
          <a:p>
            <a:endParaRPr lang="en-NZ" dirty="0"/>
          </a:p>
        </p:txBody>
      </p:sp>
    </p:spTree>
    <p:extLst>
      <p:ext uri="{BB962C8B-B14F-4D97-AF65-F5344CB8AC3E}">
        <p14:creationId xmlns:p14="http://schemas.microsoft.com/office/powerpoint/2010/main" val="1868897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3FF-3E06-4ACD-AF30-AB2B850428C8}"/>
              </a:ext>
            </a:extLst>
          </p:cNvPr>
          <p:cNvSpPr>
            <a:spLocks noGrp="1"/>
          </p:cNvSpPr>
          <p:nvPr>
            <p:ph type="title"/>
          </p:nvPr>
        </p:nvSpPr>
        <p:spPr/>
        <p:txBody>
          <a:bodyPr/>
          <a:lstStyle/>
          <a:p>
            <a:r>
              <a:rPr lang="en-NZ" dirty="0"/>
              <a:t>Tools using technologies-Virtuality</a:t>
            </a:r>
          </a:p>
        </p:txBody>
      </p:sp>
      <p:sp>
        <p:nvSpPr>
          <p:cNvPr id="3" name="Text Placeholder 2">
            <a:extLst>
              <a:ext uri="{FF2B5EF4-FFF2-40B4-BE49-F238E27FC236}">
                <a16:creationId xmlns:a16="http://schemas.microsoft.com/office/drawing/2014/main" id="{37A4F9E1-5F5D-4E44-AE32-DE287CB4B8B8}"/>
              </a:ext>
            </a:extLst>
          </p:cNvPr>
          <p:cNvSpPr>
            <a:spLocks noGrp="1"/>
          </p:cNvSpPr>
          <p:nvPr>
            <p:ph type="body" sz="quarter" idx="13"/>
          </p:nvPr>
        </p:nvSpPr>
        <p:spPr/>
        <p:txBody>
          <a:bodyPr/>
          <a:lstStyle/>
          <a:p>
            <a:r>
              <a:rPr lang="en-NZ" dirty="0"/>
              <a:t>Rely on telecom networks: telephones, cell phones, texting</a:t>
            </a:r>
          </a:p>
          <a:p>
            <a:r>
              <a:rPr lang="en-NZ" dirty="0"/>
              <a:t>Reply on Internet: E-mail, instant messaging, twitter, websites, wiki, virtual conference…</a:t>
            </a:r>
          </a:p>
          <a:p>
            <a:r>
              <a:rPr lang="en-NZ" dirty="0"/>
              <a:t>Exercise: classify the above tools into three methods: interactive, push, or pull</a:t>
            </a:r>
          </a:p>
          <a:p>
            <a:pPr marL="0" indent="0">
              <a:buNone/>
            </a:pPr>
            <a:endParaRPr lang="en-NZ" dirty="0"/>
          </a:p>
          <a:p>
            <a:pPr marL="0" indent="0">
              <a:buNone/>
            </a:pPr>
            <a:endParaRPr lang="en-NZ" dirty="0"/>
          </a:p>
        </p:txBody>
      </p:sp>
    </p:spTree>
    <p:extLst>
      <p:ext uri="{BB962C8B-B14F-4D97-AF65-F5344CB8AC3E}">
        <p14:creationId xmlns:p14="http://schemas.microsoft.com/office/powerpoint/2010/main" val="2253825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8711-442D-7585-469E-293A51178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A0BDE-3AA0-8409-DAFF-B041EFB991E7}"/>
              </a:ext>
            </a:extLst>
          </p:cNvPr>
          <p:cNvSpPr>
            <a:spLocks noGrp="1"/>
          </p:cNvSpPr>
          <p:nvPr>
            <p:ph type="title"/>
          </p:nvPr>
        </p:nvSpPr>
        <p:spPr>
          <a:xfrm>
            <a:off x="1460500" y="365125"/>
            <a:ext cx="10515600" cy="571853"/>
          </a:xfrm>
        </p:spPr>
        <p:txBody>
          <a:bodyPr>
            <a:normAutofit/>
          </a:bodyPr>
          <a:lstStyle/>
          <a:p>
            <a:r>
              <a:rPr lang="en-NZ" sz="2800" dirty="0"/>
              <a:t>Activity Two: Managing Communication</a:t>
            </a:r>
          </a:p>
        </p:txBody>
      </p:sp>
      <p:sp>
        <p:nvSpPr>
          <p:cNvPr id="3" name="Text Placeholder 2">
            <a:extLst>
              <a:ext uri="{FF2B5EF4-FFF2-40B4-BE49-F238E27FC236}">
                <a16:creationId xmlns:a16="http://schemas.microsoft.com/office/drawing/2014/main" id="{E2A10796-A8B4-75AB-C460-5CCD4CA40A58}"/>
              </a:ext>
            </a:extLst>
          </p:cNvPr>
          <p:cNvSpPr>
            <a:spLocks noGrp="1"/>
          </p:cNvSpPr>
          <p:nvPr>
            <p:ph type="body" sz="quarter" idx="13"/>
          </p:nvPr>
        </p:nvSpPr>
        <p:spPr>
          <a:xfrm>
            <a:off x="1460500" y="1080871"/>
            <a:ext cx="10515600" cy="5412003"/>
          </a:xfrm>
        </p:spPr>
        <p:txBody>
          <a:bodyPr>
            <a:normAutofit/>
          </a:bodyPr>
          <a:lstStyle/>
          <a:p>
            <a:pPr marL="0" indent="0">
              <a:buNone/>
            </a:pPr>
            <a:r>
              <a:rPr lang="en-NZ" sz="2400" dirty="0"/>
              <a:t>A university is upgrading its library room booking system before the next semester. The Project Sponsor wants brief progress updates but expects major risks to be raised immediately. The IT Development Team needs detailed and reliable information about requirements, issues, and tasks. Library Staff need to understand how the new booking process will work without receiving unnecessary technical detail. Student Representatives want opportunities to discuss new features and provide usability feedback. The Software Vendor needs regular technical and scheduling coordination. The University Executive only requires information at important project points. Students need simple information when the system becomes available or booking access changes.</a:t>
            </a:r>
          </a:p>
          <a:p>
            <a:r>
              <a:rPr lang="en-NZ" sz="2400" b="1" dirty="0"/>
              <a:t>Task</a:t>
            </a:r>
          </a:p>
          <a:p>
            <a:r>
              <a:rPr lang="en-NZ" sz="2400" dirty="0"/>
              <a:t>For each stakeholder, determine the most appropriate:</a:t>
            </a:r>
          </a:p>
          <a:p>
            <a:pPr lvl="0"/>
            <a:r>
              <a:rPr lang="en-NZ" sz="2400" b="1" dirty="0"/>
              <a:t>Communication channel</a:t>
            </a:r>
            <a:r>
              <a:rPr lang="en-NZ" sz="2400" dirty="0"/>
              <a:t> </a:t>
            </a:r>
          </a:p>
          <a:p>
            <a:pPr lvl="0"/>
            <a:r>
              <a:rPr lang="en-NZ" sz="2400" b="1" dirty="0"/>
              <a:t>Frequency of communication</a:t>
            </a:r>
            <a:endParaRPr lang="en-NZ" sz="2400" dirty="0"/>
          </a:p>
          <a:p>
            <a:endParaRPr lang="en-NZ" sz="1600" dirty="0"/>
          </a:p>
        </p:txBody>
      </p:sp>
    </p:spTree>
    <p:extLst>
      <p:ext uri="{BB962C8B-B14F-4D97-AF65-F5344CB8AC3E}">
        <p14:creationId xmlns:p14="http://schemas.microsoft.com/office/powerpoint/2010/main" val="162461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94F4-CEA6-4A28-ACC6-179DFC124AE3}"/>
              </a:ext>
            </a:extLst>
          </p:cNvPr>
          <p:cNvSpPr>
            <a:spLocks noGrp="1"/>
          </p:cNvSpPr>
          <p:nvPr>
            <p:ph type="title"/>
          </p:nvPr>
        </p:nvSpPr>
        <p:spPr>
          <a:xfrm>
            <a:off x="1031875" y="60991"/>
            <a:ext cx="10515600" cy="1325563"/>
          </a:xfrm>
        </p:spPr>
        <p:txBody>
          <a:bodyPr/>
          <a:lstStyle/>
          <a:p>
            <a:r>
              <a:rPr lang="en-NZ" dirty="0"/>
              <a:t>Choice of media</a:t>
            </a:r>
          </a:p>
        </p:txBody>
      </p:sp>
      <p:pic>
        <p:nvPicPr>
          <p:cNvPr id="7" name="Picture 6" descr="Table&#10;&#10;Description automatically generated">
            <a:extLst>
              <a:ext uri="{FF2B5EF4-FFF2-40B4-BE49-F238E27FC236}">
                <a16:creationId xmlns:a16="http://schemas.microsoft.com/office/drawing/2014/main" id="{A62250AA-0D6E-4CDE-A6E1-30E4746F0B06}"/>
              </a:ext>
            </a:extLst>
          </p:cNvPr>
          <p:cNvPicPr>
            <a:picLocks noChangeAspect="1"/>
          </p:cNvPicPr>
          <p:nvPr/>
        </p:nvPicPr>
        <p:blipFill>
          <a:blip r:embed="rId2"/>
          <a:stretch>
            <a:fillRect/>
          </a:stretch>
        </p:blipFill>
        <p:spPr>
          <a:xfrm>
            <a:off x="1345472" y="1225685"/>
            <a:ext cx="10430670" cy="5318405"/>
          </a:xfrm>
          <a:prstGeom prst="rect">
            <a:avLst/>
          </a:prstGeom>
        </p:spPr>
      </p:pic>
    </p:spTree>
    <p:extLst>
      <p:ext uri="{BB962C8B-B14F-4D97-AF65-F5344CB8AC3E}">
        <p14:creationId xmlns:p14="http://schemas.microsoft.com/office/powerpoint/2010/main" val="2550345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4448F-D086-4C0A-B1F4-6979E21FA780}"/>
              </a:ext>
            </a:extLst>
          </p:cNvPr>
          <p:cNvSpPr>
            <a:spLocks noGrp="1"/>
          </p:cNvSpPr>
          <p:nvPr>
            <p:ph type="title"/>
          </p:nvPr>
        </p:nvSpPr>
        <p:spPr/>
        <p:txBody>
          <a:bodyPr/>
          <a:lstStyle/>
          <a:p>
            <a:r>
              <a:rPr lang="en-NZ" dirty="0"/>
              <a:t>Choice of media</a:t>
            </a:r>
          </a:p>
        </p:txBody>
      </p:sp>
      <p:pic>
        <p:nvPicPr>
          <p:cNvPr id="5" name="Picture 4" descr="A picture containing table&#10;&#10;Description automatically generated">
            <a:extLst>
              <a:ext uri="{FF2B5EF4-FFF2-40B4-BE49-F238E27FC236}">
                <a16:creationId xmlns:a16="http://schemas.microsoft.com/office/drawing/2014/main" id="{807EBDD2-9E74-499A-8D78-FFE254AA69D4}"/>
              </a:ext>
            </a:extLst>
          </p:cNvPr>
          <p:cNvPicPr>
            <a:picLocks noChangeAspect="1"/>
          </p:cNvPicPr>
          <p:nvPr/>
        </p:nvPicPr>
        <p:blipFill>
          <a:blip r:embed="rId2"/>
          <a:stretch>
            <a:fillRect/>
          </a:stretch>
        </p:blipFill>
        <p:spPr>
          <a:xfrm>
            <a:off x="1393188" y="2178995"/>
            <a:ext cx="10582912" cy="3107379"/>
          </a:xfrm>
          <a:prstGeom prst="rect">
            <a:avLst/>
          </a:prstGeom>
        </p:spPr>
      </p:pic>
    </p:spTree>
    <p:extLst>
      <p:ext uri="{BB962C8B-B14F-4D97-AF65-F5344CB8AC3E}">
        <p14:creationId xmlns:p14="http://schemas.microsoft.com/office/powerpoint/2010/main" val="106646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01C8-0F4F-4F3A-A9C3-243A8A52FC2D}"/>
              </a:ext>
            </a:extLst>
          </p:cNvPr>
          <p:cNvSpPr>
            <a:spLocks noGrp="1"/>
          </p:cNvSpPr>
          <p:nvPr>
            <p:ph type="title"/>
          </p:nvPr>
        </p:nvSpPr>
        <p:spPr/>
        <p:txBody>
          <a:bodyPr/>
          <a:lstStyle/>
          <a:p>
            <a:r>
              <a:rPr lang="en-US" dirty="0"/>
              <a:t>Reporting Performance</a:t>
            </a:r>
            <a:endParaRPr lang="en-NZ" dirty="0"/>
          </a:p>
        </p:txBody>
      </p:sp>
      <p:sp>
        <p:nvSpPr>
          <p:cNvPr id="3" name="Text Placeholder 2">
            <a:extLst>
              <a:ext uri="{FF2B5EF4-FFF2-40B4-BE49-F238E27FC236}">
                <a16:creationId xmlns:a16="http://schemas.microsoft.com/office/drawing/2014/main" id="{3A9D9BCD-1605-4908-987F-5C91D1E1E18A}"/>
              </a:ext>
            </a:extLst>
          </p:cNvPr>
          <p:cNvSpPr>
            <a:spLocks noGrp="1"/>
          </p:cNvSpPr>
          <p:nvPr>
            <p:ph type="body" sz="quarter" idx="13"/>
          </p:nvPr>
        </p:nvSpPr>
        <p:spPr/>
        <p:txBody>
          <a:bodyPr/>
          <a:lstStyle/>
          <a:p>
            <a:r>
              <a:rPr lang="en-US" dirty="0"/>
              <a:t>Performance reporting keeps stakeholders informed about how resources are being used to achieve project objectives</a:t>
            </a:r>
          </a:p>
          <a:p>
            <a:pPr lvl="1"/>
            <a:r>
              <a:rPr lang="en-US" b="1" dirty="0"/>
              <a:t>Progress reports* </a:t>
            </a:r>
            <a:r>
              <a:rPr lang="en-US" dirty="0"/>
              <a:t>describe what the project team has accomplished during a certain period of time</a:t>
            </a:r>
          </a:p>
          <a:p>
            <a:pPr lvl="1"/>
            <a:r>
              <a:rPr lang="en-US" b="1" dirty="0"/>
              <a:t>Status* </a:t>
            </a:r>
            <a:r>
              <a:rPr lang="en-US" dirty="0"/>
              <a:t>reports describe where the project stands at a specific point in time</a:t>
            </a:r>
          </a:p>
          <a:p>
            <a:pPr lvl="1"/>
            <a:r>
              <a:rPr lang="en-US" b="1" dirty="0"/>
              <a:t>Forecasts </a:t>
            </a:r>
            <a:r>
              <a:rPr lang="en-US" dirty="0"/>
              <a:t>predict future project status and progress based on past information and trends</a:t>
            </a:r>
          </a:p>
          <a:p>
            <a:pPr lvl="1"/>
            <a:endParaRPr lang="en-US" dirty="0"/>
          </a:p>
          <a:p>
            <a:pPr lvl="1"/>
            <a:r>
              <a:rPr lang="en-US" dirty="0"/>
              <a:t>*Both important in R&amp;D Papers.</a:t>
            </a:r>
            <a:endParaRPr lang="en-NZ" dirty="0"/>
          </a:p>
        </p:txBody>
      </p:sp>
    </p:spTree>
    <p:extLst>
      <p:ext uri="{BB962C8B-B14F-4D97-AF65-F5344CB8AC3E}">
        <p14:creationId xmlns:p14="http://schemas.microsoft.com/office/powerpoint/2010/main" val="2842154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0FE1-CBAB-4AAB-A5DE-529681C3E21C}"/>
              </a:ext>
            </a:extLst>
          </p:cNvPr>
          <p:cNvSpPr>
            <a:spLocks noGrp="1"/>
          </p:cNvSpPr>
          <p:nvPr>
            <p:ph type="title"/>
          </p:nvPr>
        </p:nvSpPr>
        <p:spPr/>
        <p:txBody>
          <a:bodyPr/>
          <a:lstStyle/>
          <a:p>
            <a:r>
              <a:rPr lang="en-US" dirty="0"/>
              <a:t>Best Practice</a:t>
            </a:r>
            <a:endParaRPr lang="en-NZ" dirty="0"/>
          </a:p>
        </p:txBody>
      </p:sp>
      <p:sp>
        <p:nvSpPr>
          <p:cNvPr id="3" name="Text Placeholder 2">
            <a:extLst>
              <a:ext uri="{FF2B5EF4-FFF2-40B4-BE49-F238E27FC236}">
                <a16:creationId xmlns:a16="http://schemas.microsoft.com/office/drawing/2014/main" id="{E14D26A5-1DAE-4479-8AD4-9B0B1CE006AC}"/>
              </a:ext>
            </a:extLst>
          </p:cNvPr>
          <p:cNvSpPr>
            <a:spLocks noGrp="1"/>
          </p:cNvSpPr>
          <p:nvPr>
            <p:ph type="body" sz="quarter" idx="13"/>
          </p:nvPr>
        </p:nvSpPr>
        <p:spPr/>
        <p:txBody>
          <a:bodyPr/>
          <a:lstStyle/>
          <a:p>
            <a:r>
              <a:rPr lang="en-US" dirty="0"/>
              <a:t>One of the main features of </a:t>
            </a:r>
            <a:r>
              <a:rPr lang="en-US" dirty="0" err="1"/>
              <a:t>kanban</a:t>
            </a:r>
            <a:r>
              <a:rPr lang="en-US" dirty="0"/>
              <a:t> is visualizing workflow, which is often done by using </a:t>
            </a:r>
            <a:r>
              <a:rPr lang="en-US" dirty="0" err="1"/>
              <a:t>kanban</a:t>
            </a:r>
            <a:r>
              <a:rPr lang="en-US" dirty="0"/>
              <a:t> boards</a:t>
            </a:r>
          </a:p>
          <a:p>
            <a:pPr lvl="1"/>
            <a:r>
              <a:rPr lang="en-US" dirty="0"/>
              <a:t>People using </a:t>
            </a:r>
            <a:r>
              <a:rPr lang="en-US" dirty="0" err="1"/>
              <a:t>kanban</a:t>
            </a:r>
            <a:r>
              <a:rPr lang="en-US" dirty="0"/>
              <a:t> boards can tailor the concepts to meet their needs</a:t>
            </a:r>
          </a:p>
          <a:p>
            <a:endParaRPr lang="en-NZ" dirty="0"/>
          </a:p>
        </p:txBody>
      </p:sp>
      <p:pic>
        <p:nvPicPr>
          <p:cNvPr id="4" name="Picture 3" descr="Image displays a Kanban board with seven tasks in three different states (e.g., To Do, In Progress, and Done). &#10;">
            <a:extLst>
              <a:ext uri="{FF2B5EF4-FFF2-40B4-BE49-F238E27FC236}">
                <a16:creationId xmlns:a16="http://schemas.microsoft.com/office/drawing/2014/main" id="{C11460D6-8BC8-49C4-8267-0DAB27E70F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74979" y="3171825"/>
            <a:ext cx="6993761" cy="2871643"/>
          </a:xfrm>
          <a:prstGeom prst="rect">
            <a:avLst/>
          </a:prstGeom>
        </p:spPr>
      </p:pic>
    </p:spTree>
    <p:extLst>
      <p:ext uri="{BB962C8B-B14F-4D97-AF65-F5344CB8AC3E}">
        <p14:creationId xmlns:p14="http://schemas.microsoft.com/office/powerpoint/2010/main" val="3686890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Project Communication Skills</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Active listening: check meaning before responding</a:t>
            </a:r>
          </a:p>
          <a:p>
            <a:pPr>
              <a:spcAft>
                <a:spcPts val="600"/>
              </a:spcAft>
              <a:defRPr sz="2700">
                <a:solidFill>
                  <a:srgbClr val="000000"/>
                </a:solidFill>
              </a:defRPr>
            </a:pPr>
            <a:r>
              <a:t>Feedback: confirm whether the message was understood</a:t>
            </a:r>
          </a:p>
          <a:p>
            <a:pPr>
              <a:spcAft>
                <a:spcPts val="600"/>
              </a:spcAft>
              <a:defRPr sz="2700">
                <a:solidFill>
                  <a:srgbClr val="000000"/>
                </a:solidFill>
              </a:defRPr>
            </a:pPr>
            <a:r>
              <a:t>Non-verbal communication: tone, body language and timing matter</a:t>
            </a:r>
          </a:p>
          <a:p>
            <a:pPr>
              <a:spcAft>
                <a:spcPts val="600"/>
              </a:spcAft>
              <a:defRPr sz="2700">
                <a:solidFill>
                  <a:srgbClr val="000000"/>
                </a:solidFill>
              </a:defRPr>
            </a:pPr>
            <a:r>
              <a:t>Presentation skills: translate project information for the audience</a:t>
            </a:r>
          </a:p>
          <a:p>
            <a:pPr>
              <a:spcAft>
                <a:spcPts val="600"/>
              </a:spcAft>
              <a:defRPr sz="2700">
                <a:solidFill>
                  <a:srgbClr val="000000"/>
                </a:solidFill>
              </a:defRPr>
            </a:pPr>
            <a:r>
              <a:t>Cultural awareness: adapt communication across backgrounds and locations</a:t>
            </a:r>
          </a:p>
          <a:p>
            <a:pPr>
              <a:spcAft>
                <a:spcPts val="600"/>
              </a:spcAft>
              <a:defRPr sz="2700">
                <a:solidFill>
                  <a:srgbClr val="000000"/>
                </a:solidFill>
              </a:defRPr>
            </a:pPr>
            <a:r>
              <a:t>Conflict and meeting management: keep discussion focused and useful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Communication in Agile and Adaptive Projects</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Use frequent checkpoints to keep understanding current</a:t>
            </a:r>
          </a:p>
          <a:p>
            <a:pPr>
              <a:spcAft>
                <a:spcPts val="600"/>
              </a:spcAft>
              <a:defRPr sz="2700">
                <a:solidFill>
                  <a:srgbClr val="000000"/>
                </a:solidFill>
              </a:defRPr>
            </a:pPr>
            <a:r>
              <a:t>Make work visible through boards, backlogs, dashboards and reviews</a:t>
            </a:r>
          </a:p>
          <a:p>
            <a:pPr>
              <a:spcAft>
                <a:spcPts val="600"/>
              </a:spcAft>
              <a:defRPr sz="2700">
                <a:solidFill>
                  <a:srgbClr val="000000"/>
                </a:solidFill>
              </a:defRPr>
            </a:pPr>
            <a:r>
              <a:t>Support fast feedback from customers, users and team members</a:t>
            </a:r>
          </a:p>
          <a:p>
            <a:pPr>
              <a:spcAft>
                <a:spcPts val="600"/>
              </a:spcAft>
              <a:defRPr sz="2700">
                <a:solidFill>
                  <a:srgbClr val="000000"/>
                </a:solidFill>
              </a:defRPr>
            </a:pPr>
            <a:r>
              <a:t>Reduce delays by using direct communication where possible</a:t>
            </a:r>
          </a:p>
          <a:p>
            <a:pPr>
              <a:spcAft>
                <a:spcPts val="600"/>
              </a:spcAft>
              <a:defRPr sz="2700">
                <a:solidFill>
                  <a:srgbClr val="000000"/>
                </a:solidFill>
              </a:defRPr>
            </a:pPr>
            <a:r>
              <a:t>Adapt communication as requirements, priorities and risks change</a:t>
            </a:r>
          </a:p>
          <a:p>
            <a:pPr>
              <a:spcAft>
                <a:spcPts val="600"/>
              </a:spcAft>
              <a:defRPr sz="2700">
                <a:solidFill>
                  <a:srgbClr val="000000"/>
                </a:solidFill>
              </a:defRPr>
            </a:pPr>
            <a:r>
              <a:t>Keep stakeholders close to the evolving product, not only final delivery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CFC6-4081-40C3-AFB4-27B77A95D7C9}"/>
              </a:ext>
            </a:extLst>
          </p:cNvPr>
          <p:cNvSpPr>
            <a:spLocks noGrp="1"/>
          </p:cNvSpPr>
          <p:nvPr>
            <p:ph type="title"/>
          </p:nvPr>
        </p:nvSpPr>
        <p:spPr/>
        <p:txBody>
          <a:bodyPr/>
          <a:lstStyle/>
          <a:p>
            <a:r>
              <a:rPr lang="en-US" dirty="0"/>
              <a:t>Running Effective Meetings</a:t>
            </a:r>
            <a:endParaRPr lang="en-NZ" dirty="0"/>
          </a:p>
        </p:txBody>
      </p:sp>
      <p:sp>
        <p:nvSpPr>
          <p:cNvPr id="3" name="Text Placeholder 2">
            <a:extLst>
              <a:ext uri="{FF2B5EF4-FFF2-40B4-BE49-F238E27FC236}">
                <a16:creationId xmlns:a16="http://schemas.microsoft.com/office/drawing/2014/main" id="{6171F474-8F2D-4B1D-BF45-C99D4C65CDD9}"/>
              </a:ext>
            </a:extLst>
          </p:cNvPr>
          <p:cNvSpPr>
            <a:spLocks noGrp="1"/>
          </p:cNvSpPr>
          <p:nvPr>
            <p:ph type="body" sz="quarter" idx="13"/>
          </p:nvPr>
        </p:nvSpPr>
        <p:spPr/>
        <p:txBody>
          <a:bodyPr>
            <a:normAutofit/>
          </a:bodyPr>
          <a:lstStyle/>
          <a:p>
            <a:r>
              <a:rPr lang="en-US" dirty="0"/>
              <a:t>Guidelines to help improve time spent at meetings</a:t>
            </a:r>
          </a:p>
          <a:p>
            <a:pPr lvl="1"/>
            <a:r>
              <a:rPr lang="en-US" dirty="0"/>
              <a:t>Determine if a meeting can be avoided</a:t>
            </a:r>
          </a:p>
          <a:p>
            <a:pPr lvl="1"/>
            <a:r>
              <a:rPr lang="en-US" dirty="0"/>
              <a:t>Define the purpose and intended outcome of the meeting</a:t>
            </a:r>
          </a:p>
          <a:p>
            <a:pPr lvl="1"/>
            <a:r>
              <a:rPr lang="en-US" dirty="0"/>
              <a:t>Determine who should attend the meeting</a:t>
            </a:r>
          </a:p>
          <a:p>
            <a:pPr lvl="1"/>
            <a:r>
              <a:rPr lang="en-US" dirty="0"/>
              <a:t>Provide an agenda to participants before the meeting</a:t>
            </a:r>
          </a:p>
          <a:p>
            <a:pPr lvl="1"/>
            <a:r>
              <a:rPr lang="en-US" dirty="0"/>
              <a:t>Prepare handouts and visual aids, and make logistical arrangements ahead of time</a:t>
            </a:r>
          </a:p>
          <a:p>
            <a:pPr lvl="1"/>
            <a:r>
              <a:rPr lang="en-US" dirty="0"/>
              <a:t>Run the meeting professionally</a:t>
            </a:r>
          </a:p>
          <a:p>
            <a:pPr lvl="1"/>
            <a:r>
              <a:rPr lang="en-US" dirty="0"/>
              <a:t>Set the ground rules for the meeting</a:t>
            </a:r>
          </a:p>
          <a:p>
            <a:pPr lvl="1"/>
            <a:r>
              <a:rPr lang="en-US" dirty="0"/>
              <a:t>Build relationships</a:t>
            </a:r>
          </a:p>
          <a:p>
            <a:pPr lvl="1"/>
            <a:endParaRPr lang="en-US" dirty="0"/>
          </a:p>
          <a:p>
            <a:endParaRPr lang="en-NZ" dirty="0"/>
          </a:p>
        </p:txBody>
      </p:sp>
    </p:spTree>
    <p:extLst>
      <p:ext uri="{BB962C8B-B14F-4D97-AF65-F5344CB8AC3E}">
        <p14:creationId xmlns:p14="http://schemas.microsoft.com/office/powerpoint/2010/main" val="1811457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64422-9AF6-C9B6-39F1-89F0F767C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B64B6-5F7E-9EDA-40FB-3CC607382990}"/>
              </a:ext>
            </a:extLst>
          </p:cNvPr>
          <p:cNvSpPr>
            <a:spLocks noGrp="1"/>
          </p:cNvSpPr>
          <p:nvPr>
            <p:ph type="title"/>
          </p:nvPr>
        </p:nvSpPr>
        <p:spPr/>
        <p:txBody>
          <a:bodyPr/>
          <a:lstStyle/>
          <a:p>
            <a:r>
              <a:rPr lang="en-NZ" dirty="0"/>
              <a:t>Activity Three: Online Course Registration System Project</a:t>
            </a:r>
          </a:p>
        </p:txBody>
      </p:sp>
      <p:sp>
        <p:nvSpPr>
          <p:cNvPr id="3" name="Text Placeholder 2">
            <a:extLst>
              <a:ext uri="{FF2B5EF4-FFF2-40B4-BE49-F238E27FC236}">
                <a16:creationId xmlns:a16="http://schemas.microsoft.com/office/drawing/2014/main" id="{74D3A917-5C01-CD29-8225-CB023B23C68D}"/>
              </a:ext>
            </a:extLst>
          </p:cNvPr>
          <p:cNvSpPr>
            <a:spLocks noGrp="1"/>
          </p:cNvSpPr>
          <p:nvPr>
            <p:ph type="body" sz="quarter" idx="13"/>
          </p:nvPr>
        </p:nvSpPr>
        <p:spPr/>
        <p:txBody>
          <a:bodyPr>
            <a:normAutofit fontScale="85000" lnSpcReduction="20000"/>
          </a:bodyPr>
          <a:lstStyle/>
          <a:p>
            <a:pPr marL="0" indent="0">
              <a:buNone/>
            </a:pPr>
            <a:r>
              <a:rPr lang="en-NZ" dirty="0"/>
              <a:t>A university is implementing a new online course registration system before the next semester. The Project Sponsor needs regular visibility of status, budget, and major risks. The IT Development Team needs continuous coordination on tasks, defects, and technical decisions. Registrar’s Office staff need to review how the new enrolment workflow will operate. Student Representatives want opportunities to discuss usability and provide feedback. The Software Vendor must exchange technical documents and integration information. The University Executive only requires milestone-level information. Students need simple information about launch and system use.</a:t>
            </a:r>
          </a:p>
          <a:p>
            <a:pPr marL="0" indent="0">
              <a:buNone/>
            </a:pPr>
            <a:r>
              <a:rPr lang="en-NZ" b="1" dirty="0"/>
              <a:t>Task</a:t>
            </a:r>
          </a:p>
          <a:p>
            <a:r>
              <a:rPr lang="en-NZ" dirty="0"/>
              <a:t>For each stakeholder, identify the most appropriate:</a:t>
            </a:r>
          </a:p>
          <a:p>
            <a:pPr lvl="0"/>
            <a:r>
              <a:rPr lang="en-NZ" b="1" dirty="0"/>
              <a:t>Communication tool</a:t>
            </a:r>
            <a:r>
              <a:rPr lang="en-NZ" dirty="0"/>
              <a:t> </a:t>
            </a:r>
          </a:p>
          <a:p>
            <a:pPr lvl="0"/>
            <a:r>
              <a:rPr lang="en-NZ" b="1" dirty="0"/>
              <a:t>Communication type: Interactive, Push, or Pull</a:t>
            </a:r>
            <a:endParaRPr lang="en-NZ" dirty="0"/>
          </a:p>
          <a:p>
            <a:pPr marL="0" indent="0">
              <a:buNone/>
            </a:pPr>
            <a:endParaRPr lang="en-NZ" dirty="0"/>
          </a:p>
          <a:p>
            <a:pPr marL="0" indent="0">
              <a:buNone/>
            </a:pPr>
            <a:endParaRPr lang="en-NZ" dirty="0"/>
          </a:p>
        </p:txBody>
      </p:sp>
    </p:spTree>
    <p:extLst>
      <p:ext uri="{BB962C8B-B14F-4D97-AF65-F5344CB8AC3E}">
        <p14:creationId xmlns:p14="http://schemas.microsoft.com/office/powerpoint/2010/main" val="2646738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Project Communication Skills</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Active listening: check meaning before responding</a:t>
            </a:r>
          </a:p>
          <a:p>
            <a:pPr>
              <a:spcAft>
                <a:spcPts val="600"/>
              </a:spcAft>
              <a:defRPr sz="2700">
                <a:solidFill>
                  <a:srgbClr val="000000"/>
                </a:solidFill>
              </a:defRPr>
            </a:pPr>
            <a:r>
              <a:t>Feedback: confirm whether the message was understood</a:t>
            </a:r>
          </a:p>
          <a:p>
            <a:pPr>
              <a:spcAft>
                <a:spcPts val="600"/>
              </a:spcAft>
              <a:defRPr sz="2700">
                <a:solidFill>
                  <a:srgbClr val="000000"/>
                </a:solidFill>
              </a:defRPr>
            </a:pPr>
            <a:r>
              <a:t>Non-verbal communication: tone, body language and timing matter</a:t>
            </a:r>
          </a:p>
          <a:p>
            <a:pPr>
              <a:spcAft>
                <a:spcPts val="600"/>
              </a:spcAft>
              <a:defRPr sz="2700">
                <a:solidFill>
                  <a:srgbClr val="000000"/>
                </a:solidFill>
              </a:defRPr>
            </a:pPr>
            <a:r>
              <a:t>Presentation skills: translate project information for the audience</a:t>
            </a:r>
          </a:p>
          <a:p>
            <a:pPr>
              <a:spcAft>
                <a:spcPts val="600"/>
              </a:spcAft>
              <a:defRPr sz="2700">
                <a:solidFill>
                  <a:srgbClr val="000000"/>
                </a:solidFill>
              </a:defRPr>
            </a:pPr>
            <a:r>
              <a:t>Cultural awareness: adapt communication across backgrounds and locations</a:t>
            </a:r>
          </a:p>
          <a:p>
            <a:pPr>
              <a:spcAft>
                <a:spcPts val="600"/>
              </a:spcAft>
              <a:defRPr sz="2700">
                <a:solidFill>
                  <a:srgbClr val="000000"/>
                </a:solidFill>
              </a:defRPr>
            </a:pPr>
            <a:r>
              <a:t>Conflict and meeting management: keep discussion focused and useful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Communication in Agile and Adaptive Projects</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Use frequent checkpoints to keep understanding current</a:t>
            </a:r>
          </a:p>
          <a:p>
            <a:pPr>
              <a:spcAft>
                <a:spcPts val="600"/>
              </a:spcAft>
              <a:defRPr sz="2700">
                <a:solidFill>
                  <a:srgbClr val="000000"/>
                </a:solidFill>
              </a:defRPr>
            </a:pPr>
            <a:r>
              <a:t>Make work visible through boards, backlogs, dashboards and reviews</a:t>
            </a:r>
          </a:p>
          <a:p>
            <a:pPr>
              <a:spcAft>
                <a:spcPts val="600"/>
              </a:spcAft>
              <a:defRPr sz="2700">
                <a:solidFill>
                  <a:srgbClr val="000000"/>
                </a:solidFill>
              </a:defRPr>
            </a:pPr>
            <a:r>
              <a:t>Support fast feedback from customers, users and team members</a:t>
            </a:r>
          </a:p>
          <a:p>
            <a:pPr>
              <a:spcAft>
                <a:spcPts val="600"/>
              </a:spcAft>
              <a:defRPr sz="2700">
                <a:solidFill>
                  <a:srgbClr val="000000"/>
                </a:solidFill>
              </a:defRPr>
            </a:pPr>
            <a:r>
              <a:t>Reduce delays by using direct communication where possible</a:t>
            </a:r>
          </a:p>
          <a:p>
            <a:pPr>
              <a:spcAft>
                <a:spcPts val="600"/>
              </a:spcAft>
              <a:defRPr sz="2700">
                <a:solidFill>
                  <a:srgbClr val="000000"/>
                </a:solidFill>
              </a:defRPr>
            </a:pPr>
            <a:r>
              <a:t>Adapt communication as requirements, priorities and risks change</a:t>
            </a:r>
          </a:p>
          <a:p>
            <a:pPr>
              <a:spcAft>
                <a:spcPts val="600"/>
              </a:spcAft>
              <a:defRPr sz="2700">
                <a:solidFill>
                  <a:srgbClr val="000000"/>
                </a:solidFill>
              </a:defRPr>
            </a:pPr>
            <a:r>
              <a:t>Keep stakeholders close to the evolving product, not only final delivery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CFC6-4081-40C3-AFB4-27B77A95D7C9}"/>
              </a:ext>
            </a:extLst>
          </p:cNvPr>
          <p:cNvSpPr>
            <a:spLocks noGrp="1"/>
          </p:cNvSpPr>
          <p:nvPr>
            <p:ph type="title"/>
          </p:nvPr>
        </p:nvSpPr>
        <p:spPr/>
        <p:txBody>
          <a:bodyPr/>
          <a:lstStyle/>
          <a:p>
            <a:r>
              <a:rPr lang="en-US" dirty="0"/>
              <a:t>Running Effective Meetings</a:t>
            </a:r>
            <a:endParaRPr lang="en-NZ" dirty="0"/>
          </a:p>
        </p:txBody>
      </p:sp>
      <p:sp>
        <p:nvSpPr>
          <p:cNvPr id="3" name="Text Placeholder 2">
            <a:extLst>
              <a:ext uri="{FF2B5EF4-FFF2-40B4-BE49-F238E27FC236}">
                <a16:creationId xmlns:a16="http://schemas.microsoft.com/office/drawing/2014/main" id="{6171F474-8F2D-4B1D-BF45-C99D4C65CDD9}"/>
              </a:ext>
            </a:extLst>
          </p:cNvPr>
          <p:cNvSpPr>
            <a:spLocks noGrp="1"/>
          </p:cNvSpPr>
          <p:nvPr>
            <p:ph type="body" sz="quarter" idx="13"/>
          </p:nvPr>
        </p:nvSpPr>
        <p:spPr/>
        <p:txBody>
          <a:bodyPr>
            <a:normAutofit/>
          </a:bodyPr>
          <a:lstStyle/>
          <a:p>
            <a:r>
              <a:rPr lang="en-US" dirty="0"/>
              <a:t>Guidelines to help improve time spent at meetings</a:t>
            </a:r>
          </a:p>
          <a:p>
            <a:pPr lvl="1"/>
            <a:r>
              <a:rPr lang="en-US" dirty="0"/>
              <a:t>Determine if a meeting can be avoided</a:t>
            </a:r>
          </a:p>
          <a:p>
            <a:pPr lvl="1"/>
            <a:r>
              <a:rPr lang="en-US" dirty="0"/>
              <a:t>Define the purpose and intended outcome of the meeting</a:t>
            </a:r>
          </a:p>
          <a:p>
            <a:pPr lvl="1"/>
            <a:r>
              <a:rPr lang="en-US" dirty="0"/>
              <a:t>Determine who should attend the meeting</a:t>
            </a:r>
          </a:p>
          <a:p>
            <a:pPr lvl="1"/>
            <a:r>
              <a:rPr lang="en-US" dirty="0"/>
              <a:t>Provide an agenda to participants before the meeting</a:t>
            </a:r>
          </a:p>
          <a:p>
            <a:pPr lvl="1"/>
            <a:r>
              <a:rPr lang="en-US" dirty="0"/>
              <a:t>Prepare handouts and visual aids, and make logistical arrangements ahead of time</a:t>
            </a:r>
          </a:p>
          <a:p>
            <a:pPr lvl="1"/>
            <a:r>
              <a:rPr lang="en-US" dirty="0"/>
              <a:t>Run the meeting professionally</a:t>
            </a:r>
          </a:p>
          <a:p>
            <a:pPr lvl="1"/>
            <a:r>
              <a:rPr lang="en-US" dirty="0"/>
              <a:t>Set the ground rules for the meeting</a:t>
            </a:r>
          </a:p>
          <a:p>
            <a:pPr lvl="1"/>
            <a:r>
              <a:rPr lang="en-US" dirty="0"/>
              <a:t>Build relationships</a:t>
            </a:r>
          </a:p>
          <a:p>
            <a:pPr lvl="1"/>
            <a:endParaRPr lang="en-US" dirty="0"/>
          </a:p>
          <a:p>
            <a:endParaRPr lang="en-NZ" dirty="0"/>
          </a:p>
        </p:txBody>
      </p:sp>
    </p:spTree>
    <p:extLst>
      <p:ext uri="{BB962C8B-B14F-4D97-AF65-F5344CB8AC3E}">
        <p14:creationId xmlns:p14="http://schemas.microsoft.com/office/powerpoint/2010/main" val="21960506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3E9F-94E4-43D6-B168-B71E03DF36DD}"/>
              </a:ext>
            </a:extLst>
          </p:cNvPr>
          <p:cNvSpPr>
            <a:spLocks noGrp="1"/>
          </p:cNvSpPr>
          <p:nvPr>
            <p:ph type="title"/>
          </p:nvPr>
        </p:nvSpPr>
        <p:spPr/>
        <p:txBody>
          <a:bodyPr/>
          <a:lstStyle/>
          <a:p>
            <a:r>
              <a:rPr lang="en-US" dirty="0"/>
              <a:t>Using Templates for Project Communications</a:t>
            </a:r>
            <a:endParaRPr lang="en-NZ" dirty="0"/>
          </a:p>
        </p:txBody>
      </p:sp>
      <p:pic>
        <p:nvPicPr>
          <p:cNvPr id="4" name="Picture 3" descr="Image displays a template for a project description. &#10;">
            <a:extLst>
              <a:ext uri="{FF2B5EF4-FFF2-40B4-BE49-F238E27FC236}">
                <a16:creationId xmlns:a16="http://schemas.microsoft.com/office/drawing/2014/main" id="{E42B4878-CC3C-4662-9B2F-98CB84ECD7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4499" y="1690688"/>
            <a:ext cx="5723001" cy="4946334"/>
          </a:xfrm>
          <a:prstGeom prst="rect">
            <a:avLst/>
          </a:prstGeom>
        </p:spPr>
      </p:pic>
    </p:spTree>
    <p:extLst>
      <p:ext uri="{BB962C8B-B14F-4D97-AF65-F5344CB8AC3E}">
        <p14:creationId xmlns:p14="http://schemas.microsoft.com/office/powerpoint/2010/main" val="2330830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880EA-66E3-4AF9-981B-0A6D7561780B}"/>
              </a:ext>
            </a:extLst>
          </p:cNvPr>
          <p:cNvSpPr>
            <a:spLocks noGrp="1"/>
          </p:cNvSpPr>
          <p:nvPr>
            <p:ph type="title"/>
          </p:nvPr>
        </p:nvSpPr>
        <p:spPr>
          <a:xfrm>
            <a:off x="1460500" y="-207963"/>
            <a:ext cx="10515600" cy="1325563"/>
          </a:xfrm>
        </p:spPr>
        <p:txBody>
          <a:bodyPr/>
          <a:lstStyle/>
          <a:p>
            <a:r>
              <a:rPr lang="en-US" dirty="0"/>
              <a:t>Dashboards for Project Communications</a:t>
            </a:r>
            <a:endParaRPr lang="en-NZ" dirty="0"/>
          </a:p>
        </p:txBody>
      </p:sp>
      <p:pic>
        <p:nvPicPr>
          <p:cNvPr id="4" name="Picture 3" descr="Image displays a screenshot of Jira reporting charts.&#10;">
            <a:extLst>
              <a:ext uri="{FF2B5EF4-FFF2-40B4-BE49-F238E27FC236}">
                <a16:creationId xmlns:a16="http://schemas.microsoft.com/office/drawing/2014/main" id="{FE88622A-220A-4838-B858-1C83375477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0500" y="1117600"/>
            <a:ext cx="8699500" cy="5551807"/>
          </a:xfrm>
          <a:prstGeom prst="rect">
            <a:avLst/>
          </a:prstGeom>
        </p:spPr>
      </p:pic>
    </p:spTree>
    <p:extLst>
      <p:ext uri="{BB962C8B-B14F-4D97-AF65-F5344CB8AC3E}">
        <p14:creationId xmlns:p14="http://schemas.microsoft.com/office/powerpoint/2010/main" val="3262029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Monitoring Communication Effectiveness</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Right message: did stakeholders receive what they needed?</a:t>
            </a:r>
          </a:p>
          <a:p>
            <a:pPr>
              <a:spcAft>
                <a:spcPts val="600"/>
              </a:spcAft>
              <a:defRPr sz="2700">
                <a:solidFill>
                  <a:srgbClr val="000000"/>
                </a:solidFill>
              </a:defRPr>
            </a:pPr>
            <a:r>
              <a:t>Right audience: did it reach the correct people?</a:t>
            </a:r>
          </a:p>
          <a:p>
            <a:pPr>
              <a:spcAft>
                <a:spcPts val="600"/>
              </a:spcAft>
              <a:defRPr sz="2700">
                <a:solidFill>
                  <a:srgbClr val="000000"/>
                </a:solidFill>
              </a:defRPr>
            </a:pPr>
            <a:r>
              <a:t>Right channel: was the method appropriate?</a:t>
            </a:r>
          </a:p>
          <a:p>
            <a:pPr>
              <a:spcAft>
                <a:spcPts val="600"/>
              </a:spcAft>
              <a:defRPr sz="2700">
                <a:solidFill>
                  <a:srgbClr val="000000"/>
                </a:solidFill>
              </a:defRPr>
            </a:pPr>
            <a:r>
              <a:t>Right time: was it early enough to support action?</a:t>
            </a:r>
          </a:p>
          <a:p>
            <a:pPr>
              <a:spcAft>
                <a:spcPts val="600"/>
              </a:spcAft>
              <a:defRPr sz="2700">
                <a:solidFill>
                  <a:srgbClr val="000000"/>
                </a:solidFill>
              </a:defRPr>
            </a:pPr>
            <a:r>
              <a:t>Right understanding: did the receiver interpret it correctly?</a:t>
            </a:r>
          </a:p>
          <a:p>
            <a:pPr>
              <a:spcAft>
                <a:spcPts val="600"/>
              </a:spcAft>
              <a:defRPr sz="2700">
                <a:solidFill>
                  <a:srgbClr val="000000"/>
                </a:solidFill>
              </a:defRPr>
            </a:pPr>
            <a:r>
              <a:t>Use feedback, issue logs, surveys, dashboards and lessons learned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800" b="0">
                <a:solidFill>
                  <a:srgbClr val="F26522"/>
                </a:solidFill>
              </a:rPr>
              <a:t>Tailoring Project Communications</a:t>
            </a:r>
          </a:p>
        </p:txBody>
      </p:sp>
      <p:sp>
        <p:nvSpPr>
          <p:cNvPr id="3" name="Text Placeholder 2"/>
          <p:cNvSpPr>
            <a:spLocks noGrp="1"/>
          </p:cNvSpPr>
          <p:nvPr>
            <p:ph type="body" sz="quarter" idx="13"/>
          </p:nvPr>
        </p:nvSpPr>
        <p:spPr/>
        <p:txBody>
          <a:bodyPr wrap="square" lIns="0" tIns="0" rIns="0" bIns="0"/>
          <a:lstStyle/>
          <a:p>
            <a:pPr>
              <a:spcAft>
                <a:spcPts val="600"/>
              </a:spcAft>
              <a:defRPr sz="2700">
                <a:solidFill>
                  <a:srgbClr val="000000"/>
                </a:solidFill>
              </a:defRPr>
            </a:pPr>
            <a:r>
              <a:t>Stakeholders: different people need different levels of detail</a:t>
            </a:r>
          </a:p>
          <a:p>
            <a:pPr>
              <a:spcAft>
                <a:spcPts val="600"/>
              </a:spcAft>
              <a:defRPr sz="2700">
                <a:solidFill>
                  <a:srgbClr val="000000"/>
                </a:solidFill>
              </a:defRPr>
            </a:pPr>
            <a:r>
              <a:t>Location: colocated and virtual teams need different approaches</a:t>
            </a:r>
          </a:p>
          <a:p>
            <a:pPr>
              <a:spcAft>
                <a:spcPts val="600"/>
              </a:spcAft>
              <a:defRPr sz="2700">
                <a:solidFill>
                  <a:srgbClr val="000000"/>
                </a:solidFill>
              </a:defRPr>
            </a:pPr>
            <a:r>
              <a:t>Technology: select tools that fit the team and organisation</a:t>
            </a:r>
          </a:p>
          <a:p>
            <a:pPr>
              <a:spcAft>
                <a:spcPts val="600"/>
              </a:spcAft>
              <a:defRPr sz="2700">
                <a:solidFill>
                  <a:srgbClr val="000000"/>
                </a:solidFill>
              </a:defRPr>
            </a:pPr>
            <a:r>
              <a:t>Language: avoid terminology that stakeholders may not understand</a:t>
            </a:r>
          </a:p>
          <a:p>
            <a:pPr>
              <a:spcAft>
                <a:spcPts val="600"/>
              </a:spcAft>
              <a:defRPr sz="2700">
                <a:solidFill>
                  <a:srgbClr val="000000"/>
                </a:solidFill>
              </a:defRPr>
            </a:pPr>
            <a:r>
              <a:t>Knowledge management: make information easy to store, find and reuse</a:t>
            </a:r>
          </a:p>
          <a:p>
            <a:pPr>
              <a:spcAft>
                <a:spcPts val="600"/>
              </a:spcAft>
              <a:defRPr sz="2700">
                <a:solidFill>
                  <a:srgbClr val="000000"/>
                </a:solidFill>
              </a:defRPr>
            </a:pPr>
            <a:r>
              <a:t>One communication approach will not suit every project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C48A-F092-D109-A9A9-9B6B1C1D724A}"/>
              </a:ext>
            </a:extLst>
          </p:cNvPr>
          <p:cNvSpPr>
            <a:spLocks noGrp="1"/>
          </p:cNvSpPr>
          <p:nvPr>
            <p:ph type="title"/>
          </p:nvPr>
        </p:nvSpPr>
        <p:spPr/>
        <p:txBody>
          <a:bodyPr/>
          <a:lstStyle/>
          <a:p>
            <a:r>
              <a:rPr lang="en-NZ" dirty="0"/>
              <a:t>R&amp;D/Project Communications Planning</a:t>
            </a:r>
          </a:p>
        </p:txBody>
      </p:sp>
      <p:sp>
        <p:nvSpPr>
          <p:cNvPr id="3" name="Text Placeholder 2">
            <a:extLst>
              <a:ext uri="{FF2B5EF4-FFF2-40B4-BE49-F238E27FC236}">
                <a16:creationId xmlns:a16="http://schemas.microsoft.com/office/drawing/2014/main" id="{1E9A63E6-C4EA-3181-5781-25AAF108AB33}"/>
              </a:ext>
            </a:extLst>
          </p:cNvPr>
          <p:cNvSpPr>
            <a:spLocks noGrp="1"/>
          </p:cNvSpPr>
          <p:nvPr>
            <p:ph type="body" sz="quarter" idx="13"/>
          </p:nvPr>
        </p:nvSpPr>
        <p:spPr/>
        <p:txBody>
          <a:bodyPr>
            <a:normAutofit/>
          </a:bodyPr>
          <a:lstStyle/>
          <a:p>
            <a:r>
              <a:rPr lang="en-NZ" dirty="0"/>
              <a:t>Identify critical stakeholders (team, client, mentor), frequency of meetings and type of communication channel best suited</a:t>
            </a:r>
          </a:p>
          <a:p>
            <a:r>
              <a:rPr lang="en-NZ" dirty="0"/>
              <a:t>Follow the method tasks and practices/techniques </a:t>
            </a:r>
          </a:p>
          <a:p>
            <a:r>
              <a:rPr lang="en-NZ" dirty="0"/>
              <a:t>What tools? What reporting? When to escalate?</a:t>
            </a:r>
          </a:p>
          <a:p>
            <a:endParaRPr lang="en-NZ" dirty="0"/>
          </a:p>
        </p:txBody>
      </p:sp>
    </p:spTree>
    <p:extLst>
      <p:ext uri="{BB962C8B-B14F-4D97-AF65-F5344CB8AC3E}">
        <p14:creationId xmlns:p14="http://schemas.microsoft.com/office/powerpoint/2010/main" val="1736783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D9D8C-A08D-4DE3-B465-EBBD6A228653}"/>
              </a:ext>
            </a:extLst>
          </p:cNvPr>
          <p:cNvSpPr>
            <a:spLocks noGrp="1"/>
          </p:cNvSpPr>
          <p:nvPr>
            <p:ph type="title"/>
          </p:nvPr>
        </p:nvSpPr>
        <p:spPr/>
        <p:txBody>
          <a:bodyPr/>
          <a:lstStyle/>
          <a:p>
            <a:r>
              <a:rPr lang="en-NZ" dirty="0"/>
              <a:t>Homework</a:t>
            </a:r>
          </a:p>
        </p:txBody>
      </p:sp>
      <p:sp>
        <p:nvSpPr>
          <p:cNvPr id="3" name="Text Placeholder 2">
            <a:extLst>
              <a:ext uri="{FF2B5EF4-FFF2-40B4-BE49-F238E27FC236}">
                <a16:creationId xmlns:a16="http://schemas.microsoft.com/office/drawing/2014/main" id="{0BBCF18C-4869-4698-BFD2-CC5869815FE7}"/>
              </a:ext>
            </a:extLst>
          </p:cNvPr>
          <p:cNvSpPr>
            <a:spLocks noGrp="1"/>
          </p:cNvSpPr>
          <p:nvPr>
            <p:ph type="body" sz="quarter" idx="13"/>
          </p:nvPr>
        </p:nvSpPr>
        <p:spPr/>
        <p:txBody>
          <a:bodyPr>
            <a:normAutofit/>
          </a:bodyPr>
          <a:lstStyle/>
          <a:p>
            <a:r>
              <a:rPr lang="en-NZ" dirty="0"/>
              <a:t>Before next week’s class Chapter 8 Quality Management from </a:t>
            </a:r>
            <a:r>
              <a:rPr lang="en-NZ" i="1" dirty="0"/>
              <a:t>Information Technology Project Management</a:t>
            </a:r>
            <a:r>
              <a:rPr lang="en-NZ" dirty="0"/>
              <a:t> (2019) by Kathy Schwalbe</a:t>
            </a:r>
          </a:p>
          <a:p>
            <a:pPr marL="0" indent="0">
              <a:buNone/>
            </a:pPr>
            <a:endParaRPr lang="en-NZ" dirty="0"/>
          </a:p>
        </p:txBody>
      </p:sp>
    </p:spTree>
    <p:extLst>
      <p:ext uri="{BB962C8B-B14F-4D97-AF65-F5344CB8AC3E}">
        <p14:creationId xmlns:p14="http://schemas.microsoft.com/office/powerpoint/2010/main" val="42594115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D8B4C-3397-A15A-6121-90FDA9FD0BAA}"/>
              </a:ext>
            </a:extLst>
          </p:cNvPr>
          <p:cNvSpPr>
            <a:spLocks noGrp="1"/>
          </p:cNvSpPr>
          <p:nvPr>
            <p:ph type="title"/>
          </p:nvPr>
        </p:nvSpPr>
        <p:spPr/>
        <p:txBody>
          <a:bodyPr/>
          <a:lstStyle/>
          <a:p>
            <a:r>
              <a:rPr lang="en-NZ" dirty="0"/>
              <a:t>Q&amp;A</a:t>
            </a:r>
          </a:p>
        </p:txBody>
      </p:sp>
    </p:spTree>
    <p:extLst>
      <p:ext uri="{BB962C8B-B14F-4D97-AF65-F5344CB8AC3E}">
        <p14:creationId xmlns:p14="http://schemas.microsoft.com/office/powerpoint/2010/main" val="1392349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Helia Core Medium"/>
        <a:ea typeface=""/>
        <a:cs typeface=""/>
      </a:majorFont>
      <a:minorFont>
        <a:latin typeface="Helia Core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C9A5102B5B754D8551214860F4B512" ma:contentTypeVersion="1" ma:contentTypeDescription="Create a new document." ma:contentTypeScope="" ma:versionID="4d5bcd3236515693560183c71834b9ea">
  <xsd:schema xmlns:xsd="http://www.w3.org/2001/XMLSchema" xmlns:xs="http://www.w3.org/2001/XMLSchema" xmlns:p="http://schemas.microsoft.com/office/2006/metadata/properties" xmlns:ns1="http://schemas.microsoft.com/sharepoint/v3" targetNamespace="http://schemas.microsoft.com/office/2006/metadata/properties" ma:root="true" ma:fieldsID="6687c2d9dede78e24b8f92e044f97f8b"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37E481-44FE-4ABD-B795-DBD8244C6C74}">
  <ds:schemaRefs>
    <ds:schemaRef ds:uri="http://schemas.microsoft.com/sharepoint/v3/contenttype/forms"/>
  </ds:schemaRefs>
</ds:datastoreItem>
</file>

<file path=customXml/itemProps2.xml><?xml version="1.0" encoding="utf-8"?>
<ds:datastoreItem xmlns:ds="http://schemas.openxmlformats.org/officeDocument/2006/customXml" ds:itemID="{947B4A22-418F-4834-9543-17CB4C005035}">
  <ds:schemaRefs>
    <ds:schemaRef ds:uri="http://schemas.microsoft.com/sharepoint/v3"/>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7B729C2A-8111-486E-BE4C-72E5BC6D9D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22812</TotalTime>
  <Words>2841</Words>
  <Application>Microsoft Office PowerPoint</Application>
  <PresentationFormat>Widescreen</PresentationFormat>
  <Paragraphs>315</Paragraphs>
  <Slides>46</Slides>
  <Notes>31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46</vt:i4>
      </vt:variant>
    </vt:vector>
  </HeadingPairs>
  <TitlesOfParts>
    <vt:vector size="55" baseType="lpstr">
      <vt:lpstr>Century Gothic</vt:lpstr>
      <vt:lpstr>Calibri</vt:lpstr>
      <vt:lpstr>-apple-system</vt:lpstr>
      <vt:lpstr>Calibri Light</vt:lpstr>
      <vt:lpstr>Palatino Linotype</vt:lpstr>
      <vt:lpstr>Arial</vt:lpstr>
      <vt:lpstr>Office Theme</vt:lpstr>
      <vt:lpstr>2_Office Theme</vt:lpstr>
      <vt:lpstr>1_Office Theme</vt:lpstr>
      <vt:lpstr>COMP507 IT Project Management Communications Management</vt:lpstr>
      <vt:lpstr>Agenda</vt:lpstr>
      <vt:lpstr>Recap: Project requirements</vt:lpstr>
      <vt:lpstr>The Product Delivery Lifecyle</vt:lpstr>
      <vt:lpstr>Communication complexity </vt:lpstr>
      <vt:lpstr>The importance of Communication</vt:lpstr>
      <vt:lpstr>Process of communication</vt:lpstr>
      <vt:lpstr>PMI Communication Model</vt:lpstr>
      <vt:lpstr>Main roles for communication </vt:lpstr>
      <vt:lpstr>Dimensions of Project Communication</vt:lpstr>
      <vt:lpstr>Effective Project Communication: The 5 Cs</vt:lpstr>
      <vt:lpstr>Communication- critical for project success</vt:lpstr>
      <vt:lpstr>Project Communication Management: What is it all about?</vt:lpstr>
      <vt:lpstr>Communication- a critical knowledge area</vt:lpstr>
      <vt:lpstr>Communication- a critical knowledge area</vt:lpstr>
      <vt:lpstr>Determine the number of communication channels</vt:lpstr>
      <vt:lpstr>Forms of Project Communication</vt:lpstr>
      <vt:lpstr>Communication Strategy, Plan and Project Communications</vt:lpstr>
      <vt:lpstr>Main processes in project communications management</vt:lpstr>
      <vt:lpstr>Communications management plan</vt:lpstr>
      <vt:lpstr>Stakeholder communications analysis-</vt:lpstr>
      <vt:lpstr>Communication Should Change Stakeholder Engagement</vt:lpstr>
      <vt:lpstr>Activity One: Stakeholder communications plan</vt:lpstr>
      <vt:lpstr>Activity One: Stakeholder communications plan</vt:lpstr>
      <vt:lpstr>Tailoring Communication to the Stakeholder</vt:lpstr>
      <vt:lpstr>Managing Communications</vt:lpstr>
      <vt:lpstr>Tools using technologies-Virtuality</vt:lpstr>
      <vt:lpstr>Activity Two: Managing Communication</vt:lpstr>
      <vt:lpstr>Choice of media</vt:lpstr>
      <vt:lpstr>Choice of media</vt:lpstr>
      <vt:lpstr>Reporting Performance</vt:lpstr>
      <vt:lpstr>Best Practice</vt:lpstr>
      <vt:lpstr>Project Communication Skills</vt:lpstr>
      <vt:lpstr>Communication in Agile and Adaptive Projects</vt:lpstr>
      <vt:lpstr>Running Effective Meetings</vt:lpstr>
      <vt:lpstr>Activity Three: Online Course Registration System Project</vt:lpstr>
      <vt:lpstr>Project Communication Skills</vt:lpstr>
      <vt:lpstr>Communication in Agile and Adaptive Projects</vt:lpstr>
      <vt:lpstr>Running Effective Meetings</vt:lpstr>
      <vt:lpstr>Using Templates for Project Communications</vt:lpstr>
      <vt:lpstr>Dashboards for Project Communications</vt:lpstr>
      <vt:lpstr>Monitoring Communication Effectiveness</vt:lpstr>
      <vt:lpstr>Tailoring Project Communications</vt:lpstr>
      <vt:lpstr>R&amp;D/Project Communications Planning</vt:lpstr>
      <vt:lpstr>Homework</vt:lpstr>
      <vt:lpstr>Q&amp;A</vt:lpstr>
    </vt:vector>
  </TitlesOfParts>
  <Company>AUT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stephen.thorpe@aut.ac.nz</dc:creator>
  <cp:lastModifiedBy>Daniel Vaipulu</cp:lastModifiedBy>
  <cp:revision>347</cp:revision>
  <dcterms:created xsi:type="dcterms:W3CDTF">2015-01-26T22:08:43Z</dcterms:created>
  <dcterms:modified xsi:type="dcterms:W3CDTF">2026-09-07T01:30:31Z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0x0101004DC9A5102B5B754D8551214860F4B512</vt:lpwstr>
  </property>
</Properties>
</file>