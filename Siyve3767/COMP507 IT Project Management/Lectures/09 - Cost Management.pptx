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3" r:id="rId5"/>
  </p:sldMasterIdLst>
  <p:notesMasterIdLst>
    <p:notesMasterId r:id="rId32"/>
  </p:notesMasterIdLst>
  <p:handoutMasterIdLst>
    <p:handoutMasterId r:id="rId33"/>
  </p:handoutMasterIdLst>
  <p:sldIdLst>
    <p:sldId id="646" r:id="rId6"/>
    <p:sldId id="651" r:id="rId7"/>
    <p:sldId id="652" r:id="rId8"/>
    <p:sldId id="653" r:id="rId9"/>
    <p:sldId id="654" r:id="rId10"/>
    <p:sldId id="655" r:id="rId11"/>
    <p:sldId id="656" r:id="rId12"/>
    <p:sldId id="657" r:id="rId13"/>
    <p:sldId id="659" r:id="rId14"/>
    <p:sldId id="662" r:id="rId15"/>
    <p:sldId id="663" r:id="rId16"/>
    <p:sldId id="665" r:id="rId17"/>
    <p:sldId id="666" r:id="rId18"/>
    <p:sldId id="670" r:id="rId19"/>
    <p:sldId id="669" r:id="rId20"/>
    <p:sldId id="668" r:id="rId21"/>
    <p:sldId id="671" r:id="rId22"/>
    <p:sldId id="635" r:id="rId23"/>
    <p:sldId id="636" r:id="rId24"/>
    <p:sldId id="637" r:id="rId25"/>
    <p:sldId id="638" r:id="rId26"/>
    <p:sldId id="639" r:id="rId27"/>
    <p:sldId id="640" r:id="rId28"/>
    <p:sldId id="672" r:id="rId29"/>
    <p:sldId id="678" r:id="rId30"/>
    <p:sldId id="62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9CF"/>
    <a:srgbClr val="F26400"/>
    <a:srgbClr val="6C3B7A"/>
    <a:srgbClr val="92722D"/>
    <a:srgbClr val="519032"/>
    <a:srgbClr val="F58220"/>
    <a:srgbClr val="DBC385"/>
    <a:srgbClr val="B3933A"/>
    <a:srgbClr val="B01116"/>
    <a:srgbClr val="F2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88934" autoAdjust="0"/>
  </p:normalViewPr>
  <p:slideViewPr>
    <p:cSldViewPr snapToGrid="0">
      <p:cViewPr varScale="1">
        <p:scale>
          <a:sx n="98" d="100"/>
          <a:sy n="98" d="100"/>
        </p:scale>
        <p:origin x="6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3FD6E-1FDB-4DE3-9FB8-34B352973208}" type="datetimeFigureOut">
              <a:rPr lang="en-NZ" smtClean="0"/>
              <a:t>26/09/2024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E9BB-33A9-40EC-87AC-6B7FA56C6C7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66620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B8C58-07EF-404D-B457-37886CF22D71}" type="datetimeFigureOut">
              <a:rPr lang="en-NZ" smtClean="0"/>
              <a:t>26/09/2024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4EF88-E836-44B1-9C0B-F43CD65EDBC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425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Last week’s learning useful to this lecture: normal </a:t>
            </a:r>
            <a:r>
              <a:rPr lang="en-NZ" dirty="0" err="1"/>
              <a:t>dist</a:t>
            </a:r>
            <a:r>
              <a:rPr lang="en-NZ" dirty="0"/>
              <a:t>, </a:t>
            </a:r>
            <a:r>
              <a:rPr lang="en-NZ" dirty="0" err="1"/>
              <a:t>sd</a:t>
            </a:r>
            <a:r>
              <a:rPr lang="en-NZ"/>
              <a:t>/sigma, MOE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EF88-E836-44B1-9C0B-F43CD65EDBC6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83450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EF88-E836-44B1-9C0B-F43CD65EDBC6}" type="slidenum">
              <a:rPr lang="en-NZ" smtClean="0"/>
              <a:t>24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5634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58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4605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265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10515600" cy="4351338"/>
          </a:xfrm>
        </p:spPr>
        <p:txBody>
          <a:bodyPr/>
          <a:lstStyle>
            <a:lvl1pPr>
              <a:buClr>
                <a:srgbClr val="F58220"/>
              </a:buClr>
              <a:defRPr/>
            </a:lvl1pPr>
            <a:lvl2pPr>
              <a:buClr>
                <a:srgbClr val="F58220"/>
              </a:buClr>
              <a:defRPr/>
            </a:lvl2pPr>
            <a:lvl3pPr>
              <a:buClr>
                <a:srgbClr val="F58220"/>
              </a:buClr>
              <a:defRPr/>
            </a:lvl3pPr>
            <a:lvl4pPr>
              <a:buClr>
                <a:srgbClr val="F58220"/>
              </a:buClr>
              <a:defRPr/>
            </a:lvl4pPr>
            <a:lvl5pPr>
              <a:buClr>
                <a:srgbClr val="F582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7286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869868" y="2414156"/>
            <a:ext cx="42378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>
                <a:solidFill>
                  <a:srgbClr val="F264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869868" y="3913172"/>
            <a:ext cx="4237844" cy="1063562"/>
          </a:xfrm>
        </p:spPr>
        <p:txBody>
          <a:bodyPr/>
          <a:lstStyle>
            <a:lvl1pPr marL="0" indent="0">
              <a:buClr>
                <a:srgbClr val="ED1C24"/>
              </a:buClr>
              <a:buNone/>
              <a:defRPr/>
            </a:lvl1pPr>
            <a:lvl2pPr>
              <a:buClr>
                <a:srgbClr val="ED1C24"/>
              </a:buClr>
              <a:defRPr/>
            </a:lvl2pPr>
            <a:lvl3pPr>
              <a:buClr>
                <a:srgbClr val="ED1C24"/>
              </a:buClr>
              <a:defRPr/>
            </a:lvl3pPr>
            <a:lvl4pPr>
              <a:buClr>
                <a:srgbClr val="ED1C24"/>
              </a:buClr>
              <a:defRPr/>
            </a:lvl4pPr>
            <a:lvl5pPr>
              <a:buClr>
                <a:srgbClr val="ED1C24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084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40099"/>
            <a:ext cx="9182100" cy="2146301"/>
          </a:xfrm>
          <a:prstGeom prst="rect">
            <a:avLst/>
          </a:prstGeom>
          <a:solidFill>
            <a:srgbClr val="F26522">
              <a:alpha val="8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80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49300" y="3556000"/>
            <a:ext cx="8140700" cy="127793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749300" y="4833938"/>
            <a:ext cx="8140700" cy="6016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NZ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522" y="0"/>
            <a:ext cx="2007556" cy="199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4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NZ"/>
              <a:t>Information Technology Project Management, Seventh Edition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8"/>
                </a:solidFill>
                <a:latin typeface="Century Gothic"/>
                <a:cs typeface="Century Gothic"/>
              </a:defRPr>
            </a:lvl1pPr>
          </a:lstStyle>
          <a:p>
            <a:pPr marL="25400"/>
            <a:fld id="{81D60167-4931-47E6-BA6A-407CBD079E47}" type="slidenum">
              <a:rPr lang="en-NZ" smtClean="0"/>
              <a:pPr marL="25400"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1646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11277600" y="6500967"/>
            <a:ext cx="111760" cy="81280"/>
          </a:xfrm>
          <a:custGeom>
            <a:avLst/>
            <a:gdLst/>
            <a:ahLst/>
            <a:cxnLst/>
            <a:rect l="l" t="t" r="r" b="b"/>
            <a:pathLst>
              <a:path w="83820" h="81279">
                <a:moveTo>
                  <a:pt x="32295" y="0"/>
                </a:moveTo>
                <a:lnTo>
                  <a:pt x="19438" y="5417"/>
                </a:lnTo>
                <a:lnTo>
                  <a:pt x="9204" y="14588"/>
                </a:lnTo>
                <a:lnTo>
                  <a:pt x="2442" y="26666"/>
                </a:lnTo>
                <a:lnTo>
                  <a:pt x="0" y="40802"/>
                </a:lnTo>
                <a:lnTo>
                  <a:pt x="412" y="46652"/>
                </a:lnTo>
                <a:lnTo>
                  <a:pt x="36328" y="79943"/>
                </a:lnTo>
                <a:lnTo>
                  <a:pt x="53988" y="80924"/>
                </a:lnTo>
                <a:lnTo>
                  <a:pt x="65922" y="74939"/>
                </a:lnTo>
                <a:lnTo>
                  <a:pt x="75343" y="65274"/>
                </a:lnTo>
                <a:lnTo>
                  <a:pt x="81504" y="52477"/>
                </a:lnTo>
                <a:lnTo>
                  <a:pt x="83656" y="37096"/>
                </a:lnTo>
                <a:lnTo>
                  <a:pt x="80561" y="24915"/>
                </a:lnTo>
                <a:lnTo>
                  <a:pt x="73683" y="14486"/>
                </a:lnTo>
                <a:lnTo>
                  <a:pt x="63218" y="6438"/>
                </a:lnTo>
                <a:lnTo>
                  <a:pt x="49358" y="1400"/>
                </a:lnTo>
                <a:lnTo>
                  <a:pt x="3229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757935" y="6501089"/>
            <a:ext cx="113453" cy="80645"/>
          </a:xfrm>
          <a:custGeom>
            <a:avLst/>
            <a:gdLst/>
            <a:ahLst/>
            <a:cxnLst/>
            <a:rect l="l" t="t" r="r" b="b"/>
            <a:pathLst>
              <a:path w="85090" h="80645">
                <a:moveTo>
                  <a:pt x="32372" y="0"/>
                </a:moveTo>
                <a:lnTo>
                  <a:pt x="19470" y="5499"/>
                </a:lnTo>
                <a:lnTo>
                  <a:pt x="9213" y="14663"/>
                </a:lnTo>
                <a:lnTo>
                  <a:pt x="2443" y="26665"/>
                </a:lnTo>
                <a:lnTo>
                  <a:pt x="0" y="40681"/>
                </a:lnTo>
                <a:lnTo>
                  <a:pt x="696" y="48163"/>
                </a:lnTo>
                <a:lnTo>
                  <a:pt x="38078" y="79686"/>
                </a:lnTo>
                <a:lnTo>
                  <a:pt x="56139" y="80423"/>
                </a:lnTo>
                <a:lnTo>
                  <a:pt x="67845" y="74207"/>
                </a:lnTo>
                <a:lnTo>
                  <a:pt x="77044" y="64402"/>
                </a:lnTo>
                <a:lnTo>
                  <a:pt x="83022" y="51466"/>
                </a:lnTo>
                <a:lnTo>
                  <a:pt x="85060" y="35858"/>
                </a:lnTo>
                <a:lnTo>
                  <a:pt x="81650" y="24004"/>
                </a:lnTo>
                <a:lnTo>
                  <a:pt x="74509" y="13890"/>
                </a:lnTo>
                <a:lnTo>
                  <a:pt x="63804" y="6117"/>
                </a:lnTo>
                <a:lnTo>
                  <a:pt x="49703" y="1287"/>
                </a:lnTo>
                <a:lnTo>
                  <a:pt x="32372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2700527" y="504445"/>
            <a:ext cx="6786879" cy="1543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F5897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NZ"/>
              <a:t>Information Technology Project Management, Seventh Edition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95958"/>
                </a:solidFill>
                <a:latin typeface="Century Gothic"/>
                <a:cs typeface="Century Gothic"/>
              </a:defRPr>
            </a:lvl1pPr>
          </a:lstStyle>
          <a:p>
            <a:pPr marL="25400"/>
            <a:fld id="{81D60167-4931-47E6-BA6A-407CBD079E47}" type="slidenum">
              <a:rPr lang="en-NZ" smtClean="0"/>
              <a:pPr marL="25400"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0369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NZ"/>
              <a:t>Information Technology Project Management, Seventh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41B1-A29B-0145-89E7-687432B8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0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Teal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8A5DF7-406B-4662-AFA7-5AF9E93C20A3}"/>
              </a:ext>
            </a:extLst>
          </p:cNvPr>
          <p:cNvSpPr/>
          <p:nvPr userDrawn="1"/>
        </p:nvSpPr>
        <p:spPr>
          <a:xfrm>
            <a:off x="0" y="3282950"/>
            <a:ext cx="9230784" cy="2108200"/>
          </a:xfrm>
          <a:prstGeom prst="rect">
            <a:avLst/>
          </a:prstGeom>
          <a:solidFill>
            <a:srgbClr val="F26400">
              <a:alpha val="8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NZ" sz="600" baseline="-25000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4756316-04B1-4882-9FDE-826C652982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733" y="1"/>
            <a:ext cx="22352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15" y="3495040"/>
            <a:ext cx="8140700" cy="127793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865415" y="4772978"/>
            <a:ext cx="8140700" cy="61762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2930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- Teal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460500" y="365127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solidFill>
                  <a:srgbClr val="F264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10515600" cy="4351338"/>
          </a:xfrm>
        </p:spPr>
        <p:txBody>
          <a:bodyPr/>
          <a:lstStyle>
            <a:lvl1pPr>
              <a:buClr>
                <a:srgbClr val="F58220"/>
              </a:buClr>
              <a:defRPr/>
            </a:lvl1pPr>
            <a:lvl2pPr>
              <a:buClr>
                <a:srgbClr val="F58220"/>
              </a:buClr>
              <a:defRPr/>
            </a:lvl2pPr>
            <a:lvl3pPr>
              <a:buClr>
                <a:srgbClr val="F58220"/>
              </a:buClr>
              <a:defRPr/>
            </a:lvl3pPr>
            <a:lvl4pPr>
              <a:buClr>
                <a:srgbClr val="F58220"/>
              </a:buClr>
              <a:defRPr/>
            </a:lvl4pPr>
            <a:lvl5pPr>
              <a:buClr>
                <a:srgbClr val="F582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5976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42956993-48F7-4E75-B292-62556C792DF7}"/>
              </a:ext>
            </a:extLst>
          </p:cNvPr>
          <p:cNvSpPr>
            <a:spLocks/>
          </p:cNvSpPr>
          <p:nvPr userDrawn="1"/>
        </p:nvSpPr>
        <p:spPr bwMode="auto">
          <a:xfrm flipV="1">
            <a:off x="0" y="3048000"/>
            <a:ext cx="11785600" cy="3429000"/>
          </a:xfrm>
          <a:custGeom>
            <a:avLst/>
            <a:gdLst/>
            <a:ahLst/>
            <a:cxnLst>
              <a:cxn ang="0">
                <a:pos x="0" y="2527"/>
              </a:cxn>
              <a:cxn ang="0">
                <a:pos x="6913" y="3360"/>
              </a:cxn>
              <a:cxn ang="0">
                <a:pos x="0" y="2144"/>
              </a:cxn>
              <a:cxn ang="0">
                <a:pos x="0" y="252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4D13944-0BCE-41A6-893D-75BA485EF0DD}"/>
              </a:ext>
            </a:extLst>
          </p:cNvPr>
          <p:cNvSpPr>
            <a:spLocks/>
          </p:cNvSpPr>
          <p:nvPr userDrawn="1"/>
        </p:nvSpPr>
        <p:spPr bwMode="auto">
          <a:xfrm flipV="1">
            <a:off x="1" y="3021014"/>
            <a:ext cx="11112500" cy="3227387"/>
          </a:xfrm>
          <a:custGeom>
            <a:avLst/>
            <a:gdLst>
              <a:gd name="T0" fmla="*/ 0 w 6913"/>
              <a:gd name="T1" fmla="*/ 2147483646 h 3360"/>
              <a:gd name="T2" fmla="*/ 2147483646 w 6913"/>
              <a:gd name="T3" fmla="*/ 2147483646 h 3360"/>
              <a:gd name="T4" fmla="*/ 0 w 6913"/>
              <a:gd name="T5" fmla="*/ 2147483646 h 3360"/>
              <a:gd name="T6" fmla="*/ 0 w 6913"/>
              <a:gd name="T7" fmla="*/ 2147483646 h 336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1">
              <a:alpha val="5411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C0BFA81-A146-44FF-BC2B-92A36C44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2AFCC-917C-4638-B983-688AAF6EC86F}" type="datetimeFigureOut">
              <a:rPr lang="en-US"/>
              <a:pPr>
                <a:defRPr/>
              </a:pPr>
              <a:t>9/26/2024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87CC086-40EB-45EA-B6FA-752C3F494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2A18A1D-265B-47FC-9943-E7A7FC06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7CAD6-B92A-497E-8ED2-79F84ECBE5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749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68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252FF-57F3-497E-8791-6D4801CB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6EC08-62DB-4B15-BE0B-92CAE85C06B8}" type="datetimeFigureOut">
              <a:rPr lang="en-US"/>
              <a:pPr>
                <a:defRPr/>
              </a:pPr>
              <a:t>9/26/2024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33540-7EC4-40A1-BF7A-B04F02B1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01DA5E-8434-4A9A-9F0F-3317F2CB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3DEF9-CC3D-49EB-8F74-7BC07C0E66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35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9FB340D8-B71B-4DF1-8D6A-1ADFCF9477B6}"/>
              </a:ext>
            </a:extLst>
          </p:cNvPr>
          <p:cNvSpPr>
            <a:spLocks/>
          </p:cNvSpPr>
          <p:nvPr userDrawn="1"/>
        </p:nvSpPr>
        <p:spPr bwMode="auto">
          <a:xfrm flipV="1">
            <a:off x="0" y="3048000"/>
            <a:ext cx="11785600" cy="3429000"/>
          </a:xfrm>
          <a:custGeom>
            <a:avLst/>
            <a:gdLst/>
            <a:ahLst/>
            <a:cxnLst>
              <a:cxn ang="0">
                <a:pos x="0" y="2527"/>
              </a:cxn>
              <a:cxn ang="0">
                <a:pos x="6913" y="3360"/>
              </a:cxn>
              <a:cxn ang="0">
                <a:pos x="0" y="2144"/>
              </a:cxn>
              <a:cxn ang="0">
                <a:pos x="0" y="252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800" dirty="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A40A4582-13EF-4C09-A858-E49A437D5DA9}"/>
              </a:ext>
            </a:extLst>
          </p:cNvPr>
          <p:cNvSpPr>
            <a:spLocks/>
          </p:cNvSpPr>
          <p:nvPr userDrawn="1"/>
        </p:nvSpPr>
        <p:spPr bwMode="auto">
          <a:xfrm flipV="1">
            <a:off x="1" y="3021014"/>
            <a:ext cx="11112500" cy="3227387"/>
          </a:xfrm>
          <a:custGeom>
            <a:avLst/>
            <a:gdLst>
              <a:gd name="T0" fmla="*/ 0 w 6913"/>
              <a:gd name="T1" fmla="*/ 2147483646 h 3360"/>
              <a:gd name="T2" fmla="*/ 2147483646 w 6913"/>
              <a:gd name="T3" fmla="*/ 2147483646 h 3360"/>
              <a:gd name="T4" fmla="*/ 0 w 6913"/>
              <a:gd name="T5" fmla="*/ 2147483646 h 3360"/>
              <a:gd name="T6" fmla="*/ 0 w 6913"/>
              <a:gd name="T7" fmla="*/ 2147483646 h 336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13" h="3360">
                <a:moveTo>
                  <a:pt x="0" y="2527"/>
                </a:moveTo>
                <a:cubicBezTo>
                  <a:pt x="5458" y="360"/>
                  <a:pt x="6913" y="3360"/>
                  <a:pt x="6913" y="3360"/>
                </a:cubicBezTo>
                <a:cubicBezTo>
                  <a:pt x="6913" y="3360"/>
                  <a:pt x="5593" y="0"/>
                  <a:pt x="0" y="2144"/>
                </a:cubicBezTo>
                <a:cubicBezTo>
                  <a:pt x="0" y="2144"/>
                  <a:pt x="0" y="2197"/>
                  <a:pt x="0" y="2527"/>
                </a:cubicBezTo>
                <a:close/>
              </a:path>
            </a:pathLst>
          </a:custGeom>
          <a:solidFill>
            <a:schemeClr val="accent1">
              <a:alpha val="5411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68" y="257174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8480" y="4071942"/>
            <a:ext cx="8534400" cy="642942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1F047F8-0974-4B8E-B2B5-8A0114F31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5DFBB-2414-434A-A3CA-C42397F9609F}" type="datetimeFigureOut">
              <a:rPr lang="en-US"/>
              <a:pPr>
                <a:defRPr/>
              </a:pPr>
              <a:t>9/26/2024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70DF683-94BE-4B0D-8601-F19BD43C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3959FB2-1376-4DEA-AF7E-28EAA692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D694F-B0BF-4C0E-9F5C-475FBBBD93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02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BAED7-C4A1-4797-B097-E81E8EB1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1999-2001 USC-CSE &amp; A. Winsor Brown BES/MSEE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8998E-13B1-4F36-9850-934E7C5B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Fagan’s Inspections &lt;FIforDocV3.ppt&gt;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9344F-36AF-45CD-A66D-A5FC9534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v3.0 - 09/25/01 - </a:t>
            </a:r>
            <a:fld id="{8CEA95DB-A9F7-43F8-99B9-EC75277DDED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9164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471C8-951A-4ABB-A230-9AA72250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1999-2001 USC-CSE &amp; A. Winsor Brown BES/MSEE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06AFF-C0D9-4228-811B-E9068CDF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Fagan’s Inspections &lt;FIforDocV3.ppt&gt;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A15FB-FFFA-4C1D-9E01-D1396F3B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v3.0 - 09/25/01 - </a:t>
            </a:r>
            <a:fld id="{717FFF9F-8148-4C77-A8DE-3A9BFB87A75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63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9360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8" r:id="rId2"/>
    <p:sldLayoutId id="2147483677" r:id="rId3"/>
    <p:sldLayoutId id="2147483663" r:id="rId4"/>
    <p:sldLayoutId id="2147483679" r:id="rId5"/>
    <p:sldLayoutId id="2147483680" r:id="rId6"/>
    <p:sldLayoutId id="2147483682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875D2FF-D0D8-471F-B82D-C0A00EB9B0D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E4FE5B-69E2-4F27-ABB8-C519238293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63A47-2542-4A7F-8F3C-1F1CA8562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25B99CF-593F-40F2-8BB8-0E236DCB8A43}" type="datetimeFigureOut">
              <a:rPr lang="en-US"/>
              <a:pPr>
                <a:defRPr/>
              </a:pPr>
              <a:t>9/26/2024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BCF43-9BE7-48D0-9A19-9451B60A7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ED59-C2F9-4816-9B36-339D7C634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DB528E-CB6B-494D-9506-68FDE71F8C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21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COMP507 IT Project Management</a:t>
            </a:r>
            <a:br>
              <a:rPr lang="en-US" sz="4800" dirty="0"/>
            </a:br>
            <a:r>
              <a:rPr lang="en-US" sz="4800" dirty="0"/>
              <a:t>Cost Management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70454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9D5C-2733-4445-8EB6-1C9BDA3F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Cost?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F00F3-7961-488E-9D49-32D219C033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Cost</a:t>
            </a:r>
            <a:r>
              <a:rPr lang="en-US" dirty="0"/>
              <a:t> is a resource sacrificed or foregone to achieve a specific objective or something given up in exchange</a:t>
            </a:r>
          </a:p>
          <a:p>
            <a:pPr lvl="1"/>
            <a:r>
              <a:rPr lang="en-US" dirty="0"/>
              <a:t>Usually measured in monetary units like dollars that must be paid to acquire goods and services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75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F558-F08D-45AF-B41C-8ACDF117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Project Cost Management?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A3D5F-8856-49E9-B3DD-FD3333968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cost management includes the processes required to ensure that the project is completed within an approved budget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Planning</a:t>
            </a:r>
            <a:r>
              <a:rPr lang="en-US" dirty="0"/>
              <a:t> cost management: use organizational policies, procedures, and documentation for cost planning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Estimating</a:t>
            </a:r>
            <a:r>
              <a:rPr lang="en-US" dirty="0"/>
              <a:t> costs (</a:t>
            </a:r>
            <a:r>
              <a:rPr lang="en-US" i="1" dirty="0"/>
              <a:t>business-level,</a:t>
            </a:r>
            <a:r>
              <a:rPr lang="en-US" dirty="0"/>
              <a:t> i.e. portfolio level): developing an approximation or estimate of the costs of the resources needed to complete a project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Determining the budget </a:t>
            </a:r>
            <a:r>
              <a:rPr lang="en-US" dirty="0"/>
              <a:t>(project-level): allocating the overall cost estimate to individual work items to establish a </a:t>
            </a:r>
            <a:r>
              <a:rPr lang="en-US" i="1" u="sng" dirty="0">
                <a:highlight>
                  <a:srgbClr val="FFFF00"/>
                </a:highlight>
              </a:rPr>
              <a:t>baseline</a:t>
            </a:r>
            <a:r>
              <a:rPr lang="en-US" dirty="0"/>
              <a:t> for measuring performance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Executing </a:t>
            </a:r>
            <a:r>
              <a:rPr lang="en-US" dirty="0"/>
              <a:t>the budget for the project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Controlling</a:t>
            </a:r>
            <a:r>
              <a:rPr lang="en-US" dirty="0"/>
              <a:t> costs: controlling changes to the project budget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8412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758E-5AAC-429B-B3E7-D84B0B69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Principles of Cost Management: basic concepts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411C2-12AA-41FA-B439-EA43C6576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Most members of an executive board better understand and are more interested in financial terms than IT terms; they need to be able to present and discuss project information in both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Profits</a:t>
            </a:r>
            <a:r>
              <a:rPr lang="en-US" dirty="0"/>
              <a:t>: revenues minus expenditures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Profit margin</a:t>
            </a:r>
            <a:r>
              <a:rPr lang="en-US" dirty="0"/>
              <a:t>: ratio of profits to revenues 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Life cycle costing</a:t>
            </a:r>
            <a:r>
              <a:rPr lang="en-US" dirty="0"/>
              <a:t>: considers total cost of ownership, or development plus </a:t>
            </a:r>
            <a:r>
              <a:rPr lang="en-US" b="1" dirty="0"/>
              <a:t>support costs</a:t>
            </a:r>
            <a:r>
              <a:rPr lang="en-US" dirty="0"/>
              <a:t>, for a project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Cash flow analysis</a:t>
            </a:r>
            <a:r>
              <a:rPr lang="en-US" dirty="0"/>
              <a:t>: determines estimated annual costs and benefits for a project and resulting annual cash flow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9883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B853-D612-45B1-9E2C-38783B7C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Principles of Cost Management: types of costs and benefits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7E602-46E6-46FA-B154-176935F3A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rgbClr val="FF0000"/>
                </a:solidFill>
              </a:rPr>
              <a:t>Tangible costs </a:t>
            </a:r>
            <a:r>
              <a:rPr lang="en-US" dirty="0"/>
              <a:t>or benefits are those costs or benefits that an organization can easily measure in dollars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Intangible costs </a:t>
            </a:r>
            <a:r>
              <a:rPr lang="en-US" dirty="0"/>
              <a:t>or benefits are costs or benefits that are difficult to measure in monetary terms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Direct costs </a:t>
            </a:r>
            <a:r>
              <a:rPr lang="en-US" dirty="0"/>
              <a:t>are costs that can be directly related to producing the products and services of the project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Indirect costs </a:t>
            </a:r>
            <a:r>
              <a:rPr lang="en-US" dirty="0"/>
              <a:t>are costs that are not directly related to the products or services of the project, but are indirectly related to performing the project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Sunk cost</a:t>
            </a:r>
            <a:r>
              <a:rPr lang="en-US" dirty="0"/>
              <a:t> is money that has been spent in the past; when deciding what projects to invest in or continue, you should not include sunk costs </a:t>
            </a:r>
          </a:p>
        </p:txBody>
      </p:sp>
    </p:spTree>
    <p:extLst>
      <p:ext uri="{BB962C8B-B14F-4D97-AF65-F5344CB8AC3E}">
        <p14:creationId xmlns:p14="http://schemas.microsoft.com/office/powerpoint/2010/main" val="153948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6822-935F-4454-BB27-1F564501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Principles of Cost Management: additional concepts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92736-B1C6-4382-A89D-BBA401734B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US" sz="2800" dirty="0">
                <a:solidFill>
                  <a:srgbClr val="FF0000"/>
                </a:solidFill>
              </a:rPr>
              <a:t>Learning curve theory </a:t>
            </a:r>
            <a:r>
              <a:rPr lang="en-US" sz="2800" dirty="0"/>
              <a:t>states that when many items are produced repetitively, the unit cost of those items decreases in a regular pattern as more units are produced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Reserves</a:t>
            </a:r>
            <a:r>
              <a:rPr lang="en-US" sz="2800" dirty="0"/>
              <a:t> are dollars included in a cost estimate to mitigate cost risk by allowing for future situations that are difficult to predict</a:t>
            </a:r>
          </a:p>
          <a:p>
            <a:pPr lvl="2"/>
            <a:r>
              <a:rPr lang="en-US" sz="2400" dirty="0">
                <a:solidFill>
                  <a:srgbClr val="FF0000"/>
                </a:solidFill>
              </a:rPr>
              <a:t>Contingency reserves </a:t>
            </a:r>
            <a:r>
              <a:rPr lang="en-US" sz="2400" dirty="0"/>
              <a:t>allow for future situations that may be partially planned for (sometimes called </a:t>
            </a:r>
            <a:r>
              <a:rPr lang="en-US" sz="2400" dirty="0">
                <a:solidFill>
                  <a:srgbClr val="FF0000"/>
                </a:solidFill>
              </a:rPr>
              <a:t>known/predictable unknowns</a:t>
            </a:r>
            <a:r>
              <a:rPr lang="en-US" sz="2400" dirty="0"/>
              <a:t>) and are included in the project cost baseline</a:t>
            </a:r>
          </a:p>
          <a:p>
            <a:pPr lvl="2"/>
            <a:r>
              <a:rPr lang="en-US" sz="2400" dirty="0">
                <a:solidFill>
                  <a:srgbClr val="FF0000"/>
                </a:solidFill>
              </a:rPr>
              <a:t>Management reserves </a:t>
            </a:r>
            <a:r>
              <a:rPr lang="en-US" sz="2400" dirty="0"/>
              <a:t>allow for unpredictable future situations (sometimes called </a:t>
            </a:r>
            <a:r>
              <a:rPr lang="en-US" sz="2400" dirty="0">
                <a:solidFill>
                  <a:srgbClr val="FF0000"/>
                </a:solidFill>
              </a:rPr>
              <a:t>unknown/unpredictable unknowns</a:t>
            </a:r>
            <a:r>
              <a:rPr lang="en-US" sz="2400" dirty="0"/>
              <a:t>)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1326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979D-4F03-4F59-B7B8-B8EE2F8A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Cost Management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D0C54-5638-47E7-8A68-1FD33DBEB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1603602"/>
            <a:ext cx="10515600" cy="49822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first step in project cost management is planning how the costs will be managed throughout the life of the project</a:t>
            </a:r>
          </a:p>
          <a:p>
            <a:pPr lvl="1"/>
            <a:r>
              <a:rPr lang="en-US" dirty="0"/>
              <a:t>The project team uses expert judgment, analytical techniques, and meetings to develop the cost management plan</a:t>
            </a:r>
          </a:p>
          <a:p>
            <a:r>
              <a:rPr lang="en-US" dirty="0"/>
              <a:t>Cost management plan includes:</a:t>
            </a:r>
          </a:p>
          <a:p>
            <a:pPr lvl="1"/>
            <a:r>
              <a:rPr lang="en-US" dirty="0"/>
              <a:t>Level of accuracy </a:t>
            </a:r>
          </a:p>
          <a:p>
            <a:pPr lvl="1"/>
            <a:r>
              <a:rPr lang="en-US" dirty="0"/>
              <a:t>Units of measure: man-hour? man-day? FTE: full time equivalent?</a:t>
            </a:r>
          </a:p>
          <a:p>
            <a:pPr lvl="1"/>
            <a:r>
              <a:rPr lang="en-US" dirty="0"/>
              <a:t>Organizational procedure links</a:t>
            </a:r>
          </a:p>
          <a:p>
            <a:pPr lvl="1"/>
            <a:r>
              <a:rPr lang="en-US" dirty="0"/>
              <a:t>Control thresholds: </a:t>
            </a:r>
            <a:r>
              <a:rPr lang="en-NZ" i="1" dirty="0"/>
              <a:t>a specified amount of variation allowed before action needs to be taken, such as 10 percent of the baseline cost</a:t>
            </a:r>
            <a:endParaRPr lang="en-US" i="1" dirty="0"/>
          </a:p>
          <a:p>
            <a:pPr lvl="1"/>
            <a:r>
              <a:rPr lang="en-US" dirty="0"/>
              <a:t>Rules of performance measurement (such as CPI, SPI in EVM)</a:t>
            </a:r>
          </a:p>
          <a:p>
            <a:pPr lvl="1"/>
            <a:r>
              <a:rPr lang="en-US" dirty="0"/>
              <a:t>Reporting formats</a:t>
            </a:r>
          </a:p>
          <a:p>
            <a:pPr lvl="1"/>
            <a:r>
              <a:rPr lang="en-US" dirty="0"/>
              <a:t>Process descriptions</a:t>
            </a:r>
            <a:r>
              <a:rPr lang="en-NZ" dirty="0"/>
              <a:t> (how-to)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40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1C71-95EF-488A-A4DF-D7892574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Estimating Costs: Types of Cost Estimates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E951E-FB0E-4199-97C8-7B421CFA8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2BF7FCE-D0E9-45FB-8F0D-DA906C5EF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588634"/>
            <a:ext cx="119062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4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8D96-BFB6-4416-948D-DBB21D86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Estimation Tools and Techniques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D5F5A-860E-4A78-8FD7-86907B91D4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Analogous or top-down estimates</a:t>
            </a:r>
          </a:p>
          <a:p>
            <a:pPr lvl="1"/>
            <a:r>
              <a:rPr lang="en-US" dirty="0"/>
              <a:t>Use the actual cost of a previous, similar project as the basis for estimating the cost of the current project </a:t>
            </a:r>
          </a:p>
          <a:p>
            <a:r>
              <a:rPr lang="en-US" dirty="0"/>
              <a:t>Bottom-up estimates</a:t>
            </a:r>
          </a:p>
          <a:p>
            <a:pPr lvl="1"/>
            <a:r>
              <a:rPr lang="en-US" dirty="0"/>
              <a:t>Involve estimating individual work items or activities and summing them to get a project total </a:t>
            </a:r>
          </a:p>
          <a:p>
            <a:r>
              <a:rPr lang="en-US" dirty="0"/>
              <a:t>Three-point estimates </a:t>
            </a:r>
          </a:p>
          <a:p>
            <a:pPr lvl="1"/>
            <a:r>
              <a:rPr lang="en-US" dirty="0"/>
              <a:t>Involve estimating the most likely, optimistic, and pessimistic costs for items</a:t>
            </a:r>
          </a:p>
          <a:p>
            <a:r>
              <a:rPr lang="en-US" dirty="0"/>
              <a:t>Parametric estimating</a:t>
            </a:r>
          </a:p>
          <a:p>
            <a:pPr lvl="1"/>
            <a:r>
              <a:rPr lang="en-US" dirty="0"/>
              <a:t>Uses project characteristics (parameters) in a mathematical model to estimate project costs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979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8BED-6482-486B-83A5-646ABA9C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Problems with IT Cost Estimates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2F5B-083D-4981-9DC2-D044DE51AA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Reasons for inaccuracies </a:t>
            </a:r>
          </a:p>
          <a:p>
            <a:pPr lvl="1"/>
            <a:r>
              <a:rPr lang="en-US" dirty="0"/>
              <a:t>Estimates are done too quickly</a:t>
            </a:r>
          </a:p>
          <a:p>
            <a:pPr lvl="1"/>
            <a:r>
              <a:rPr lang="en-US" dirty="0"/>
              <a:t>People lack estimating experience</a:t>
            </a:r>
          </a:p>
          <a:p>
            <a:pPr lvl="1"/>
            <a:r>
              <a:rPr lang="en-US" dirty="0"/>
              <a:t>Human beings are biased toward underestimation</a:t>
            </a:r>
          </a:p>
          <a:p>
            <a:pPr lvl="1"/>
            <a:r>
              <a:rPr lang="en-US" dirty="0"/>
              <a:t>Management desires accuracy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940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D2F2-2240-4974-9C80-80C7EC86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Develop a Cost Estimate and Basis of Estimates (1 of 3)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10F1D-3F8E-4706-A5F2-5869A1DAD7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See the text for a detailed example of creating a cost estimate for the Surveyor Pro project described in the opening case</a:t>
            </a:r>
          </a:p>
          <a:p>
            <a:pPr lvl="1"/>
            <a:r>
              <a:rPr lang="en-US" dirty="0"/>
              <a:t>Before creating an estimate gather as much information as possible about the project, ask how the organization plans to use the cost estimate, and clarify the ground rules and assumptions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14160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6997-C8FF-44C6-8061-F7BA3CE2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Develop a Cost Estimate and Basis of Estimates (2 of 3)</a:t>
            </a:r>
            <a:endParaRPr lang="en-NZ" dirty="0"/>
          </a:p>
        </p:txBody>
      </p:sp>
      <p:pic>
        <p:nvPicPr>
          <p:cNvPr id="4" name="Picture 3" descr="Image displays a spreadsheet that summarizes the costs by WBS item">
            <a:extLst>
              <a:ext uri="{FF2B5EF4-FFF2-40B4-BE49-F238E27FC236}">
                <a16:creationId xmlns:a16="http://schemas.microsoft.com/office/drawing/2014/main" id="{A521054E-0003-40E6-84F5-B26416E2DA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806" y="1690688"/>
            <a:ext cx="6328052" cy="50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7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6C59-B446-4C75-A2E3-4DA806B7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Develop a Cost Estimate and Basis of Estimates (3 of 3) </a:t>
            </a:r>
            <a:endParaRPr lang="en-NZ" dirty="0"/>
          </a:p>
        </p:txBody>
      </p:sp>
      <p:pic>
        <p:nvPicPr>
          <p:cNvPr id="4" name="Picture 3" descr="Image displays a function point estimate.&#10;">
            <a:extLst>
              <a:ext uri="{FF2B5EF4-FFF2-40B4-BE49-F238E27FC236}">
                <a16:creationId xmlns:a16="http://schemas.microsoft.com/office/drawing/2014/main" id="{DD893839-7829-4C86-B68C-3CDFEA7293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72" y="1690687"/>
            <a:ext cx="7475314" cy="506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6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0A02-75F4-4F19-AAB7-7C9A7A20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Budget (1 of 2) 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BFB43-3894-4D57-93FE-637692BEFF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Budgeting involves allocating the project cost estimate to individual work items </a:t>
            </a:r>
            <a:r>
              <a:rPr lang="en-US" dirty="0">
                <a:solidFill>
                  <a:srgbClr val="FF0000"/>
                </a:solidFill>
              </a:rPr>
              <a:t>over time</a:t>
            </a:r>
          </a:p>
          <a:p>
            <a:pPr lvl="1"/>
            <a:r>
              <a:rPr lang="en-US" dirty="0"/>
              <a:t>Material resources or work items are based on the activities in the WBS for the project</a:t>
            </a:r>
          </a:p>
          <a:p>
            <a:r>
              <a:rPr lang="en-US" dirty="0"/>
              <a:t>Important goal is to produce a cost baseline</a:t>
            </a:r>
          </a:p>
          <a:p>
            <a:pPr lvl="1"/>
            <a:r>
              <a:rPr lang="en-US" dirty="0"/>
              <a:t>Time-phased budget that project managers use to measure and monitor cost performance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96735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49BE-267A-4E08-BAC4-CA02DB84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Budget (2 of 2)</a:t>
            </a:r>
            <a:endParaRPr lang="en-NZ" dirty="0"/>
          </a:p>
        </p:txBody>
      </p:sp>
      <p:pic>
        <p:nvPicPr>
          <p:cNvPr id="4" name="Picture 3" descr="Image displays an example of a cost baseline.&#10;">
            <a:extLst>
              <a:ext uri="{FF2B5EF4-FFF2-40B4-BE49-F238E27FC236}">
                <a16:creationId xmlns:a16="http://schemas.microsoft.com/office/drawing/2014/main" id="{176358C6-4A23-446A-BF00-96B57A9699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414" y="1690688"/>
            <a:ext cx="9975557" cy="499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24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C1BA-0399-4C19-8FE7-611AD627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Costs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CECAC-C8D7-4543-BF37-D02DEC07C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Activities involved in controlling project costs</a:t>
            </a:r>
          </a:p>
          <a:p>
            <a:pPr lvl="1"/>
            <a:r>
              <a:rPr lang="en-US" dirty="0"/>
              <a:t>Measuring and monitoring cost performance</a:t>
            </a:r>
          </a:p>
          <a:p>
            <a:pPr lvl="1"/>
            <a:r>
              <a:rPr lang="en-US" dirty="0"/>
              <a:t>Ensuring that only appropriate project changes are included in a revised cost baseline</a:t>
            </a:r>
          </a:p>
          <a:p>
            <a:pPr lvl="1"/>
            <a:r>
              <a:rPr lang="en-US" dirty="0"/>
              <a:t>Informing project stakeholders of authorized changes to the project that will affect costs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3936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6241-37E2-4D52-8A2B-F0FFF8A3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Earned Value Management: a performance measurement technique </a:t>
            </a:r>
            <a:r>
              <a:rPr lang="en-US" dirty="0"/>
              <a:t>(1 of 5)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DAB58-80A2-483F-95F6-DC4FF6C459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Project performance measurement technique that integrates scope, time, and cost data</a:t>
            </a:r>
          </a:p>
          <a:p>
            <a:pPr lvl="1"/>
            <a:r>
              <a:rPr lang="en-US" dirty="0">
                <a:solidFill>
                  <a:srgbClr val="0089CF"/>
                </a:solidFill>
              </a:rPr>
              <a:t>Given a baseline (original plan plus approved changes), you can determine how well the project is meeting scope, time, and cost goals</a:t>
            </a:r>
          </a:p>
          <a:p>
            <a:r>
              <a:rPr lang="en-US" dirty="0"/>
              <a:t>Earned value management involves </a:t>
            </a:r>
            <a:r>
              <a:rPr lang="en-US" dirty="0">
                <a:solidFill>
                  <a:srgbClr val="0089CF"/>
                </a:solidFill>
              </a:rPr>
              <a:t>calculating three values for each activity </a:t>
            </a:r>
            <a:r>
              <a:rPr lang="en-US" dirty="0"/>
              <a:t>or summary activity from a project’s WBS</a:t>
            </a:r>
          </a:p>
          <a:p>
            <a:pPr lvl="1"/>
            <a:r>
              <a:rPr lang="en-US" dirty="0"/>
              <a:t>Planned value</a:t>
            </a:r>
          </a:p>
          <a:p>
            <a:pPr lvl="1"/>
            <a:r>
              <a:rPr lang="en-US" dirty="0"/>
              <a:t>Actual cost </a:t>
            </a:r>
          </a:p>
          <a:p>
            <a:pPr lvl="1"/>
            <a:r>
              <a:rPr lang="en-US" dirty="0"/>
              <a:t>Earned value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8105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6812" y="136525"/>
            <a:ext cx="9362576" cy="1066800"/>
          </a:xfrm>
        </p:spPr>
        <p:txBody>
          <a:bodyPr/>
          <a:lstStyle/>
          <a:p>
            <a:r>
              <a:rPr lang="en-US" sz="2400" dirty="0"/>
              <a:t>Earned Value Management (EVM)- M/C projects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124891" y="1066800"/>
            <a:ext cx="8238309" cy="4724400"/>
          </a:xfrm>
        </p:spPr>
        <p:txBody>
          <a:bodyPr/>
          <a:lstStyle/>
          <a:p>
            <a:r>
              <a:rPr lang="en-US" b="1" u="sng" dirty="0"/>
              <a:t>EVM</a:t>
            </a:r>
            <a:r>
              <a:rPr lang="en-US" b="1" dirty="0"/>
              <a:t> </a:t>
            </a:r>
            <a:r>
              <a:rPr lang="en-US" dirty="0"/>
              <a:t>is a project performance measurement technique that integrates </a:t>
            </a:r>
            <a:r>
              <a:rPr lang="en-US" dirty="0">
                <a:solidFill>
                  <a:srgbClr val="FF0000"/>
                </a:solidFill>
              </a:rPr>
              <a:t>scope, time, and cost data</a:t>
            </a:r>
          </a:p>
          <a:p>
            <a:r>
              <a:rPr lang="en-US" dirty="0"/>
              <a:t>Given a </a:t>
            </a:r>
            <a:r>
              <a:rPr lang="en-US" b="1" dirty="0"/>
              <a:t>baseline</a:t>
            </a:r>
            <a:r>
              <a:rPr lang="en-US" dirty="0"/>
              <a:t> (original plan plus approved changes), </a:t>
            </a:r>
            <a:r>
              <a:rPr lang="en-US" u="sng" dirty="0"/>
              <a:t>you can determine how well the project is meeting its goals</a:t>
            </a:r>
          </a:p>
          <a:p>
            <a:r>
              <a:rPr lang="en-US" dirty="0"/>
              <a:t>You must </a:t>
            </a:r>
            <a:r>
              <a:rPr lang="en-US" u="sng" dirty="0"/>
              <a:t>collect the actual information periodically to use EVM</a:t>
            </a:r>
          </a:p>
          <a:p>
            <a:r>
              <a:rPr lang="en-US" dirty="0"/>
              <a:t>More organizations around the world are using EVM to help control project costs</a:t>
            </a:r>
          </a:p>
        </p:txBody>
      </p:sp>
      <p:sp>
        <p:nvSpPr>
          <p:cNvPr id="46085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1524000" y="6356351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3086100" cy="365125"/>
          </a:xfrm>
        </p:spPr>
        <p:txBody>
          <a:bodyPr/>
          <a:lstStyle/>
          <a:p>
            <a:pPr>
              <a:defRPr/>
            </a:pPr>
            <a:fld id="{567946CA-C215-4819-A905-54A78399ECD3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18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97898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76426" y="0"/>
            <a:ext cx="8791575" cy="1066800"/>
          </a:xfrm>
        </p:spPr>
        <p:txBody>
          <a:bodyPr/>
          <a:lstStyle/>
          <a:p>
            <a:r>
              <a:rPr lang="en-US" dirty="0"/>
              <a:t>Earned Value Management Terms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203269" y="1143001"/>
            <a:ext cx="7931331" cy="4791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The </a:t>
            </a:r>
            <a:r>
              <a:rPr lang="en-US" sz="2000" b="1" u="sng" dirty="0"/>
              <a:t>planned value (PV),</a:t>
            </a:r>
            <a:r>
              <a:rPr lang="en-US" sz="2000" u="sng" dirty="0"/>
              <a:t> </a:t>
            </a:r>
            <a:r>
              <a:rPr lang="en-US" sz="2000" dirty="0"/>
              <a:t> also </a:t>
            </a:r>
            <a:r>
              <a:rPr lang="en-US" sz="2000" u="sng" dirty="0"/>
              <a:t>called the budget</a:t>
            </a:r>
            <a:r>
              <a:rPr lang="en-US" sz="2000" dirty="0"/>
              <a:t>, is that portion of the approved total cost estimate planned to be spent on an activity during a given period</a:t>
            </a:r>
          </a:p>
          <a:p>
            <a:pPr>
              <a:lnSpc>
                <a:spcPct val="90000"/>
              </a:lnSpc>
            </a:pPr>
            <a:r>
              <a:rPr lang="en-US" sz="2000" b="1" u="sng" dirty="0"/>
              <a:t>Actual cost (AC</a:t>
            </a:r>
            <a:r>
              <a:rPr lang="en-US" sz="2000" b="1" dirty="0"/>
              <a:t>),</a:t>
            </a:r>
            <a:r>
              <a:rPr lang="en-US" sz="2000" dirty="0"/>
              <a:t> called actual cost of work performed, is the </a:t>
            </a:r>
            <a:r>
              <a:rPr lang="en-US" sz="2000" u="sng" dirty="0"/>
              <a:t>total of direct and indirect costs incurred in accomplishing work on an activity during a given period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The </a:t>
            </a:r>
            <a:r>
              <a:rPr lang="en-US" sz="2000" b="1" u="sng" dirty="0"/>
              <a:t>earned value (EV</a:t>
            </a:r>
            <a:r>
              <a:rPr lang="en-US" sz="2000" b="1" dirty="0"/>
              <a:t>),</a:t>
            </a:r>
            <a:r>
              <a:rPr lang="en-US" sz="2000" dirty="0"/>
              <a:t>  is an estimate of the </a:t>
            </a:r>
            <a:r>
              <a:rPr lang="en-US" sz="2000" u="sng" dirty="0"/>
              <a:t>value of the physical work actually completed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EV is based on the original planned costs for the project or activity (budget) and the rate at which the team is completing work on the project or activity to date</a:t>
            </a:r>
          </a:p>
        </p:txBody>
      </p:sp>
      <p:sp>
        <p:nvSpPr>
          <p:cNvPr id="47109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1524000" y="6356351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3086100" cy="365125"/>
          </a:xfrm>
        </p:spPr>
        <p:txBody>
          <a:bodyPr/>
          <a:lstStyle/>
          <a:p>
            <a:pPr>
              <a:defRPr/>
            </a:pPr>
            <a:fld id="{D9695B36-0208-4B95-A7C4-58E4F7CCDE9F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19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97410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74638"/>
            <a:ext cx="8305800" cy="715962"/>
          </a:xfrm>
        </p:spPr>
        <p:txBody>
          <a:bodyPr>
            <a:normAutofit/>
          </a:bodyPr>
          <a:lstStyle/>
          <a:p>
            <a:r>
              <a:rPr lang="en-US" dirty="0"/>
              <a:t>EVM calculations 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143000"/>
            <a:ext cx="84582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b="1" u="sng" dirty="0"/>
              <a:t>Rate of performance (RP)</a:t>
            </a:r>
            <a:r>
              <a:rPr lang="en-US" sz="2000" u="sng" dirty="0"/>
              <a:t> is the ratio of actual work completed to the percentage of work planned to have been completed</a:t>
            </a:r>
            <a:r>
              <a:rPr lang="en-US" sz="2000" dirty="0"/>
              <a:t> at any given time during the life of the project or activity</a:t>
            </a:r>
          </a:p>
          <a:p>
            <a:pPr>
              <a:lnSpc>
                <a:spcPct val="90000"/>
              </a:lnSpc>
            </a:pPr>
            <a:r>
              <a:rPr lang="en-US" sz="2000" u="sng" dirty="0"/>
              <a:t>Example</a:t>
            </a:r>
            <a:r>
              <a:rPr 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1600" i="1" dirty="0"/>
              <a:t>A project involved purchasing and installing a new web server. According to the budget , it would take one week and will cost a total of $10,000 (labour cost, hardware and software).</a:t>
            </a:r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Planned Value (PV)  = $10,000  </a:t>
            </a:r>
          </a:p>
          <a:p>
            <a:pPr lvl="1">
              <a:lnSpc>
                <a:spcPct val="90000"/>
              </a:lnSpc>
            </a:pPr>
            <a:r>
              <a:rPr lang="en-US" sz="1600" i="1" dirty="0"/>
              <a:t>Suppose the server installation was halfway completed by the end of week 1. </a:t>
            </a:r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Rate of performance (RP) for first week = 50%  (actual work completed)</a:t>
            </a:r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Earned value (EV) for first week = $5000 (earned value estimate after one week) </a:t>
            </a:r>
            <a:r>
              <a:rPr lang="en-US" sz="1400" b="1" u="sng" dirty="0">
                <a:sym typeface="Wingdings" panose="05000000000000000000" pitchFamily="2" charset="2"/>
              </a:rPr>
              <a:t></a:t>
            </a:r>
            <a:r>
              <a:rPr lang="en-US" sz="1400" b="1" u="sng" dirty="0"/>
              <a:t>  </a:t>
            </a:r>
          </a:p>
          <a:p>
            <a:pPr marL="630238" lvl="2" indent="0">
              <a:buNone/>
            </a:pPr>
            <a:r>
              <a:rPr lang="en-US" sz="1400" b="1" dirty="0"/>
              <a:t>    </a:t>
            </a:r>
            <a:r>
              <a:rPr lang="en-US" sz="1400" b="1" u="sng" dirty="0"/>
              <a:t>($10,000 * 50%)  </a:t>
            </a:r>
            <a:r>
              <a:rPr lang="en-US" sz="1400" b="1" u="sng" dirty="0">
                <a:solidFill>
                  <a:srgbClr val="FF0000"/>
                </a:solidFill>
              </a:rPr>
              <a:t>[EV = PV * RP]</a:t>
            </a:r>
          </a:p>
          <a:p>
            <a:pPr lvl="1">
              <a:lnSpc>
                <a:spcPct val="90000"/>
              </a:lnSpc>
            </a:pPr>
            <a:r>
              <a:rPr lang="en-US" sz="1600" i="1" dirty="0"/>
              <a:t>It took two weeks and cost of $20,000 to purchase and install the new server. $15,000 of the cost was incurred in the first week and $5000 in the second week. </a:t>
            </a:r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Actual cost (AC) for first week = $15,000 </a:t>
            </a:r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Cost variance (CV) for the first week = -$10,000 </a:t>
            </a:r>
            <a:r>
              <a:rPr lang="en-US" sz="1400" b="1" u="sng" dirty="0">
                <a:sym typeface="Wingdings" panose="05000000000000000000" pitchFamily="2" charset="2"/>
              </a:rPr>
              <a:t></a:t>
            </a:r>
            <a:r>
              <a:rPr lang="en-US" sz="1400" b="1" u="sng" dirty="0"/>
              <a:t> ($5000 - $15,000) </a:t>
            </a:r>
            <a:r>
              <a:rPr lang="en-US" sz="1400" b="1" u="sng" dirty="0">
                <a:solidFill>
                  <a:srgbClr val="FF0000"/>
                </a:solidFill>
              </a:rPr>
              <a:t>[CV = EV – AC]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400" b="1" dirty="0">
                <a:sym typeface="Wingdings" panose="05000000000000000000" pitchFamily="2" charset="2"/>
              </a:rPr>
              <a:t> If CV is negative, it means performing the work costs more than planned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400" b="1" dirty="0">
                <a:sym typeface="Wingdings" panose="05000000000000000000" pitchFamily="2" charset="2"/>
              </a:rPr>
              <a:t>If CV is positive, it means performing the work costs less than planned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400" b="1" dirty="0">
                <a:sym typeface="Wingdings" panose="05000000000000000000" pitchFamily="2" charset="2"/>
              </a:rPr>
              <a:t>If CV = 0- no extra money is spent than what was allocated for the time period.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endParaRPr lang="en-US" sz="1400" b="1" dirty="0">
              <a:sym typeface="Wingdings" panose="05000000000000000000" pitchFamily="2" charset="2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endParaRPr lang="en-US" sz="1400" b="1" dirty="0"/>
          </a:p>
        </p:txBody>
      </p:sp>
      <p:sp>
        <p:nvSpPr>
          <p:cNvPr id="48133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1524000" y="6356351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3086100" cy="365125"/>
          </a:xfrm>
        </p:spPr>
        <p:txBody>
          <a:bodyPr/>
          <a:lstStyle/>
          <a:p>
            <a:pPr>
              <a:defRPr/>
            </a:pPr>
            <a:fld id="{C74B07C6-11A8-4378-B4E1-6924D9FD37C9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20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22283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74638"/>
            <a:ext cx="8305800" cy="715962"/>
          </a:xfrm>
        </p:spPr>
        <p:txBody>
          <a:bodyPr>
            <a:normAutofit/>
          </a:bodyPr>
          <a:lstStyle/>
          <a:p>
            <a:r>
              <a:rPr lang="en-US" dirty="0"/>
              <a:t>EVM calculations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143000"/>
            <a:ext cx="8458200" cy="5410200"/>
          </a:xfrm>
        </p:spPr>
        <p:txBody>
          <a:bodyPr/>
          <a:lstStyle/>
          <a:p>
            <a:pPr lvl="2">
              <a:lnSpc>
                <a:spcPct val="90000"/>
              </a:lnSpc>
            </a:pPr>
            <a:endParaRPr lang="en-US" sz="1400" b="1" u="sng" dirty="0"/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Schedule Variance (SV) for the first week = -$5000 </a:t>
            </a:r>
            <a:r>
              <a:rPr lang="en-US" sz="1400" b="1" u="sng" dirty="0">
                <a:sym typeface="Wingdings" panose="05000000000000000000" pitchFamily="2" charset="2"/>
              </a:rPr>
              <a:t></a:t>
            </a:r>
            <a:r>
              <a:rPr lang="en-US" sz="1400" b="1" u="sng" dirty="0"/>
              <a:t> ($5000 - $10,000) </a:t>
            </a:r>
            <a:r>
              <a:rPr lang="en-US" sz="1400" b="1" u="sng" dirty="0">
                <a:solidFill>
                  <a:srgbClr val="FF0000"/>
                </a:solidFill>
              </a:rPr>
              <a:t>[SV = EV – PV]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400" b="1" dirty="0">
                <a:sym typeface="Wingdings" panose="05000000000000000000" pitchFamily="2" charset="2"/>
              </a:rPr>
              <a:t>If SV is negative, it means performing the work took longer  than planned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400" b="1" dirty="0">
                <a:sym typeface="Wingdings" panose="05000000000000000000" pitchFamily="2" charset="2"/>
              </a:rPr>
              <a:t>If SV is positive, it means performing the work took less than planned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400" b="1" dirty="0">
                <a:sym typeface="Wingdings" panose="05000000000000000000" pitchFamily="2" charset="2"/>
              </a:rPr>
              <a:t>If SV is 0- work done within the allocated time period</a:t>
            </a:r>
          </a:p>
          <a:p>
            <a:pPr lvl="2">
              <a:lnSpc>
                <a:spcPct val="90000"/>
              </a:lnSpc>
            </a:pPr>
            <a:endParaRPr lang="en-US" sz="1400" b="1" u="sng" dirty="0"/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Cost performance index (CPI) for first week  =  33% </a:t>
            </a:r>
            <a:r>
              <a:rPr lang="en-US" sz="1400" b="1" u="sng" dirty="0">
                <a:sym typeface="Wingdings" panose="05000000000000000000" pitchFamily="2" charset="2"/>
              </a:rPr>
              <a:t> (</a:t>
            </a:r>
            <a:r>
              <a:rPr lang="en-US" sz="1400" b="1" u="sng" dirty="0"/>
              <a:t>5000/15,000) * 100% </a:t>
            </a:r>
            <a:r>
              <a:rPr lang="en-US" sz="1400" b="1" u="sng" dirty="0">
                <a:sym typeface="Wingdings" panose="05000000000000000000" pitchFamily="2" charset="2"/>
              </a:rPr>
              <a:t> over the budget </a:t>
            </a:r>
            <a:r>
              <a:rPr lang="en-US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[CPI = (EV / AC) * 100]</a:t>
            </a:r>
            <a:endParaRPr lang="en-US" sz="1400" b="1" u="sng" dirty="0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b="1" dirty="0">
                <a:sym typeface="Wingdings" panose="05000000000000000000" pitchFamily="2" charset="2"/>
              </a:rPr>
              <a:t>If CPI is equal to 1 or 100%, it means that the cost incurred is  what is in the budget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b="1" dirty="0">
                <a:sym typeface="Wingdings" panose="05000000000000000000" pitchFamily="2" charset="2"/>
              </a:rPr>
              <a:t>If CPI is less than 1 or less than 100%, it</a:t>
            </a:r>
            <a:r>
              <a:rPr lang="en-US" sz="1400" b="1" dirty="0"/>
              <a:t> means that the project is over the budget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b="1" dirty="0"/>
              <a:t> </a:t>
            </a:r>
            <a:r>
              <a:rPr lang="en-US" sz="1400" b="1" dirty="0">
                <a:sym typeface="Wingdings" panose="05000000000000000000" pitchFamily="2" charset="2"/>
              </a:rPr>
              <a:t>If CPI is greater than 1 or greater than 100%, it</a:t>
            </a:r>
            <a:r>
              <a:rPr lang="en-US" sz="1400" b="1" dirty="0"/>
              <a:t> means that the project is under the budget</a:t>
            </a:r>
          </a:p>
          <a:p>
            <a:pPr marL="630238" lvl="2" indent="0">
              <a:buNone/>
            </a:pPr>
            <a:r>
              <a:rPr lang="en-US" sz="1400" b="1" u="sng" dirty="0"/>
              <a:t> </a:t>
            </a:r>
          </a:p>
          <a:p>
            <a:pPr lvl="2">
              <a:lnSpc>
                <a:spcPct val="90000"/>
              </a:lnSpc>
            </a:pPr>
            <a:r>
              <a:rPr lang="en-US" sz="1400" b="1" u="sng" dirty="0"/>
              <a:t>Schedule performance index (SPI) for first week = 50% </a:t>
            </a:r>
            <a:r>
              <a:rPr lang="en-US" sz="1400" b="1" u="sng" dirty="0">
                <a:sym typeface="Wingdings" panose="05000000000000000000" pitchFamily="2" charset="2"/>
              </a:rPr>
              <a:t> </a:t>
            </a:r>
            <a:r>
              <a:rPr lang="en-US" sz="1400" b="1" u="sng" dirty="0"/>
              <a:t>($5,000/ $10000) * 100% </a:t>
            </a:r>
            <a:r>
              <a:rPr lang="en-US" sz="1400" b="1" u="sng" dirty="0">
                <a:sym typeface="Wingdings" panose="05000000000000000000" pitchFamily="2" charset="2"/>
              </a:rPr>
              <a:t></a:t>
            </a:r>
            <a:r>
              <a:rPr lang="en-US" sz="1400" b="1" u="sng" dirty="0"/>
              <a:t> behind the schedule </a:t>
            </a:r>
            <a:r>
              <a:rPr lang="en-US" sz="1400" b="1" u="sng" dirty="0">
                <a:solidFill>
                  <a:srgbClr val="FF0000"/>
                </a:solidFill>
              </a:rPr>
              <a:t>) [SPI = (EV / PV) * 100]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b="1" dirty="0">
                <a:sym typeface="Wingdings" panose="05000000000000000000" pitchFamily="2" charset="2"/>
              </a:rPr>
              <a:t>If SPI is equal to 1 or 100%, it means that the project so far is on schedule.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b="1" dirty="0">
                <a:sym typeface="Wingdings" panose="05000000000000000000" pitchFamily="2" charset="2"/>
              </a:rPr>
              <a:t>If SPI is less than 1 or less than 100%, it</a:t>
            </a:r>
            <a:r>
              <a:rPr lang="en-US" sz="1400" b="1" dirty="0"/>
              <a:t> means that the project is behind the schedule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b="1" dirty="0"/>
              <a:t> </a:t>
            </a:r>
            <a:r>
              <a:rPr lang="en-US" sz="1400" b="1" dirty="0">
                <a:sym typeface="Wingdings" panose="05000000000000000000" pitchFamily="2" charset="2"/>
              </a:rPr>
              <a:t>If SPI is greater than 1 or greater than 100%, it</a:t>
            </a:r>
            <a:r>
              <a:rPr lang="en-US" sz="1400" b="1" dirty="0"/>
              <a:t> means that the project is ahead of schedule</a:t>
            </a:r>
          </a:p>
          <a:p>
            <a:pPr marL="630238" lvl="2" indent="0">
              <a:buNone/>
            </a:pPr>
            <a:endParaRPr lang="en-US" sz="1400" b="1" u="sng" dirty="0"/>
          </a:p>
          <a:p>
            <a:pPr marL="630238" lvl="2" indent="0">
              <a:buNone/>
            </a:pPr>
            <a:endParaRPr lang="en-US" sz="1400" b="1" u="sng" dirty="0"/>
          </a:p>
          <a:p>
            <a:pPr marL="630238" lvl="2" indent="0">
              <a:buNone/>
            </a:pPr>
            <a:endParaRPr lang="en-US" sz="1400" b="1" u="sng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48133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1524000" y="6356351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3086100" cy="365125"/>
          </a:xfrm>
        </p:spPr>
        <p:txBody>
          <a:bodyPr/>
          <a:lstStyle/>
          <a:p>
            <a:pPr>
              <a:defRPr/>
            </a:pPr>
            <a:fld id="{C74B07C6-11A8-4378-B4E1-6924D9FD37C9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21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8265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7-4. Earned Value Calculations for One Activity After Week One</a:t>
            </a:r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1524000" y="6356351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3086100" cy="365125"/>
          </a:xfrm>
        </p:spPr>
        <p:txBody>
          <a:bodyPr/>
          <a:lstStyle/>
          <a:p>
            <a:pPr>
              <a:defRPr/>
            </a:pPr>
            <a:fld id="{449D5155-323A-470F-B813-49DA0B850D04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22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49157" name="Picture 7" descr="Tbl07-04.bmp"/>
          <p:cNvPicPr>
            <a:picLocks noChangeAspect="1"/>
          </p:cNvPicPr>
          <p:nvPr/>
        </p:nvPicPr>
        <p:blipFill>
          <a:blip r:embed="rId4"/>
          <a:srcRect t="7692"/>
          <a:stretch>
            <a:fillRect/>
          </a:stretch>
        </p:blipFill>
        <p:spPr bwMode="auto">
          <a:xfrm>
            <a:off x="1981201" y="1981200"/>
            <a:ext cx="817086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8826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74638"/>
            <a:ext cx="8305800" cy="715962"/>
          </a:xfrm>
        </p:spPr>
        <p:txBody>
          <a:bodyPr>
            <a:normAutofit/>
          </a:bodyPr>
          <a:lstStyle/>
          <a:p>
            <a:r>
              <a:rPr lang="en-US" dirty="0"/>
              <a:t>EVM calculations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143000"/>
            <a:ext cx="8458200" cy="5410200"/>
          </a:xfrm>
        </p:spPr>
        <p:txBody>
          <a:bodyPr/>
          <a:lstStyle/>
          <a:p>
            <a:pPr lvl="2">
              <a:lnSpc>
                <a:spcPct val="90000"/>
              </a:lnSpc>
            </a:pPr>
            <a:endParaRPr lang="en-US" sz="1400" b="1" u="sng" dirty="0"/>
          </a:p>
          <a:p>
            <a:pPr>
              <a:lnSpc>
                <a:spcPct val="90000"/>
              </a:lnSpc>
            </a:pPr>
            <a:r>
              <a:rPr lang="en-US" sz="2000" b="1" u="sng" dirty="0"/>
              <a:t>Budget at Completion (BAC)</a:t>
            </a:r>
          </a:p>
          <a:p>
            <a:pPr marL="630238" lvl="2" indent="0">
              <a:buNone/>
            </a:pPr>
            <a:r>
              <a:rPr lang="en-US" sz="1400" dirty="0">
                <a:highlight>
                  <a:srgbClr val="FFFF00"/>
                </a:highlight>
              </a:rPr>
              <a:t>Suppose for a project, the total budget is $100,000 for 12 months</a:t>
            </a:r>
            <a:r>
              <a:rPr lang="en-US" sz="1400" dirty="0"/>
              <a:t>.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dirty="0">
                <a:sym typeface="Wingdings" panose="05000000000000000000" pitchFamily="2" charset="2"/>
              </a:rPr>
              <a:t>BAC for the project is $100,000</a:t>
            </a:r>
          </a:p>
          <a:p>
            <a:pPr>
              <a:lnSpc>
                <a:spcPct val="90000"/>
              </a:lnSpc>
            </a:pPr>
            <a:r>
              <a:rPr lang="en-US" sz="2000" b="1" u="sng" dirty="0">
                <a:sym typeface="Wingdings" panose="05000000000000000000" pitchFamily="2" charset="2"/>
              </a:rPr>
              <a:t>Calculating the Estimate at Completion (EAC) after one week of project work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2000" dirty="0"/>
              <a:t> New estimated cost = </a:t>
            </a:r>
            <a:r>
              <a:rPr lang="en-US" sz="2000" u="sng" dirty="0"/>
              <a:t>$122, 308</a:t>
            </a:r>
          </a:p>
          <a:p>
            <a:pPr marL="109537" indent="0">
              <a:buNone/>
            </a:pPr>
            <a:r>
              <a:rPr lang="en-US" sz="1400" dirty="0"/>
              <a:t>      	   </a:t>
            </a:r>
            <a:r>
              <a:rPr lang="en-US" sz="1400" dirty="0">
                <a:highlight>
                  <a:srgbClr val="FFFF00"/>
                </a:highlight>
              </a:rPr>
              <a:t>For this project, CPI is 81.76%</a:t>
            </a:r>
          </a:p>
          <a:p>
            <a:pPr lvl="4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300" u="sng" dirty="0">
                <a:solidFill>
                  <a:srgbClr val="FF0000"/>
                </a:solidFill>
                <a:sym typeface="Wingdings" panose="05000000000000000000" pitchFamily="2" charset="2"/>
              </a:rPr>
              <a:t>EAC = (BAC/CPI) * 100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2000" dirty="0"/>
              <a:t>New estimated completion time = </a:t>
            </a:r>
            <a:r>
              <a:rPr lang="en-US" sz="2000" u="sng" dirty="0"/>
              <a:t>13 months (after one week of project  work)</a:t>
            </a:r>
          </a:p>
          <a:p>
            <a:pPr marL="109537" indent="0">
              <a:buNone/>
            </a:pPr>
            <a:r>
              <a:rPr lang="en-US" sz="2000" dirty="0"/>
              <a:t>              </a:t>
            </a:r>
            <a:r>
              <a:rPr lang="en-US" sz="1400" dirty="0"/>
              <a:t>For this project, the original time estimated was </a:t>
            </a:r>
            <a:r>
              <a:rPr lang="en-US" sz="1400" dirty="0">
                <a:highlight>
                  <a:srgbClr val="FFFF00"/>
                </a:highlight>
              </a:rPr>
              <a:t>12 months and SPI is 94.20</a:t>
            </a:r>
          </a:p>
          <a:p>
            <a:pPr lvl="4">
              <a:lnSpc>
                <a:spcPct val="90000"/>
              </a:lnSpc>
              <a:buFont typeface="Wingdings" panose="05000000000000000000" pitchFamily="2" charset="2"/>
              <a:buChar char="à"/>
            </a:pPr>
            <a:r>
              <a:rPr lang="en-US" sz="1400" dirty="0"/>
              <a:t> </a:t>
            </a:r>
            <a:r>
              <a:rPr lang="en-US" sz="1300" u="sng" dirty="0">
                <a:solidFill>
                  <a:srgbClr val="FF0000"/>
                </a:solidFill>
              </a:rPr>
              <a:t>Original time/ SPI* 100</a:t>
            </a:r>
          </a:p>
        </p:txBody>
      </p:sp>
      <p:sp>
        <p:nvSpPr>
          <p:cNvPr id="48133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1524000" y="6356351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Information Technology Project Management, Seventh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3086100" cy="365125"/>
          </a:xfrm>
        </p:spPr>
        <p:txBody>
          <a:bodyPr/>
          <a:lstStyle/>
          <a:p>
            <a:pPr>
              <a:defRPr/>
            </a:pPr>
            <a:fld id="{C74B07C6-11A8-4378-B4E1-6924D9FD37C9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23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53450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97F5-AF54-40FA-B7C4-4DDA9F3B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Earned Value Management (EVM)</a:t>
            </a:r>
            <a:endParaRPr lang="en-NZ" dirty="0"/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7505C600-8D18-46E8-8C25-A89C89D3E2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7402682"/>
              </p:ext>
            </p:extLst>
          </p:nvPr>
        </p:nvGraphicFramePr>
        <p:xfrm>
          <a:off x="2152650" y="1690688"/>
          <a:ext cx="78867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78974442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150596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78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Earned value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 =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PV of all completed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10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 variance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CV =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EV -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311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Schedule variance (SV)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 =</a:t>
                      </a:r>
                      <a:r>
                        <a:rPr lang="en-US" baseline="0" dirty="0"/>
                        <a:t> EV - PV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937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 performance index (CPI)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CPI</a:t>
                      </a:r>
                      <a:r>
                        <a:rPr lang="en-US" baseline="0" dirty="0"/>
                        <a:t> = </a:t>
                      </a:r>
                      <a:r>
                        <a:rPr lang="en-US" dirty="0"/>
                        <a:t>EV/AC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423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Schedule performance index (SPI)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  <a:r>
                        <a:rPr lang="en-US" baseline="0" dirty="0"/>
                        <a:t> = </a:t>
                      </a:r>
                      <a:r>
                        <a:rPr lang="en-US" dirty="0"/>
                        <a:t>EV/PV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86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Estimate at completion (EAC)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</a:t>
                      </a:r>
                      <a:r>
                        <a:rPr lang="en-US" baseline="0" dirty="0"/>
                        <a:t> = </a:t>
                      </a:r>
                      <a:r>
                        <a:rPr lang="en-US" dirty="0"/>
                        <a:t>BAC/CPI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7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Estimated to Complete (ETC)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ETC</a:t>
                      </a:r>
                      <a:r>
                        <a:rPr lang="en-US" baseline="0" dirty="0"/>
                        <a:t> = </a:t>
                      </a:r>
                      <a:r>
                        <a:rPr lang="en-US" dirty="0"/>
                        <a:t>EAC</a:t>
                      </a:r>
                      <a:r>
                        <a:rPr lang="en-US" baseline="0" dirty="0"/>
                        <a:t> - </a:t>
                      </a:r>
                      <a:r>
                        <a:rPr lang="en-US" dirty="0"/>
                        <a:t>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3120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5DF0DE-BBC1-4089-ACB7-5B4ACB9C594F}"/>
              </a:ext>
            </a:extLst>
          </p:cNvPr>
          <p:cNvSpPr txBox="1"/>
          <p:nvPr/>
        </p:nvSpPr>
        <p:spPr>
          <a:xfrm>
            <a:off x="3429000" y="472808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Table 7-4 Earned value formulas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4E215-F41E-422D-845B-05D8CA4CD959}"/>
              </a:ext>
            </a:extLst>
          </p:cNvPr>
          <p:cNvSpPr txBox="1"/>
          <p:nvPr/>
        </p:nvSpPr>
        <p:spPr>
          <a:xfrm>
            <a:off x="2152650" y="54597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9CF"/>
                </a:solidFill>
              </a:rPr>
              <a:t>BAC (Budget at completion): The original total budget</a:t>
            </a:r>
          </a:p>
        </p:txBody>
      </p:sp>
    </p:spTree>
    <p:extLst>
      <p:ext uri="{BB962C8B-B14F-4D97-AF65-F5344CB8AC3E}">
        <p14:creationId xmlns:p14="http://schemas.microsoft.com/office/powerpoint/2010/main" val="1084591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7D55-F77F-4100-98C6-60DD2702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use of EVM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00CBC-39C1-46C1-98C2-EF35BD1336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EVM is used worldwide, and it is particularly popular in the Middle East, South Asia, Canada, and Europe</a:t>
            </a:r>
          </a:p>
          <a:p>
            <a:pPr lvl="1"/>
            <a:r>
              <a:rPr lang="en-US" dirty="0"/>
              <a:t>Most countries require EVM for large </a:t>
            </a:r>
            <a:r>
              <a:rPr lang="en-US" dirty="0" err="1"/>
              <a:t>defence</a:t>
            </a:r>
            <a:r>
              <a:rPr lang="en-US" dirty="0"/>
              <a:t> or government projects, as shown in Figure 7-7</a:t>
            </a:r>
          </a:p>
          <a:p>
            <a:pPr lvl="1"/>
            <a:r>
              <a:rPr lang="en-US" dirty="0"/>
              <a:t>EVM is also used in private-industry sectors such as IT, construction, energy, and manufacturing. </a:t>
            </a:r>
          </a:p>
          <a:p>
            <a:pPr lvl="2"/>
            <a:r>
              <a:rPr lang="en-US" dirty="0"/>
              <a:t>However, most private companies have not yet applied EVM to their projects because management does not require it, feeling it is too complex and not cost-effective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03702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9D8C-A08D-4DE3-B465-EBBD6A22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CF18C-4869-4698-BFD2-CC5869815F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NZ" dirty="0"/>
              <a:t>Before next week’s class Chapter 11 Risk Management from </a:t>
            </a:r>
            <a:r>
              <a:rPr lang="en-NZ" i="1" dirty="0"/>
              <a:t>Information Technology Project Management</a:t>
            </a:r>
            <a:r>
              <a:rPr lang="en-NZ" dirty="0"/>
              <a:t> (2019) by Kathy Schwalbe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5941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Helia Core Medium"/>
        <a:ea typeface=""/>
        <a:cs typeface=""/>
      </a:majorFont>
      <a:minorFont>
        <a:latin typeface="Helia Core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C9A5102B5B754D8551214860F4B512" ma:contentTypeVersion="1" ma:contentTypeDescription="Create a new document." ma:contentTypeScope="" ma:versionID="4d5bcd3236515693560183c71834b9e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6687c2d9dede78e24b8f92e044f97f8b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B4A22-418F-4834-9543-17CB4C005035}">
  <ds:schemaRefs>
    <ds:schemaRef ds:uri="http://schemas.microsoft.com/sharepoint/v3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437E481-44FE-4ABD-B795-DBD8244C6C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729C2A-8111-486E-BE4C-72E5BC6D9D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21726</TotalTime>
  <Words>2071</Words>
  <Application>Microsoft Office PowerPoint</Application>
  <PresentationFormat>Widescreen</PresentationFormat>
  <Paragraphs>176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Century Gothic</vt:lpstr>
      <vt:lpstr>Palatino Linotype</vt:lpstr>
      <vt:lpstr>Wingdings</vt:lpstr>
      <vt:lpstr>Office Theme</vt:lpstr>
      <vt:lpstr>1_Office Theme</vt:lpstr>
      <vt:lpstr>COMP507 IT Project Management Cost Management</vt:lpstr>
      <vt:lpstr>What is Cost?</vt:lpstr>
      <vt:lpstr>What is Project Cost Management?</vt:lpstr>
      <vt:lpstr>Basic Principles of Cost Management: basic concepts</vt:lpstr>
      <vt:lpstr>Basic Principles of Cost Management: types of costs and benefits</vt:lpstr>
      <vt:lpstr>Basic Principles of Cost Management: additional concepts</vt:lpstr>
      <vt:lpstr>Planning Cost Management</vt:lpstr>
      <vt:lpstr>Estimating Costs: Types of Cost Estimates</vt:lpstr>
      <vt:lpstr>Cost Estimation Tools and Techniques</vt:lpstr>
      <vt:lpstr>Typical Problems with IT Cost Estimates</vt:lpstr>
      <vt:lpstr>How to Develop a Cost Estimate and Basis of Estimates (1 of 3)</vt:lpstr>
      <vt:lpstr>How to Develop a Cost Estimate and Basis of Estimates (2 of 3)</vt:lpstr>
      <vt:lpstr>How to Develop a Cost Estimate and Basis of Estimates (3 of 3) </vt:lpstr>
      <vt:lpstr>Determining the Budget (1 of 2) </vt:lpstr>
      <vt:lpstr>Determining the Budget (2 of 2)</vt:lpstr>
      <vt:lpstr>Controlling Costs</vt:lpstr>
      <vt:lpstr>Earned Value Management: a performance measurement technique (1 of 5)</vt:lpstr>
      <vt:lpstr>Earned Value Management (EVM)- M/C projects</vt:lpstr>
      <vt:lpstr>Earned Value Management Terms</vt:lpstr>
      <vt:lpstr>EVM calculations  </vt:lpstr>
      <vt:lpstr>EVM calculations </vt:lpstr>
      <vt:lpstr>Table 7-4. Earned Value Calculations for One Activity After Week One</vt:lpstr>
      <vt:lpstr>EVM calculations </vt:lpstr>
      <vt:lpstr>Earned Value Management (EVM)</vt:lpstr>
      <vt:lpstr>Global use of EVM</vt:lpstr>
      <vt:lpstr>Homework</vt:lpstr>
    </vt:vector>
  </TitlesOfParts>
  <Company>AUT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stephen.thorpe@aut.ac.nz</dc:creator>
  <cp:lastModifiedBy>Ramesh Lal</cp:lastModifiedBy>
  <cp:revision>303</cp:revision>
  <dcterms:created xsi:type="dcterms:W3CDTF">2015-01-26T22:08:43Z</dcterms:created>
  <dcterms:modified xsi:type="dcterms:W3CDTF">2024-09-25T22:54:30Z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0x0101004DC9A5102B5B754D8551214860F4B512</vt:lpwstr>
  </property>
</Properties>
</file>