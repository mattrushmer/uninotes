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6" r:id="rId17"/>
    <p:sldId id="291" r:id="rId18"/>
    <p:sldId id="277" r:id="rId19"/>
    <p:sldId id="278" r:id="rId20"/>
    <p:sldId id="280" r:id="rId21"/>
    <p:sldId id="281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3" r:id="rId30"/>
    <p:sldId id="294" r:id="rId31"/>
    <p:sldId id="295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>
      <p:cViewPr varScale="1">
        <p:scale>
          <a:sx n="112" d="100"/>
          <a:sy n="112" d="100"/>
        </p:scale>
        <p:origin x="55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30477" y="308228"/>
            <a:ext cx="10170795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84375" y="1385443"/>
            <a:ext cx="10388600" cy="4417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340608"/>
              <a:ext cx="9182100" cy="2146300"/>
            </a:xfrm>
            <a:custGeom>
              <a:avLst/>
              <a:gdLst/>
              <a:ahLst/>
              <a:cxnLst/>
              <a:rect l="l" t="t" r="r" b="b"/>
              <a:pathLst>
                <a:path w="9182100" h="2146300">
                  <a:moveTo>
                    <a:pt x="9182100" y="0"/>
                  </a:moveTo>
                  <a:lnTo>
                    <a:pt x="0" y="0"/>
                  </a:lnTo>
                  <a:lnTo>
                    <a:pt x="0" y="2145792"/>
                  </a:lnTo>
                  <a:lnTo>
                    <a:pt x="9182100" y="2145792"/>
                  </a:lnTo>
                  <a:lnTo>
                    <a:pt x="9182100" y="0"/>
                  </a:lnTo>
                  <a:close/>
                </a:path>
              </a:pathLst>
            </a:custGeom>
            <a:solidFill>
              <a:srgbClr val="F16421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7983" y="0"/>
              <a:ext cx="2008631" cy="19949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28243" y="3495878"/>
            <a:ext cx="7700009" cy="172547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4650"/>
              </a:lnSpc>
              <a:spcBef>
                <a:spcPts val="675"/>
              </a:spcBef>
            </a:pPr>
            <a:r>
              <a:rPr sz="4300" dirty="0">
                <a:solidFill>
                  <a:srgbClr val="FFFFFF"/>
                </a:solidFill>
              </a:rPr>
              <a:t>COMP507</a:t>
            </a:r>
            <a:r>
              <a:rPr sz="4300" spc="-145" dirty="0">
                <a:solidFill>
                  <a:srgbClr val="FFFFFF"/>
                </a:solidFill>
              </a:rPr>
              <a:t> </a:t>
            </a:r>
            <a:r>
              <a:rPr sz="4300" dirty="0">
                <a:solidFill>
                  <a:srgbClr val="FFFFFF"/>
                </a:solidFill>
              </a:rPr>
              <a:t>IT</a:t>
            </a:r>
            <a:r>
              <a:rPr sz="4300" spc="-155" dirty="0">
                <a:solidFill>
                  <a:srgbClr val="FFFFFF"/>
                </a:solidFill>
              </a:rPr>
              <a:t> </a:t>
            </a:r>
            <a:r>
              <a:rPr sz="4300" dirty="0">
                <a:solidFill>
                  <a:srgbClr val="FFFFFF"/>
                </a:solidFill>
              </a:rPr>
              <a:t>Project</a:t>
            </a:r>
            <a:r>
              <a:rPr sz="4300" spc="-155" dirty="0">
                <a:solidFill>
                  <a:srgbClr val="FFFFFF"/>
                </a:solidFill>
              </a:rPr>
              <a:t> </a:t>
            </a:r>
            <a:r>
              <a:rPr sz="4300" spc="-10" dirty="0">
                <a:solidFill>
                  <a:srgbClr val="FFFFFF"/>
                </a:solidFill>
              </a:rPr>
              <a:t>Management </a:t>
            </a:r>
            <a:r>
              <a:rPr sz="4300" dirty="0">
                <a:solidFill>
                  <a:srgbClr val="FFFFFF"/>
                </a:solidFill>
              </a:rPr>
              <a:t>Schedule</a:t>
            </a:r>
            <a:r>
              <a:rPr sz="4300" spc="-185" dirty="0">
                <a:solidFill>
                  <a:srgbClr val="FFFFFF"/>
                </a:solidFill>
              </a:rPr>
              <a:t> </a:t>
            </a:r>
            <a:r>
              <a:rPr sz="4300" spc="-10" dirty="0">
                <a:solidFill>
                  <a:srgbClr val="FFFFFF"/>
                </a:solidFill>
              </a:rPr>
              <a:t>Management</a:t>
            </a:r>
            <a:endParaRPr lang="en-NZ" sz="4300" spc="-10" dirty="0">
              <a:solidFill>
                <a:srgbClr val="FFFFFF"/>
              </a:solidFill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lang="en-NZ" sz="2400" b="0" dirty="0">
                <a:solidFill>
                  <a:srgbClr val="FFFFFF"/>
                </a:solidFill>
              </a:rPr>
              <a:t>Daniel</a:t>
            </a:r>
            <a:endParaRPr lang="en-NZ"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Learning</a:t>
            </a:r>
            <a:r>
              <a:rPr spc="-3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821560"/>
            <a:ext cx="9661525" cy="32054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9235">
              <a:lnSpc>
                <a:spcPts val="2590"/>
              </a:lnSpc>
              <a:spcBef>
                <a:spcPts val="42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Gantt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planning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schedule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project </a:t>
            </a:r>
            <a:r>
              <a:rPr sz="2400" dirty="0">
                <a:latin typeface="Calibri"/>
                <a:cs typeface="Calibri"/>
              </a:rPr>
              <a:t>(executing,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lang="en-NZ" sz="2400" spc="-65" dirty="0">
                <a:latin typeface="Calibri"/>
                <a:cs typeface="Calibri"/>
              </a:rPr>
              <a:t>M/C</a:t>
            </a:r>
            <a:r>
              <a:rPr sz="2400" spc="-10" dirty="0">
                <a:latin typeface="Calibri"/>
                <a:cs typeface="Calibri"/>
              </a:rPr>
              <a:t>)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great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reporting.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milestones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(planning,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lang="en-NZ" sz="2400" dirty="0">
                <a:latin typeface="Calibri"/>
                <a:cs typeface="Calibri"/>
              </a:rPr>
              <a:t>/</a:t>
            </a:r>
            <a:r>
              <a:rPr lang="en-NZ" sz="2400" spc="-1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Find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critical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(planning,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controlling)</a:t>
            </a:r>
            <a:endParaRPr sz="2400" dirty="0">
              <a:latin typeface="Calibri"/>
              <a:cs typeface="Calibri"/>
            </a:endParaRPr>
          </a:p>
          <a:p>
            <a:pPr marL="240665" indent="-227965">
              <a:lnSpc>
                <a:spcPts val="2735"/>
              </a:lnSpc>
              <a:spcBef>
                <a:spcPts val="71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Explore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Evaluation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Review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Technique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(PERT)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schedule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development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(planning</a:t>
            </a:r>
            <a:r>
              <a:rPr lang="en-NZ" sz="2400" spc="-10" dirty="0">
                <a:latin typeface="Calibri"/>
                <a:cs typeface="Calibri"/>
              </a:rPr>
              <a:t>/ M/C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41300" marR="793750" indent="-229235">
              <a:lnSpc>
                <a:spcPts val="2590"/>
              </a:lnSpc>
              <a:spcBef>
                <a:spcPts val="105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Describe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software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 </a:t>
            </a:r>
            <a:r>
              <a:rPr sz="2400" spc="-10" dirty="0">
                <a:latin typeface="Calibri"/>
                <a:cs typeface="Calibri"/>
              </a:rPr>
              <a:t>management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470103"/>
            <a:ext cx="95065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100" dirty="0"/>
              <a:t> </a:t>
            </a:r>
            <a:r>
              <a:rPr dirty="0"/>
              <a:t>Schedule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393884"/>
            <a:ext cx="10140315" cy="3944028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35"/>
              </a:spcBef>
            </a:pP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processes: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  <a:buClr>
                <a:srgbClr val="F5821F"/>
              </a:buClr>
              <a:tabLst>
                <a:tab pos="469900" algn="l"/>
              </a:tabLst>
            </a:pPr>
            <a:r>
              <a:rPr lang="en-NZ" sz="2000" b="1" dirty="0">
                <a:latin typeface="Calibri"/>
                <a:cs typeface="Calibri"/>
              </a:rPr>
              <a:t>1. </a:t>
            </a:r>
            <a:r>
              <a:rPr sz="2000" b="1" dirty="0">
                <a:highlight>
                  <a:srgbClr val="FFFF00"/>
                </a:highlight>
                <a:latin typeface="Calibri"/>
                <a:cs typeface="Calibri"/>
              </a:rPr>
              <a:t>Planning</a:t>
            </a:r>
            <a:r>
              <a:rPr sz="2000" b="1" spc="-6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b="1" spc="-10" dirty="0">
                <a:highlight>
                  <a:srgbClr val="FFFF00"/>
                </a:highlight>
                <a:latin typeface="Calibri"/>
                <a:cs typeface="Calibri"/>
              </a:rPr>
              <a:t>schedule</a:t>
            </a:r>
            <a:endParaRPr sz="20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698500" marR="124460" lvl="1" indent="-228600">
              <a:lnSpc>
                <a:spcPts val="1920"/>
              </a:lnSpc>
              <a:spcBef>
                <a:spcPts val="535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b="1" dirty="0">
                <a:latin typeface="Calibri"/>
                <a:cs typeface="Calibri"/>
              </a:rPr>
              <a:t>Defining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activities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Based</a:t>
            </a:r>
            <a:r>
              <a:rPr sz="2000" b="1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000" b="1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WBS)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identifying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specific activities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team </a:t>
            </a:r>
            <a:r>
              <a:rPr sz="2000" dirty="0">
                <a:latin typeface="Calibri"/>
                <a:cs typeface="Calibri"/>
              </a:rPr>
              <a:t>members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stakeholders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perform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deliverables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spcBef>
                <a:spcPts val="4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lang="en-NZ" sz="2000" b="1" dirty="0">
                <a:latin typeface="Calibri"/>
                <a:cs typeface="Calibri"/>
              </a:rPr>
              <a:t>Estimating</a:t>
            </a:r>
            <a:r>
              <a:rPr lang="en-NZ" sz="2000" b="1" spc="-80" dirty="0">
                <a:latin typeface="Calibri"/>
                <a:cs typeface="Calibri"/>
              </a:rPr>
              <a:t> </a:t>
            </a:r>
            <a:r>
              <a:rPr lang="en-NZ" sz="2000" b="1" dirty="0">
                <a:latin typeface="Calibri"/>
                <a:cs typeface="Calibri"/>
              </a:rPr>
              <a:t>activity</a:t>
            </a:r>
            <a:r>
              <a:rPr lang="en-NZ" sz="2000" b="1" spc="-60" dirty="0">
                <a:latin typeface="Calibri"/>
                <a:cs typeface="Calibri"/>
              </a:rPr>
              <a:t> </a:t>
            </a:r>
            <a:r>
              <a:rPr lang="en-NZ" sz="2000" b="1" dirty="0">
                <a:latin typeface="Calibri"/>
                <a:cs typeface="Calibri"/>
              </a:rPr>
              <a:t>durations:</a:t>
            </a:r>
            <a:r>
              <a:rPr lang="en-NZ" sz="2000" b="1" spc="-5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estimating</a:t>
            </a:r>
            <a:r>
              <a:rPr lang="en-NZ" sz="2000" spc="-1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the</a:t>
            </a:r>
            <a:r>
              <a:rPr lang="en-NZ" sz="2000" spc="-4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time</a:t>
            </a:r>
            <a:r>
              <a:rPr lang="en-NZ" sz="2000" spc="-2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needed</a:t>
            </a:r>
            <a:r>
              <a:rPr lang="en-NZ" sz="2000" spc="-3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to</a:t>
            </a:r>
            <a:r>
              <a:rPr lang="en-NZ" sz="2000" spc="-3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complete</a:t>
            </a:r>
            <a:r>
              <a:rPr lang="en-NZ" sz="2000" spc="-3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individual</a:t>
            </a:r>
            <a:r>
              <a:rPr lang="en-NZ" sz="2000" spc="-35" dirty="0">
                <a:latin typeface="Calibri"/>
                <a:cs typeface="Calibri"/>
              </a:rPr>
              <a:t> </a:t>
            </a:r>
            <a:r>
              <a:rPr lang="en-NZ" sz="2000" spc="-10" dirty="0">
                <a:latin typeface="Calibri"/>
                <a:cs typeface="Calibri"/>
              </a:rPr>
              <a:t>activities</a:t>
            </a:r>
            <a:endParaRPr lang="en-NZ" sz="20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4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b="1" dirty="0">
                <a:latin typeface="Calibri"/>
                <a:cs typeface="Calibri"/>
              </a:rPr>
              <a:t>Sequencing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activities: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identifying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documenting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relationships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activities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lnSpc>
                <a:spcPts val="2160"/>
              </a:lnSpc>
              <a:spcBef>
                <a:spcPts val="15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b="1" spc="-10" dirty="0">
                <a:latin typeface="Calibri"/>
                <a:cs typeface="Calibri"/>
              </a:rPr>
              <a:t>Estimating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activity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resources: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estimating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resources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team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</a:t>
            </a:r>
            <a:endParaRPr sz="2000" dirty="0">
              <a:latin typeface="Calibri"/>
              <a:cs typeface="Calibri"/>
            </a:endParaRPr>
          </a:p>
          <a:p>
            <a:pPr marL="698500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perform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activities</a:t>
            </a:r>
            <a:endParaRPr sz="2000" dirty="0">
              <a:latin typeface="Calibri"/>
              <a:cs typeface="Calibri"/>
            </a:endParaRPr>
          </a:p>
          <a:p>
            <a:pPr marL="698500" marR="389890" lvl="1" indent="-228600">
              <a:lnSpc>
                <a:spcPct val="80000"/>
              </a:lnSpc>
              <a:spcBef>
                <a:spcPts val="50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b="1" dirty="0">
                <a:latin typeface="Calibri"/>
                <a:cs typeface="Calibri"/>
              </a:rPr>
              <a:t>Developing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schedule: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activities,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sequences</a:t>
            </a:r>
            <a:r>
              <a:rPr lang="en-NZ" sz="2000" dirty="0">
                <a:latin typeface="Calibri"/>
                <a:cs typeface="Calibri"/>
              </a:rPr>
              <a:t>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estimated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durations, </a:t>
            </a:r>
            <a:r>
              <a:rPr sz="2000" dirty="0">
                <a:latin typeface="Calibri"/>
                <a:cs typeface="Calibri"/>
              </a:rPr>
              <a:t>including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resource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estimates,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schedule.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  <a:buClr>
                <a:srgbClr val="F5821F"/>
              </a:buClr>
              <a:tabLst>
                <a:tab pos="469900" algn="l"/>
              </a:tabLst>
            </a:pPr>
            <a:r>
              <a:rPr lang="en-NZ" sz="2000" b="1" dirty="0">
                <a:latin typeface="Calibri"/>
                <a:cs typeface="Calibri"/>
              </a:rPr>
              <a:t>2. </a:t>
            </a:r>
            <a:r>
              <a:rPr lang="en-NZ" sz="2000" b="1" dirty="0">
                <a:highlight>
                  <a:srgbClr val="FFFF00"/>
                </a:highlight>
                <a:latin typeface="Calibri"/>
                <a:cs typeface="Calibri"/>
              </a:rPr>
              <a:t>Set</a:t>
            </a:r>
            <a:r>
              <a:rPr lang="en-NZ" sz="2000" b="1" spc="-4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NZ" sz="2000" b="1" dirty="0">
                <a:highlight>
                  <a:srgbClr val="FFFF00"/>
                </a:highlight>
                <a:latin typeface="Calibri"/>
                <a:cs typeface="Calibri"/>
              </a:rPr>
              <a:t>the</a:t>
            </a:r>
            <a:r>
              <a:rPr lang="en-NZ" sz="2000" b="1" spc="-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NZ" sz="2000" b="1" dirty="0">
                <a:highlight>
                  <a:srgbClr val="FFFF00"/>
                </a:highlight>
                <a:latin typeface="Calibri"/>
                <a:cs typeface="Calibri"/>
              </a:rPr>
              <a:t>baseline</a:t>
            </a:r>
            <a:r>
              <a:rPr lang="en-NZ" sz="2000" b="1" spc="-3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NZ" sz="2000" b="1" dirty="0">
                <a:highlight>
                  <a:srgbClr val="FFFF00"/>
                </a:highlight>
                <a:latin typeface="Calibri"/>
                <a:cs typeface="Calibri"/>
              </a:rPr>
              <a:t>to</a:t>
            </a:r>
            <a:r>
              <a:rPr lang="en-NZ" sz="2000" b="1" spc="-3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NZ" sz="2000" b="1" spc="-10" dirty="0">
                <a:highlight>
                  <a:srgbClr val="FFFF00"/>
                </a:highlight>
                <a:latin typeface="Calibri"/>
                <a:cs typeface="Calibri"/>
              </a:rPr>
              <a:t>execute</a:t>
            </a:r>
            <a:r>
              <a:rPr lang="en-NZ" sz="2000" b="1" spc="-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NZ" sz="2000" b="1" dirty="0">
                <a:highlight>
                  <a:srgbClr val="FFFF00"/>
                </a:highlight>
                <a:latin typeface="Calibri"/>
                <a:cs typeface="Calibri"/>
              </a:rPr>
              <a:t>the</a:t>
            </a:r>
            <a:r>
              <a:rPr lang="en-NZ" sz="2000" b="1" spc="-2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NZ" sz="2000" b="1" spc="-10" dirty="0">
                <a:highlight>
                  <a:srgbClr val="FFFF00"/>
                </a:highlight>
                <a:latin typeface="Calibri"/>
                <a:cs typeface="Calibri"/>
              </a:rPr>
              <a:t>schedule (google how to set the baseline)</a:t>
            </a:r>
            <a:endParaRPr lang="en-NZ" sz="20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  <a:buClr>
                <a:srgbClr val="F5821F"/>
              </a:buClr>
              <a:tabLst>
                <a:tab pos="469900" algn="l"/>
              </a:tabLst>
            </a:pPr>
            <a:r>
              <a:rPr lang="en-NZ" sz="2000" b="1" spc="-10" dirty="0">
                <a:latin typeface="Calibri"/>
                <a:cs typeface="Calibri"/>
              </a:rPr>
              <a:t>3. </a:t>
            </a:r>
            <a:r>
              <a:rPr sz="2000" b="1" spc="-10" dirty="0">
                <a:highlight>
                  <a:srgbClr val="FFFF00"/>
                </a:highlight>
                <a:latin typeface="Calibri"/>
                <a:cs typeface="Calibri"/>
              </a:rPr>
              <a:t>Controlling</a:t>
            </a:r>
            <a:r>
              <a:rPr sz="2000" b="1" spc="-6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b="1" dirty="0">
                <a:highlight>
                  <a:srgbClr val="FFFF00"/>
                </a:highlight>
                <a:latin typeface="Calibri"/>
                <a:cs typeface="Calibri"/>
              </a:rPr>
              <a:t>the</a:t>
            </a:r>
            <a:r>
              <a:rPr sz="2000" b="1" spc="-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b="1" dirty="0">
                <a:highlight>
                  <a:srgbClr val="FFFF00"/>
                </a:highlight>
                <a:latin typeface="Calibri"/>
                <a:cs typeface="Calibri"/>
              </a:rPr>
              <a:t>schedule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controlling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managing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schedule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395427"/>
            <a:ext cx="74961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Planning</a:t>
            </a:r>
            <a:r>
              <a:rPr spc="-75" dirty="0"/>
              <a:t> </a:t>
            </a:r>
            <a:r>
              <a:rPr dirty="0"/>
              <a:t>Schedule</a:t>
            </a:r>
            <a:r>
              <a:rPr spc="-6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117475"/>
            <a:ext cx="7934959" cy="495681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894"/>
              </a:spcBef>
            </a:pPr>
            <a:r>
              <a:rPr lang="en-NZ"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 plan and work according to the schedule need a schedule management plan </a:t>
            </a:r>
            <a:endParaRPr sz="1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schedule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management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plan </a:t>
            </a:r>
            <a:r>
              <a:rPr sz="1800" spc="-10" dirty="0">
                <a:latin typeface="Calibri"/>
                <a:cs typeface="Calibri"/>
              </a:rPr>
              <a:t>includes:</a:t>
            </a:r>
            <a:endParaRPr sz="1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75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1800" b="1" dirty="0">
                <a:latin typeface="Calibri"/>
                <a:cs typeface="Calibri"/>
              </a:rPr>
              <a:t>Project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schedule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model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development: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(the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WBS)</a:t>
            </a:r>
            <a:endParaRPr sz="18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30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activities,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estimates,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dependencies,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2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planning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information</a:t>
            </a:r>
            <a:endParaRPr sz="16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scheduling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methodology</a:t>
            </a:r>
            <a:endParaRPr sz="18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25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dirty="0">
                <a:latin typeface="Calibri"/>
                <a:cs typeface="Calibri"/>
              </a:rPr>
              <a:t>Critical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path,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milestones</a:t>
            </a:r>
            <a:endParaRPr sz="16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1800" b="1" dirty="0">
                <a:latin typeface="Calibri"/>
                <a:cs typeface="Calibri"/>
              </a:rPr>
              <a:t>Level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accuracy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units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measure</a:t>
            </a:r>
            <a:endParaRPr sz="18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20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dirty="0">
                <a:latin typeface="Calibri"/>
                <a:cs typeface="Calibri"/>
              </a:rPr>
              <a:t>How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accurate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lang="en-NZ" sz="1600" spc="-45" dirty="0">
                <a:latin typeface="Calibri"/>
                <a:cs typeface="Calibri"/>
              </a:rPr>
              <a:t>are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estimates</a:t>
            </a:r>
            <a:r>
              <a:rPr lang="en-NZ" sz="1600" spc="-10" dirty="0">
                <a:latin typeface="Calibri"/>
                <a:cs typeface="Calibri"/>
              </a:rPr>
              <a:t> to be</a:t>
            </a:r>
            <a:r>
              <a:rPr sz="1600" spc="-10" dirty="0">
                <a:latin typeface="Calibri"/>
                <a:cs typeface="Calibri"/>
              </a:rPr>
              <a:t>: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hours,</a:t>
            </a:r>
            <a:r>
              <a:rPr sz="1600" spc="-2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day</a:t>
            </a:r>
            <a:r>
              <a:rPr lang="en-NZ" sz="1600" dirty="0">
                <a:highlight>
                  <a:srgbClr val="FFFF00"/>
                </a:highlight>
                <a:latin typeface="Calibri"/>
                <a:cs typeface="Calibri"/>
              </a:rPr>
              <a:t>,</a:t>
            </a:r>
            <a:r>
              <a:rPr sz="1600" spc="-5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or</a:t>
            </a:r>
            <a:r>
              <a:rPr sz="1600" spc="-3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another</a:t>
            </a:r>
            <a:r>
              <a:rPr sz="1600" spc="-3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spc="-20" dirty="0">
                <a:highlight>
                  <a:srgbClr val="FFFF00"/>
                </a:highlight>
                <a:latin typeface="Calibri"/>
                <a:cs typeface="Calibri"/>
              </a:rPr>
              <a:t>unit</a:t>
            </a:r>
            <a:endParaRPr sz="16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1800" b="1" dirty="0">
                <a:latin typeface="Calibri"/>
                <a:cs typeface="Calibri"/>
              </a:rPr>
              <a:t>Control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thresholds</a:t>
            </a:r>
            <a:endParaRPr sz="18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30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spc="-10" dirty="0">
                <a:latin typeface="Calibri"/>
                <a:cs typeface="Calibri"/>
              </a:rPr>
              <a:t>Variance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threshold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monitoring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schedule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</a:t>
            </a:r>
            <a:endParaRPr sz="16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1800" b="1" dirty="0">
                <a:latin typeface="Calibri"/>
                <a:cs typeface="Calibri"/>
              </a:rPr>
              <a:t>Rules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performance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measurement</a:t>
            </a:r>
            <a:endParaRPr sz="18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20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dirty="0">
                <a:latin typeface="Calibri"/>
                <a:cs typeface="Calibri"/>
              </a:rPr>
              <a:t>Must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baseline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done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every</a:t>
            </a:r>
            <a:r>
              <a:rPr sz="1600" spc="-10" dirty="0">
                <a:latin typeface="Calibri"/>
                <a:cs typeface="Calibri"/>
              </a:rPr>
              <a:t> day/week/month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reporting.</a:t>
            </a:r>
            <a:endParaRPr sz="16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15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dirty="0">
                <a:latin typeface="Calibri"/>
                <a:cs typeface="Calibri"/>
              </a:rPr>
              <a:t>Critical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path,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milestones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monitoring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endParaRPr sz="16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Earned</a:t>
            </a:r>
            <a:r>
              <a:rPr sz="1600" spc="-5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spc="-10" dirty="0">
                <a:highlight>
                  <a:srgbClr val="FFFF00"/>
                </a:highlight>
                <a:latin typeface="Calibri"/>
                <a:cs typeface="Calibri"/>
              </a:rPr>
              <a:t>Value</a:t>
            </a:r>
            <a:r>
              <a:rPr sz="1600" spc="-5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spc="-10" dirty="0">
                <a:highlight>
                  <a:srgbClr val="FFFF00"/>
                </a:highlight>
                <a:latin typeface="Calibri"/>
                <a:cs typeface="Calibri"/>
              </a:rPr>
              <a:t>Management</a:t>
            </a:r>
            <a:r>
              <a:rPr sz="1600" spc="-6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(EVM)</a:t>
            </a:r>
            <a:r>
              <a:rPr sz="1600" spc="-3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can</a:t>
            </a:r>
            <a:r>
              <a:rPr sz="1600" spc="-5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be</a:t>
            </a:r>
            <a:r>
              <a:rPr sz="1600" spc="-5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spc="-20" dirty="0">
                <a:highlight>
                  <a:srgbClr val="FFFF00"/>
                </a:highlight>
                <a:latin typeface="Calibri"/>
                <a:cs typeface="Calibri"/>
              </a:rPr>
              <a:t>used</a:t>
            </a:r>
            <a:endParaRPr sz="16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1800" b="1" dirty="0">
                <a:latin typeface="Calibri"/>
                <a:cs typeface="Calibri"/>
              </a:rPr>
              <a:t>Reporting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formats</a:t>
            </a:r>
            <a:endParaRPr sz="1800" dirty="0">
              <a:latin typeface="Calibri"/>
              <a:cs typeface="Calibri"/>
            </a:endParaRPr>
          </a:p>
          <a:p>
            <a:pPr marL="1212215" lvl="2" indent="-285115">
              <a:lnSpc>
                <a:spcPct val="100000"/>
              </a:lnSpc>
              <a:spcBef>
                <a:spcPts val="655"/>
              </a:spcBef>
              <a:buClr>
                <a:srgbClr val="F5821F"/>
              </a:buClr>
              <a:buSzPct val="125000"/>
              <a:buFont typeface="Arial"/>
              <a:buChar char="•"/>
              <a:tabLst>
                <a:tab pos="1212215" algn="l"/>
              </a:tabLst>
            </a:pPr>
            <a:r>
              <a:rPr sz="1600" dirty="0">
                <a:latin typeface="Calibri"/>
                <a:cs typeface="Calibri"/>
              </a:rPr>
              <a:t>format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frequency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reports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687188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lang="en-NZ" sz="2400" dirty="0"/>
              <a:t>WBS- D</a:t>
            </a:r>
            <a:r>
              <a:rPr sz="2400" dirty="0" err="1"/>
              <a:t>efining</a:t>
            </a:r>
            <a:r>
              <a:rPr sz="2400" spc="-90" dirty="0"/>
              <a:t> </a:t>
            </a:r>
            <a:r>
              <a:rPr sz="2400" spc="-10" dirty="0"/>
              <a:t>Activities</a:t>
            </a:r>
            <a:r>
              <a:rPr lang="en-NZ" sz="2400" spc="-10" dirty="0"/>
              <a:t>/Task</a:t>
            </a:r>
            <a:endParaRPr sz="24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539366" y="1732533"/>
            <a:ext cx="9601835" cy="473232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43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lang="en-NZ" dirty="0">
                <a:latin typeface="Calibri"/>
                <a:cs typeface="Calibri"/>
              </a:rPr>
              <a:t>WBS provides a model to break the project work into phases and individual pieces of </a:t>
            </a:r>
            <a:r>
              <a:rPr lang="en-NZ" u="sng" dirty="0">
                <a:latin typeface="Calibri"/>
                <a:cs typeface="Calibri"/>
              </a:rPr>
              <a:t>independent </a:t>
            </a:r>
            <a:r>
              <a:rPr lang="en-NZ" dirty="0">
                <a:latin typeface="Calibri"/>
                <a:cs typeface="Calibri"/>
              </a:rPr>
              <a:t>work known as </a:t>
            </a:r>
            <a:r>
              <a:rPr lang="en-NZ" b="1" u="sng" dirty="0">
                <a:latin typeface="Calibri"/>
                <a:cs typeface="Calibri"/>
              </a:rPr>
              <a:t>activity or task </a:t>
            </a:r>
          </a:p>
          <a:p>
            <a:pPr marL="241300" marR="5080" indent="-229235">
              <a:lnSpc>
                <a:spcPct val="90000"/>
              </a:lnSpc>
              <a:spcBef>
                <a:spcPts val="43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dirty="0">
                <a:latin typeface="Calibri"/>
                <a:cs typeface="Calibri"/>
              </a:rPr>
              <a:t>An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task</a:t>
            </a:r>
            <a:r>
              <a:rPr lang="en-NZ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 called a </a:t>
            </a:r>
            <a:r>
              <a:rPr lang="en-NZ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 package </a:t>
            </a:r>
            <a:r>
              <a:rPr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expected</a:t>
            </a:r>
            <a:r>
              <a:rPr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duration,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cost,</a:t>
            </a:r>
            <a:r>
              <a:rPr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resource</a:t>
            </a:r>
            <a:r>
              <a:rPr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requirements</a:t>
            </a:r>
            <a:r>
              <a:rPr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lang="en-NZ" u="sng" spc="-10" dirty="0">
              <a:uFill>
                <a:solidFill>
                  <a:srgbClr val="000000"/>
                </a:solidFill>
              </a:u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200" dirty="0">
                <a:latin typeface="Calibri"/>
                <a:cs typeface="Calibri"/>
              </a:rPr>
              <a:t>1</a:t>
            </a:r>
            <a:r>
              <a:rPr lang="en-NZ" sz="1400" b="1" dirty="0">
                <a:latin typeface="Calibri"/>
                <a:cs typeface="Calibri"/>
              </a:rPr>
              <a:t>. Planning phase       </a:t>
            </a:r>
            <a:r>
              <a:rPr lang="en-NZ" sz="1400" b="1" dirty="0">
                <a:highlight>
                  <a:srgbClr val="FFFF00"/>
                </a:highlight>
                <a:latin typeface="Calibri"/>
                <a:cs typeface="Calibri"/>
              </a:rPr>
              <a:t>(a phase in the project)</a:t>
            </a:r>
          </a:p>
          <a:p>
            <a:pPr marL="12700">
              <a:lnSpc>
                <a:spcPct val="100000"/>
              </a:lnSpc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      </a:t>
            </a:r>
            <a:r>
              <a:rPr lang="en-NZ" sz="1200" dirty="0">
                <a:highlight>
                  <a:srgbClr val="00FF00"/>
                </a:highlight>
                <a:latin typeface="Calibri"/>
                <a:cs typeface="Calibri"/>
              </a:rPr>
              <a:t>1.1 Project initiation </a:t>
            </a:r>
            <a:r>
              <a:rPr lang="en-NZ" sz="1200" dirty="0">
                <a:highlight>
                  <a:srgbClr val="FFFF00"/>
                </a:highlight>
                <a:latin typeface="Calibri"/>
                <a:cs typeface="Calibri"/>
              </a:rPr>
              <a:t>(a main task but broken into sub-tasks. It is an independent task compared to a task at its level i.e., 1.2. the  duration </a:t>
            </a:r>
          </a:p>
          <a:p>
            <a:pPr marL="12700">
              <a:lnSpc>
                <a:spcPct val="100000"/>
              </a:lnSpc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	</a:t>
            </a:r>
            <a:r>
              <a:rPr lang="en-NZ" sz="1200" dirty="0">
                <a:latin typeface="Calibri"/>
                <a:cs typeface="Calibri"/>
              </a:rPr>
              <a:t>   1.1.1 stakeholder register </a:t>
            </a:r>
            <a:r>
              <a:rPr lang="en-NZ" sz="1200" dirty="0">
                <a:highlight>
                  <a:srgbClr val="FFFF00"/>
                </a:highlight>
                <a:latin typeface="Calibri"/>
                <a:cs typeface="Calibri"/>
              </a:rPr>
              <a:t>(a sub-task or a work package, independent of the two sub-tasks and will have a duration, cost, and resource requirement)</a:t>
            </a:r>
          </a:p>
          <a:p>
            <a:pPr marL="12700">
              <a:lnSpc>
                <a:spcPct val="100000"/>
              </a:lnSpc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  	</a:t>
            </a:r>
            <a:r>
              <a:rPr lang="en-NZ" sz="1200" dirty="0">
                <a:latin typeface="Calibri"/>
                <a:cs typeface="Calibri"/>
              </a:rPr>
              <a:t>   1.1.2 project charter (</a:t>
            </a:r>
            <a:r>
              <a:rPr lang="en-NZ" sz="1200" dirty="0">
                <a:highlight>
                  <a:srgbClr val="FFFF00"/>
                </a:highlight>
                <a:latin typeface="Calibri"/>
                <a:cs typeface="Calibri"/>
              </a:rPr>
              <a:t>(a sub-task or a work package that will have a duration, cost, and resource requirement)</a:t>
            </a:r>
            <a:r>
              <a:rPr lang="en-NZ" sz="1200" dirty="0">
                <a:latin typeface="Calibri"/>
                <a:cs typeface="Calibri"/>
              </a:rPr>
              <a:t>     </a:t>
            </a:r>
            <a:r>
              <a:rPr lang="en-NZ" sz="1400" dirty="0">
                <a:latin typeface="Calibri"/>
                <a:cs typeface="Calibri"/>
              </a:rPr>
              <a:t>    </a:t>
            </a:r>
          </a:p>
          <a:p>
            <a:pPr marL="12700">
              <a:lnSpc>
                <a:spcPct val="100000"/>
              </a:lnSpc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	   </a:t>
            </a:r>
            <a:r>
              <a:rPr lang="en-NZ" sz="1200" dirty="0">
                <a:latin typeface="Calibri"/>
                <a:cs typeface="Calibri"/>
              </a:rPr>
              <a:t>1.1.3 Business case </a:t>
            </a:r>
            <a:r>
              <a:rPr lang="en-NZ" sz="1200" dirty="0">
                <a:highlight>
                  <a:srgbClr val="FFFF00"/>
                </a:highlight>
                <a:latin typeface="Calibri"/>
                <a:cs typeface="Calibri"/>
              </a:rPr>
              <a:t>(a sub-task or a work package that will have a duration, cost, and resource requirement) </a:t>
            </a:r>
            <a:r>
              <a:rPr lang="en-NZ" sz="1400" dirty="0">
                <a:latin typeface="Calibri"/>
                <a:cs typeface="Calibri"/>
              </a:rPr>
              <a:t>	</a:t>
            </a:r>
          </a:p>
          <a:p>
            <a:pPr marL="12700" lvl="3"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200" dirty="0">
                <a:latin typeface="Calibri"/>
                <a:cs typeface="Calibri"/>
              </a:rPr>
              <a:t>      </a:t>
            </a:r>
            <a:r>
              <a:rPr lang="en-NZ" sz="1200" dirty="0">
                <a:highlight>
                  <a:srgbClr val="00FF00"/>
                </a:highlight>
                <a:latin typeface="Calibri"/>
                <a:cs typeface="Calibri"/>
              </a:rPr>
              <a:t>1.2 Develop project plans </a:t>
            </a:r>
          </a:p>
          <a:p>
            <a:pPr marL="12700" lvl="3"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	</a:t>
            </a:r>
            <a:r>
              <a:rPr lang="en-NZ" sz="1200" dirty="0">
                <a:latin typeface="Calibri"/>
                <a:cs typeface="Calibri"/>
              </a:rPr>
              <a:t>   1.2.1 stakeholder management strategy </a:t>
            </a:r>
          </a:p>
          <a:p>
            <a:pPr marL="12700" lvl="3"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200" dirty="0">
                <a:latin typeface="Calibri"/>
                <a:cs typeface="Calibri"/>
              </a:rPr>
              <a:t>          1.2.2 risk register </a:t>
            </a:r>
          </a:p>
          <a:p>
            <a:pPr marL="12700" lvl="3"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200" dirty="0">
                <a:latin typeface="Calibri"/>
                <a:cs typeface="Calibri"/>
              </a:rPr>
              <a:t>          1.2.3 issue register </a:t>
            </a:r>
          </a:p>
          <a:p>
            <a:pPr marL="12700" lvl="3"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200" dirty="0">
                <a:latin typeface="Calibri"/>
                <a:cs typeface="Calibri"/>
              </a:rPr>
              <a:t>          1.2.4  business cases</a:t>
            </a:r>
          </a:p>
          <a:p>
            <a:pPr marL="12700" lvl="3"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The project initiation task, its duration will be the total time taken to do its three sub-tasks; the same applies to the cost and resources requirements </a:t>
            </a:r>
          </a:p>
          <a:p>
            <a:pPr marL="12700" lvl="3"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For the phase- the total duration will be all the durations of its tasks added together. The same applies to the cost and resources  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609676"/>
            <a:ext cx="638429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Activity</a:t>
            </a:r>
            <a:r>
              <a:rPr lang="en-NZ" sz="2400" dirty="0"/>
              <a:t>/Task </a:t>
            </a:r>
            <a:r>
              <a:rPr sz="2400" dirty="0"/>
              <a:t>List</a:t>
            </a:r>
            <a:r>
              <a:rPr sz="2400" spc="-45" dirty="0"/>
              <a:t> </a:t>
            </a:r>
            <a:r>
              <a:rPr sz="2400" dirty="0"/>
              <a:t>and</a:t>
            </a:r>
            <a:r>
              <a:rPr sz="2400" spc="-20" dirty="0"/>
              <a:t> </a:t>
            </a:r>
            <a:r>
              <a:rPr sz="2400" spc="-10" dirty="0"/>
              <a:t>Attributes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567329" y="992473"/>
            <a:ext cx="10388600" cy="4877617"/>
          </a:xfrm>
          <a:prstGeom prst="rect">
            <a:avLst/>
          </a:prstGeom>
        </p:spPr>
        <p:txBody>
          <a:bodyPr vert="horz" wrap="square" lIns="0" tIns="266065" rIns="0" bIns="0" rtlCol="0">
            <a:spAutoFit/>
          </a:bodyPr>
          <a:lstStyle/>
          <a:p>
            <a:pPr marL="295910" marR="209550" indent="-229235">
              <a:lnSpc>
                <a:spcPts val="3020"/>
              </a:lnSpc>
              <a:spcBef>
                <a:spcPts val="480"/>
              </a:spcBef>
              <a:buClr>
                <a:srgbClr val="F5821F"/>
              </a:buClr>
              <a:buFont typeface="Arial"/>
              <a:buChar char="•"/>
              <a:tabLst>
                <a:tab pos="296545" algn="l"/>
              </a:tabLst>
            </a:pPr>
            <a:r>
              <a:rPr lang="en-NZ" sz="2000" b="1" spc="-10" dirty="0"/>
              <a:t>Activities/tasks must have</a:t>
            </a:r>
            <a:endParaRPr sz="2000" b="1" dirty="0">
              <a:latin typeface="Calibri"/>
              <a:cs typeface="Calibri"/>
            </a:endParaRPr>
          </a:p>
          <a:p>
            <a:pPr marL="752475" lvl="1" indent="-2279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Font typeface="Arial"/>
              <a:buChar char="•"/>
              <a:tabLst>
                <a:tab pos="753110" algn="l"/>
              </a:tabLst>
            </a:pPr>
            <a:r>
              <a:rPr sz="2000" dirty="0">
                <a:latin typeface="Calibri"/>
                <a:cs typeface="Calibri"/>
              </a:rPr>
              <a:t>the activity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name</a:t>
            </a:r>
            <a:endParaRPr sz="2000" dirty="0">
              <a:latin typeface="Calibri"/>
              <a:cs typeface="Calibri"/>
            </a:endParaRPr>
          </a:p>
          <a:p>
            <a:pPr marL="752475" lvl="1" indent="-227965">
              <a:lnSpc>
                <a:spcPct val="100000"/>
              </a:lnSpc>
              <a:spcBef>
                <a:spcPts val="215"/>
              </a:spcBef>
              <a:buClr>
                <a:srgbClr val="F5821F"/>
              </a:buClr>
              <a:buFont typeface="Arial"/>
              <a:buChar char="•"/>
              <a:tabLst>
                <a:tab pos="753110" algn="l"/>
              </a:tabLst>
            </a:pPr>
            <a:r>
              <a:rPr sz="2000" dirty="0">
                <a:highlight>
                  <a:srgbClr val="00FF00"/>
                </a:highlight>
                <a:latin typeface="Calibri"/>
                <a:cs typeface="Calibri"/>
              </a:rPr>
              <a:t>an</a:t>
            </a:r>
            <a:r>
              <a:rPr sz="2000" spc="-20" dirty="0">
                <a:highlight>
                  <a:srgbClr val="00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00FF00"/>
                </a:highlight>
                <a:latin typeface="Calibri"/>
                <a:cs typeface="Calibri"/>
              </a:rPr>
              <a:t>activity</a:t>
            </a:r>
            <a:r>
              <a:rPr sz="2000" spc="-40" dirty="0">
                <a:highlight>
                  <a:srgbClr val="00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00FF00"/>
                </a:highlight>
                <a:latin typeface="Calibri"/>
                <a:cs typeface="Calibri"/>
              </a:rPr>
              <a:t>identifier</a:t>
            </a:r>
            <a:r>
              <a:rPr sz="2000" spc="-10" dirty="0">
                <a:highlight>
                  <a:srgbClr val="00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00FF00"/>
                </a:highlight>
                <a:latin typeface="Calibri"/>
                <a:cs typeface="Calibri"/>
              </a:rPr>
              <a:t>or</a:t>
            </a:r>
            <a:r>
              <a:rPr sz="2000" spc="-10" dirty="0">
                <a:highlight>
                  <a:srgbClr val="00FF00"/>
                </a:highlight>
                <a:latin typeface="Calibri"/>
                <a:cs typeface="Calibri"/>
              </a:rPr>
              <a:t> number</a:t>
            </a:r>
            <a:r>
              <a:rPr lang="en-NZ" sz="2000" spc="-10" dirty="0">
                <a:highlight>
                  <a:srgbClr val="00FF00"/>
                </a:highlight>
                <a:latin typeface="Calibri"/>
                <a:cs typeface="Calibri"/>
              </a:rPr>
              <a:t> (MS Project assigns the number automatically)  </a:t>
            </a:r>
            <a:endParaRPr sz="2000" dirty="0">
              <a:highlight>
                <a:srgbClr val="00FF00"/>
              </a:highlight>
              <a:latin typeface="Calibri"/>
              <a:cs typeface="Calibri"/>
            </a:endParaRPr>
          </a:p>
          <a:p>
            <a:pPr marL="752475" lvl="1" indent="-2279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Font typeface="Arial"/>
              <a:buChar char="•"/>
              <a:tabLst>
                <a:tab pos="75311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brief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description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activity</a:t>
            </a:r>
            <a:endParaRPr sz="2000" dirty="0">
              <a:latin typeface="Calibri"/>
              <a:cs typeface="Calibri"/>
            </a:endParaRPr>
          </a:p>
          <a:p>
            <a:pPr marL="294640" marR="5080" indent="-227965">
              <a:lnSpc>
                <a:spcPct val="90000"/>
              </a:lnSpc>
              <a:spcBef>
                <a:spcPts val="980"/>
              </a:spcBef>
              <a:buClr>
                <a:srgbClr val="F5821F"/>
              </a:buClr>
              <a:buFont typeface="Arial"/>
              <a:buChar char="•"/>
              <a:tabLst>
                <a:tab pos="296545" algn="l"/>
              </a:tabLst>
            </a:pPr>
            <a:r>
              <a:rPr sz="2000" b="1" dirty="0">
                <a:latin typeface="Calibri"/>
                <a:cs typeface="Calibri"/>
              </a:rPr>
              <a:t>Activity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attributes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dirty="0"/>
              <a:t>provide</a:t>
            </a:r>
            <a:r>
              <a:rPr sz="2000" spc="-65" dirty="0"/>
              <a:t> </a:t>
            </a:r>
            <a:r>
              <a:rPr sz="2000" dirty="0"/>
              <a:t>more</a:t>
            </a:r>
            <a:r>
              <a:rPr sz="2000" spc="-90" dirty="0"/>
              <a:t> </a:t>
            </a:r>
            <a:r>
              <a:rPr sz="2000" spc="-20" dirty="0"/>
              <a:t>information</a:t>
            </a:r>
            <a:r>
              <a:rPr sz="2000" spc="-80" dirty="0"/>
              <a:t> </a:t>
            </a:r>
            <a:r>
              <a:rPr sz="2000" dirty="0"/>
              <a:t>such</a:t>
            </a:r>
            <a:r>
              <a:rPr sz="2000" spc="-75" dirty="0"/>
              <a:t> </a:t>
            </a:r>
            <a:r>
              <a:rPr sz="2000" dirty="0"/>
              <a:t>as</a:t>
            </a:r>
            <a:r>
              <a:rPr sz="2000" spc="-75" dirty="0"/>
              <a:t> </a:t>
            </a:r>
            <a:r>
              <a:rPr sz="2000" u="sng" spc="-10" dirty="0">
                <a:highlight>
                  <a:srgbClr val="00FF00"/>
                </a:highlight>
                <a:uFill>
                  <a:solidFill>
                    <a:srgbClr val="000000"/>
                  </a:solidFill>
                </a:uFill>
              </a:rPr>
              <a:t>predecessors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</a:rPr>
              <a:t>,</a:t>
            </a:r>
            <a:r>
              <a:rPr sz="2000" spc="-10" dirty="0"/>
              <a:t> </a:t>
            </a:r>
            <a:r>
              <a:rPr sz="2000" dirty="0"/>
              <a:t>successors,</a:t>
            </a:r>
            <a:r>
              <a:rPr sz="2000" spc="-60" dirty="0"/>
              <a:t> </a:t>
            </a:r>
            <a:r>
              <a:rPr sz="2000" dirty="0"/>
              <a:t>logical</a:t>
            </a:r>
            <a:r>
              <a:rPr sz="2000" spc="-110" dirty="0"/>
              <a:t> </a:t>
            </a:r>
            <a:r>
              <a:rPr sz="2000" spc="-10" dirty="0"/>
              <a:t>relationships,</a:t>
            </a:r>
            <a:r>
              <a:rPr sz="2000" spc="-55" dirty="0"/>
              <a:t> </a:t>
            </a:r>
            <a:r>
              <a:rPr sz="2000" dirty="0"/>
              <a:t>leads</a:t>
            </a:r>
            <a:r>
              <a:rPr sz="2000" spc="-100" dirty="0"/>
              <a:t> </a:t>
            </a:r>
            <a:r>
              <a:rPr sz="2000" dirty="0"/>
              <a:t>and</a:t>
            </a:r>
            <a:r>
              <a:rPr sz="2000" spc="-100" dirty="0"/>
              <a:t> </a:t>
            </a:r>
            <a:r>
              <a:rPr sz="2000" dirty="0"/>
              <a:t>lags,</a:t>
            </a:r>
            <a:r>
              <a:rPr sz="2000" spc="-95" dirty="0"/>
              <a:t> </a:t>
            </a:r>
            <a:r>
              <a:rPr sz="2000" spc="-10" dirty="0"/>
              <a:t>resource requirements,</a:t>
            </a:r>
            <a:r>
              <a:rPr sz="2000" spc="-70" dirty="0"/>
              <a:t> </a:t>
            </a:r>
            <a:r>
              <a:rPr sz="2000" spc="-20" dirty="0"/>
              <a:t>constraints,</a:t>
            </a:r>
            <a:r>
              <a:rPr sz="2000" spc="-75" dirty="0"/>
              <a:t> </a:t>
            </a:r>
            <a:r>
              <a:rPr sz="2000" dirty="0"/>
              <a:t>imposed</a:t>
            </a:r>
            <a:r>
              <a:rPr sz="2000" spc="-90" dirty="0"/>
              <a:t> </a:t>
            </a:r>
            <a:r>
              <a:rPr sz="2000" dirty="0"/>
              <a:t>dates,</a:t>
            </a:r>
            <a:r>
              <a:rPr sz="2000" spc="-105" dirty="0"/>
              <a:t> </a:t>
            </a:r>
            <a:r>
              <a:rPr sz="2000" dirty="0"/>
              <a:t>and</a:t>
            </a:r>
            <a:r>
              <a:rPr sz="2000" spc="-105" dirty="0"/>
              <a:t> </a:t>
            </a:r>
            <a:r>
              <a:rPr sz="2000" spc="-10" dirty="0"/>
              <a:t>assumptions</a:t>
            </a:r>
            <a:r>
              <a:rPr sz="2000" spc="-60" dirty="0"/>
              <a:t> </a:t>
            </a:r>
            <a:r>
              <a:rPr sz="2000" spc="-10" dirty="0"/>
              <a:t>related</a:t>
            </a:r>
            <a:r>
              <a:rPr sz="2000" spc="-110" dirty="0"/>
              <a:t> </a:t>
            </a:r>
            <a:r>
              <a:rPr sz="2000" spc="-25" dirty="0"/>
              <a:t>to </a:t>
            </a:r>
            <a:r>
              <a:rPr sz="2000" dirty="0"/>
              <a:t>the</a:t>
            </a:r>
            <a:r>
              <a:rPr sz="2000" spc="-40" dirty="0"/>
              <a:t> </a:t>
            </a:r>
            <a:r>
              <a:rPr sz="2000" spc="-10" dirty="0"/>
              <a:t>activity</a:t>
            </a:r>
            <a:endParaRPr sz="2000" dirty="0">
              <a:latin typeface="Calibri"/>
              <a:cs typeface="Calibri"/>
            </a:endParaRPr>
          </a:p>
          <a:p>
            <a:pPr marL="295910" indent="-228600">
              <a:lnSpc>
                <a:spcPct val="100000"/>
              </a:lnSpc>
              <a:spcBef>
                <a:spcPts val="660"/>
              </a:spcBef>
              <a:buClr>
                <a:srgbClr val="F5821F"/>
              </a:buClr>
              <a:buFont typeface="Arial"/>
              <a:buChar char="•"/>
              <a:tabLst>
                <a:tab pos="296545" algn="l"/>
              </a:tabLst>
            </a:pPr>
            <a:r>
              <a:rPr sz="2000" dirty="0"/>
              <a:t>Vital</a:t>
            </a:r>
            <a:r>
              <a:rPr sz="2000" spc="-100" dirty="0"/>
              <a:t> </a:t>
            </a:r>
            <a:r>
              <a:rPr sz="2000" dirty="0"/>
              <a:t>in</a:t>
            </a:r>
            <a:r>
              <a:rPr sz="2000" spc="-90" dirty="0"/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sequencing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dirty="0"/>
              <a:t>and</a:t>
            </a:r>
            <a:r>
              <a:rPr sz="2000" spc="-80" dirty="0"/>
              <a:t> </a:t>
            </a:r>
            <a:r>
              <a:rPr sz="2000" spc="-35" dirty="0"/>
              <a:t>re-</a:t>
            </a:r>
            <a:r>
              <a:rPr sz="2000" dirty="0"/>
              <a:t>sequencing</a:t>
            </a:r>
            <a:r>
              <a:rPr sz="2000" spc="-55" dirty="0"/>
              <a:t> </a:t>
            </a:r>
            <a:r>
              <a:rPr sz="2000" dirty="0"/>
              <a:t>your</a:t>
            </a:r>
            <a:r>
              <a:rPr sz="2000" spc="-95" dirty="0"/>
              <a:t> </a:t>
            </a:r>
            <a:r>
              <a:rPr sz="2000" spc="-10" dirty="0"/>
              <a:t>project</a:t>
            </a:r>
            <a:r>
              <a:rPr lang="en-NZ" sz="2000" spc="-10" dirty="0"/>
              <a:t>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lang="en-NZ" sz="2000" spc="-10" dirty="0">
                <a:latin typeface="Calibri"/>
                <a:cs typeface="Calibri"/>
              </a:rPr>
              <a:t> 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 Planning phase     </a:t>
            </a:r>
            <a:endParaRPr kumimoji="0" lang="en-NZ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FF00"/>
              </a:highlight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 </a:t>
            </a:r>
            <a:r>
              <a:rPr kumimoji="0" lang="en-NZ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00"/>
                </a:highlight>
                <a:uLnTx/>
                <a:uFillTx/>
                <a:latin typeface="Calibri"/>
                <a:cs typeface="Calibri"/>
              </a:rPr>
              <a:t>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00"/>
                </a:highlight>
                <a:uLnTx/>
                <a:uFillTx/>
                <a:latin typeface="Calibri"/>
                <a:cs typeface="Calibri"/>
              </a:rPr>
              <a:t>1.1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Project initiation 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                                        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00"/>
                </a:highlight>
                <a:uLnTx/>
                <a:uFillTx/>
                <a:latin typeface="Calibri"/>
                <a:cs typeface="Calibri"/>
              </a:rPr>
              <a:t> (activity number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activity name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)</a:t>
            </a:r>
            <a:endParaRPr kumimoji="0" lang="en-NZ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FF00"/>
              </a:highlight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1.1.1 stakeholder register </a:t>
            </a:r>
            <a:endParaRPr kumimoji="0" lang="en-NZ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FF00"/>
              </a:highlight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	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1.1.2 project charter </a:t>
            </a:r>
            <a:r>
              <a:rPr lang="en-NZ" sz="1400" dirty="0">
                <a:solidFill>
                  <a:sysClr val="windowText" lastClr="000000"/>
                </a:solidFill>
              </a:rPr>
              <a:t> </a:t>
            </a:r>
            <a:r>
              <a:rPr kumimoji="0" lang="en-NZ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lang="en-NZ" sz="1200" dirty="0">
                <a:solidFill>
                  <a:sysClr val="windowText" lastClr="000000"/>
                </a:solidFill>
              </a:rPr>
              <a:t>(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1.1.2 done at the same time or after 1.1.1?  if after than 1.1.1 is </a:t>
            </a:r>
            <a:r>
              <a:rPr kumimoji="0" lang="en-NZ" sz="1200" b="1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 predecessor task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to task 1.1.2)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  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1.1.3 Business case (1.1.2 can be </a:t>
            </a:r>
            <a:r>
              <a:rPr kumimoji="0" lang="en-NZ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 predecessor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 1.1.3) </a:t>
            </a:r>
            <a:r>
              <a:rPr kumimoji="0" lang="en-NZ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endParaRPr lang="en-NZ"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609676"/>
            <a:ext cx="258191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Milestones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800" y="1113879"/>
            <a:ext cx="9505950" cy="5331331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milestone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significant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normally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</a:t>
            </a:r>
            <a:r>
              <a:rPr sz="20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duration</a:t>
            </a:r>
            <a:endParaRPr sz="2000" dirty="0">
              <a:latin typeface="Calibri"/>
              <a:cs typeface="Calibri"/>
            </a:endParaRPr>
          </a:p>
          <a:p>
            <a:pPr marL="241300" marR="313690" indent="-229235">
              <a:lnSpc>
                <a:spcPts val="3020"/>
              </a:lnSpc>
              <a:spcBef>
                <a:spcPts val="106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often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takes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several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activities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complete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milestone</a:t>
            </a:r>
            <a:endParaRPr sz="2000" dirty="0">
              <a:latin typeface="Calibri"/>
              <a:cs typeface="Calibri"/>
            </a:endParaRPr>
          </a:p>
          <a:p>
            <a:pPr marL="240029" marR="1005205" indent="-227965">
              <a:lnSpc>
                <a:spcPts val="3030"/>
              </a:lnSpc>
              <a:spcBef>
                <a:spcPts val="99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Milestones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useful</a:t>
            </a:r>
            <a:r>
              <a:rPr sz="2000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tools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setting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schedule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goals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monitoring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progr</a:t>
            </a:r>
            <a:r>
              <a:rPr sz="2000" u="sng" spc="-10" dirty="0">
                <a:latin typeface="Calibri"/>
                <a:cs typeface="Calibri"/>
              </a:rPr>
              <a:t>ess</a:t>
            </a:r>
            <a:endParaRPr sz="2000" u="sng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99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Example</a:t>
            </a:r>
            <a:r>
              <a:rPr lang="en-NZ" sz="2000" spc="-10" dirty="0">
                <a:latin typeface="Calibri"/>
                <a:cs typeface="Calibri"/>
              </a:rPr>
              <a:t>-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 can set a milestone based on completing the project initiation tasks</a:t>
            </a:r>
            <a:r>
              <a:rPr lang="en-NZ" sz="2000" dirty="0">
                <a:latin typeface="Calibri"/>
                <a:cs typeface="Calibri"/>
              </a:rPr>
              <a:t>.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You can have more than one milestone in a phase </a:t>
            </a:r>
            <a:endParaRPr kumimoji="0" lang="en-NZ" sz="2000" b="1" i="0" u="sng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065" marR="5080">
              <a:lnSpc>
                <a:spcPts val="3020"/>
              </a:lnSpc>
              <a:spcBef>
                <a:spcPts val="994"/>
              </a:spcBef>
              <a:buClr>
                <a:srgbClr val="F5821F"/>
              </a:buClr>
              <a:tabLst>
                <a:tab pos="241300" algn="l"/>
              </a:tabLst>
            </a:pPr>
            <a:r>
              <a:rPr kumimoji="0" lang="en-NZ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1.1 Project initiation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lang="en-NZ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1.1.1 stakeholder register </a:t>
            </a:r>
            <a:endParaRPr kumimoji="0" lang="en-NZ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FF00"/>
              </a:highlight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	</a:t>
            </a:r>
            <a:r>
              <a:rPr kumimoji="0" lang="en-NZ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1.1.2 project charter 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   </a:t>
            </a:r>
            <a:r>
              <a:rPr kumimoji="0" lang="en-NZ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1.1.3 Business case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Milestone 1 initiation tasks completed  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(Milestone date will be shown based on your tasks scheduled in MS Project)</a:t>
            </a:r>
            <a:endParaRPr lang="en-NZ" sz="2000" spc="-2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99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748743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Three</a:t>
            </a:r>
            <a:r>
              <a:rPr sz="2800" spc="-50" dirty="0"/>
              <a:t> </a:t>
            </a:r>
            <a:r>
              <a:rPr sz="2800" dirty="0"/>
              <a:t>types</a:t>
            </a:r>
            <a:r>
              <a:rPr sz="2800" spc="-30" dirty="0"/>
              <a:t> </a:t>
            </a:r>
            <a:r>
              <a:rPr sz="2800" dirty="0"/>
              <a:t>of</a:t>
            </a:r>
            <a:r>
              <a:rPr sz="2800" spc="-35" dirty="0"/>
              <a:t> </a:t>
            </a:r>
            <a:r>
              <a:rPr sz="2800" spc="-10" dirty="0"/>
              <a:t>Dependencies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926" y="1219200"/>
            <a:ext cx="10335895" cy="241027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325755" indent="-227965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b="1" spc="-10" dirty="0">
                <a:latin typeface="Calibri"/>
                <a:cs typeface="Calibri"/>
              </a:rPr>
              <a:t>Mandatory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dependencies: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inherent</a:t>
            </a:r>
            <a:r>
              <a:rPr sz="2000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2000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000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nature</a:t>
            </a:r>
            <a:r>
              <a:rPr sz="2000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000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000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</a:t>
            </a:r>
            <a:r>
              <a:rPr sz="2000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being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performed</a:t>
            </a:r>
            <a:r>
              <a:rPr sz="2000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000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000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sometimes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referred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hard</a:t>
            </a:r>
            <a:r>
              <a:rPr sz="20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logic</a:t>
            </a:r>
            <a:endParaRPr sz="2000" dirty="0">
              <a:latin typeface="Calibri"/>
              <a:cs typeface="Calibri"/>
            </a:endParaRPr>
          </a:p>
          <a:p>
            <a:pPr marL="241300" marR="5080" indent="-229235">
              <a:lnSpc>
                <a:spcPct val="90000"/>
              </a:lnSpc>
              <a:spcBef>
                <a:spcPts val="95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b="1" spc="-10" dirty="0">
                <a:latin typeface="Calibri"/>
                <a:cs typeface="Calibri"/>
              </a:rPr>
              <a:t>Discretionary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dependencies: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defined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team.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Sometimes </a:t>
            </a:r>
            <a:r>
              <a:rPr sz="2000" spc="-25" dirty="0">
                <a:latin typeface="Calibri"/>
                <a:cs typeface="Calibri"/>
              </a:rPr>
              <a:t>referred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soft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logic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it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may </a:t>
            </a:r>
            <a:r>
              <a:rPr sz="2000" dirty="0">
                <a:latin typeface="Calibri"/>
                <a:cs typeface="Calibri"/>
              </a:rPr>
              <a:t>limit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later</a:t>
            </a:r>
            <a:r>
              <a:rPr sz="2000" spc="-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scheduling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options</a:t>
            </a:r>
            <a:endParaRPr sz="2000" dirty="0">
              <a:latin typeface="Calibri"/>
              <a:cs typeface="Calibri"/>
            </a:endParaRPr>
          </a:p>
          <a:p>
            <a:pPr marL="241300" marR="526415" indent="-229235">
              <a:lnSpc>
                <a:spcPts val="3020"/>
              </a:lnSpc>
              <a:spcBef>
                <a:spcPts val="104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latin typeface="Calibri"/>
                <a:cs typeface="Calibri"/>
              </a:rPr>
              <a:t>External</a:t>
            </a:r>
            <a:r>
              <a:rPr sz="2000" b="1" spc="-1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dependencies:</a:t>
            </a:r>
            <a:r>
              <a:rPr sz="2000" b="1" spc="-11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involve</a:t>
            </a:r>
            <a:r>
              <a:rPr sz="2000" spc="-1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relationships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125" dirty="0"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000" spc="-1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non-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000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activities</a:t>
            </a:r>
            <a:endParaRPr sz="2000" dirty="0">
              <a:latin typeface="Calibri"/>
              <a:cs typeface="Calibri"/>
            </a:endParaRPr>
          </a:p>
          <a:p>
            <a:pPr marL="121920">
              <a:lnSpc>
                <a:spcPct val="100000"/>
              </a:lnSpc>
              <a:spcBef>
                <a:spcPts val="625"/>
              </a:spcBef>
            </a:pP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Need</a:t>
            </a:r>
            <a:r>
              <a:rPr sz="2000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000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have</a:t>
            </a:r>
            <a:r>
              <a:rPr sz="2000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NZ" sz="2000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good</a:t>
            </a:r>
            <a:r>
              <a:rPr sz="2000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understanding</a:t>
            </a:r>
            <a:r>
              <a:rPr sz="2000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000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WBS</a:t>
            </a:r>
            <a:r>
              <a:rPr sz="2000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item</a:t>
            </a:r>
            <a:r>
              <a:rPr sz="2000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characteristics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687188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Network</a:t>
            </a:r>
            <a:r>
              <a:rPr sz="2400" spc="-100" dirty="0"/>
              <a:t> </a:t>
            </a:r>
            <a:r>
              <a:rPr sz="2400" spc="-10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812112"/>
            <a:ext cx="10104755" cy="1443087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229870" indent="-227965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Network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diagrams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preferred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technique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showing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activity sequencing</a:t>
            </a:r>
            <a:endParaRPr sz="20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network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diagram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schematic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display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lang="en-NZ"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lang="en-NZ" sz="2000" spc="-7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activities</a:t>
            </a:r>
            <a:r>
              <a:rPr lang="en-NZ" sz="2000" spc="-10" dirty="0">
                <a:latin typeface="Calibri"/>
                <a:cs typeface="Calibri"/>
              </a:rPr>
              <a:t>/tasks</a:t>
            </a:r>
            <a:r>
              <a:rPr lang="en-NZ" sz="2000" spc="-25" dirty="0">
                <a:latin typeface="Calibri"/>
                <a:cs typeface="Calibri"/>
              </a:rPr>
              <a:t> in </a:t>
            </a:r>
            <a:r>
              <a:rPr lang="en-NZ" sz="2000" dirty="0">
                <a:latin typeface="Calibri"/>
                <a:cs typeface="Calibri"/>
              </a:rPr>
              <a:t>projects.</a:t>
            </a:r>
            <a:r>
              <a:rPr lang="en-NZ" sz="2000" spc="-10" dirty="0">
                <a:latin typeface="Calibri"/>
                <a:cs typeface="Calibri"/>
              </a:rPr>
              <a:t> </a:t>
            </a:r>
            <a:endParaRPr sz="2000" dirty="0">
              <a:latin typeface="Calibri"/>
              <a:cs typeface="Calibri"/>
            </a:endParaRPr>
          </a:p>
          <a:p>
            <a:pPr marL="241300" marR="269240" indent="-229235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20" dirty="0">
                <a:latin typeface="Calibri"/>
                <a:cs typeface="Calibri"/>
              </a:rPr>
              <a:t>Two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formats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u="sng" dirty="0">
                <a:latin typeface="Calibri"/>
                <a:cs typeface="Calibri"/>
              </a:rPr>
              <a:t>Activity</a:t>
            </a:r>
            <a:r>
              <a:rPr sz="2000" u="sng" spc="-65" dirty="0">
                <a:latin typeface="Calibri"/>
                <a:cs typeface="Calibri"/>
              </a:rPr>
              <a:t> </a:t>
            </a:r>
            <a:r>
              <a:rPr sz="2000" u="sng" dirty="0">
                <a:latin typeface="Calibri"/>
                <a:cs typeface="Calibri"/>
              </a:rPr>
              <a:t>on</a:t>
            </a:r>
            <a:r>
              <a:rPr sz="2000" u="sng" spc="-75" dirty="0">
                <a:latin typeface="Calibri"/>
                <a:cs typeface="Calibri"/>
              </a:rPr>
              <a:t> </a:t>
            </a:r>
            <a:r>
              <a:rPr sz="2000" u="sng" dirty="0">
                <a:latin typeface="Calibri"/>
                <a:cs typeface="Calibri"/>
              </a:rPr>
              <a:t>Arrow</a:t>
            </a:r>
            <a:r>
              <a:rPr sz="2000" u="sng" spc="-65" dirty="0">
                <a:latin typeface="Calibri"/>
                <a:cs typeface="Calibri"/>
              </a:rPr>
              <a:t> </a:t>
            </a:r>
            <a:r>
              <a:rPr sz="2000" u="sng" dirty="0">
                <a:latin typeface="Calibri"/>
                <a:cs typeface="Calibri"/>
              </a:rPr>
              <a:t>(AoA)</a:t>
            </a:r>
            <a:r>
              <a:rPr sz="2000" u="sng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lang="en-NZ" sz="2000" u="sng" spc="-10" dirty="0">
                <a:latin typeface="Calibri"/>
                <a:cs typeface="Calibri"/>
              </a:rPr>
              <a:t>P</a:t>
            </a:r>
            <a:r>
              <a:rPr sz="2000" u="sng" spc="-10" dirty="0">
                <a:latin typeface="Calibri"/>
                <a:cs typeface="Calibri"/>
              </a:rPr>
              <a:t>recedence </a:t>
            </a:r>
            <a:r>
              <a:rPr lang="en-NZ" sz="2000" u="sng" spc="-10" dirty="0">
                <a:latin typeface="Calibri"/>
                <a:cs typeface="Calibri"/>
              </a:rPr>
              <a:t>D</a:t>
            </a:r>
            <a:r>
              <a:rPr sz="2000" u="sng" spc="-10" dirty="0" err="1">
                <a:latin typeface="Calibri"/>
                <a:cs typeface="Calibri"/>
              </a:rPr>
              <a:t>iagram</a:t>
            </a:r>
            <a:r>
              <a:rPr lang="en-NZ" sz="2000" u="sng" spc="-10" dirty="0">
                <a:latin typeface="Calibri"/>
                <a:cs typeface="Calibri"/>
              </a:rPr>
              <a:t>M</a:t>
            </a:r>
            <a:r>
              <a:rPr sz="2000" u="sng" spc="-10" dirty="0" err="1">
                <a:latin typeface="Calibri"/>
                <a:cs typeface="Calibri"/>
              </a:rPr>
              <a:t>ethod</a:t>
            </a:r>
            <a:r>
              <a:rPr lang="en-NZ" sz="2000" u="sng" spc="-10" dirty="0">
                <a:latin typeface="Calibri"/>
                <a:cs typeface="Calibri"/>
              </a:rPr>
              <a:t> </a:t>
            </a:r>
            <a:r>
              <a:rPr lang="en-NZ" sz="2000" spc="-10" dirty="0">
                <a:latin typeface="Calibri"/>
                <a:cs typeface="Calibri"/>
              </a:rPr>
              <a:t>(PDM)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6949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Figure</a:t>
            </a:r>
            <a:r>
              <a:rPr sz="3600" spc="-75" dirty="0"/>
              <a:t> </a:t>
            </a:r>
            <a:r>
              <a:rPr sz="3600" dirty="0"/>
              <a:t>6-2.</a:t>
            </a:r>
            <a:r>
              <a:rPr sz="3600" spc="-60" dirty="0"/>
              <a:t> </a:t>
            </a:r>
            <a:r>
              <a:rPr sz="3600" dirty="0"/>
              <a:t>Network</a:t>
            </a:r>
            <a:r>
              <a:rPr sz="3600" spc="-60" dirty="0"/>
              <a:t> </a:t>
            </a:r>
            <a:r>
              <a:rPr sz="3600" dirty="0"/>
              <a:t>Diagram</a:t>
            </a:r>
            <a:r>
              <a:rPr sz="3600" spc="-60" dirty="0"/>
              <a:t> </a:t>
            </a:r>
            <a:r>
              <a:rPr sz="3600" dirty="0"/>
              <a:t>for</a:t>
            </a:r>
            <a:r>
              <a:rPr sz="3600" spc="-60" dirty="0"/>
              <a:t> </a:t>
            </a:r>
            <a:r>
              <a:rPr sz="3600" dirty="0"/>
              <a:t>Project</a:t>
            </a:r>
            <a:r>
              <a:rPr sz="3600" spc="-55" dirty="0"/>
              <a:t> </a:t>
            </a:r>
            <a:r>
              <a:rPr sz="3600" spc="-50" dirty="0"/>
              <a:t>X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527" y="1197864"/>
            <a:ext cx="10227564" cy="51267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994964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Arrow</a:t>
            </a:r>
            <a:r>
              <a:rPr spc="-95" dirty="0"/>
              <a:t> </a:t>
            </a:r>
            <a:r>
              <a:rPr dirty="0"/>
              <a:t>Diagram</a:t>
            </a:r>
            <a:r>
              <a:rPr spc="-120" dirty="0"/>
              <a:t> </a:t>
            </a:r>
            <a:r>
              <a:rPr dirty="0"/>
              <a:t>Methods</a:t>
            </a:r>
            <a:r>
              <a:rPr spc="-105" dirty="0"/>
              <a:t> </a:t>
            </a:r>
            <a:r>
              <a:rPr spc="-10" dirty="0"/>
              <a:t>(ADM)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725765"/>
            <a:ext cx="7991475" cy="20720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Also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Activity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Arrow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(AOA)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diagrams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Activities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arrows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Nodes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starting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ending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points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activities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Can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finish-</a:t>
            </a:r>
            <a:r>
              <a:rPr sz="28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to-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start</a:t>
            </a:r>
            <a:r>
              <a:rPr sz="2800" spc="-10" dirty="0">
                <a:latin typeface="Calibri"/>
                <a:cs typeface="Calibri"/>
              </a:rPr>
              <a:t> dependencies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Process</a:t>
            </a:r>
            <a:r>
              <a:rPr spc="-125" dirty="0"/>
              <a:t> </a:t>
            </a:r>
            <a:r>
              <a:rPr dirty="0"/>
              <a:t>for</a:t>
            </a:r>
            <a:r>
              <a:rPr spc="-100" dirty="0"/>
              <a:t> </a:t>
            </a:r>
            <a:r>
              <a:rPr dirty="0"/>
              <a:t>Creating</a:t>
            </a:r>
            <a:r>
              <a:rPr spc="-125" dirty="0"/>
              <a:t> </a:t>
            </a:r>
            <a:r>
              <a:rPr dirty="0"/>
              <a:t>AOA</a:t>
            </a:r>
            <a:r>
              <a:rPr spc="-95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667332"/>
            <a:ext cx="10356850" cy="37363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marR="5080" indent="-229235">
              <a:lnSpc>
                <a:spcPct val="90100"/>
              </a:lnSpc>
              <a:spcBef>
                <a:spcPts val="385"/>
              </a:spcBef>
              <a:buFont typeface="Calibri"/>
              <a:buAutoNum type="arabicPeriod"/>
              <a:tabLst>
                <a:tab pos="241300" algn="l"/>
                <a:tab pos="260985" algn="l"/>
                <a:tab pos="7207250" algn="l"/>
              </a:tabLst>
            </a:pP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Calibri"/>
                <a:cs typeface="Calibri"/>
              </a:rPr>
              <a:t>Draw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1.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1.</a:t>
            </a:r>
            <a:r>
              <a:rPr sz="2400" dirty="0">
                <a:latin typeface="Calibri"/>
                <a:cs typeface="Calibri"/>
              </a:rPr>
              <a:t>	Draw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finish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nodes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draw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arrows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finish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letter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name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estimate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associated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arrow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node)</a:t>
            </a:r>
            <a:endParaRPr sz="2400" dirty="0">
              <a:latin typeface="Calibri"/>
              <a:cs typeface="Calibri"/>
            </a:endParaRPr>
          </a:p>
          <a:p>
            <a:pPr marL="241300" marR="325120" indent="-229235">
              <a:lnSpc>
                <a:spcPts val="2590"/>
              </a:lnSpc>
              <a:spcBef>
                <a:spcPts val="1050"/>
              </a:spcBef>
              <a:buAutoNum type="arabicPeriod"/>
              <a:tabLst>
                <a:tab pos="241300" algn="l"/>
                <a:tab pos="309245" algn="l"/>
              </a:tabLst>
            </a:pPr>
            <a:r>
              <a:rPr sz="2400" dirty="0">
                <a:latin typeface="Calibri"/>
                <a:cs typeface="Calibri"/>
              </a:rPr>
              <a:t>Continuing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drawing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bursts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merges.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Bursts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followed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more </a:t>
            </a:r>
            <a:r>
              <a:rPr sz="2400" dirty="0">
                <a:latin typeface="Calibri"/>
                <a:cs typeface="Calibri"/>
              </a:rPr>
              <a:t>activities.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merge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precede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node</a:t>
            </a:r>
            <a:endParaRPr sz="2400" dirty="0">
              <a:latin typeface="Calibri"/>
              <a:cs typeface="Calibri"/>
            </a:endParaRPr>
          </a:p>
          <a:p>
            <a:pPr marL="241300" marR="571500" indent="-229235">
              <a:lnSpc>
                <a:spcPts val="2590"/>
              </a:lnSpc>
              <a:spcBef>
                <a:spcPts val="1005"/>
              </a:spcBef>
              <a:buAutoNum type="arabicPeriod"/>
              <a:tabLst>
                <a:tab pos="241300" algn="l"/>
                <a:tab pos="309245" algn="l"/>
              </a:tabLst>
            </a:pPr>
            <a:r>
              <a:rPr sz="2400" dirty="0">
                <a:latin typeface="Calibri"/>
                <a:cs typeface="Calibri"/>
              </a:rPr>
              <a:t>Continue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drawing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25" dirty="0">
                <a:latin typeface="Calibri"/>
                <a:cs typeface="Calibri"/>
              </a:rPr>
              <a:t> the </a:t>
            </a:r>
            <a:r>
              <a:rPr sz="2400" dirty="0">
                <a:latin typeface="Calibri"/>
                <a:cs typeface="Calibri"/>
              </a:rPr>
              <a:t>diagram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dependencies</a:t>
            </a:r>
            <a:endParaRPr sz="2400" dirty="0">
              <a:latin typeface="Calibri"/>
              <a:cs typeface="Calibri"/>
            </a:endParaRPr>
          </a:p>
          <a:p>
            <a:pPr marL="241300" marR="286385" indent="-229235">
              <a:lnSpc>
                <a:spcPts val="2590"/>
              </a:lnSpc>
              <a:spcBef>
                <a:spcPts val="1000"/>
              </a:spcBef>
              <a:buAutoNum type="arabicPeriod"/>
              <a:tabLst>
                <a:tab pos="241300" algn="l"/>
                <a:tab pos="309880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rule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thumb,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all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arrowheads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should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flow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toward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right,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arrows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should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cross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over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AoA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network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diagram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994964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Precedence</a:t>
            </a:r>
            <a:r>
              <a:rPr spc="-100" dirty="0"/>
              <a:t> </a:t>
            </a:r>
            <a:r>
              <a:rPr dirty="0"/>
              <a:t>Diagram</a:t>
            </a:r>
            <a:r>
              <a:rPr spc="-110" dirty="0"/>
              <a:t> </a:t>
            </a:r>
            <a:r>
              <a:rPr dirty="0"/>
              <a:t>Method</a:t>
            </a:r>
            <a:r>
              <a:rPr spc="-100" dirty="0"/>
              <a:t> </a:t>
            </a:r>
            <a:r>
              <a:rPr spc="-10" dirty="0"/>
              <a:t>(PDM)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725765"/>
            <a:ext cx="10193655" cy="28403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precedence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diagram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activities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boxes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Arrows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relationships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activities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4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Typically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popular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arrow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diagram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(ADM)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software</a:t>
            </a:r>
            <a:endParaRPr sz="2800" dirty="0">
              <a:latin typeface="Calibri"/>
              <a:cs typeface="Calibri"/>
            </a:endParaRPr>
          </a:p>
          <a:p>
            <a:pPr marL="241300" marR="859155" indent="-229235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i="1" spc="-10" dirty="0">
                <a:latin typeface="Calibri"/>
                <a:cs typeface="Calibri"/>
              </a:rPr>
              <a:t>Precedence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diagram</a:t>
            </a:r>
            <a:r>
              <a:rPr sz="2800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better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showing </a:t>
            </a:r>
            <a:r>
              <a:rPr sz="2800" spc="-20" dirty="0">
                <a:latin typeface="Calibri"/>
                <a:cs typeface="Calibri"/>
              </a:rPr>
              <a:t>different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dependencies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8823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Figure</a:t>
            </a:r>
            <a:r>
              <a:rPr sz="3600" spc="-40" dirty="0"/>
              <a:t> </a:t>
            </a:r>
            <a:r>
              <a:rPr sz="3600" spc="-10" dirty="0"/>
              <a:t>6-</a:t>
            </a:r>
            <a:r>
              <a:rPr sz="3600" dirty="0"/>
              <a:t>4.</a:t>
            </a:r>
            <a:r>
              <a:rPr sz="3600" spc="-30" dirty="0"/>
              <a:t> </a:t>
            </a:r>
            <a:r>
              <a:rPr sz="3600" dirty="0"/>
              <a:t>Sample</a:t>
            </a:r>
            <a:r>
              <a:rPr sz="3600" spc="-35" dirty="0"/>
              <a:t> </a:t>
            </a:r>
            <a:r>
              <a:rPr sz="3600" dirty="0"/>
              <a:t>PDM</a:t>
            </a:r>
            <a:r>
              <a:rPr sz="3600" spc="-30" dirty="0"/>
              <a:t> </a:t>
            </a:r>
            <a:r>
              <a:rPr sz="3600" dirty="0"/>
              <a:t>Network</a:t>
            </a:r>
            <a:r>
              <a:rPr sz="3600" spc="-50" dirty="0"/>
              <a:t> </a:t>
            </a:r>
            <a:r>
              <a:rPr sz="3600" spc="-10" dirty="0"/>
              <a:t>Diagram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7648" y="1497188"/>
            <a:ext cx="8682070" cy="30225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8823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Figure</a:t>
            </a:r>
            <a:r>
              <a:rPr sz="3600" spc="-60" dirty="0"/>
              <a:t> </a:t>
            </a:r>
            <a:r>
              <a:rPr sz="3600" spc="-10" dirty="0"/>
              <a:t>6-</a:t>
            </a:r>
            <a:r>
              <a:rPr sz="3600" dirty="0"/>
              <a:t>3.</a:t>
            </a:r>
            <a:r>
              <a:rPr sz="3600" spc="-50" dirty="0"/>
              <a:t> </a:t>
            </a:r>
            <a:r>
              <a:rPr sz="3600" spc="-30" dirty="0"/>
              <a:t>Task</a:t>
            </a:r>
            <a:r>
              <a:rPr sz="3600" spc="-70" dirty="0"/>
              <a:t> </a:t>
            </a:r>
            <a:r>
              <a:rPr sz="3600" dirty="0"/>
              <a:t>Dependency</a:t>
            </a:r>
            <a:r>
              <a:rPr sz="3600" spc="-25" dirty="0"/>
              <a:t> </a:t>
            </a:r>
            <a:r>
              <a:rPr sz="3600" spc="-10" dirty="0"/>
              <a:t>Types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195" y="1417319"/>
            <a:ext cx="8686800" cy="47518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609600"/>
            <a:ext cx="510794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10" dirty="0"/>
              <a:t>Three-</a:t>
            </a:r>
            <a:r>
              <a:rPr sz="2800" dirty="0"/>
              <a:t>Point</a:t>
            </a:r>
            <a:r>
              <a:rPr sz="2800" spc="-150" dirty="0"/>
              <a:t> </a:t>
            </a:r>
            <a:r>
              <a:rPr sz="2800" spc="-10" dirty="0"/>
              <a:t>Estimates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5150" y="1465325"/>
            <a:ext cx="10350500" cy="33480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 algn="just">
              <a:lnSpc>
                <a:spcPts val="3025"/>
              </a:lnSpc>
              <a:spcBef>
                <a:spcPts val="9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Instead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activity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estimates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discrete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number,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</a:t>
            </a:r>
            <a:endParaRPr sz="2000" dirty="0">
              <a:latin typeface="Calibri"/>
              <a:cs typeface="Calibri"/>
            </a:endParaRPr>
          </a:p>
          <a:p>
            <a:pPr marL="241300" algn="just">
              <a:lnSpc>
                <a:spcPts val="2995"/>
              </a:lnSpc>
            </a:pPr>
            <a:r>
              <a:rPr sz="2000" dirty="0">
                <a:latin typeface="Calibri"/>
                <a:cs typeface="Calibri"/>
              </a:rPr>
              <a:t>four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weeks,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it’s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often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helpful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create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b="1" spc="-30" dirty="0">
                <a:latin typeface="Calibri"/>
                <a:cs typeface="Calibri"/>
              </a:rPr>
              <a:t>three-</a:t>
            </a:r>
            <a:r>
              <a:rPr sz="2000" b="1" dirty="0">
                <a:latin typeface="Calibri"/>
                <a:cs typeface="Calibri"/>
              </a:rPr>
              <a:t>point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estimate</a:t>
            </a:r>
            <a:endParaRPr sz="2000" dirty="0">
              <a:latin typeface="Calibri"/>
              <a:cs typeface="Calibri"/>
            </a:endParaRPr>
          </a:p>
          <a:p>
            <a:pPr marL="698500" marR="5080" lvl="1" indent="-228600" algn="just">
              <a:lnSpc>
                <a:spcPct val="80000"/>
              </a:lnSpc>
              <a:spcBef>
                <a:spcPts val="55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estimate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optimistic</a:t>
            </a:r>
            <a:r>
              <a:rPr lang="en-NZ" sz="2000" b="1" dirty="0">
                <a:latin typeface="Calibri"/>
                <a:cs typeface="Calibri"/>
              </a:rPr>
              <a:t> (shortest)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most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likely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pessimistic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lang="en-NZ" sz="2000" b="1" spc="-10" dirty="0">
                <a:latin typeface="Calibri"/>
                <a:cs typeface="Calibri"/>
              </a:rPr>
              <a:t>(longest) estimates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three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weeks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optimistic,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four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weeks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likely,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five </a:t>
            </a:r>
            <a:r>
              <a:rPr sz="2000" dirty="0">
                <a:latin typeface="Calibri"/>
                <a:cs typeface="Calibri"/>
              </a:rPr>
              <a:t>weeks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pessimistic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estimate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range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effect</a:t>
            </a:r>
            <a:endParaRPr sz="2000" dirty="0">
              <a:latin typeface="Calibri"/>
              <a:cs typeface="Calibri"/>
            </a:endParaRPr>
          </a:p>
          <a:p>
            <a:pPr marL="240029" marR="90170" indent="-227965" algn="just">
              <a:lnSpc>
                <a:spcPts val="2690"/>
              </a:lnSpc>
              <a:spcBef>
                <a:spcPts val="95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30" dirty="0">
                <a:latin typeface="Calibri"/>
                <a:cs typeface="Calibri"/>
              </a:rPr>
              <a:t>Three-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estimates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needed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Program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Evaluation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Review </a:t>
            </a:r>
            <a:r>
              <a:rPr sz="2000" spc="-30" dirty="0">
                <a:latin typeface="Calibri"/>
                <a:cs typeface="Calibri"/>
              </a:rPr>
              <a:t>Technique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(PERT)</a:t>
            </a:r>
            <a:endParaRPr lang="en-NZ" sz="2000" dirty="0">
              <a:latin typeface="Calibri"/>
              <a:cs typeface="Calibri"/>
            </a:endParaRPr>
          </a:p>
          <a:p>
            <a:pPr marL="240029" marR="90170" indent="-227965" algn="just">
              <a:lnSpc>
                <a:spcPts val="2690"/>
              </a:lnSpc>
              <a:spcBef>
                <a:spcPts val="95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lang="en-NZ" sz="2000" dirty="0">
                <a:latin typeface="Calibri"/>
                <a:cs typeface="Calibri"/>
              </a:rPr>
              <a:t>PERT is used to estimate project duration when there is a high degree of uncertainty about the individual activity duration estimates</a:t>
            </a:r>
          </a:p>
          <a:p>
            <a:pPr marL="240029" marR="90170" indent="-227965" algn="just">
              <a:lnSpc>
                <a:spcPts val="2690"/>
              </a:lnSpc>
              <a:spcBef>
                <a:spcPts val="95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488441"/>
            <a:ext cx="63277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PERT</a:t>
            </a:r>
            <a:r>
              <a:rPr spc="-45" dirty="0"/>
              <a:t> </a:t>
            </a:r>
            <a:r>
              <a:rPr dirty="0"/>
              <a:t>Formula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502354"/>
            <a:ext cx="6221095" cy="202882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5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PERT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weighted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average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spc="-50" dirty="0">
                <a:latin typeface="Calibri"/>
                <a:cs typeface="Calibri"/>
              </a:rPr>
              <a:t>=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optimistic</a:t>
            </a:r>
            <a:r>
              <a:rPr sz="22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2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+</a:t>
            </a:r>
            <a:r>
              <a:rPr sz="22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4X</a:t>
            </a:r>
            <a:r>
              <a:rPr sz="22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most</a:t>
            </a:r>
            <a:r>
              <a:rPr sz="2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likely</a:t>
            </a:r>
            <a:r>
              <a:rPr sz="22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2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+</a:t>
            </a:r>
            <a:r>
              <a:rPr sz="2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pessimistic</a:t>
            </a:r>
            <a:r>
              <a:rPr sz="22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endParaRPr sz="2200">
              <a:latin typeface="Calibri"/>
              <a:cs typeface="Calibri"/>
            </a:endParaRPr>
          </a:p>
          <a:p>
            <a:pPr marR="558165" algn="ctr">
              <a:lnSpc>
                <a:spcPct val="100000"/>
              </a:lnSpc>
              <a:spcBef>
                <a:spcPts val="455"/>
              </a:spcBef>
            </a:pPr>
            <a:r>
              <a:rPr sz="2200" spc="-5" dirty="0">
                <a:latin typeface="Calibri"/>
                <a:cs typeface="Calibri"/>
              </a:rPr>
              <a:t>6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5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600" spc="-10" dirty="0">
                <a:latin typeface="Calibri"/>
                <a:cs typeface="Calibri"/>
              </a:rPr>
              <a:t>Example: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dirty="0">
                <a:latin typeface="Calibri"/>
                <a:cs typeface="Calibri"/>
              </a:rPr>
              <a:t>PERT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weighted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average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=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9366" y="3564077"/>
            <a:ext cx="5143500" cy="1734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ts val="2415"/>
              </a:lnSpc>
              <a:spcBef>
                <a:spcPts val="95"/>
              </a:spcBef>
            </a:pP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8</a:t>
            </a:r>
            <a:r>
              <a:rPr sz="22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workdays</a:t>
            </a:r>
            <a:r>
              <a:rPr sz="2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+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</a:t>
            </a:r>
            <a:r>
              <a:rPr sz="2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X</a:t>
            </a:r>
            <a:r>
              <a:rPr sz="22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10</a:t>
            </a:r>
            <a:r>
              <a:rPr sz="2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workdays</a:t>
            </a:r>
            <a:r>
              <a:rPr sz="2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+</a:t>
            </a:r>
            <a:r>
              <a:rPr sz="2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24</a:t>
            </a:r>
            <a:r>
              <a:rPr sz="22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workdays</a:t>
            </a:r>
            <a:endParaRPr sz="2200" dirty="0">
              <a:latin typeface="Calibri"/>
              <a:cs typeface="Calibri"/>
            </a:endParaRPr>
          </a:p>
          <a:p>
            <a:pPr marL="1841500">
              <a:lnSpc>
                <a:spcPts val="2415"/>
              </a:lnSpc>
            </a:pPr>
            <a:r>
              <a:rPr sz="2200" spc="-5" dirty="0">
                <a:latin typeface="Calibri"/>
                <a:cs typeface="Calibri"/>
              </a:rPr>
              <a:t>6</a:t>
            </a:r>
            <a:endParaRPr sz="2200" dirty="0">
              <a:latin typeface="Calibri"/>
              <a:cs typeface="Calibri"/>
            </a:endParaRPr>
          </a:p>
          <a:p>
            <a:pPr marL="12700" marR="1630680">
              <a:lnSpc>
                <a:spcPct val="1077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where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optimistic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time=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8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days </a:t>
            </a:r>
            <a:r>
              <a:rPr sz="2200" dirty="0">
                <a:latin typeface="Calibri"/>
                <a:cs typeface="Calibri"/>
              </a:rPr>
              <a:t>most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likely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10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days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pessimistic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24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days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26656" y="3564077"/>
            <a:ext cx="10985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=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12</a:t>
            </a:r>
            <a:r>
              <a:rPr sz="2200" b="1" spc="-20" dirty="0">
                <a:latin typeface="Calibri"/>
                <a:cs typeface="Calibri"/>
              </a:rPr>
              <a:t> days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6820" y="5244465"/>
            <a:ext cx="9484360" cy="54419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819"/>
              </a:spcBef>
            </a:pPr>
            <a:r>
              <a:rPr sz="2000" spc="-10" dirty="0">
                <a:latin typeface="Calibri"/>
                <a:cs typeface="Calibri"/>
              </a:rPr>
              <a:t>Therefore,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you’d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12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days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network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diagram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instead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above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0165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687188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Developing</a:t>
            </a:r>
            <a:r>
              <a:rPr sz="2400" spc="-90" dirty="0"/>
              <a:t> </a:t>
            </a:r>
            <a:r>
              <a:rPr sz="2400" dirty="0"/>
              <a:t>the</a:t>
            </a:r>
            <a:r>
              <a:rPr sz="2400" spc="-50" dirty="0"/>
              <a:t> </a:t>
            </a:r>
            <a:r>
              <a:rPr sz="2400" dirty="0"/>
              <a:t>schedule</a:t>
            </a:r>
            <a:r>
              <a:rPr sz="2400" spc="-50" dirty="0"/>
              <a:t> </a:t>
            </a:r>
            <a:r>
              <a:rPr sz="2400" spc="-10" dirty="0"/>
              <a:t>itself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484375" y="1385443"/>
            <a:ext cx="10388600" cy="1914960"/>
          </a:xfrm>
          <a:prstGeom prst="rect">
            <a:avLst/>
          </a:prstGeom>
        </p:spPr>
        <p:txBody>
          <a:bodyPr vert="horz" wrap="square" lIns="0" tIns="486994" rIns="0" bIns="0" rtlCol="0">
            <a:spAutoFit/>
          </a:bodyPr>
          <a:lstStyle/>
          <a:p>
            <a:pPr marL="295910" marR="5080" indent="-229235">
              <a:lnSpc>
                <a:spcPct val="90000"/>
              </a:lnSpc>
              <a:spcBef>
                <a:spcPts val="955"/>
              </a:spcBef>
              <a:buClr>
                <a:srgbClr val="F5821F"/>
              </a:buClr>
              <a:buFont typeface="Arial"/>
              <a:buChar char="•"/>
              <a:tabLst>
                <a:tab pos="296545" algn="l"/>
                <a:tab pos="1673860" algn="l"/>
              </a:tabLst>
            </a:pPr>
            <a:r>
              <a:rPr sz="2000" dirty="0"/>
              <a:t>The</a:t>
            </a:r>
            <a:r>
              <a:rPr sz="2000" spc="-80" dirty="0"/>
              <a:t> </a:t>
            </a:r>
            <a:r>
              <a:rPr sz="2000" dirty="0"/>
              <a:t>ultimate</a:t>
            </a:r>
            <a:r>
              <a:rPr sz="2000" spc="-70" dirty="0"/>
              <a:t> </a:t>
            </a:r>
            <a:r>
              <a:rPr sz="2000" dirty="0"/>
              <a:t>goal</a:t>
            </a:r>
            <a:r>
              <a:rPr sz="2000" spc="-90" dirty="0"/>
              <a:t> </a:t>
            </a:r>
            <a:r>
              <a:rPr sz="2000" dirty="0"/>
              <a:t>is</a:t>
            </a:r>
            <a:r>
              <a:rPr sz="2000" spc="-85" dirty="0"/>
              <a:t> </a:t>
            </a:r>
            <a:r>
              <a:rPr sz="2000" dirty="0"/>
              <a:t>to</a:t>
            </a:r>
            <a:r>
              <a:rPr sz="2000" spc="-85" dirty="0"/>
              <a:t> </a:t>
            </a:r>
            <a:r>
              <a:rPr sz="2000" spc="-10" dirty="0"/>
              <a:t>create</a:t>
            </a:r>
            <a:r>
              <a:rPr sz="2000" spc="-95" dirty="0"/>
              <a:t> </a:t>
            </a:r>
            <a:r>
              <a:rPr sz="2000" dirty="0"/>
              <a:t>a</a:t>
            </a:r>
            <a:r>
              <a:rPr sz="2000" spc="-75" dirty="0"/>
              <a:t> </a:t>
            </a:r>
            <a:r>
              <a:rPr sz="2000" spc="-10" dirty="0"/>
              <a:t>realistic</a:t>
            </a:r>
            <a:r>
              <a:rPr sz="2000" spc="-70" dirty="0"/>
              <a:t> </a:t>
            </a:r>
            <a:r>
              <a:rPr sz="2000" dirty="0"/>
              <a:t>project</a:t>
            </a:r>
            <a:r>
              <a:rPr sz="2000" spc="-70" dirty="0"/>
              <a:t> </a:t>
            </a:r>
            <a:r>
              <a:rPr sz="2000" dirty="0"/>
              <a:t>schedule</a:t>
            </a:r>
            <a:r>
              <a:rPr sz="2000" spc="-50" dirty="0"/>
              <a:t> </a:t>
            </a:r>
            <a:r>
              <a:rPr sz="2000" dirty="0"/>
              <a:t>that</a:t>
            </a:r>
            <a:r>
              <a:rPr sz="2000" spc="-70" dirty="0"/>
              <a:t> </a:t>
            </a:r>
            <a:r>
              <a:rPr sz="2000" spc="-10" dirty="0"/>
              <a:t>provides </a:t>
            </a:r>
            <a:r>
              <a:rPr sz="2000" dirty="0"/>
              <a:t>a</a:t>
            </a:r>
            <a:r>
              <a:rPr sz="2000" spc="-85" dirty="0"/>
              <a:t> </a:t>
            </a:r>
            <a:r>
              <a:rPr sz="2000" dirty="0"/>
              <a:t>basis</a:t>
            </a:r>
            <a:r>
              <a:rPr sz="2000" spc="-65" dirty="0"/>
              <a:t> </a:t>
            </a:r>
            <a:r>
              <a:rPr sz="2000" dirty="0"/>
              <a:t>for</a:t>
            </a:r>
            <a:r>
              <a:rPr sz="2000" spc="-85" dirty="0"/>
              <a:t> </a:t>
            </a:r>
            <a:r>
              <a:rPr sz="2000" spc="-10" dirty="0"/>
              <a:t>monitoring</a:t>
            </a:r>
            <a:r>
              <a:rPr sz="2000" spc="-60" dirty="0"/>
              <a:t> </a:t>
            </a:r>
            <a:r>
              <a:rPr sz="2000" dirty="0"/>
              <a:t>project</a:t>
            </a:r>
            <a:r>
              <a:rPr sz="2000" spc="-75" dirty="0"/>
              <a:t> </a:t>
            </a:r>
            <a:r>
              <a:rPr sz="2000" spc="-10" dirty="0"/>
              <a:t>progress</a:t>
            </a:r>
            <a:r>
              <a:rPr sz="2000" spc="-60" dirty="0"/>
              <a:t> </a:t>
            </a:r>
            <a:r>
              <a:rPr sz="2000" dirty="0"/>
              <a:t>for</a:t>
            </a:r>
            <a:r>
              <a:rPr sz="2000" spc="-85" dirty="0"/>
              <a:t> </a:t>
            </a:r>
            <a:r>
              <a:rPr sz="2000" dirty="0"/>
              <a:t>the</a:t>
            </a:r>
            <a:r>
              <a:rPr sz="2000" spc="-75" dirty="0"/>
              <a:t> </a:t>
            </a:r>
            <a:r>
              <a:rPr sz="2000" dirty="0"/>
              <a:t>time</a:t>
            </a:r>
            <a:r>
              <a:rPr sz="2000" spc="-70" dirty="0"/>
              <a:t> </a:t>
            </a:r>
            <a:r>
              <a:rPr sz="2000" dirty="0"/>
              <a:t>dimension</a:t>
            </a:r>
            <a:r>
              <a:rPr sz="2000" spc="-55" dirty="0"/>
              <a:t> </a:t>
            </a:r>
            <a:r>
              <a:rPr sz="2000" dirty="0"/>
              <a:t>of</a:t>
            </a:r>
            <a:r>
              <a:rPr sz="2000" spc="-85" dirty="0"/>
              <a:t> </a:t>
            </a:r>
            <a:r>
              <a:rPr sz="2000" spc="-25" dirty="0"/>
              <a:t>the </a:t>
            </a:r>
            <a:r>
              <a:rPr sz="2000" dirty="0"/>
              <a:t>project</a:t>
            </a:r>
            <a:endParaRPr sz="2000" dirty="0">
              <a:latin typeface="Calibri"/>
              <a:cs typeface="Calibri"/>
            </a:endParaRPr>
          </a:p>
          <a:p>
            <a:pPr marL="295910" marR="624840" indent="-229235">
              <a:lnSpc>
                <a:spcPts val="3020"/>
              </a:lnSpc>
              <a:spcBef>
                <a:spcPts val="1045"/>
              </a:spcBef>
              <a:buClr>
                <a:srgbClr val="F5821F"/>
              </a:buClr>
              <a:buFont typeface="Arial"/>
              <a:buChar char="•"/>
              <a:tabLst>
                <a:tab pos="296545" algn="l"/>
              </a:tabLst>
            </a:pPr>
            <a:r>
              <a:rPr sz="2000" spc="-10" dirty="0"/>
              <a:t>Important</a:t>
            </a:r>
            <a:r>
              <a:rPr sz="2000" spc="-90" dirty="0"/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tools</a:t>
            </a:r>
            <a:r>
              <a:rPr sz="2000" b="1" u="sng" spc="-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000" b="1" u="sng" spc="-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techniques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dirty="0"/>
              <a:t>include</a:t>
            </a:r>
            <a:r>
              <a:rPr sz="2000" spc="-65" dirty="0"/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Gantt</a:t>
            </a:r>
            <a:r>
              <a:rPr sz="2000" u="sng" spc="-11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charts,</a:t>
            </a:r>
            <a:r>
              <a:rPr sz="2000" u="sng" spc="-9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critical</a:t>
            </a:r>
            <a:r>
              <a:rPr sz="2000" u="sng" spc="-10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</a:rPr>
              <a:t>path</a:t>
            </a:r>
            <a:r>
              <a:rPr sz="2000" spc="-20" dirty="0"/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analysis,</a:t>
            </a:r>
            <a:r>
              <a:rPr sz="2000" u="sng" spc="-8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and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</a:rPr>
              <a:t>Program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</a:rPr>
              <a:t>Evaluation</a:t>
            </a:r>
            <a:r>
              <a:rPr sz="2000" u="sng" spc="-10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and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</a:rPr>
              <a:t>Review</a:t>
            </a:r>
            <a:r>
              <a:rPr sz="2000" u="sng" spc="-9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30" dirty="0">
                <a:uFill>
                  <a:solidFill>
                    <a:srgbClr val="000000"/>
                  </a:solidFill>
                </a:uFill>
              </a:rPr>
              <a:t>Technique</a:t>
            </a:r>
            <a:r>
              <a:rPr sz="2000" u="sng" spc="-7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</a:rPr>
              <a:t>(PERT)</a:t>
            </a:r>
            <a:r>
              <a:rPr sz="2000" spc="-10" dirty="0"/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</a:rPr>
              <a:t>analysis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687188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Gantt</a:t>
            </a:r>
            <a:r>
              <a:rPr sz="2400" spc="-110" dirty="0"/>
              <a:t> </a:t>
            </a:r>
            <a:r>
              <a:rPr sz="2400" spc="-10" dirty="0"/>
              <a:t>Charts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9562" y="1371600"/>
            <a:ext cx="9032875" cy="261802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965">
              <a:lnSpc>
                <a:spcPct val="90000"/>
              </a:lnSpc>
              <a:spcBef>
                <a:spcPts val="43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latin typeface="Calibri"/>
                <a:cs typeface="Calibri"/>
              </a:rPr>
              <a:t>Gantt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charts</a:t>
            </a:r>
            <a:r>
              <a:rPr sz="2000" b="1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standard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format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displaying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project </a:t>
            </a:r>
            <a:r>
              <a:rPr sz="2000" dirty="0">
                <a:latin typeface="Calibri"/>
                <a:cs typeface="Calibri"/>
              </a:rPr>
              <a:t>schedule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information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listing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activities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their 	corresponding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start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finish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dates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calendar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format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Common</a:t>
            </a:r>
            <a:r>
              <a:rPr sz="2000" spc="-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symbols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include: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black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diamond: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milestones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Thick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black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bars: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summary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Lighter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horizontal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bars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(often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blue):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durations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Arrows: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dependencies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Figure</a:t>
            </a:r>
            <a:r>
              <a:rPr sz="3600" spc="-60" dirty="0"/>
              <a:t> </a:t>
            </a:r>
            <a:r>
              <a:rPr sz="3600" dirty="0"/>
              <a:t>6-6.</a:t>
            </a:r>
            <a:r>
              <a:rPr sz="3600" spc="-50" dirty="0"/>
              <a:t> </a:t>
            </a:r>
            <a:r>
              <a:rPr sz="3600" dirty="0"/>
              <a:t>Gantt</a:t>
            </a:r>
            <a:r>
              <a:rPr sz="3600" spc="-35" dirty="0"/>
              <a:t> </a:t>
            </a:r>
            <a:r>
              <a:rPr sz="3600" dirty="0"/>
              <a:t>Chart</a:t>
            </a:r>
            <a:r>
              <a:rPr sz="3600" spc="-40" dirty="0"/>
              <a:t> </a:t>
            </a:r>
            <a:r>
              <a:rPr sz="3600" dirty="0"/>
              <a:t>for</a:t>
            </a:r>
            <a:r>
              <a:rPr sz="3600" spc="-50" dirty="0"/>
              <a:t> </a:t>
            </a:r>
            <a:r>
              <a:rPr sz="3600" dirty="0"/>
              <a:t>Software</a:t>
            </a:r>
            <a:r>
              <a:rPr sz="3600" spc="-50" dirty="0"/>
              <a:t> </a:t>
            </a:r>
            <a:r>
              <a:rPr sz="3600" dirty="0"/>
              <a:t>Launch</a:t>
            </a:r>
            <a:r>
              <a:rPr sz="3600" spc="-25" dirty="0"/>
              <a:t> </a:t>
            </a:r>
            <a:r>
              <a:rPr sz="3600" spc="-10" dirty="0"/>
              <a:t>Project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4888" y="1123448"/>
            <a:ext cx="6705600" cy="548309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748743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Adding</a:t>
            </a:r>
            <a:r>
              <a:rPr sz="2800" spc="-95" dirty="0"/>
              <a:t> </a:t>
            </a:r>
            <a:r>
              <a:rPr sz="2800" dirty="0"/>
              <a:t>Milestones</a:t>
            </a:r>
            <a:r>
              <a:rPr sz="2800" spc="-90" dirty="0"/>
              <a:t> </a:t>
            </a:r>
            <a:r>
              <a:rPr sz="2800" dirty="0"/>
              <a:t>to</a:t>
            </a:r>
            <a:r>
              <a:rPr sz="2800" spc="-70" dirty="0"/>
              <a:t> </a:t>
            </a:r>
            <a:r>
              <a:rPr sz="2800" dirty="0"/>
              <a:t>Gantt</a:t>
            </a:r>
            <a:r>
              <a:rPr sz="2800" spc="-85" dirty="0"/>
              <a:t> </a:t>
            </a:r>
            <a:r>
              <a:rPr sz="2800" spc="-10" dirty="0"/>
              <a:t>Charts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812112"/>
            <a:ext cx="10177145" cy="222605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965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Many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people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focus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meeting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milestones,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especially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large 	</a:t>
            </a:r>
            <a:r>
              <a:rPr sz="2400" dirty="0">
                <a:latin typeface="Calibri"/>
                <a:cs typeface="Calibri"/>
              </a:rPr>
              <a:t>projects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(often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Performance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Indicators)</a:t>
            </a:r>
            <a:endParaRPr sz="2400" dirty="0">
              <a:latin typeface="Calibri"/>
              <a:cs typeface="Calibri"/>
            </a:endParaRPr>
          </a:p>
          <a:p>
            <a:pPr marL="241300" marR="720725" indent="-229235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Milestones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emphasize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important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events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accomplishments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 </a:t>
            </a:r>
            <a:r>
              <a:rPr sz="2400" spc="-10" dirty="0">
                <a:latin typeface="Calibri"/>
                <a:cs typeface="Calibri"/>
              </a:rPr>
              <a:t>projects</a:t>
            </a:r>
            <a:endParaRPr sz="2400" dirty="0">
              <a:latin typeface="Calibri"/>
              <a:cs typeface="Calibri"/>
            </a:endParaRPr>
          </a:p>
          <a:p>
            <a:pPr marL="241300" marR="963930" indent="-229235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Normally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milestone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entering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zero </a:t>
            </a:r>
            <a:r>
              <a:rPr sz="2400" spc="-10" dirty="0">
                <a:latin typeface="Calibri"/>
                <a:cs typeface="Calibri"/>
              </a:rPr>
              <a:t>duration,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milestone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menu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556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Figure</a:t>
            </a:r>
            <a:r>
              <a:rPr sz="3600" spc="-75" dirty="0"/>
              <a:t> </a:t>
            </a:r>
            <a:r>
              <a:rPr sz="3600" dirty="0"/>
              <a:t>6-7.</a:t>
            </a:r>
            <a:r>
              <a:rPr sz="3600" spc="-65" dirty="0"/>
              <a:t> </a:t>
            </a:r>
            <a:r>
              <a:rPr sz="3600" dirty="0"/>
              <a:t>Sample</a:t>
            </a:r>
            <a:r>
              <a:rPr sz="3600" spc="-60" dirty="0"/>
              <a:t> </a:t>
            </a:r>
            <a:r>
              <a:rPr sz="3600" spc="-20" dirty="0"/>
              <a:t>Tracking</a:t>
            </a:r>
            <a:r>
              <a:rPr sz="3600" spc="-65" dirty="0"/>
              <a:t> </a:t>
            </a:r>
            <a:r>
              <a:rPr sz="3600" dirty="0"/>
              <a:t>Gantt</a:t>
            </a:r>
            <a:r>
              <a:rPr sz="3600" spc="-45" dirty="0"/>
              <a:t> </a:t>
            </a:r>
            <a:r>
              <a:rPr sz="3600" spc="-10" dirty="0"/>
              <a:t>Chart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9991" y="1152911"/>
            <a:ext cx="9241535" cy="53393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201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Critical</a:t>
            </a:r>
            <a:r>
              <a:rPr spc="-90" dirty="0"/>
              <a:t> </a:t>
            </a:r>
            <a:r>
              <a:rPr dirty="0"/>
              <a:t>Path</a:t>
            </a:r>
            <a:r>
              <a:rPr spc="-60" dirty="0"/>
              <a:t> </a:t>
            </a:r>
            <a:r>
              <a:rPr dirty="0"/>
              <a:t>Method</a:t>
            </a:r>
            <a:r>
              <a:rPr spc="-80" dirty="0"/>
              <a:t> </a:t>
            </a:r>
            <a:r>
              <a:rPr spc="-10" dirty="0"/>
              <a:t>(CPM)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2941" y="1614931"/>
            <a:ext cx="10327640" cy="362585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2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400" b="1" dirty="0">
                <a:latin typeface="Calibri"/>
                <a:cs typeface="Calibri"/>
              </a:rPr>
              <a:t>CPM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</a:t>
            </a:r>
            <a:r>
              <a:rPr lang="en-NZ" sz="2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total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4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duration</a:t>
            </a:r>
            <a:endParaRPr sz="2400" dirty="0">
              <a:latin typeface="Calibri"/>
              <a:cs typeface="Calibri"/>
            </a:endParaRPr>
          </a:p>
          <a:p>
            <a:pPr marL="241300" marR="224790" indent="-228600">
              <a:lnSpc>
                <a:spcPts val="2590"/>
              </a:lnSpc>
              <a:spcBef>
                <a:spcPts val="104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series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determines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earliest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completed</a:t>
            </a:r>
            <a:endParaRPr sz="2400" dirty="0">
              <a:latin typeface="Calibri"/>
              <a:cs typeface="Calibri"/>
            </a:endParaRPr>
          </a:p>
          <a:p>
            <a:pPr marL="240665" indent="-227965">
              <a:lnSpc>
                <a:spcPts val="2735"/>
              </a:lnSpc>
              <a:spcBef>
                <a:spcPts val="67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critical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longest</a:t>
            </a:r>
            <a:r>
              <a:rPr sz="2400" i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</a:t>
            </a:r>
            <a:r>
              <a:rPr sz="2400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least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amount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slack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float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590"/>
              </a:lnSpc>
              <a:spcBef>
                <a:spcPts val="103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Slack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float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amount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delayed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delaying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succeeding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finish</a:t>
            </a:r>
            <a:r>
              <a:rPr sz="24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date</a:t>
            </a:r>
            <a:endParaRPr sz="2400" dirty="0">
              <a:latin typeface="Calibri"/>
              <a:cs typeface="Calibri"/>
            </a:endParaRPr>
          </a:p>
          <a:p>
            <a:pPr marL="241300" marR="80645" indent="-228600">
              <a:lnSpc>
                <a:spcPts val="2590"/>
              </a:lnSpc>
              <a:spcBef>
                <a:spcPts val="101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Activities</a:t>
            </a:r>
            <a:r>
              <a:rPr sz="240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</a:t>
            </a:r>
            <a:r>
              <a:rPr sz="240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fall</a:t>
            </a:r>
            <a:r>
              <a:rPr sz="240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40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must</a:t>
            </a:r>
            <a:r>
              <a:rPr sz="240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started</a:t>
            </a:r>
            <a:r>
              <a:rPr sz="2400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40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finished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time,</a:t>
            </a:r>
            <a:r>
              <a:rPr sz="2400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otherwise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2400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delay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other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tasks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4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overall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completion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 </a:t>
            </a:r>
            <a:r>
              <a:rPr sz="24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609676"/>
            <a:ext cx="6384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Calculating</a:t>
            </a:r>
            <a:r>
              <a:rPr spc="-7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Critical</a:t>
            </a:r>
            <a:r>
              <a:rPr spc="-65" dirty="0"/>
              <a:t> </a:t>
            </a:r>
            <a:r>
              <a:rPr spc="-20" dirty="0"/>
              <a:t>Path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7136" y="1445488"/>
            <a:ext cx="10225405" cy="430861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7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First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develop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effective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diagram</a:t>
            </a:r>
            <a:endParaRPr sz="2600" dirty="0">
              <a:latin typeface="Calibri"/>
              <a:cs typeface="Calibri"/>
            </a:endParaRPr>
          </a:p>
          <a:p>
            <a:pPr marL="240029" marR="730885" indent="-227965">
              <a:lnSpc>
                <a:spcPct val="80000"/>
              </a:lnSpc>
              <a:spcBef>
                <a:spcPts val="99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Add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duration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estimates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activities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each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path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through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	</a:t>
            </a:r>
            <a:r>
              <a:rPr sz="2600" dirty="0">
                <a:latin typeface="Calibri"/>
                <a:cs typeface="Calibri"/>
              </a:rPr>
              <a:t>network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diagram</a:t>
            </a:r>
            <a:endParaRPr sz="26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longest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path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beginning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critical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path</a:t>
            </a:r>
            <a:endParaRPr sz="2600" dirty="0">
              <a:latin typeface="Calibri"/>
              <a:cs typeface="Calibri"/>
            </a:endParaRPr>
          </a:p>
          <a:p>
            <a:pPr marL="240029" marR="304165" indent="-227965">
              <a:lnSpc>
                <a:spcPct val="80000"/>
              </a:lnSpc>
              <a:spcBef>
                <a:spcPts val="100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If</a:t>
            </a:r>
            <a:r>
              <a:rPr sz="26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one</a:t>
            </a:r>
            <a:r>
              <a:rPr sz="26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26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more</a:t>
            </a:r>
            <a:r>
              <a:rPr sz="26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6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6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activities</a:t>
            </a:r>
            <a:r>
              <a:rPr sz="26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6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6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6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</a:t>
            </a:r>
            <a:r>
              <a:rPr sz="26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takes</a:t>
            </a:r>
            <a:r>
              <a:rPr sz="26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longer</a:t>
            </a:r>
            <a:r>
              <a:rPr sz="26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than</a:t>
            </a:r>
            <a:r>
              <a:rPr sz="2600" spc="-20" dirty="0">
                <a:latin typeface="Calibri"/>
                <a:cs typeface="Calibri"/>
              </a:rPr>
              <a:t> 	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planned,</a:t>
            </a:r>
            <a:r>
              <a:rPr sz="26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6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whole</a:t>
            </a:r>
            <a:r>
              <a:rPr sz="2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6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schedule</a:t>
            </a:r>
            <a:r>
              <a:rPr sz="26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2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slip</a:t>
            </a:r>
            <a:r>
              <a:rPr sz="26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unless</a:t>
            </a:r>
            <a:r>
              <a:rPr sz="26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	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corrective</a:t>
            </a:r>
            <a:r>
              <a:rPr sz="2600" u="sng" spc="-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action</a:t>
            </a:r>
            <a:r>
              <a:rPr lang="en-NZ" sz="2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 are taken</a:t>
            </a:r>
            <a:endParaRPr sz="2600" dirty="0">
              <a:latin typeface="Calibri"/>
              <a:cs typeface="Calibri"/>
            </a:endParaRPr>
          </a:p>
          <a:p>
            <a:pPr marL="240029" marR="5080" indent="-227965">
              <a:lnSpc>
                <a:spcPct val="80000"/>
              </a:lnSpc>
              <a:spcBef>
                <a:spcPts val="99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Sometimes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could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mean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staff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working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overtime,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adding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staff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	</a:t>
            </a:r>
            <a:r>
              <a:rPr sz="2600" dirty="0">
                <a:latin typeface="Calibri"/>
                <a:cs typeface="Calibri"/>
              </a:rPr>
              <a:t>project,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outsourcing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aspects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rather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in-</a:t>
            </a:r>
            <a:r>
              <a:rPr sz="2600" dirty="0">
                <a:latin typeface="Calibri"/>
                <a:cs typeface="Calibri"/>
              </a:rPr>
              <a:t>house,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pulling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resources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from 	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projects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(potentially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delaying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them)</a:t>
            </a:r>
            <a:endParaRPr sz="26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Pulling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back on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 on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scope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21230" algn="l"/>
              </a:tabLst>
            </a:pPr>
            <a:r>
              <a:rPr sz="3600" dirty="0"/>
              <a:t>Figure</a:t>
            </a:r>
            <a:r>
              <a:rPr sz="3600" spc="-60" dirty="0"/>
              <a:t> </a:t>
            </a:r>
            <a:r>
              <a:rPr sz="3600" dirty="0"/>
              <a:t>6-</a:t>
            </a:r>
            <a:r>
              <a:rPr sz="3600" spc="-25" dirty="0"/>
              <a:t>8.</a:t>
            </a:r>
            <a:r>
              <a:rPr sz="3600" dirty="0"/>
              <a:t>	Determining</a:t>
            </a:r>
            <a:r>
              <a:rPr sz="3600" spc="-60" dirty="0"/>
              <a:t> </a:t>
            </a:r>
            <a:r>
              <a:rPr sz="3600" dirty="0"/>
              <a:t>the</a:t>
            </a:r>
            <a:r>
              <a:rPr sz="3600" spc="-70" dirty="0"/>
              <a:t> </a:t>
            </a:r>
            <a:r>
              <a:rPr sz="3600" dirty="0"/>
              <a:t>Critical</a:t>
            </a:r>
            <a:r>
              <a:rPr sz="3600" spc="-75" dirty="0"/>
              <a:t> </a:t>
            </a:r>
            <a:r>
              <a:rPr sz="3600" dirty="0"/>
              <a:t>Path</a:t>
            </a:r>
            <a:r>
              <a:rPr sz="3600" spc="-70" dirty="0"/>
              <a:t> </a:t>
            </a:r>
            <a:r>
              <a:rPr sz="3600" dirty="0"/>
              <a:t>for</a:t>
            </a:r>
            <a:r>
              <a:rPr sz="3600" spc="-70" dirty="0"/>
              <a:t> </a:t>
            </a:r>
            <a:r>
              <a:rPr sz="3600" dirty="0"/>
              <a:t>Project</a:t>
            </a:r>
            <a:r>
              <a:rPr sz="3600" spc="-65" dirty="0"/>
              <a:t> </a:t>
            </a:r>
            <a:r>
              <a:rPr sz="3600" spc="-50" dirty="0"/>
              <a:t>X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2450182" y="1167383"/>
            <a:ext cx="8107045" cy="5537835"/>
            <a:chOff x="2450182" y="1167383"/>
            <a:chExt cx="8107045" cy="55378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0182" y="1167383"/>
              <a:ext cx="8106770" cy="55373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7620" y="2567927"/>
              <a:ext cx="1620012" cy="6036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47744" y="2836163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1015491" y="0"/>
                  </a:moveTo>
                  <a:lnTo>
                    <a:pt x="1015491" y="76200"/>
                  </a:lnTo>
                  <a:lnTo>
                    <a:pt x="1078991" y="44450"/>
                  </a:lnTo>
                  <a:lnTo>
                    <a:pt x="1028191" y="44450"/>
                  </a:lnTo>
                  <a:lnTo>
                    <a:pt x="1028191" y="31750"/>
                  </a:lnTo>
                  <a:lnTo>
                    <a:pt x="1078991" y="31750"/>
                  </a:lnTo>
                  <a:lnTo>
                    <a:pt x="1015491" y="0"/>
                  </a:lnTo>
                  <a:close/>
                </a:path>
                <a:path w="1092200" h="76200">
                  <a:moveTo>
                    <a:pt x="101549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015491" y="44450"/>
                  </a:lnTo>
                  <a:lnTo>
                    <a:pt x="1015491" y="31750"/>
                  </a:lnTo>
                  <a:close/>
                </a:path>
                <a:path w="1092200" h="76200">
                  <a:moveTo>
                    <a:pt x="1078991" y="31750"/>
                  </a:moveTo>
                  <a:lnTo>
                    <a:pt x="1028191" y="31750"/>
                  </a:lnTo>
                  <a:lnTo>
                    <a:pt x="1028191" y="44450"/>
                  </a:lnTo>
                  <a:lnTo>
                    <a:pt x="1078991" y="44450"/>
                  </a:lnTo>
                  <a:lnTo>
                    <a:pt x="1091691" y="38100"/>
                  </a:lnTo>
                  <a:lnTo>
                    <a:pt x="1078991" y="3175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63183" y="1728279"/>
              <a:ext cx="1874519" cy="12054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93561" y="2034539"/>
              <a:ext cx="1346835" cy="677545"/>
            </a:xfrm>
            <a:custGeom>
              <a:avLst/>
              <a:gdLst/>
              <a:ahLst/>
              <a:cxnLst/>
              <a:rect l="l" t="t" r="r" b="b"/>
              <a:pathLst>
                <a:path w="1346834" h="677544">
                  <a:moveTo>
                    <a:pt x="1275414" y="28407"/>
                  </a:moveTo>
                  <a:lnTo>
                    <a:pt x="0" y="666114"/>
                  </a:lnTo>
                  <a:lnTo>
                    <a:pt x="5587" y="677545"/>
                  </a:lnTo>
                  <a:lnTo>
                    <a:pt x="1281070" y="39740"/>
                  </a:lnTo>
                  <a:lnTo>
                    <a:pt x="1275414" y="28407"/>
                  </a:lnTo>
                  <a:close/>
                </a:path>
                <a:path w="1346834" h="677544">
                  <a:moveTo>
                    <a:pt x="1329393" y="22733"/>
                  </a:moveTo>
                  <a:lnTo>
                    <a:pt x="1286764" y="22733"/>
                  </a:lnTo>
                  <a:lnTo>
                    <a:pt x="1292479" y="34036"/>
                  </a:lnTo>
                  <a:lnTo>
                    <a:pt x="1281070" y="39740"/>
                  </a:lnTo>
                  <a:lnTo>
                    <a:pt x="1295272" y="68199"/>
                  </a:lnTo>
                  <a:lnTo>
                    <a:pt x="1329393" y="22733"/>
                  </a:lnTo>
                  <a:close/>
                </a:path>
                <a:path w="1346834" h="677544">
                  <a:moveTo>
                    <a:pt x="1286764" y="22733"/>
                  </a:moveTo>
                  <a:lnTo>
                    <a:pt x="1275414" y="28407"/>
                  </a:lnTo>
                  <a:lnTo>
                    <a:pt x="1281070" y="39740"/>
                  </a:lnTo>
                  <a:lnTo>
                    <a:pt x="1292479" y="34036"/>
                  </a:lnTo>
                  <a:lnTo>
                    <a:pt x="1286764" y="22733"/>
                  </a:lnTo>
                  <a:close/>
                </a:path>
                <a:path w="1346834" h="677544">
                  <a:moveTo>
                    <a:pt x="1346454" y="0"/>
                  </a:moveTo>
                  <a:lnTo>
                    <a:pt x="1261237" y="0"/>
                  </a:lnTo>
                  <a:lnTo>
                    <a:pt x="1275414" y="28407"/>
                  </a:lnTo>
                  <a:lnTo>
                    <a:pt x="1286764" y="22733"/>
                  </a:lnTo>
                  <a:lnTo>
                    <a:pt x="1329393" y="22733"/>
                  </a:lnTo>
                  <a:lnTo>
                    <a:pt x="134645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41108" y="2052878"/>
              <a:ext cx="952576" cy="9525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571359" y="2283078"/>
              <a:ext cx="424815" cy="424815"/>
            </a:xfrm>
            <a:custGeom>
              <a:avLst/>
              <a:gdLst/>
              <a:ahLst/>
              <a:cxnLst/>
              <a:rect l="l" t="t" r="r" b="b"/>
              <a:pathLst>
                <a:path w="424815" h="424814">
                  <a:moveTo>
                    <a:pt x="365952" y="374965"/>
                  </a:moveTo>
                  <a:lnTo>
                    <a:pt x="343535" y="397383"/>
                  </a:lnTo>
                  <a:lnTo>
                    <a:pt x="424307" y="424307"/>
                  </a:lnTo>
                  <a:lnTo>
                    <a:pt x="410845" y="383921"/>
                  </a:lnTo>
                  <a:lnTo>
                    <a:pt x="374904" y="383921"/>
                  </a:lnTo>
                  <a:lnTo>
                    <a:pt x="365952" y="374965"/>
                  </a:lnTo>
                  <a:close/>
                </a:path>
                <a:path w="424815" h="424814">
                  <a:moveTo>
                    <a:pt x="374965" y="365952"/>
                  </a:moveTo>
                  <a:lnTo>
                    <a:pt x="365952" y="374965"/>
                  </a:lnTo>
                  <a:lnTo>
                    <a:pt x="374904" y="383921"/>
                  </a:lnTo>
                  <a:lnTo>
                    <a:pt x="383921" y="374904"/>
                  </a:lnTo>
                  <a:lnTo>
                    <a:pt x="374965" y="365952"/>
                  </a:lnTo>
                  <a:close/>
                </a:path>
                <a:path w="424815" h="424814">
                  <a:moveTo>
                    <a:pt x="397383" y="343535"/>
                  </a:moveTo>
                  <a:lnTo>
                    <a:pt x="374965" y="365952"/>
                  </a:lnTo>
                  <a:lnTo>
                    <a:pt x="383921" y="374904"/>
                  </a:lnTo>
                  <a:lnTo>
                    <a:pt x="374904" y="383921"/>
                  </a:lnTo>
                  <a:lnTo>
                    <a:pt x="410845" y="383921"/>
                  </a:lnTo>
                  <a:lnTo>
                    <a:pt x="397383" y="343535"/>
                  </a:lnTo>
                  <a:close/>
                </a:path>
                <a:path w="424815" h="424814">
                  <a:moveTo>
                    <a:pt x="8890" y="0"/>
                  </a:moveTo>
                  <a:lnTo>
                    <a:pt x="0" y="8890"/>
                  </a:lnTo>
                  <a:lnTo>
                    <a:pt x="365952" y="374965"/>
                  </a:lnTo>
                  <a:lnTo>
                    <a:pt x="374965" y="365952"/>
                  </a:lnTo>
                  <a:lnTo>
                    <a:pt x="889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85403" y="2567952"/>
              <a:ext cx="1536192" cy="60514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415401" y="2835148"/>
              <a:ext cx="1008380" cy="76200"/>
            </a:xfrm>
            <a:custGeom>
              <a:avLst/>
              <a:gdLst/>
              <a:ahLst/>
              <a:cxnLst/>
              <a:rect l="l" t="t" r="r" b="b"/>
              <a:pathLst>
                <a:path w="1008379" h="76200">
                  <a:moveTo>
                    <a:pt x="932433" y="0"/>
                  </a:moveTo>
                  <a:lnTo>
                    <a:pt x="931799" y="31747"/>
                  </a:lnTo>
                  <a:lnTo>
                    <a:pt x="944499" y="32003"/>
                  </a:lnTo>
                  <a:lnTo>
                    <a:pt x="944245" y="44703"/>
                  </a:lnTo>
                  <a:lnTo>
                    <a:pt x="931539" y="44703"/>
                  </a:lnTo>
                  <a:lnTo>
                    <a:pt x="930909" y="76200"/>
                  </a:lnTo>
                  <a:lnTo>
                    <a:pt x="997182" y="44703"/>
                  </a:lnTo>
                  <a:lnTo>
                    <a:pt x="944245" y="44703"/>
                  </a:lnTo>
                  <a:lnTo>
                    <a:pt x="931545" y="44447"/>
                  </a:lnTo>
                  <a:lnTo>
                    <a:pt x="997721" y="44447"/>
                  </a:lnTo>
                  <a:lnTo>
                    <a:pt x="1007872" y="39624"/>
                  </a:lnTo>
                  <a:lnTo>
                    <a:pt x="932433" y="0"/>
                  </a:lnTo>
                  <a:close/>
                </a:path>
                <a:path w="1008379" h="76200">
                  <a:moveTo>
                    <a:pt x="931799" y="31747"/>
                  </a:moveTo>
                  <a:lnTo>
                    <a:pt x="931545" y="44447"/>
                  </a:lnTo>
                  <a:lnTo>
                    <a:pt x="944245" y="44703"/>
                  </a:lnTo>
                  <a:lnTo>
                    <a:pt x="944499" y="32003"/>
                  </a:lnTo>
                  <a:lnTo>
                    <a:pt x="931799" y="31747"/>
                  </a:lnTo>
                  <a:close/>
                </a:path>
                <a:path w="1008379" h="76200">
                  <a:moveTo>
                    <a:pt x="253" y="12953"/>
                  </a:moveTo>
                  <a:lnTo>
                    <a:pt x="0" y="25653"/>
                  </a:lnTo>
                  <a:lnTo>
                    <a:pt x="931545" y="44447"/>
                  </a:lnTo>
                  <a:lnTo>
                    <a:pt x="931799" y="31747"/>
                  </a:lnTo>
                  <a:lnTo>
                    <a:pt x="253" y="12953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More</a:t>
            </a:r>
            <a:r>
              <a:rPr spc="-45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Critical</a:t>
            </a:r>
            <a:r>
              <a:rPr spc="-50" dirty="0"/>
              <a:t> </a:t>
            </a:r>
            <a:r>
              <a:rPr spc="-20" dirty="0"/>
              <a:t>Path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658188"/>
            <a:ext cx="9488805" cy="26276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393065" indent="-227965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sz="2800" i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one</a:t>
            </a:r>
            <a:r>
              <a:rPr sz="28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all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activities;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2800" spc="-25" dirty="0">
                <a:latin typeface="Calibri"/>
                <a:cs typeface="Calibri"/>
              </a:rPr>
              <a:t> 	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only</a:t>
            </a:r>
            <a:r>
              <a:rPr sz="2800" u="sng" spc="-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accounts</a:t>
            </a:r>
            <a:r>
              <a:rPr sz="28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2800" u="sng" spc="-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There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can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more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than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one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if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lengths</a:t>
            </a:r>
            <a:r>
              <a:rPr sz="2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two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more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paths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are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same</a:t>
            </a:r>
            <a:endParaRPr sz="2800">
              <a:latin typeface="Calibri"/>
              <a:cs typeface="Calibri"/>
            </a:endParaRPr>
          </a:p>
          <a:p>
            <a:pPr marL="241300" marR="1189355" indent="-229235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can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change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several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times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progresses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0955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Using</a:t>
            </a:r>
            <a:r>
              <a:rPr spc="-65" dirty="0"/>
              <a:t> </a:t>
            </a:r>
            <a:r>
              <a:rPr dirty="0"/>
              <a:t>Critical</a:t>
            </a:r>
            <a:r>
              <a:rPr spc="-80" dirty="0"/>
              <a:t> </a:t>
            </a:r>
            <a:r>
              <a:rPr dirty="0"/>
              <a:t>Path</a:t>
            </a:r>
            <a:r>
              <a:rPr spc="-80" dirty="0"/>
              <a:t> </a:t>
            </a:r>
            <a:r>
              <a:rPr dirty="0"/>
              <a:t>Analysis</a:t>
            </a:r>
            <a:r>
              <a:rPr spc="-7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spc="-20" dirty="0"/>
              <a:t>Make </a:t>
            </a:r>
            <a:r>
              <a:rPr dirty="0"/>
              <a:t>Schedule</a:t>
            </a:r>
            <a:r>
              <a:rPr spc="-65" dirty="0"/>
              <a:t> </a:t>
            </a:r>
            <a:r>
              <a:rPr spc="-55" dirty="0"/>
              <a:t>Trade-</a:t>
            </a:r>
            <a:r>
              <a:rPr spc="-20" dirty="0"/>
              <a:t>offs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812112"/>
            <a:ext cx="10054590" cy="39065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730250" indent="-227965">
              <a:lnSpc>
                <a:spcPct val="90000"/>
              </a:lnSpc>
              <a:spcBef>
                <a:spcPts val="43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Free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slack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free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float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amount</a:t>
            </a:r>
            <a:r>
              <a:rPr sz="2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</a:t>
            </a:r>
            <a:r>
              <a:rPr sz="28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activity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can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2800" spc="-25" dirty="0">
                <a:latin typeface="Calibri"/>
                <a:cs typeface="Calibri"/>
              </a:rPr>
              <a:t> 	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delayed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without</a:t>
            </a:r>
            <a:r>
              <a:rPr sz="28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delaying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early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on-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start</a:t>
            </a:r>
            <a:r>
              <a:rPr sz="2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any</a:t>
            </a:r>
            <a:r>
              <a:rPr sz="2800" spc="-25" dirty="0">
                <a:latin typeface="Calibri"/>
                <a:cs typeface="Calibri"/>
              </a:rPr>
              <a:t> 	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immediately</a:t>
            </a:r>
            <a:r>
              <a:rPr sz="2800" u="sng" spc="-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following</a:t>
            </a:r>
            <a:r>
              <a:rPr sz="2800" u="sng" spc="-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activities</a:t>
            </a:r>
            <a:endParaRPr sz="2800">
              <a:latin typeface="Calibri"/>
              <a:cs typeface="Calibri"/>
            </a:endParaRPr>
          </a:p>
          <a:p>
            <a:pPr marL="241300" marR="5080" indent="-229235">
              <a:lnSpc>
                <a:spcPts val="3030"/>
              </a:lnSpc>
              <a:spcBef>
                <a:spcPts val="104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b="1" spc="-50" dirty="0">
                <a:latin typeface="Calibri"/>
                <a:cs typeface="Calibri"/>
              </a:rPr>
              <a:t>Total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slack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total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float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amount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activity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may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delayed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from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its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early</a:t>
            </a:r>
            <a:r>
              <a:rPr sz="2800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28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on-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start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without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delaying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planned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800" u="sng" spc="-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finish</a:t>
            </a:r>
            <a:r>
              <a:rPr sz="2800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date</a:t>
            </a:r>
            <a:endParaRPr sz="2800">
              <a:latin typeface="Calibri"/>
              <a:cs typeface="Calibri"/>
            </a:endParaRPr>
          </a:p>
          <a:p>
            <a:pPr marL="241300" marR="184785" indent="-229235">
              <a:lnSpc>
                <a:spcPts val="3020"/>
              </a:lnSpc>
              <a:spcBef>
                <a:spcPts val="99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forward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pass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through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network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diagram</a:t>
            </a:r>
            <a:r>
              <a:rPr sz="28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determines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early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start</a:t>
            </a:r>
            <a:r>
              <a:rPr sz="28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finish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dates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backward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pass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determines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late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start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finish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0955" marR="5080">
              <a:lnSpc>
                <a:spcPts val="4320"/>
              </a:lnSpc>
              <a:spcBef>
                <a:spcPts val="640"/>
              </a:spcBef>
            </a:pPr>
            <a:r>
              <a:rPr sz="4000" spc="-55" dirty="0"/>
              <a:t>Table</a:t>
            </a:r>
            <a:r>
              <a:rPr sz="4000" spc="-100" dirty="0"/>
              <a:t> </a:t>
            </a:r>
            <a:r>
              <a:rPr sz="4000" spc="-10" dirty="0"/>
              <a:t>6-</a:t>
            </a:r>
            <a:r>
              <a:rPr sz="4000" dirty="0"/>
              <a:t>1.</a:t>
            </a:r>
            <a:r>
              <a:rPr sz="4000" spc="-105" dirty="0"/>
              <a:t> </a:t>
            </a:r>
            <a:r>
              <a:rPr sz="4000" dirty="0"/>
              <a:t>Free</a:t>
            </a:r>
            <a:r>
              <a:rPr sz="4000" spc="-90" dirty="0"/>
              <a:t> </a:t>
            </a:r>
            <a:r>
              <a:rPr sz="4000" dirty="0"/>
              <a:t>and</a:t>
            </a:r>
            <a:r>
              <a:rPr sz="4000" spc="-80" dirty="0"/>
              <a:t> </a:t>
            </a:r>
            <a:r>
              <a:rPr sz="4000" spc="-70" dirty="0"/>
              <a:t>Total</a:t>
            </a:r>
            <a:r>
              <a:rPr sz="4000" spc="-95" dirty="0"/>
              <a:t> </a:t>
            </a:r>
            <a:r>
              <a:rPr sz="4000" dirty="0"/>
              <a:t>Float</a:t>
            </a:r>
            <a:r>
              <a:rPr sz="4000" spc="-80" dirty="0"/>
              <a:t> </a:t>
            </a:r>
            <a:r>
              <a:rPr sz="4000" dirty="0"/>
              <a:t>or</a:t>
            </a:r>
            <a:r>
              <a:rPr sz="4000" spc="-100" dirty="0"/>
              <a:t> </a:t>
            </a:r>
            <a:r>
              <a:rPr sz="4000" dirty="0"/>
              <a:t>Slack</a:t>
            </a:r>
            <a:r>
              <a:rPr sz="4000" spc="-85" dirty="0"/>
              <a:t> </a:t>
            </a:r>
            <a:r>
              <a:rPr sz="4000" spc="-25" dirty="0"/>
              <a:t>for </a:t>
            </a:r>
            <a:r>
              <a:rPr sz="4000" dirty="0"/>
              <a:t>Project</a:t>
            </a:r>
            <a:r>
              <a:rPr sz="4000" spc="-185" dirty="0"/>
              <a:t> </a:t>
            </a:r>
            <a:r>
              <a:rPr sz="4000" spc="-50" dirty="0"/>
              <a:t>X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0864" y="1644395"/>
            <a:ext cx="7975092" cy="46527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854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Controlling</a:t>
            </a:r>
            <a:r>
              <a:rPr spc="-12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642265"/>
            <a:ext cx="9734550" cy="31781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800" spc="-50" dirty="0">
                <a:latin typeface="Calibri"/>
                <a:cs typeface="Calibri"/>
              </a:rPr>
              <a:t>Tools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techniques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include</a:t>
            </a:r>
            <a:endParaRPr sz="2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path,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Milestone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reports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9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Progress</a:t>
            </a:r>
            <a:r>
              <a:rPr sz="2400" u="sng" spc="-1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reports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00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schedule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change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control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ts val="2735"/>
              </a:lnSpc>
              <a:spcBef>
                <a:spcPts val="219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management</a:t>
            </a:r>
            <a:r>
              <a:rPr sz="24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software,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including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schedule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comparison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charts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like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tracking</a:t>
            </a:r>
            <a:r>
              <a:rPr sz="24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Gantt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chart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Variance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analysis,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such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analysing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float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slack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Performance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management,</a:t>
            </a:r>
            <a:r>
              <a:rPr sz="24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such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Earned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Value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Analysis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(EVA)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97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4177" y="1678889"/>
            <a:ext cx="10306050" cy="410082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665" marR="5080" indent="-228600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Project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schedule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often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cited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source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conflict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exceed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initial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estimates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Main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include</a:t>
            </a:r>
            <a:endParaRPr sz="28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34"/>
              </a:spcBef>
              <a:buClr>
                <a:srgbClr val="F5821F"/>
              </a:buClr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Plan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schedule</a:t>
            </a:r>
            <a:r>
              <a:rPr sz="2400" spc="-10" dirty="0">
                <a:latin typeface="Calibri"/>
                <a:cs typeface="Calibri"/>
              </a:rPr>
              <a:t> management</a:t>
            </a:r>
            <a:endParaRPr sz="24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15"/>
              </a:spcBef>
              <a:buClr>
                <a:srgbClr val="F5821F"/>
              </a:buClr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activities</a:t>
            </a:r>
            <a:endParaRPr sz="24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15"/>
              </a:spcBef>
              <a:buClr>
                <a:srgbClr val="F5821F"/>
              </a:buClr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Sequence </a:t>
            </a:r>
            <a:r>
              <a:rPr sz="2400" spc="-10" dirty="0">
                <a:latin typeface="Calibri"/>
                <a:cs typeface="Calibri"/>
              </a:rPr>
              <a:t>activities</a:t>
            </a:r>
            <a:endParaRPr sz="24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Estimate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</a:t>
            </a:r>
            <a:endParaRPr sz="24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15"/>
              </a:spcBef>
              <a:buClr>
                <a:srgbClr val="F5821F"/>
              </a:buClr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Estimate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durations</a:t>
            </a:r>
            <a:endParaRPr sz="24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20"/>
              </a:spcBef>
              <a:buClr>
                <a:srgbClr val="F5821F"/>
              </a:buClr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Develop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schedule</a:t>
            </a:r>
            <a:endParaRPr sz="24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Control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schedule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609676"/>
            <a:ext cx="2595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Homework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594" y="1545793"/>
            <a:ext cx="8769985" cy="173228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Before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next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week’s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Chapter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Information </a:t>
            </a:r>
            <a:r>
              <a:rPr sz="2800" i="1" spc="-30" dirty="0">
                <a:latin typeface="Calibri"/>
                <a:cs typeface="Calibri"/>
              </a:rPr>
              <a:t>Technology</a:t>
            </a:r>
            <a:r>
              <a:rPr sz="2800" i="1" spc="-10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Project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Management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(2019)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Kathy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Schwalbe</a:t>
            </a:r>
            <a:endParaRPr sz="2800">
              <a:latin typeface="Calibri"/>
              <a:cs typeface="Calibri"/>
            </a:endParaRPr>
          </a:p>
          <a:p>
            <a:pPr marL="241300" marR="306070" indent="-228600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Start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Assignment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submit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 </a:t>
            </a:r>
            <a:r>
              <a:rPr sz="2800" spc="-10" dirty="0">
                <a:latin typeface="Calibri"/>
                <a:cs typeface="Calibri"/>
              </a:rPr>
              <a:t>Canvas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5872</TotalTime>
  <Words>2091</Words>
  <Application>Microsoft Office PowerPoint</Application>
  <PresentationFormat>Widescreen</PresentationFormat>
  <Paragraphs>182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Times New Roman</vt:lpstr>
      <vt:lpstr>Office Theme</vt:lpstr>
      <vt:lpstr>COMP507 IT Project Management Schedule Management Daniel</vt:lpstr>
      <vt:lpstr>Learning Objectives</vt:lpstr>
      <vt:lpstr>Project Schedule Management Processes</vt:lpstr>
      <vt:lpstr>Planning Schedule Management</vt:lpstr>
      <vt:lpstr>WBS- Defining Activities/Task</vt:lpstr>
      <vt:lpstr>Activity/Task List and Attributes</vt:lpstr>
      <vt:lpstr>Milestones</vt:lpstr>
      <vt:lpstr>Three types of Dependencies</vt:lpstr>
      <vt:lpstr>Network Diagrams</vt:lpstr>
      <vt:lpstr>Figure 6-2. Network Diagram for Project X</vt:lpstr>
      <vt:lpstr>Arrow Diagram Methods (ADM)</vt:lpstr>
      <vt:lpstr>Process for Creating AOA Diagrams</vt:lpstr>
      <vt:lpstr>Precedence Diagram Method (PDM)</vt:lpstr>
      <vt:lpstr>Figure 6-4. Sample PDM Network Diagram</vt:lpstr>
      <vt:lpstr>Figure 6-3. Task Dependency Types</vt:lpstr>
      <vt:lpstr>Three-Point Estimates</vt:lpstr>
      <vt:lpstr>PERT Formula and Example</vt:lpstr>
      <vt:lpstr>Developing the schedule itself</vt:lpstr>
      <vt:lpstr>Gantt Charts</vt:lpstr>
      <vt:lpstr>Figure 6-6. Gantt Chart for Software Launch Project</vt:lpstr>
      <vt:lpstr>Adding Milestones to Gantt Charts</vt:lpstr>
      <vt:lpstr>Figure 6-7. Sample Tracking Gantt Chart</vt:lpstr>
      <vt:lpstr>Critical Path Method (CPM)</vt:lpstr>
      <vt:lpstr>Calculating the Critical Path</vt:lpstr>
      <vt:lpstr>Figure 6-8. Determining the Critical Path for Project X</vt:lpstr>
      <vt:lpstr>More on the Critical Path</vt:lpstr>
      <vt:lpstr>Using Critical Path Analysis to Make Schedule Trade-offs</vt:lpstr>
      <vt:lpstr>Table 6-1. Free and Total Float or Slack for Project X</vt:lpstr>
      <vt:lpstr>Controlling the Schedule</vt:lpstr>
      <vt:lpstr>Summary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</dc:title>
  <dc:creator>stephen.thorpe@aut.ac.nz</dc:creator>
  <cp:lastModifiedBy>Daniel Vaipulu</cp:lastModifiedBy>
  <cp:revision>6</cp:revision>
  <dcterms:created xsi:type="dcterms:W3CDTF">2023-08-16T01:26:51Z</dcterms:created>
  <dcterms:modified xsi:type="dcterms:W3CDTF">2025-04-07T01:40:09Z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2023-08-16T00:00:00Z</vt:filetime>
  </property>
  <property fmtid="{D5CDD505-2E9C-101B-9397-08002B2CF9AE}" pid="5" name="Producer">
    <vt:lpwstr>Microsoft® PowerPoint® for Microsoft 365</vt:lpwstr>
  </property>
</Properties>
</file>