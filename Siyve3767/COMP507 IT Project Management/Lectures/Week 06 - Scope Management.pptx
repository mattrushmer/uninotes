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8" r:id="rId3"/>
    <p:sldId id="413" r:id="rId4"/>
    <p:sldId id="292" r:id="rId5"/>
    <p:sldId id="424" r:id="rId6"/>
    <p:sldId id="260" r:id="rId7"/>
    <p:sldId id="261" r:id="rId8"/>
    <p:sldId id="423" r:id="rId9"/>
    <p:sldId id="264" r:id="rId10"/>
    <p:sldId id="265" r:id="rId11"/>
    <p:sldId id="406" r:id="rId12"/>
    <p:sldId id="401" r:id="rId13"/>
    <p:sldId id="402" r:id="rId14"/>
    <p:sldId id="403" r:id="rId15"/>
    <p:sldId id="405" r:id="rId16"/>
    <p:sldId id="404" r:id="rId17"/>
    <p:sldId id="269" r:id="rId18"/>
    <p:sldId id="270" r:id="rId19"/>
    <p:sldId id="271" r:id="rId20"/>
    <p:sldId id="273" r:id="rId21"/>
    <p:sldId id="409" r:id="rId22"/>
    <p:sldId id="421" r:id="rId23"/>
    <p:sldId id="415" r:id="rId24"/>
    <p:sldId id="416" r:id="rId25"/>
    <p:sldId id="417" r:id="rId26"/>
    <p:sldId id="418" r:id="rId27"/>
    <p:sldId id="419" r:id="rId28"/>
    <p:sldId id="284" r:id="rId29"/>
    <p:sldId id="286" r:id="rId30"/>
    <p:sldId id="287" r:id="rId31"/>
    <p:sldId id="290" r:id="rId32"/>
    <p:sldId id="291"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487" autoAdjust="0"/>
  </p:normalViewPr>
  <p:slideViewPr>
    <p:cSldViewPr>
      <p:cViewPr varScale="1">
        <p:scale>
          <a:sx n="81" d="100"/>
          <a:sy n="81" d="100"/>
        </p:scale>
        <p:origin x="1716"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C09BA19-51CA-4DFE-8394-AAB51DDA6AC5}" type="datetimeFigureOut">
              <a:rPr lang="en-NZ" smtClean="0"/>
              <a:t>2/04/2026</a:t>
            </a:fld>
            <a:endParaRPr lang="en-NZ"/>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8B37051-F0D8-4049-A357-D505E3CD7F02}" type="slidenum">
              <a:rPr lang="en-NZ" smtClean="0"/>
              <a:t>‹#›</a:t>
            </a:fld>
            <a:endParaRPr lang="en-NZ"/>
          </a:p>
        </p:txBody>
      </p:sp>
    </p:spTree>
    <p:extLst>
      <p:ext uri="{BB962C8B-B14F-4D97-AF65-F5344CB8AC3E}">
        <p14:creationId xmlns:p14="http://schemas.microsoft.com/office/powerpoint/2010/main" val="967100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8B37051-F0D8-4049-A357-D505E3CD7F02}" type="slidenum">
              <a:rPr kumimoji="0" lang="en-NZ"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5</a:t>
            </a:fld>
            <a:endParaRPr kumimoji="0" lang="en-NZ"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174887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A8B37051-F0D8-4049-A357-D505E3CD7F02}" type="slidenum">
              <a:rPr kumimoji="0" lang="en-NZ"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8</a:t>
            </a:fld>
            <a:endParaRPr kumimoji="0" lang="en-NZ"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281556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
        <p:nvSpPr>
          <p:cNvPr id="4" name="Slide Number Placeholder 3"/>
          <p:cNvSpPr>
            <a:spLocks noGrp="1"/>
          </p:cNvSpPr>
          <p:nvPr>
            <p:ph type="sldNum" sz="quarter" idx="5"/>
          </p:nvPr>
        </p:nvSpPr>
        <p:spPr/>
        <p:txBody>
          <a:bodyPr/>
          <a:lstStyle/>
          <a:p>
            <a:fld id="{A8B37051-F0D8-4049-A357-D505E3CD7F02}" type="slidenum">
              <a:rPr lang="en-NZ" smtClean="0"/>
              <a:t>20</a:t>
            </a:fld>
            <a:endParaRPr lang="en-NZ"/>
          </a:p>
        </p:txBody>
      </p:sp>
    </p:spTree>
    <p:extLst>
      <p:ext uri="{BB962C8B-B14F-4D97-AF65-F5344CB8AC3E}">
        <p14:creationId xmlns:p14="http://schemas.microsoft.com/office/powerpoint/2010/main" val="2788802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1642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 cy="6857997"/>
          </a:xfrm>
          <a:prstGeom prst="rect">
            <a:avLst/>
          </a:prstGeom>
        </p:spPr>
      </p:pic>
      <p:sp>
        <p:nvSpPr>
          <p:cNvPr id="2" name="Holder 2"/>
          <p:cNvSpPr>
            <a:spLocks noGrp="1"/>
          </p:cNvSpPr>
          <p:nvPr>
            <p:ph type="title"/>
          </p:nvPr>
        </p:nvSpPr>
        <p:spPr>
          <a:xfrm>
            <a:off x="1539366" y="233553"/>
            <a:ext cx="10274300" cy="1375155"/>
          </a:xfrm>
          <a:prstGeom prst="rect">
            <a:avLst/>
          </a:prstGeom>
        </p:spPr>
        <p:txBody>
          <a:bodyPr wrap="square" lIns="0" tIns="0" rIns="0" bIns="0">
            <a:spAutoFit/>
          </a:bodyPr>
          <a:lstStyle>
            <a:lvl1pPr>
              <a:defRPr sz="4400" b="1" i="0">
                <a:solidFill>
                  <a:srgbClr val="F16421"/>
                </a:solidFill>
                <a:latin typeface="Calibri"/>
                <a:cs typeface="Calibri"/>
              </a:defRPr>
            </a:lvl1pPr>
          </a:lstStyle>
          <a:p>
            <a:endParaRPr/>
          </a:p>
        </p:txBody>
      </p:sp>
      <p:sp>
        <p:nvSpPr>
          <p:cNvPr id="3" name="Holder 3"/>
          <p:cNvSpPr>
            <a:spLocks noGrp="1"/>
          </p:cNvSpPr>
          <p:nvPr>
            <p:ph type="body" idx="1"/>
          </p:nvPr>
        </p:nvSpPr>
        <p:spPr>
          <a:xfrm>
            <a:off x="1539366" y="1812112"/>
            <a:ext cx="10327640" cy="352234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hyperlink" Target="https://www.pmi.org/-/media/pmi/documents/public/pdf/ethics/pmi-code-of-ethics.pdf?rev=6af21906e5934b638ceeabeb4137f41d&amp;sc_lang_temp=e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1999" cy="6857997"/>
            </a:xfrm>
            <a:prstGeom prst="rect">
              <a:avLst/>
            </a:prstGeom>
          </p:spPr>
        </p:pic>
        <p:sp>
          <p:nvSpPr>
            <p:cNvPr id="4" name="object 4"/>
            <p:cNvSpPr/>
            <p:nvPr/>
          </p:nvSpPr>
          <p:spPr>
            <a:xfrm>
              <a:off x="0" y="3340608"/>
              <a:ext cx="9182100" cy="2146300"/>
            </a:xfrm>
            <a:custGeom>
              <a:avLst/>
              <a:gdLst/>
              <a:ahLst/>
              <a:cxnLst/>
              <a:rect l="l" t="t" r="r" b="b"/>
              <a:pathLst>
                <a:path w="9182100" h="2146300">
                  <a:moveTo>
                    <a:pt x="9182100" y="0"/>
                  </a:moveTo>
                  <a:lnTo>
                    <a:pt x="0" y="0"/>
                  </a:lnTo>
                  <a:lnTo>
                    <a:pt x="0" y="2145792"/>
                  </a:lnTo>
                  <a:lnTo>
                    <a:pt x="9182100" y="2145792"/>
                  </a:lnTo>
                  <a:lnTo>
                    <a:pt x="9182100" y="0"/>
                  </a:lnTo>
                  <a:close/>
                </a:path>
              </a:pathLst>
            </a:custGeom>
            <a:solidFill>
              <a:srgbClr val="F16421">
                <a:alpha val="79998"/>
              </a:srgbClr>
            </a:solidFill>
          </p:spPr>
          <p:txBody>
            <a:bodyPr wrap="square" lIns="0" tIns="0" rIns="0" bIns="0" rtlCol="0"/>
            <a:lstStyle/>
            <a:p>
              <a:endParaRPr/>
            </a:p>
          </p:txBody>
        </p:sp>
        <p:pic>
          <p:nvPicPr>
            <p:cNvPr id="5" name="object 5"/>
            <p:cNvPicPr/>
            <p:nvPr/>
          </p:nvPicPr>
          <p:blipFill>
            <a:blip r:embed="rId3" cstate="print"/>
            <a:stretch>
              <a:fillRect/>
            </a:stretch>
          </p:blipFill>
          <p:spPr>
            <a:xfrm>
              <a:off x="9777983" y="0"/>
              <a:ext cx="2008631" cy="1994915"/>
            </a:xfrm>
            <a:prstGeom prst="rect">
              <a:avLst/>
            </a:prstGeom>
          </p:spPr>
        </p:pic>
      </p:grpSp>
      <p:sp>
        <p:nvSpPr>
          <p:cNvPr id="6" name="object 6"/>
          <p:cNvSpPr txBox="1">
            <a:spLocks noGrp="1"/>
          </p:cNvSpPr>
          <p:nvPr>
            <p:ph type="title"/>
          </p:nvPr>
        </p:nvSpPr>
        <p:spPr>
          <a:xfrm>
            <a:off x="828243" y="3495878"/>
            <a:ext cx="7700009" cy="1292020"/>
          </a:xfrm>
          <a:prstGeom prst="rect">
            <a:avLst/>
          </a:prstGeom>
        </p:spPr>
        <p:txBody>
          <a:bodyPr vert="horz" wrap="square" lIns="0" tIns="85725" rIns="0" bIns="0" rtlCol="0">
            <a:spAutoFit/>
          </a:bodyPr>
          <a:lstStyle/>
          <a:p>
            <a:pPr marL="12700" marR="5080">
              <a:lnSpc>
                <a:spcPts val="4650"/>
              </a:lnSpc>
              <a:spcBef>
                <a:spcPts val="675"/>
              </a:spcBef>
            </a:pPr>
            <a:r>
              <a:rPr sz="4300" dirty="0">
                <a:solidFill>
                  <a:srgbClr val="FFFFFF"/>
                </a:solidFill>
              </a:rPr>
              <a:t>COMP507</a:t>
            </a:r>
            <a:r>
              <a:rPr sz="4300" spc="-145" dirty="0">
                <a:solidFill>
                  <a:srgbClr val="FFFFFF"/>
                </a:solidFill>
              </a:rPr>
              <a:t> </a:t>
            </a:r>
            <a:r>
              <a:rPr sz="4300" dirty="0">
                <a:solidFill>
                  <a:srgbClr val="FFFFFF"/>
                </a:solidFill>
              </a:rPr>
              <a:t>IT</a:t>
            </a:r>
            <a:r>
              <a:rPr sz="4300" spc="-155" dirty="0">
                <a:solidFill>
                  <a:srgbClr val="FFFFFF"/>
                </a:solidFill>
              </a:rPr>
              <a:t> </a:t>
            </a:r>
            <a:r>
              <a:rPr sz="4300" dirty="0">
                <a:solidFill>
                  <a:srgbClr val="FFFFFF"/>
                </a:solidFill>
              </a:rPr>
              <a:t>Project</a:t>
            </a:r>
            <a:r>
              <a:rPr sz="4300" spc="-155" dirty="0">
                <a:solidFill>
                  <a:srgbClr val="FFFFFF"/>
                </a:solidFill>
              </a:rPr>
              <a:t> </a:t>
            </a:r>
            <a:r>
              <a:rPr sz="4300" spc="-10" dirty="0">
                <a:solidFill>
                  <a:srgbClr val="FFFFFF"/>
                </a:solidFill>
              </a:rPr>
              <a:t>Management </a:t>
            </a:r>
            <a:r>
              <a:rPr sz="4300" dirty="0">
                <a:solidFill>
                  <a:srgbClr val="FFFFFF"/>
                </a:solidFill>
              </a:rPr>
              <a:t>Project</a:t>
            </a:r>
            <a:r>
              <a:rPr sz="4300" spc="-165" dirty="0">
                <a:solidFill>
                  <a:srgbClr val="FFFFFF"/>
                </a:solidFill>
              </a:rPr>
              <a:t> </a:t>
            </a:r>
            <a:r>
              <a:rPr sz="4300" dirty="0">
                <a:solidFill>
                  <a:srgbClr val="FFFFFF"/>
                </a:solidFill>
              </a:rPr>
              <a:t>Scope</a:t>
            </a:r>
            <a:r>
              <a:rPr sz="4300" spc="-145" dirty="0">
                <a:solidFill>
                  <a:srgbClr val="FFFFFF"/>
                </a:solidFill>
              </a:rPr>
              <a:t> </a:t>
            </a:r>
            <a:r>
              <a:rPr sz="4300" spc="-10" dirty="0">
                <a:solidFill>
                  <a:srgbClr val="FFFFFF"/>
                </a:solidFill>
              </a:rPr>
              <a:t>Management</a:t>
            </a:r>
            <a:endParaRPr sz="4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16302C-3ACF-D446-4B5F-CE5DF3300572}"/>
              </a:ext>
            </a:extLst>
          </p:cNvPr>
          <p:cNvSpPr txBox="1"/>
          <p:nvPr/>
        </p:nvSpPr>
        <p:spPr>
          <a:xfrm>
            <a:off x="1539366" y="1573617"/>
            <a:ext cx="9296400" cy="4401205"/>
          </a:xfrm>
          <a:prstGeom prst="rect">
            <a:avLst/>
          </a:prstGeom>
          <a:noFill/>
        </p:spPr>
        <p:txBody>
          <a:bodyPr wrap="square">
            <a:spAutoFit/>
          </a:bodyPr>
          <a:lstStyle/>
          <a:p>
            <a:r>
              <a:rPr lang="en-NZ" sz="2400" dirty="0"/>
              <a:t>Team Contract </a:t>
            </a:r>
          </a:p>
          <a:p>
            <a:pPr marL="342900" indent="-342900">
              <a:buFont typeface="Arial" panose="020B0604020202020204" pitchFamily="34" charset="0"/>
              <a:buChar char="•"/>
            </a:pPr>
            <a:r>
              <a:rPr lang="en-NZ" sz="2000" dirty="0"/>
              <a:t>Have posted a sample on Canvas with the assignment 1 specification. </a:t>
            </a:r>
          </a:p>
          <a:p>
            <a:pPr marL="342900" indent="-342900">
              <a:buFont typeface="Arial" panose="020B0604020202020204" pitchFamily="34" charset="0"/>
              <a:buChar char="•"/>
            </a:pPr>
            <a:r>
              <a:rPr lang="en-NZ" sz="2000" dirty="0"/>
              <a:t>Use it to write the team contract for your assignment 1</a:t>
            </a:r>
          </a:p>
          <a:p>
            <a:pPr marL="342900" indent="-342900">
              <a:buFont typeface="Arial" panose="020B0604020202020204" pitchFamily="34" charset="0"/>
              <a:buChar char="•"/>
            </a:pPr>
            <a:r>
              <a:rPr lang="en-NZ" sz="2000" dirty="0"/>
              <a:t>To list your team’s specific code of ethics items, refer to PMI’s code of ethics</a:t>
            </a:r>
          </a:p>
          <a:p>
            <a:r>
              <a:rPr lang="en-NZ" sz="2000" dirty="0">
                <a:hlinkClick r:id="rId2"/>
              </a:rPr>
              <a:t>https://www.pmi.org/-/media/pmi/documents/public/pdf/ethics/pmi-code-of-ethics.pdf?rev=6af21906e5934b638ceeabeb4137f41d&amp;sc_lang_temp=en</a:t>
            </a:r>
            <a:r>
              <a:rPr lang="en-NZ" sz="2000" dirty="0"/>
              <a:t>  </a:t>
            </a:r>
          </a:p>
          <a:p>
            <a:endParaRPr lang="en-NZ" sz="2000" dirty="0"/>
          </a:p>
          <a:p>
            <a:pPr marL="342900" indent="-342900">
              <a:buFont typeface="Arial" panose="020B0604020202020204" pitchFamily="34" charset="0"/>
              <a:buChar char="•"/>
            </a:pPr>
            <a:r>
              <a:rPr lang="en-NZ" sz="2000" dirty="0"/>
              <a:t>Team contract defines how the team will collectively work for the common goal and how the team will treat each on the project.  Team contract helps to define the team culture (values, beliefs, attitudes, and behaviour)  </a:t>
            </a:r>
          </a:p>
          <a:p>
            <a:endParaRPr lang="en-NZ" sz="2000" dirty="0"/>
          </a:p>
          <a:p>
            <a:endParaRPr lang="en-NZ" sz="2000" dirty="0"/>
          </a:p>
          <a:p>
            <a:endParaRPr lang="en-NZ" dirty="0"/>
          </a:p>
          <a:p>
            <a:endParaRPr lang="en-NZ"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511809"/>
            <a:ext cx="8547100" cy="696595"/>
          </a:xfrm>
          <a:prstGeom prst="rect">
            <a:avLst/>
          </a:prstGeom>
        </p:spPr>
        <p:txBody>
          <a:bodyPr vert="horz" wrap="square" lIns="0" tIns="13335" rIns="0" bIns="0" rtlCol="0">
            <a:spAutoFit/>
          </a:bodyPr>
          <a:lstStyle/>
          <a:p>
            <a:pPr marL="12700">
              <a:lnSpc>
                <a:spcPct val="100000"/>
              </a:lnSpc>
              <a:spcBef>
                <a:spcPts val="105"/>
              </a:spcBef>
            </a:pPr>
            <a:r>
              <a:rPr dirty="0"/>
              <a:t>What</a:t>
            </a:r>
            <a:r>
              <a:rPr spc="-70" dirty="0"/>
              <a:t> </a:t>
            </a:r>
            <a:r>
              <a:rPr dirty="0"/>
              <a:t>is</a:t>
            </a:r>
            <a:r>
              <a:rPr spc="-35" dirty="0"/>
              <a:t> </a:t>
            </a:r>
            <a:r>
              <a:rPr dirty="0"/>
              <a:t>Project</a:t>
            </a:r>
            <a:r>
              <a:rPr spc="-55" dirty="0"/>
              <a:t> </a:t>
            </a:r>
            <a:r>
              <a:rPr dirty="0"/>
              <a:t>Scope</a:t>
            </a:r>
            <a:r>
              <a:rPr spc="-40" dirty="0"/>
              <a:t> </a:t>
            </a:r>
            <a:r>
              <a:rPr spc="-10" dirty="0"/>
              <a:t>Management?</a:t>
            </a:r>
          </a:p>
        </p:txBody>
      </p:sp>
      <p:sp>
        <p:nvSpPr>
          <p:cNvPr id="5" name="TextBox 4">
            <a:extLst>
              <a:ext uri="{FF2B5EF4-FFF2-40B4-BE49-F238E27FC236}">
                <a16:creationId xmlns:a16="http://schemas.microsoft.com/office/drawing/2014/main" id="{D416302C-3ACF-D446-4B5F-CE5DF3300572}"/>
              </a:ext>
            </a:extLst>
          </p:cNvPr>
          <p:cNvSpPr txBox="1"/>
          <p:nvPr/>
        </p:nvSpPr>
        <p:spPr>
          <a:xfrm>
            <a:off x="1539366" y="1573617"/>
            <a:ext cx="9296400" cy="2369880"/>
          </a:xfrm>
          <a:prstGeom prst="rect">
            <a:avLst/>
          </a:prstGeom>
          <a:noFill/>
        </p:spPr>
        <p:txBody>
          <a:bodyPr wrap="square">
            <a:spAutoFit/>
          </a:bodyPr>
          <a:lstStyle/>
          <a:p>
            <a:r>
              <a:rPr lang="en-NZ" sz="2400" dirty="0"/>
              <a:t>Understand scope management</a:t>
            </a:r>
          </a:p>
          <a:p>
            <a:pPr marL="342900" indent="-342900">
              <a:buFont typeface="Arial" panose="020B0604020202020204" pitchFamily="34" charset="0"/>
              <a:buChar char="•"/>
            </a:pPr>
            <a:r>
              <a:rPr lang="en-NZ" sz="2200" dirty="0"/>
              <a:t>Describe the scope statement document</a:t>
            </a:r>
          </a:p>
          <a:p>
            <a:pPr marL="342900" indent="-342900">
              <a:buFont typeface="Arial" panose="020B0604020202020204" pitchFamily="34" charset="0"/>
              <a:buChar char="•"/>
            </a:pPr>
            <a:r>
              <a:rPr lang="en-NZ" sz="2200" dirty="0"/>
              <a:t>Discuss a Work Breakdown Structure (WBS)</a:t>
            </a:r>
          </a:p>
          <a:p>
            <a:pPr marL="342900" indent="-342900">
              <a:buFont typeface="Arial" panose="020B0604020202020204" pitchFamily="34" charset="0"/>
              <a:buChar char="•"/>
            </a:pPr>
            <a:r>
              <a:rPr lang="en-NZ" sz="2200" dirty="0"/>
              <a:t>Explain the importance of validating scope i.e. monitoring and controlling scope</a:t>
            </a:r>
          </a:p>
          <a:p>
            <a:endParaRPr lang="en-NZ" dirty="0"/>
          </a:p>
          <a:p>
            <a:endParaRPr lang="en-NZ"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511809"/>
            <a:ext cx="8547100" cy="696595"/>
          </a:xfrm>
          <a:prstGeom prst="rect">
            <a:avLst/>
          </a:prstGeom>
        </p:spPr>
        <p:txBody>
          <a:bodyPr vert="horz" wrap="square" lIns="0" tIns="13335" rIns="0" bIns="0" rtlCol="0">
            <a:spAutoFit/>
          </a:bodyPr>
          <a:lstStyle/>
          <a:p>
            <a:pPr marL="12700">
              <a:lnSpc>
                <a:spcPct val="100000"/>
              </a:lnSpc>
              <a:spcBef>
                <a:spcPts val="105"/>
              </a:spcBef>
            </a:pPr>
            <a:r>
              <a:rPr dirty="0"/>
              <a:t>What</a:t>
            </a:r>
            <a:r>
              <a:rPr spc="-70" dirty="0"/>
              <a:t> </a:t>
            </a:r>
            <a:r>
              <a:rPr dirty="0"/>
              <a:t>is</a:t>
            </a:r>
            <a:r>
              <a:rPr spc="-35" dirty="0"/>
              <a:t> </a:t>
            </a:r>
            <a:r>
              <a:rPr dirty="0"/>
              <a:t>Scope</a:t>
            </a:r>
            <a:r>
              <a:rPr spc="-10" dirty="0"/>
              <a:t>?</a:t>
            </a:r>
          </a:p>
        </p:txBody>
      </p:sp>
      <p:sp>
        <p:nvSpPr>
          <p:cNvPr id="3" name="object 3"/>
          <p:cNvSpPr txBox="1"/>
          <p:nvPr/>
        </p:nvSpPr>
        <p:spPr>
          <a:xfrm>
            <a:off x="1371600" y="1447800"/>
            <a:ext cx="10314940" cy="4029949"/>
          </a:xfrm>
          <a:prstGeom prst="rect">
            <a:avLst/>
          </a:prstGeom>
        </p:spPr>
        <p:txBody>
          <a:bodyPr vert="horz" wrap="square" lIns="0" tIns="53975" rIns="0" bIns="0" rtlCol="0">
            <a:spAutoFit/>
          </a:bodyPr>
          <a:lstStyle/>
          <a:p>
            <a:pPr marL="241300" marR="5080" indent="-229235">
              <a:lnSpc>
                <a:spcPts val="2590"/>
              </a:lnSpc>
              <a:spcBef>
                <a:spcPts val="425"/>
              </a:spcBef>
              <a:buClr>
                <a:srgbClr val="F5821F"/>
              </a:buClr>
              <a:buFont typeface="Arial"/>
              <a:buChar char="•"/>
              <a:tabLst>
                <a:tab pos="241935" algn="l"/>
              </a:tabLst>
            </a:pPr>
            <a:r>
              <a:rPr sz="2400" b="1" dirty="0">
                <a:latin typeface="Calibri"/>
                <a:cs typeface="Calibri"/>
              </a:rPr>
              <a:t>Project</a:t>
            </a:r>
            <a:r>
              <a:rPr sz="2400" b="1" spc="-60" dirty="0">
                <a:latin typeface="Calibri"/>
                <a:cs typeface="Calibri"/>
              </a:rPr>
              <a:t> </a:t>
            </a:r>
            <a:r>
              <a:rPr sz="2400" b="1" dirty="0">
                <a:latin typeface="Calibri"/>
                <a:cs typeface="Calibri"/>
              </a:rPr>
              <a:t>Scope</a:t>
            </a:r>
            <a:r>
              <a:rPr sz="2400" b="1" spc="-45" dirty="0">
                <a:latin typeface="Calibri"/>
                <a:cs typeface="Calibri"/>
              </a:rPr>
              <a:t> </a:t>
            </a:r>
            <a:r>
              <a:rPr sz="2400" spc="-10" dirty="0">
                <a:latin typeface="Calibri"/>
                <a:cs typeface="Calibri"/>
              </a:rPr>
              <a:t>refers</a:t>
            </a:r>
            <a:r>
              <a:rPr sz="2400" spc="-40" dirty="0">
                <a:latin typeface="Calibri"/>
                <a:cs typeface="Calibri"/>
              </a:rPr>
              <a:t> </a:t>
            </a:r>
            <a:r>
              <a:rPr sz="2400" dirty="0">
                <a:latin typeface="Calibri"/>
                <a:cs typeface="Calibri"/>
              </a:rPr>
              <a:t>to</a:t>
            </a:r>
            <a:r>
              <a:rPr sz="2400" spc="-50" dirty="0">
                <a:latin typeface="Calibri"/>
                <a:cs typeface="Calibri"/>
              </a:rPr>
              <a:t> </a:t>
            </a:r>
            <a:r>
              <a:rPr sz="2400" i="1" dirty="0">
                <a:latin typeface="Calibri"/>
                <a:cs typeface="Calibri"/>
              </a:rPr>
              <a:t>all</a:t>
            </a:r>
            <a:r>
              <a:rPr sz="2400" i="1" spc="-35" dirty="0">
                <a:latin typeface="Calibri"/>
                <a:cs typeface="Calibri"/>
              </a:rPr>
              <a:t> </a:t>
            </a:r>
            <a:r>
              <a:rPr sz="2400" dirty="0">
                <a:latin typeface="Calibri"/>
                <a:cs typeface="Calibri"/>
              </a:rPr>
              <a:t>the</a:t>
            </a:r>
            <a:r>
              <a:rPr sz="2400" spc="-35" dirty="0">
                <a:latin typeface="Calibri"/>
                <a:cs typeface="Calibri"/>
              </a:rPr>
              <a:t> </a:t>
            </a:r>
            <a:r>
              <a:rPr sz="2400" dirty="0">
                <a:latin typeface="Calibri"/>
                <a:cs typeface="Calibri"/>
              </a:rPr>
              <a:t>work</a:t>
            </a:r>
            <a:r>
              <a:rPr sz="2400" spc="-50" dirty="0">
                <a:latin typeface="Calibri"/>
                <a:cs typeface="Calibri"/>
              </a:rPr>
              <a:t> </a:t>
            </a:r>
            <a:r>
              <a:rPr sz="2400" dirty="0">
                <a:latin typeface="Calibri"/>
                <a:cs typeface="Calibri"/>
              </a:rPr>
              <a:t>and</a:t>
            </a:r>
            <a:r>
              <a:rPr sz="2400" spc="-40" dirty="0">
                <a:latin typeface="Calibri"/>
                <a:cs typeface="Calibri"/>
              </a:rPr>
              <a:t> </a:t>
            </a:r>
            <a:r>
              <a:rPr sz="2400" dirty="0">
                <a:latin typeface="Calibri"/>
                <a:cs typeface="Calibri"/>
              </a:rPr>
              <a:t>processes</a:t>
            </a:r>
            <a:r>
              <a:rPr sz="2400" spc="-45" dirty="0">
                <a:latin typeface="Calibri"/>
                <a:cs typeface="Calibri"/>
              </a:rPr>
              <a:t> </a:t>
            </a:r>
            <a:r>
              <a:rPr sz="2400" dirty="0">
                <a:latin typeface="Calibri"/>
                <a:cs typeface="Calibri"/>
              </a:rPr>
              <a:t>involved</a:t>
            </a:r>
            <a:r>
              <a:rPr sz="2400" spc="-15" dirty="0">
                <a:latin typeface="Calibri"/>
                <a:cs typeface="Calibri"/>
              </a:rPr>
              <a:t> </a:t>
            </a:r>
            <a:r>
              <a:rPr sz="2400" dirty="0">
                <a:latin typeface="Calibri"/>
                <a:cs typeface="Calibri"/>
              </a:rPr>
              <a:t>in</a:t>
            </a:r>
            <a:r>
              <a:rPr sz="2400" spc="-50" dirty="0">
                <a:latin typeface="Calibri"/>
                <a:cs typeface="Calibri"/>
              </a:rPr>
              <a:t> </a:t>
            </a:r>
            <a:r>
              <a:rPr sz="2400" dirty="0">
                <a:latin typeface="Calibri"/>
                <a:cs typeface="Calibri"/>
              </a:rPr>
              <a:t>creating</a:t>
            </a:r>
            <a:r>
              <a:rPr sz="2400" spc="-55" dirty="0">
                <a:latin typeface="Calibri"/>
                <a:cs typeface="Calibri"/>
              </a:rPr>
              <a:t> </a:t>
            </a:r>
            <a:r>
              <a:rPr sz="2400" dirty="0">
                <a:latin typeface="Calibri"/>
                <a:cs typeface="Calibri"/>
              </a:rPr>
              <a:t>the</a:t>
            </a:r>
            <a:r>
              <a:rPr sz="2400" spc="-10" dirty="0">
                <a:latin typeface="Calibri"/>
                <a:cs typeface="Calibri"/>
              </a:rPr>
              <a:t> </a:t>
            </a:r>
            <a:r>
              <a:rPr sz="2400" u="sng" dirty="0">
                <a:uFill>
                  <a:solidFill>
                    <a:srgbClr val="000000"/>
                  </a:solidFill>
                </a:uFill>
                <a:latin typeface="Calibri"/>
                <a:cs typeface="Calibri"/>
              </a:rPr>
              <a:t>product</a:t>
            </a:r>
            <a:r>
              <a:rPr sz="2400" dirty="0">
                <a:latin typeface="Calibri"/>
                <a:cs typeface="Calibri"/>
              </a:rPr>
              <a:t>.</a:t>
            </a:r>
            <a:r>
              <a:rPr sz="2400" spc="-70" dirty="0">
                <a:latin typeface="Calibri"/>
                <a:cs typeface="Calibri"/>
              </a:rPr>
              <a:t> </a:t>
            </a:r>
            <a:r>
              <a:rPr sz="2400" dirty="0">
                <a:latin typeface="Calibri"/>
                <a:cs typeface="Calibri"/>
              </a:rPr>
              <a:t>Usually</a:t>
            </a:r>
            <a:r>
              <a:rPr lang="en-NZ" sz="2400" dirty="0">
                <a:latin typeface="Calibri"/>
                <a:cs typeface="Calibri"/>
              </a:rPr>
              <a:t>,</a:t>
            </a:r>
            <a:r>
              <a:rPr sz="2400" spc="-40" dirty="0">
                <a:latin typeface="Calibri"/>
                <a:cs typeface="Calibri"/>
              </a:rPr>
              <a:t> </a:t>
            </a:r>
            <a:r>
              <a:rPr sz="2400" dirty="0">
                <a:latin typeface="Calibri"/>
                <a:cs typeface="Calibri"/>
              </a:rPr>
              <a:t>it</a:t>
            </a:r>
            <a:r>
              <a:rPr sz="2400" spc="-60" dirty="0">
                <a:latin typeface="Calibri"/>
                <a:cs typeface="Calibri"/>
              </a:rPr>
              <a:t> </a:t>
            </a:r>
            <a:r>
              <a:rPr sz="2400" spc="-10" dirty="0">
                <a:latin typeface="Calibri"/>
                <a:cs typeface="Calibri"/>
              </a:rPr>
              <a:t>refers</a:t>
            </a:r>
            <a:r>
              <a:rPr sz="2400" spc="-45" dirty="0">
                <a:latin typeface="Calibri"/>
                <a:cs typeface="Calibri"/>
              </a:rPr>
              <a:t> </a:t>
            </a:r>
            <a:r>
              <a:rPr sz="2400" spc="-25" dirty="0">
                <a:latin typeface="Calibri"/>
                <a:cs typeface="Calibri"/>
              </a:rPr>
              <a:t>to:</a:t>
            </a:r>
            <a:endParaRPr sz="2400" dirty="0">
              <a:latin typeface="Calibri"/>
              <a:cs typeface="Calibri"/>
            </a:endParaRPr>
          </a:p>
          <a:p>
            <a:pPr marL="698500" lvl="1" indent="-229235">
              <a:lnSpc>
                <a:spcPct val="100000"/>
              </a:lnSpc>
              <a:spcBef>
                <a:spcPts val="290"/>
              </a:spcBef>
              <a:buClr>
                <a:srgbClr val="F5821F"/>
              </a:buClr>
              <a:buFont typeface="Arial"/>
              <a:buChar char="•"/>
              <a:tabLst>
                <a:tab pos="698500" algn="l"/>
                <a:tab pos="699135" algn="l"/>
              </a:tabLst>
            </a:pPr>
            <a:r>
              <a:rPr sz="1800" dirty="0">
                <a:latin typeface="Calibri"/>
                <a:cs typeface="Calibri"/>
              </a:rPr>
              <a:t>Functional</a:t>
            </a:r>
            <a:r>
              <a:rPr sz="1800" spc="-25" dirty="0">
                <a:latin typeface="Calibri"/>
                <a:cs typeface="Calibri"/>
              </a:rPr>
              <a:t> </a:t>
            </a:r>
            <a:r>
              <a:rPr sz="1800" spc="-10" dirty="0">
                <a:latin typeface="Calibri"/>
                <a:cs typeface="Calibri"/>
              </a:rPr>
              <a:t>requirements</a:t>
            </a:r>
            <a:endParaRPr sz="1800" dirty="0">
              <a:latin typeface="Calibri"/>
              <a:cs typeface="Calibri"/>
            </a:endParaRPr>
          </a:p>
          <a:p>
            <a:pPr marL="698500" lvl="1" indent="-229235">
              <a:lnSpc>
                <a:spcPct val="100000"/>
              </a:lnSpc>
              <a:spcBef>
                <a:spcPts val="290"/>
              </a:spcBef>
              <a:buClr>
                <a:srgbClr val="F5821F"/>
              </a:buClr>
              <a:buFont typeface="Arial"/>
              <a:buChar char="•"/>
              <a:tabLst>
                <a:tab pos="698500" algn="l"/>
                <a:tab pos="699135" algn="l"/>
              </a:tabLst>
            </a:pPr>
            <a:r>
              <a:rPr sz="1800" dirty="0">
                <a:latin typeface="Calibri"/>
                <a:cs typeface="Calibri"/>
              </a:rPr>
              <a:t>Non-functional</a:t>
            </a:r>
            <a:r>
              <a:rPr sz="1800" spc="-25" dirty="0">
                <a:latin typeface="Calibri"/>
                <a:cs typeface="Calibri"/>
              </a:rPr>
              <a:t> </a:t>
            </a:r>
            <a:r>
              <a:rPr sz="1800" spc="-10" dirty="0">
                <a:latin typeface="Calibri"/>
                <a:cs typeface="Calibri"/>
              </a:rPr>
              <a:t>requirements</a:t>
            </a:r>
            <a:endParaRPr lang="en-NZ" sz="1800" spc="-10" dirty="0">
              <a:latin typeface="Calibri"/>
              <a:cs typeface="Calibri"/>
            </a:endParaRPr>
          </a:p>
          <a:p>
            <a:pPr marL="698500" lvl="1" indent="-229235">
              <a:lnSpc>
                <a:spcPct val="100000"/>
              </a:lnSpc>
              <a:spcBef>
                <a:spcPts val="290"/>
              </a:spcBef>
              <a:buClr>
                <a:srgbClr val="F5821F"/>
              </a:buClr>
              <a:buFont typeface="Arial"/>
              <a:buChar char="•"/>
              <a:tabLst>
                <a:tab pos="698500" algn="l"/>
                <a:tab pos="699135" algn="l"/>
              </a:tabLst>
            </a:pPr>
            <a:r>
              <a:rPr lang="en-NZ" spc="-10" dirty="0">
                <a:highlight>
                  <a:srgbClr val="FFFF00"/>
                </a:highlight>
                <a:latin typeface="Calibri"/>
                <a:cs typeface="Calibri"/>
              </a:rPr>
              <a:t>Regulatory requirements </a:t>
            </a:r>
            <a:endParaRPr sz="1800" dirty="0">
              <a:highlight>
                <a:srgbClr val="FFFF00"/>
              </a:highlight>
              <a:latin typeface="Calibri"/>
              <a:cs typeface="Calibri"/>
            </a:endParaRPr>
          </a:p>
          <a:p>
            <a:pPr marL="698500" lvl="1" indent="-229235">
              <a:lnSpc>
                <a:spcPct val="100000"/>
              </a:lnSpc>
              <a:spcBef>
                <a:spcPts val="275"/>
              </a:spcBef>
              <a:buClr>
                <a:srgbClr val="F5821F"/>
              </a:buClr>
              <a:buFont typeface="Arial"/>
              <a:buChar char="•"/>
              <a:tabLst>
                <a:tab pos="698500" algn="l"/>
                <a:tab pos="699135" algn="l"/>
              </a:tabLst>
            </a:pPr>
            <a:r>
              <a:rPr sz="1800" dirty="0">
                <a:latin typeface="Calibri"/>
                <a:cs typeface="Calibri"/>
              </a:rPr>
              <a:t>PM</a:t>
            </a:r>
            <a:r>
              <a:rPr sz="1800" spc="-20" dirty="0">
                <a:latin typeface="Calibri"/>
                <a:cs typeface="Calibri"/>
              </a:rPr>
              <a:t> </a:t>
            </a:r>
            <a:r>
              <a:rPr sz="1800" dirty="0">
                <a:latin typeface="Calibri"/>
                <a:cs typeface="Calibri"/>
              </a:rPr>
              <a:t>methodology (</a:t>
            </a:r>
            <a:r>
              <a:rPr lang="en-NZ" sz="1800" dirty="0">
                <a:latin typeface="Calibri"/>
                <a:cs typeface="Calibri"/>
              </a:rPr>
              <a:t>phases, </a:t>
            </a:r>
            <a:r>
              <a:rPr sz="1800" dirty="0">
                <a:latin typeface="Calibri"/>
                <a:cs typeface="Calibri"/>
              </a:rPr>
              <a:t>method and</a:t>
            </a:r>
            <a:r>
              <a:rPr sz="1800" spc="5" dirty="0">
                <a:latin typeface="Calibri"/>
                <a:cs typeface="Calibri"/>
              </a:rPr>
              <a:t> </a:t>
            </a:r>
            <a:r>
              <a:rPr sz="1800" spc="-10" dirty="0">
                <a:latin typeface="Calibri"/>
                <a:cs typeface="Calibri"/>
              </a:rPr>
              <a:t>practices)</a:t>
            </a:r>
            <a:endParaRPr sz="1800" dirty="0">
              <a:latin typeface="Calibri"/>
              <a:cs typeface="Calibri"/>
            </a:endParaRPr>
          </a:p>
          <a:p>
            <a:pPr marL="698500" lvl="1" indent="-229235">
              <a:lnSpc>
                <a:spcPct val="100000"/>
              </a:lnSpc>
              <a:spcBef>
                <a:spcPts val="290"/>
              </a:spcBef>
              <a:buClr>
                <a:srgbClr val="F5821F"/>
              </a:buClr>
              <a:buFont typeface="Arial"/>
              <a:buChar char="•"/>
              <a:tabLst>
                <a:tab pos="698500" algn="l"/>
                <a:tab pos="699135" algn="l"/>
              </a:tabLst>
            </a:pPr>
            <a:r>
              <a:rPr sz="1800" dirty="0">
                <a:latin typeface="Calibri"/>
                <a:cs typeface="Calibri"/>
              </a:rPr>
              <a:t>The</a:t>
            </a:r>
            <a:r>
              <a:rPr sz="1800" spc="-50" dirty="0">
                <a:latin typeface="Calibri"/>
                <a:cs typeface="Calibri"/>
              </a:rPr>
              <a:t> </a:t>
            </a:r>
            <a:r>
              <a:rPr sz="1800" dirty="0">
                <a:latin typeface="Calibri"/>
                <a:cs typeface="Calibri"/>
              </a:rPr>
              <a:t>product</a:t>
            </a:r>
            <a:r>
              <a:rPr sz="1800" spc="-35" dirty="0">
                <a:latin typeface="Calibri"/>
                <a:cs typeface="Calibri"/>
              </a:rPr>
              <a:t> </a:t>
            </a:r>
            <a:r>
              <a:rPr sz="1800" dirty="0">
                <a:latin typeface="Calibri"/>
                <a:cs typeface="Calibri"/>
              </a:rPr>
              <a:t>&amp;</a:t>
            </a:r>
            <a:r>
              <a:rPr sz="1800" spc="-40" dirty="0">
                <a:latin typeface="Calibri"/>
                <a:cs typeface="Calibri"/>
              </a:rPr>
              <a:t> </a:t>
            </a:r>
            <a:r>
              <a:rPr sz="1800" dirty="0">
                <a:latin typeface="Calibri"/>
                <a:cs typeface="Calibri"/>
              </a:rPr>
              <a:t>related</a:t>
            </a:r>
            <a:r>
              <a:rPr sz="1800" spc="-5" dirty="0">
                <a:latin typeface="Calibri"/>
                <a:cs typeface="Calibri"/>
              </a:rPr>
              <a:t> </a:t>
            </a:r>
            <a:r>
              <a:rPr sz="1800" dirty="0">
                <a:uFill>
                  <a:solidFill>
                    <a:srgbClr val="000000"/>
                  </a:solidFill>
                </a:uFill>
                <a:latin typeface="Calibri"/>
                <a:cs typeface="Calibri"/>
              </a:rPr>
              <a:t>deliverables</a:t>
            </a:r>
            <a:r>
              <a:rPr lang="en-NZ" sz="1800" dirty="0">
                <a:uFill>
                  <a:solidFill>
                    <a:srgbClr val="000000"/>
                  </a:solidFill>
                </a:uFill>
                <a:latin typeface="Calibri"/>
                <a:cs typeface="Calibri"/>
              </a:rPr>
              <a:t>,</a:t>
            </a:r>
            <a:r>
              <a:rPr sz="1800" spc="-15" dirty="0">
                <a:latin typeface="Calibri"/>
                <a:cs typeface="Calibri"/>
              </a:rPr>
              <a:t> </a:t>
            </a:r>
            <a:r>
              <a:rPr sz="1800" dirty="0">
                <a:latin typeface="Calibri"/>
                <a:cs typeface="Calibri"/>
              </a:rPr>
              <a:t>i.e.,</a:t>
            </a:r>
            <a:r>
              <a:rPr sz="1800" spc="-40" dirty="0">
                <a:latin typeface="Calibri"/>
                <a:cs typeface="Calibri"/>
              </a:rPr>
              <a:t> </a:t>
            </a:r>
            <a:r>
              <a:rPr sz="1800" dirty="0">
                <a:latin typeface="Calibri"/>
                <a:cs typeface="Calibri"/>
              </a:rPr>
              <a:t>product</a:t>
            </a:r>
            <a:r>
              <a:rPr sz="1800" spc="-30" dirty="0">
                <a:latin typeface="Calibri"/>
                <a:cs typeface="Calibri"/>
              </a:rPr>
              <a:t> </a:t>
            </a:r>
            <a:r>
              <a:rPr lang="en-NZ" sz="1800" spc="-10" dirty="0">
                <a:latin typeface="Calibri"/>
                <a:cs typeface="Calibri"/>
              </a:rPr>
              <a:t>artefacts</a:t>
            </a:r>
            <a:endParaRPr sz="1800" dirty="0">
              <a:latin typeface="Calibri"/>
              <a:cs typeface="Calibri"/>
            </a:endParaRPr>
          </a:p>
          <a:p>
            <a:pPr marL="698500" lvl="1" indent="-229235">
              <a:lnSpc>
                <a:spcPct val="100000"/>
              </a:lnSpc>
              <a:spcBef>
                <a:spcPts val="285"/>
              </a:spcBef>
              <a:buClr>
                <a:srgbClr val="F5821F"/>
              </a:buClr>
              <a:buFont typeface="Arial"/>
              <a:buChar char="•"/>
              <a:tabLst>
                <a:tab pos="698500" algn="l"/>
                <a:tab pos="699135" algn="l"/>
              </a:tabLst>
            </a:pPr>
            <a:r>
              <a:rPr lang="en-NZ" sz="1800" dirty="0">
                <a:latin typeface="Calibri"/>
                <a:cs typeface="Calibri"/>
              </a:rPr>
              <a:t> Project-related</a:t>
            </a:r>
            <a:r>
              <a:rPr sz="1800" spc="-25" dirty="0">
                <a:latin typeface="Calibri"/>
                <a:cs typeface="Calibri"/>
              </a:rPr>
              <a:t> </a:t>
            </a:r>
            <a:r>
              <a:rPr sz="1800" dirty="0">
                <a:uFill>
                  <a:solidFill>
                    <a:srgbClr val="000000"/>
                  </a:solidFill>
                </a:uFill>
                <a:latin typeface="Calibri"/>
                <a:cs typeface="Calibri"/>
              </a:rPr>
              <a:t>deliverables</a:t>
            </a:r>
            <a:r>
              <a:rPr sz="1800" spc="-35" dirty="0">
                <a:latin typeface="Calibri"/>
                <a:cs typeface="Calibri"/>
              </a:rPr>
              <a:t> </a:t>
            </a:r>
            <a:r>
              <a:rPr sz="1800" dirty="0">
                <a:latin typeface="Calibri"/>
                <a:cs typeface="Calibri"/>
              </a:rPr>
              <a:t>-</a:t>
            </a:r>
            <a:r>
              <a:rPr sz="1800" spc="-40" dirty="0">
                <a:latin typeface="Calibri"/>
                <a:cs typeface="Calibri"/>
              </a:rPr>
              <a:t> </a:t>
            </a:r>
            <a:r>
              <a:rPr sz="1800" dirty="0">
                <a:latin typeface="Calibri"/>
                <a:cs typeface="Calibri"/>
              </a:rPr>
              <a:t>project</a:t>
            </a:r>
            <a:r>
              <a:rPr sz="1800" spc="-50" dirty="0">
                <a:latin typeface="Calibri"/>
                <a:cs typeface="Calibri"/>
              </a:rPr>
              <a:t> </a:t>
            </a:r>
            <a:r>
              <a:rPr lang="en-NZ" sz="1800" dirty="0">
                <a:latin typeface="Calibri"/>
                <a:cs typeface="Calibri"/>
              </a:rPr>
              <a:t>artefacts such as project plans, architecture plans</a:t>
            </a:r>
            <a:r>
              <a:rPr sz="1800" dirty="0">
                <a:latin typeface="Calibri"/>
                <a:cs typeface="Calibri"/>
              </a:rPr>
              <a:t>,</a:t>
            </a:r>
            <a:r>
              <a:rPr sz="1800" spc="-20" dirty="0">
                <a:latin typeface="Calibri"/>
                <a:cs typeface="Calibri"/>
              </a:rPr>
              <a:t> </a:t>
            </a:r>
            <a:r>
              <a:rPr sz="1800" dirty="0">
                <a:latin typeface="Calibri"/>
                <a:cs typeface="Calibri"/>
              </a:rPr>
              <a:t>research</a:t>
            </a:r>
            <a:r>
              <a:rPr lang="en-NZ" sz="1800" dirty="0">
                <a:latin typeface="Calibri"/>
                <a:cs typeface="Calibri"/>
              </a:rPr>
              <a:t> reports/documents</a:t>
            </a:r>
            <a:r>
              <a:rPr sz="1800" dirty="0">
                <a:latin typeface="Calibri"/>
                <a:cs typeface="Calibri"/>
              </a:rPr>
              <a:t>,</a:t>
            </a:r>
            <a:r>
              <a:rPr sz="1800" spc="-50" dirty="0">
                <a:latin typeface="Calibri"/>
                <a:cs typeface="Calibri"/>
              </a:rPr>
              <a:t> </a:t>
            </a:r>
            <a:r>
              <a:rPr sz="1800" dirty="0">
                <a:latin typeface="Calibri"/>
                <a:cs typeface="Calibri"/>
              </a:rPr>
              <a:t>test</a:t>
            </a:r>
            <a:r>
              <a:rPr sz="1800" spc="-40" dirty="0">
                <a:latin typeface="Calibri"/>
                <a:cs typeface="Calibri"/>
              </a:rPr>
              <a:t> </a:t>
            </a:r>
            <a:r>
              <a:rPr sz="1800" spc="-10" dirty="0">
                <a:latin typeface="Calibri"/>
                <a:cs typeface="Calibri"/>
              </a:rPr>
              <a:t>data</a:t>
            </a:r>
            <a:r>
              <a:rPr lang="en-NZ" sz="1800" spc="-10" dirty="0">
                <a:latin typeface="Calibri"/>
                <a:cs typeface="Calibri"/>
              </a:rPr>
              <a:t>, etc.</a:t>
            </a:r>
            <a:endParaRPr sz="1800" dirty="0">
              <a:latin typeface="Calibri"/>
              <a:cs typeface="Calibri"/>
            </a:endParaRPr>
          </a:p>
          <a:p>
            <a:pPr marL="698500" lvl="1" indent="-229235">
              <a:lnSpc>
                <a:spcPts val="2000"/>
              </a:lnSpc>
              <a:spcBef>
                <a:spcPts val="275"/>
              </a:spcBef>
              <a:buClr>
                <a:srgbClr val="F5821F"/>
              </a:buClr>
              <a:buFont typeface="Arial"/>
              <a:buChar char="•"/>
              <a:tabLst>
                <a:tab pos="698500" algn="l"/>
                <a:tab pos="699135" algn="l"/>
              </a:tabLst>
            </a:pPr>
            <a:r>
              <a:rPr sz="1800" dirty="0">
                <a:latin typeface="Calibri"/>
                <a:cs typeface="Calibri"/>
              </a:rPr>
              <a:t>Success</a:t>
            </a:r>
            <a:r>
              <a:rPr sz="1800" spc="-20" dirty="0">
                <a:latin typeface="Calibri"/>
                <a:cs typeface="Calibri"/>
              </a:rPr>
              <a:t> </a:t>
            </a:r>
            <a:r>
              <a:rPr sz="1800" spc="-10" dirty="0">
                <a:latin typeface="Calibri"/>
                <a:cs typeface="Calibri"/>
              </a:rPr>
              <a:t>factors</a:t>
            </a:r>
            <a:endParaRPr sz="1800" dirty="0">
              <a:latin typeface="Calibri"/>
              <a:cs typeface="Calibri"/>
            </a:endParaRPr>
          </a:p>
          <a:p>
            <a:pPr marL="241300" marR="581660" indent="-229235">
              <a:lnSpc>
                <a:spcPct val="90000"/>
              </a:lnSpc>
              <a:spcBef>
                <a:spcPts val="130"/>
              </a:spcBef>
              <a:buClr>
                <a:srgbClr val="F5821F"/>
              </a:buClr>
              <a:buFont typeface="Arial"/>
              <a:buChar char="•"/>
              <a:tabLst>
                <a:tab pos="241935" algn="l"/>
              </a:tabLst>
            </a:pPr>
            <a:r>
              <a:rPr sz="2000" dirty="0">
                <a:latin typeface="Calibri"/>
                <a:cs typeface="Calibri"/>
              </a:rPr>
              <a:t>A</a:t>
            </a:r>
            <a:r>
              <a:rPr sz="2000" spc="-45" dirty="0">
                <a:latin typeface="Calibri"/>
                <a:cs typeface="Calibri"/>
              </a:rPr>
              <a:t> </a:t>
            </a:r>
            <a:r>
              <a:rPr sz="2000" dirty="0">
                <a:latin typeface="Calibri"/>
                <a:cs typeface="Calibri"/>
              </a:rPr>
              <a:t>deliverable</a:t>
            </a:r>
            <a:r>
              <a:rPr sz="2000" spc="-30" dirty="0">
                <a:latin typeface="Calibri"/>
                <a:cs typeface="Calibri"/>
              </a:rPr>
              <a:t> </a:t>
            </a:r>
            <a:r>
              <a:rPr sz="2000" dirty="0">
                <a:latin typeface="Calibri"/>
                <a:cs typeface="Calibri"/>
              </a:rPr>
              <a:t>is</a:t>
            </a:r>
            <a:r>
              <a:rPr sz="2000" spc="-35" dirty="0">
                <a:latin typeface="Calibri"/>
                <a:cs typeface="Calibri"/>
              </a:rPr>
              <a:t> </a:t>
            </a:r>
            <a:r>
              <a:rPr sz="2000" dirty="0">
                <a:latin typeface="Calibri"/>
                <a:cs typeface="Calibri"/>
              </a:rPr>
              <a:t>an</a:t>
            </a:r>
            <a:r>
              <a:rPr sz="2000" spc="-40" dirty="0">
                <a:latin typeface="Calibri"/>
                <a:cs typeface="Calibri"/>
              </a:rPr>
              <a:t> </a:t>
            </a:r>
            <a:r>
              <a:rPr lang="en-NZ" sz="2000" dirty="0">
                <a:latin typeface="Calibri"/>
                <a:cs typeface="Calibri"/>
              </a:rPr>
              <a:t>artefact</a:t>
            </a:r>
            <a:r>
              <a:rPr sz="2000" spc="-50" dirty="0">
                <a:latin typeface="Calibri"/>
                <a:cs typeface="Calibri"/>
              </a:rPr>
              <a:t> </a:t>
            </a:r>
            <a:r>
              <a:rPr sz="2000" dirty="0">
                <a:latin typeface="Calibri"/>
                <a:cs typeface="Calibri"/>
              </a:rPr>
              <a:t>produced</a:t>
            </a:r>
            <a:r>
              <a:rPr sz="2000" spc="-35" dirty="0">
                <a:latin typeface="Calibri"/>
                <a:cs typeface="Calibri"/>
              </a:rPr>
              <a:t> </a:t>
            </a:r>
            <a:r>
              <a:rPr sz="2000" dirty="0">
                <a:latin typeface="Calibri"/>
                <a:cs typeface="Calibri"/>
              </a:rPr>
              <a:t>as</a:t>
            </a:r>
            <a:r>
              <a:rPr sz="2000" spc="-30" dirty="0">
                <a:latin typeface="Calibri"/>
                <a:cs typeface="Calibri"/>
              </a:rPr>
              <a:t> </a:t>
            </a:r>
            <a:r>
              <a:rPr sz="2000" dirty="0">
                <a:latin typeface="Calibri"/>
                <a:cs typeface="Calibri"/>
              </a:rPr>
              <a:t>part</a:t>
            </a:r>
            <a:r>
              <a:rPr sz="2000" spc="-50" dirty="0">
                <a:latin typeface="Calibri"/>
                <a:cs typeface="Calibri"/>
              </a:rPr>
              <a:t> </a:t>
            </a:r>
            <a:r>
              <a:rPr sz="2000" dirty="0">
                <a:latin typeface="Calibri"/>
                <a:cs typeface="Calibri"/>
              </a:rPr>
              <a:t>of</a:t>
            </a:r>
            <a:r>
              <a:rPr sz="2000" spc="-3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project,</a:t>
            </a:r>
            <a:r>
              <a:rPr sz="2000" spc="-45" dirty="0">
                <a:latin typeface="Calibri"/>
                <a:cs typeface="Calibri"/>
              </a:rPr>
              <a:t> </a:t>
            </a:r>
            <a:r>
              <a:rPr sz="2000" dirty="0">
                <a:latin typeface="Calibri"/>
                <a:cs typeface="Calibri"/>
              </a:rPr>
              <a:t>such</a:t>
            </a:r>
            <a:r>
              <a:rPr sz="2000" spc="-35" dirty="0">
                <a:latin typeface="Calibri"/>
                <a:cs typeface="Calibri"/>
              </a:rPr>
              <a:t> </a:t>
            </a:r>
            <a:r>
              <a:rPr sz="2000" dirty="0">
                <a:latin typeface="Calibri"/>
                <a:cs typeface="Calibri"/>
              </a:rPr>
              <a:t>as</a:t>
            </a:r>
            <a:r>
              <a:rPr sz="2000" spc="-55" dirty="0">
                <a:latin typeface="Calibri"/>
                <a:cs typeface="Calibri"/>
              </a:rPr>
              <a:t> </a:t>
            </a:r>
            <a:r>
              <a:rPr sz="2000" dirty="0">
                <a:latin typeface="Calibri"/>
                <a:cs typeface="Calibri"/>
              </a:rPr>
              <a:t>hardware</a:t>
            </a:r>
            <a:r>
              <a:rPr sz="2000" spc="-25" dirty="0">
                <a:latin typeface="Calibri"/>
                <a:cs typeface="Calibri"/>
              </a:rPr>
              <a:t> or </a:t>
            </a:r>
            <a:r>
              <a:rPr sz="2000" dirty="0">
                <a:latin typeface="Calibri"/>
                <a:cs typeface="Calibri"/>
              </a:rPr>
              <a:t>software,</a:t>
            </a:r>
            <a:r>
              <a:rPr sz="2000" spc="-50" dirty="0">
                <a:latin typeface="Calibri"/>
                <a:cs typeface="Calibri"/>
              </a:rPr>
              <a:t> </a:t>
            </a:r>
            <a:r>
              <a:rPr sz="2000" dirty="0">
                <a:latin typeface="Calibri"/>
                <a:cs typeface="Calibri"/>
              </a:rPr>
              <a:t>planning</a:t>
            </a:r>
            <a:r>
              <a:rPr sz="2000" spc="-45" dirty="0">
                <a:latin typeface="Calibri"/>
                <a:cs typeface="Calibri"/>
              </a:rPr>
              <a:t> </a:t>
            </a:r>
            <a:r>
              <a:rPr sz="2000" dirty="0">
                <a:latin typeface="Calibri"/>
                <a:cs typeface="Calibri"/>
              </a:rPr>
              <a:t>documents</a:t>
            </a:r>
            <a:r>
              <a:rPr sz="2000" spc="-55" dirty="0">
                <a:latin typeface="Calibri"/>
                <a:cs typeface="Calibri"/>
              </a:rPr>
              <a:t> </a:t>
            </a:r>
            <a:r>
              <a:rPr sz="2000" dirty="0">
                <a:latin typeface="Calibri"/>
                <a:cs typeface="Calibri"/>
              </a:rPr>
              <a:t>(</a:t>
            </a:r>
            <a:r>
              <a:rPr lang="en-NZ" sz="2000" dirty="0">
                <a:latin typeface="Calibri"/>
                <a:cs typeface="Calibri"/>
              </a:rPr>
              <a:t>Stakeholder register, stakeholder strategy management document, risk register, </a:t>
            </a:r>
            <a:r>
              <a:rPr sz="2000" dirty="0">
                <a:latin typeface="Calibri"/>
                <a:cs typeface="Calibri"/>
              </a:rPr>
              <a:t>scope</a:t>
            </a:r>
            <a:r>
              <a:rPr sz="2000" spc="-35" dirty="0">
                <a:latin typeface="Calibri"/>
                <a:cs typeface="Calibri"/>
              </a:rPr>
              <a:t> </a:t>
            </a:r>
            <a:r>
              <a:rPr sz="2000" spc="-10" dirty="0">
                <a:latin typeface="Calibri"/>
                <a:cs typeface="Calibri"/>
              </a:rPr>
              <a:t>statement</a:t>
            </a:r>
            <a:r>
              <a:rPr sz="2000" spc="-65" dirty="0">
                <a:latin typeface="Calibri"/>
                <a:cs typeface="Calibri"/>
              </a:rPr>
              <a:t> </a:t>
            </a:r>
            <a:r>
              <a:rPr sz="2000" dirty="0">
                <a:latin typeface="Calibri"/>
                <a:cs typeface="Calibri"/>
              </a:rPr>
              <a:t>document</a:t>
            </a:r>
            <a:r>
              <a:rPr lang="en-NZ" sz="2000" dirty="0">
                <a:latin typeface="Calibri"/>
                <a:cs typeface="Calibri"/>
              </a:rPr>
              <a:t>, etc.</a:t>
            </a:r>
            <a:r>
              <a:rPr sz="2000" dirty="0">
                <a:latin typeface="Calibri"/>
                <a:cs typeface="Calibri"/>
              </a:rPr>
              <a:t>),</a:t>
            </a:r>
            <a:r>
              <a:rPr sz="2000" spc="-60" dirty="0">
                <a:latin typeface="Calibri"/>
                <a:cs typeface="Calibri"/>
              </a:rPr>
              <a:t> </a:t>
            </a:r>
            <a:r>
              <a:rPr sz="2000" spc="-25" dirty="0">
                <a:latin typeface="Calibri"/>
                <a:cs typeface="Calibri"/>
              </a:rPr>
              <a:t>or </a:t>
            </a:r>
            <a:r>
              <a:rPr sz="2000" dirty="0">
                <a:latin typeface="Calibri"/>
                <a:cs typeface="Calibri"/>
              </a:rPr>
              <a:t>meeting</a:t>
            </a:r>
            <a:r>
              <a:rPr sz="2000" spc="-20" dirty="0">
                <a:latin typeface="Calibri"/>
                <a:cs typeface="Calibri"/>
              </a:rPr>
              <a:t> </a:t>
            </a:r>
            <a:r>
              <a:rPr sz="2000" spc="-10" dirty="0">
                <a:latin typeface="Calibri"/>
                <a:cs typeface="Calibri"/>
              </a:rPr>
              <a:t>minutes.</a:t>
            </a:r>
            <a:endParaRPr sz="2000" dirty="0">
              <a:latin typeface="Calibri"/>
              <a:cs typeface="Calibri"/>
            </a:endParaRPr>
          </a:p>
        </p:txBody>
      </p:sp>
    </p:spTree>
    <p:extLst>
      <p:ext uri="{BB962C8B-B14F-4D97-AF65-F5344CB8AC3E}">
        <p14:creationId xmlns:p14="http://schemas.microsoft.com/office/powerpoint/2010/main" val="2516269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434466"/>
            <a:ext cx="8547100" cy="382797"/>
          </a:xfrm>
          <a:prstGeom prst="rect">
            <a:avLst/>
          </a:prstGeom>
        </p:spPr>
        <p:txBody>
          <a:bodyPr vert="horz" wrap="square" lIns="0" tIns="13335" rIns="0" bIns="0" rtlCol="0">
            <a:spAutoFit/>
          </a:bodyPr>
          <a:lstStyle/>
          <a:p>
            <a:pPr marL="12700">
              <a:lnSpc>
                <a:spcPct val="100000"/>
              </a:lnSpc>
              <a:spcBef>
                <a:spcPts val="105"/>
              </a:spcBef>
            </a:pPr>
            <a:r>
              <a:rPr sz="2400" dirty="0"/>
              <a:t>What</a:t>
            </a:r>
            <a:r>
              <a:rPr sz="2400" spc="-70" dirty="0"/>
              <a:t> </a:t>
            </a:r>
            <a:r>
              <a:rPr sz="2400" dirty="0"/>
              <a:t>is</a:t>
            </a:r>
            <a:r>
              <a:rPr sz="2400" spc="-35" dirty="0"/>
              <a:t> </a:t>
            </a:r>
            <a:r>
              <a:rPr sz="2400" dirty="0"/>
              <a:t>Project</a:t>
            </a:r>
            <a:r>
              <a:rPr sz="2400" spc="-55" dirty="0"/>
              <a:t> </a:t>
            </a:r>
            <a:r>
              <a:rPr sz="2400" dirty="0"/>
              <a:t>Scope</a:t>
            </a:r>
            <a:r>
              <a:rPr sz="2400" spc="-40" dirty="0"/>
              <a:t> </a:t>
            </a:r>
            <a:r>
              <a:rPr sz="2400" spc="-10" dirty="0"/>
              <a:t>Management?</a:t>
            </a:r>
          </a:p>
        </p:txBody>
      </p:sp>
      <p:sp>
        <p:nvSpPr>
          <p:cNvPr id="3" name="object 3"/>
          <p:cNvSpPr txBox="1"/>
          <p:nvPr/>
        </p:nvSpPr>
        <p:spPr>
          <a:xfrm>
            <a:off x="1371600" y="1295400"/>
            <a:ext cx="10161905" cy="5468164"/>
          </a:xfrm>
          <a:prstGeom prst="rect">
            <a:avLst/>
          </a:prstGeom>
        </p:spPr>
        <p:txBody>
          <a:bodyPr vert="horz" wrap="square" lIns="0" tIns="12700" rIns="0" bIns="0" rtlCol="0">
            <a:spAutoFit/>
          </a:bodyPr>
          <a:lstStyle/>
          <a:p>
            <a:pPr marL="241300" marR="0" lvl="0" indent="-228600" defTabSz="914400" eaLnBrk="1" fontAlgn="auto" latinLnBrk="0" hangingPunct="1">
              <a:lnSpc>
                <a:spcPts val="2845"/>
              </a:lnSpc>
              <a:spcBef>
                <a:spcPts val="100"/>
              </a:spcBef>
              <a:spcAft>
                <a:spcPts val="0"/>
              </a:spcAft>
              <a:buClr>
                <a:srgbClr val="F5821F"/>
              </a:buClr>
              <a:buSzTx/>
              <a:buFont typeface="Arial"/>
              <a:buChar char="•"/>
              <a:tabLst>
                <a:tab pos="241300" algn="l"/>
              </a:tabLst>
              <a:defRPr/>
            </a:pPr>
            <a:r>
              <a:rPr kumimoji="0" sz="2400" b="0" i="0" u="none" strike="noStrike" kern="0" cap="none" spc="0" normalizeH="0" baseline="0" noProof="0" dirty="0">
                <a:ln>
                  <a:noFill/>
                </a:ln>
                <a:solidFill>
                  <a:sysClr val="windowText" lastClr="000000"/>
                </a:solidFill>
                <a:effectLst/>
                <a:uLnTx/>
                <a:uFillTx/>
                <a:latin typeface="Calibri"/>
                <a:cs typeface="Calibri"/>
              </a:rPr>
              <a:t>Project</a:t>
            </a:r>
            <a:r>
              <a:rPr kumimoji="0" sz="2400" b="0" i="0" u="none" strike="noStrike" kern="0" cap="none" spc="-5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scope</a:t>
            </a:r>
            <a:r>
              <a:rPr kumimoji="0" sz="2400" b="0" i="0" u="none" strike="noStrike" kern="0" cap="none" spc="-45" normalizeH="0" baseline="0" noProof="0" dirty="0">
                <a:ln>
                  <a:noFill/>
                </a:ln>
                <a:solidFill>
                  <a:sysClr val="windowText" lastClr="000000"/>
                </a:solidFill>
                <a:effectLst/>
                <a:uLnTx/>
                <a:uFillTx/>
                <a:latin typeface="Calibri"/>
                <a:cs typeface="Calibri"/>
              </a:rPr>
              <a:t> </a:t>
            </a:r>
            <a:r>
              <a:rPr kumimoji="0" sz="2400" b="0" i="0" u="none" strike="noStrike" kern="0" cap="none" spc="-10" normalizeH="0" baseline="0" noProof="0" dirty="0">
                <a:ln>
                  <a:noFill/>
                </a:ln>
                <a:solidFill>
                  <a:sysClr val="windowText" lastClr="000000"/>
                </a:solidFill>
                <a:effectLst/>
                <a:uLnTx/>
                <a:uFillTx/>
                <a:latin typeface="Calibri"/>
                <a:cs typeface="Calibri"/>
              </a:rPr>
              <a:t>management:</a:t>
            </a:r>
            <a:endParaRPr kumimoji="0" sz="2400" b="0" i="0" u="none" strike="noStrike" kern="0" cap="none" spc="0" normalizeH="0" baseline="0" noProof="0" dirty="0">
              <a:ln>
                <a:noFill/>
              </a:ln>
              <a:solidFill>
                <a:sysClr val="windowText" lastClr="000000"/>
              </a:solidFill>
              <a:effectLst/>
              <a:uLnTx/>
              <a:uFillTx/>
              <a:latin typeface="Calibri"/>
              <a:cs typeface="Calibri"/>
            </a:endParaRPr>
          </a:p>
          <a:p>
            <a:pPr marL="697865" marR="220979" lvl="1" indent="-228600" defTabSz="914400" eaLnBrk="1" fontAlgn="auto" latinLnBrk="0" hangingPunct="1">
              <a:lnSpc>
                <a:spcPts val="2300"/>
              </a:lnSpc>
              <a:spcBef>
                <a:spcPts val="520"/>
              </a:spcBef>
              <a:spcAft>
                <a:spcPts val="0"/>
              </a:spcAft>
              <a:buClr>
                <a:srgbClr val="F5821F"/>
              </a:buClr>
              <a:buSzTx/>
              <a:buFont typeface="Arial"/>
              <a:buChar char="•"/>
              <a:tabLst>
                <a:tab pos="698500" algn="l"/>
              </a:tabLst>
              <a:defRPr/>
            </a:pPr>
            <a:r>
              <a:rPr kumimoji="0" sz="2400" b="0" i="0" u="none" strike="noStrike" kern="0" cap="none" spc="0" normalizeH="0" baseline="0" noProof="0" dirty="0">
                <a:ln>
                  <a:noFill/>
                </a:ln>
                <a:solidFill>
                  <a:sysClr val="windowText" lastClr="000000"/>
                </a:solidFill>
                <a:effectLst/>
                <a:uLnTx/>
                <a:uFillTx/>
                <a:latin typeface="Calibri"/>
                <a:cs typeface="Calibri"/>
              </a:rPr>
              <a:t>processes</a:t>
            </a:r>
            <a:r>
              <a:rPr kumimoji="0" sz="2400" b="0" i="0" u="none" strike="noStrike" kern="0" cap="none" spc="-5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(project</a:t>
            </a:r>
            <a:r>
              <a:rPr kumimoji="0" sz="2400" b="0" i="0" u="none" strike="noStrike" kern="0" cap="none" spc="-7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management</a:t>
            </a:r>
            <a:r>
              <a:rPr kumimoji="0" sz="2400" b="0" i="0" u="none" strike="noStrike" kern="0" cap="none" spc="-7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tasks)</a:t>
            </a:r>
            <a:r>
              <a:rPr kumimoji="0" sz="2400" b="0" i="0" u="none" strike="noStrike" kern="0" cap="none" spc="-7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involved</a:t>
            </a:r>
            <a:r>
              <a:rPr kumimoji="0" sz="2400" b="0" i="0" u="none" strike="noStrike" kern="0" cap="none" spc="-3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in</a:t>
            </a:r>
            <a:r>
              <a:rPr kumimoji="0" sz="2400" b="0" i="0" u="none" strike="noStrike" kern="0" cap="none" spc="-55" normalizeH="0" baseline="0" noProof="0" dirty="0">
                <a:ln>
                  <a:noFill/>
                </a:ln>
                <a:solidFill>
                  <a:sysClr val="windowText" lastClr="000000"/>
                </a:solidFill>
                <a:effectLst/>
                <a:uLnTx/>
                <a:uFillTx/>
                <a:latin typeface="Calibri"/>
                <a:cs typeface="Calibri"/>
              </a:rPr>
              <a:t> </a:t>
            </a:r>
            <a:r>
              <a:rPr kumimoji="0" sz="2400" b="0" i="0" u="sng" strike="noStrike" kern="0" cap="none" spc="0" normalizeH="0" baseline="0" noProof="0" dirty="0">
                <a:ln>
                  <a:noFill/>
                </a:ln>
                <a:solidFill>
                  <a:sysClr val="windowText" lastClr="000000"/>
                </a:solidFill>
                <a:effectLst/>
                <a:uLnTx/>
                <a:uFill>
                  <a:solidFill>
                    <a:srgbClr val="000000"/>
                  </a:solidFill>
                </a:uFill>
                <a:latin typeface="Calibri"/>
                <a:cs typeface="Calibri"/>
              </a:rPr>
              <a:t>planning</a:t>
            </a:r>
            <a:r>
              <a:rPr kumimoji="0" sz="2400" b="0" i="0" u="none" strike="noStrike" kern="0" cap="none" spc="0" normalizeH="0" baseline="0" noProof="0" dirty="0">
                <a:ln>
                  <a:noFill/>
                </a:ln>
                <a:solidFill>
                  <a:sysClr val="windowText" lastClr="000000"/>
                </a:solidFill>
                <a:effectLst/>
                <a:uLnTx/>
                <a:uFillTx/>
                <a:latin typeface="Calibri"/>
                <a:cs typeface="Calibri"/>
              </a:rPr>
              <a:t>,</a:t>
            </a:r>
            <a:r>
              <a:rPr kumimoji="0" sz="2400" b="0" i="0" u="none" strike="noStrike" kern="0" cap="none" spc="-40" normalizeH="0" baseline="0" noProof="0" dirty="0">
                <a:ln>
                  <a:noFill/>
                </a:ln>
                <a:solidFill>
                  <a:sysClr val="windowText" lastClr="000000"/>
                </a:solidFill>
                <a:effectLst/>
                <a:uLnTx/>
                <a:uFillTx/>
                <a:latin typeface="Calibri"/>
                <a:cs typeface="Calibri"/>
              </a:rPr>
              <a:t> </a:t>
            </a:r>
            <a:r>
              <a:rPr kumimoji="0" sz="2400" b="0" i="0" u="sng" strike="noStrike" kern="0" cap="none" spc="0" normalizeH="0" baseline="0" noProof="0" dirty="0">
                <a:ln>
                  <a:noFill/>
                </a:ln>
                <a:solidFill>
                  <a:sysClr val="windowText" lastClr="000000"/>
                </a:solidFill>
                <a:effectLst/>
                <a:uLnTx/>
                <a:uFill>
                  <a:solidFill>
                    <a:srgbClr val="000000"/>
                  </a:solidFill>
                </a:uFill>
                <a:latin typeface="Calibri"/>
                <a:cs typeface="Calibri"/>
              </a:rPr>
              <a:t>executing,</a:t>
            </a:r>
            <a:r>
              <a:rPr kumimoji="0" sz="2400" b="0" i="0" u="none" strike="noStrike" kern="0" cap="none" spc="-65" normalizeH="0" baseline="0" noProof="0" dirty="0">
                <a:ln>
                  <a:noFill/>
                </a:ln>
                <a:solidFill>
                  <a:sysClr val="windowText" lastClr="000000"/>
                </a:solidFill>
                <a:effectLst/>
                <a:uLnTx/>
                <a:uFillTx/>
                <a:latin typeface="Calibri"/>
                <a:cs typeface="Calibri"/>
              </a:rPr>
              <a:t> </a:t>
            </a:r>
            <a:r>
              <a:rPr kumimoji="0" sz="2400" b="0" i="0" u="none" strike="noStrike" kern="0" cap="none" spc="-25" normalizeH="0" baseline="0" noProof="0" dirty="0">
                <a:ln>
                  <a:noFill/>
                </a:ln>
                <a:solidFill>
                  <a:sysClr val="windowText" lastClr="000000"/>
                </a:solidFill>
                <a:effectLst/>
                <a:uLnTx/>
                <a:uFillTx/>
                <a:latin typeface="Calibri"/>
                <a:cs typeface="Calibri"/>
              </a:rPr>
              <a:t>and </a:t>
            </a:r>
            <a:r>
              <a:rPr kumimoji="0" sz="2400" b="0" i="0" u="sng" strike="noStrike" kern="0" cap="none" spc="0" normalizeH="0" baseline="0" noProof="0" dirty="0">
                <a:ln>
                  <a:noFill/>
                </a:ln>
                <a:solidFill>
                  <a:sysClr val="windowText" lastClr="000000"/>
                </a:solidFill>
                <a:effectLst/>
                <a:uLnTx/>
                <a:uFill>
                  <a:solidFill>
                    <a:srgbClr val="000000"/>
                  </a:solidFill>
                </a:uFill>
                <a:latin typeface="Calibri"/>
                <a:cs typeface="Calibri"/>
              </a:rPr>
              <a:t>monitoring</a:t>
            </a:r>
            <a:r>
              <a:rPr kumimoji="0" sz="2400" b="0" i="0" u="sng" strike="noStrike" kern="0" cap="none" spc="-40" normalizeH="0" baseline="0" noProof="0" dirty="0">
                <a:ln>
                  <a:noFill/>
                </a:ln>
                <a:solidFill>
                  <a:sysClr val="windowText" lastClr="000000"/>
                </a:solidFill>
                <a:effectLst/>
                <a:uLnTx/>
                <a:uFill>
                  <a:solidFill>
                    <a:srgbClr val="000000"/>
                  </a:solidFill>
                </a:uFill>
                <a:latin typeface="Calibri"/>
                <a:cs typeface="Calibri"/>
              </a:rPr>
              <a:t> </a:t>
            </a:r>
            <a:r>
              <a:rPr kumimoji="0" sz="2400" b="0" i="0" u="sng" strike="noStrike" kern="0" cap="none" spc="0" normalizeH="0" baseline="0" noProof="0" dirty="0">
                <a:ln>
                  <a:noFill/>
                </a:ln>
                <a:solidFill>
                  <a:sysClr val="windowText" lastClr="000000"/>
                </a:solidFill>
                <a:effectLst/>
                <a:uLnTx/>
                <a:uFill>
                  <a:solidFill>
                    <a:srgbClr val="000000"/>
                  </a:solidFill>
                </a:uFill>
                <a:latin typeface="Calibri"/>
                <a:cs typeface="Calibri"/>
              </a:rPr>
              <a:t>&amp;</a:t>
            </a:r>
            <a:r>
              <a:rPr kumimoji="0" sz="2400" b="0" i="0" u="sng" strike="noStrike" kern="0" cap="none" spc="-25" normalizeH="0" baseline="0" noProof="0" dirty="0">
                <a:ln>
                  <a:noFill/>
                </a:ln>
                <a:solidFill>
                  <a:sysClr val="windowText" lastClr="000000"/>
                </a:solidFill>
                <a:effectLst/>
                <a:uLnTx/>
                <a:uFill>
                  <a:solidFill>
                    <a:srgbClr val="000000"/>
                  </a:solidFill>
                </a:uFill>
                <a:latin typeface="Calibri"/>
                <a:cs typeface="Calibri"/>
              </a:rPr>
              <a:t> </a:t>
            </a:r>
            <a:r>
              <a:rPr kumimoji="0" sz="2400" b="0" i="0" u="sng" strike="noStrike" kern="0" cap="none" spc="-10" normalizeH="0" baseline="0" noProof="0" dirty="0">
                <a:ln>
                  <a:noFill/>
                </a:ln>
                <a:solidFill>
                  <a:sysClr val="windowText" lastClr="000000"/>
                </a:solidFill>
                <a:effectLst/>
                <a:uLnTx/>
                <a:uFill>
                  <a:solidFill>
                    <a:srgbClr val="000000"/>
                  </a:solidFill>
                </a:uFill>
                <a:latin typeface="Calibri"/>
                <a:cs typeface="Calibri"/>
              </a:rPr>
              <a:t>controlling</a:t>
            </a:r>
            <a:r>
              <a:rPr kumimoji="0" sz="2400" b="0" i="0" u="none" strike="noStrike" kern="0" cap="none" spc="-3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what</a:t>
            </a:r>
            <a:r>
              <a:rPr kumimoji="0" sz="2400" b="0" i="0" u="none" strike="noStrike" kern="0" cap="none" spc="-3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is</a:t>
            </a:r>
            <a:r>
              <a:rPr kumimoji="0" sz="2400" b="0" i="0" u="none" strike="noStrike" kern="0" cap="none" spc="-2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to</a:t>
            </a:r>
            <a:r>
              <a:rPr kumimoji="0" sz="2400" b="0" i="0" u="none" strike="noStrike" kern="0" cap="none" spc="-3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be</a:t>
            </a:r>
            <a:r>
              <a:rPr kumimoji="0" sz="2400" b="0" i="0" u="none" strike="noStrike" kern="0" cap="none" spc="-1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part</a:t>
            </a:r>
            <a:r>
              <a:rPr kumimoji="0" sz="2400" b="0" i="0" u="none" strike="noStrike" kern="0" cap="none" spc="-35"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of</a:t>
            </a:r>
            <a:r>
              <a:rPr kumimoji="0" sz="2400" b="0" i="0" u="none" strike="noStrike" kern="0" cap="none" spc="-20" normalizeH="0" baseline="0" noProof="0" dirty="0">
                <a:ln>
                  <a:noFill/>
                </a:ln>
                <a:solidFill>
                  <a:sysClr val="windowText" lastClr="000000"/>
                </a:solidFill>
                <a:effectLst/>
                <a:uLnTx/>
                <a:uFillTx/>
                <a:latin typeface="Calibri"/>
                <a:cs typeface="Calibri"/>
              </a:rPr>
              <a:t> </a:t>
            </a:r>
            <a:r>
              <a:rPr kumimoji="0" sz="2400" b="0" i="0" u="none" strike="noStrike" kern="0" cap="none" spc="0" normalizeH="0" baseline="0" noProof="0" dirty="0">
                <a:ln>
                  <a:noFill/>
                </a:ln>
                <a:solidFill>
                  <a:sysClr val="windowText" lastClr="000000"/>
                </a:solidFill>
                <a:effectLst/>
                <a:uLnTx/>
                <a:uFillTx/>
                <a:latin typeface="Calibri"/>
                <a:cs typeface="Calibri"/>
              </a:rPr>
              <a:t>the</a:t>
            </a:r>
            <a:r>
              <a:rPr kumimoji="0" sz="2400" b="0" i="0" u="none" strike="noStrike" kern="0" cap="none" spc="-30" normalizeH="0" baseline="0" noProof="0" dirty="0">
                <a:ln>
                  <a:noFill/>
                </a:ln>
                <a:solidFill>
                  <a:sysClr val="windowText" lastClr="000000"/>
                </a:solidFill>
                <a:effectLst/>
                <a:uLnTx/>
                <a:uFillTx/>
                <a:latin typeface="Calibri"/>
                <a:cs typeface="Calibri"/>
              </a:rPr>
              <a:t> </a:t>
            </a:r>
            <a:r>
              <a:rPr kumimoji="0" sz="2400" b="0" i="0" u="none" strike="noStrike" kern="0" cap="none" spc="-10" normalizeH="0" baseline="0" noProof="0" dirty="0">
                <a:ln>
                  <a:noFill/>
                </a:ln>
                <a:solidFill>
                  <a:sysClr val="windowText" lastClr="000000"/>
                </a:solidFill>
                <a:effectLst/>
                <a:uLnTx/>
                <a:uFillTx/>
                <a:latin typeface="Calibri"/>
                <a:cs typeface="Calibri"/>
              </a:rPr>
              <a:t>project.</a:t>
            </a:r>
            <a:endParaRPr kumimoji="0" lang="en-NZ" sz="2400" b="0" i="0" u="none" strike="noStrike" kern="0" cap="none" spc="-10" normalizeH="0" baseline="0" noProof="0" dirty="0">
              <a:ln>
                <a:noFill/>
              </a:ln>
              <a:solidFill>
                <a:sysClr val="windowText" lastClr="000000"/>
              </a:solidFill>
              <a:effectLst/>
              <a:uLnTx/>
              <a:uFillTx/>
              <a:latin typeface="Calibri"/>
              <a:cs typeface="Calibri"/>
            </a:endParaRPr>
          </a:p>
          <a:p>
            <a:pPr marL="926465" marR="220979" lvl="1" indent="-457200" defTabSz="914400" eaLnBrk="1" fontAlgn="auto" latinLnBrk="0" hangingPunct="1">
              <a:lnSpc>
                <a:spcPts val="2300"/>
              </a:lnSpc>
              <a:spcBef>
                <a:spcPts val="520"/>
              </a:spcBef>
              <a:spcAft>
                <a:spcPts val="0"/>
              </a:spcAft>
              <a:buClr>
                <a:srgbClr val="F5821F"/>
              </a:buClr>
              <a:buSzTx/>
              <a:buFont typeface="+mj-lt"/>
              <a:buAutoNum type="arabicPeriod"/>
              <a:tabLst>
                <a:tab pos="698500" algn="l"/>
              </a:tabLst>
              <a:defRPr/>
            </a:pPr>
            <a:r>
              <a:rPr kumimoji="0" lang="en-NZ" sz="2400" b="0" i="0" u="none" strike="noStrike" kern="0" cap="none" spc="-10" normalizeH="0" baseline="0" noProof="0" dirty="0">
                <a:ln>
                  <a:noFill/>
                </a:ln>
                <a:solidFill>
                  <a:sysClr val="windowText" lastClr="000000"/>
                </a:solidFill>
                <a:effectLst/>
                <a:uLnTx/>
                <a:uFillTx/>
                <a:latin typeface="Calibri"/>
                <a:cs typeface="Calibri"/>
              </a:rPr>
              <a:t>Planning the scope: </a:t>
            </a:r>
            <a:r>
              <a:rPr kumimoji="0" lang="en-NZ" sz="2400" b="1" i="0" u="none" strike="noStrike" kern="0" cap="none" spc="0" normalizeH="0" baseline="0" noProof="0" dirty="0">
                <a:ln>
                  <a:noFill/>
                </a:ln>
                <a:solidFill>
                  <a:sysClr val="windowText" lastClr="000000"/>
                </a:solidFill>
                <a:effectLst/>
                <a:uLnTx/>
                <a:uFillTx/>
              </a:rPr>
              <a:t>defining boundaries</a:t>
            </a:r>
            <a:r>
              <a:rPr kumimoji="0" lang="en-NZ" sz="2400" b="0" i="0" u="none" strike="noStrike" kern="0" cap="none" spc="0" normalizeH="0" baseline="0" noProof="0" dirty="0">
                <a:ln>
                  <a:noFill/>
                </a:ln>
                <a:solidFill>
                  <a:sysClr val="windowText" lastClr="000000"/>
                </a:solidFill>
                <a:effectLst/>
                <a:uLnTx/>
                <a:uFillTx/>
              </a:rPr>
              <a:t> and establishing a </a:t>
            </a:r>
            <a:r>
              <a:rPr kumimoji="0" lang="en-NZ" sz="2400" b="1" i="0" u="none" strike="noStrike" kern="0" cap="none" spc="0" normalizeH="0" baseline="0" noProof="0" dirty="0">
                <a:ln>
                  <a:noFill/>
                </a:ln>
                <a:solidFill>
                  <a:sysClr val="windowText" lastClr="000000"/>
                </a:solidFill>
                <a:effectLst/>
                <a:uLnTx/>
                <a:uFillTx/>
              </a:rPr>
              <a:t>foundational roadmap</a:t>
            </a:r>
            <a:r>
              <a:rPr kumimoji="0" lang="en-NZ" sz="2400" b="0" i="0" u="none" strike="noStrike" kern="0" cap="none" spc="0" normalizeH="0" baseline="0" noProof="0" dirty="0">
                <a:ln>
                  <a:noFill/>
                </a:ln>
                <a:solidFill>
                  <a:sysClr val="windowText" lastClr="000000"/>
                </a:solidFill>
                <a:effectLst/>
                <a:uLnTx/>
                <a:uFillTx/>
              </a:rPr>
              <a:t>. This involves gathering stakeholder requirements to create a project scope statement and a Work Breakdown Structure (WBS), which together form the </a:t>
            </a:r>
            <a:r>
              <a:rPr kumimoji="0" lang="en-NZ" sz="2400" b="1" i="0" u="none" strike="noStrike" kern="0" cap="none" spc="0" normalizeH="0" baseline="0" noProof="0" dirty="0">
                <a:ln>
                  <a:noFill/>
                </a:ln>
                <a:solidFill>
                  <a:sysClr val="windowText" lastClr="000000"/>
                </a:solidFill>
                <a:effectLst/>
                <a:uLnTx/>
                <a:uFillTx/>
              </a:rPr>
              <a:t>scope baseline</a:t>
            </a:r>
          </a:p>
          <a:p>
            <a:pPr marL="926465" marR="220979" lvl="1" indent="-457200" defTabSz="914400" eaLnBrk="1" fontAlgn="auto" latinLnBrk="0" hangingPunct="1">
              <a:lnSpc>
                <a:spcPts val="2300"/>
              </a:lnSpc>
              <a:spcBef>
                <a:spcPts val="520"/>
              </a:spcBef>
              <a:spcAft>
                <a:spcPts val="0"/>
              </a:spcAft>
              <a:buClr>
                <a:srgbClr val="F5821F"/>
              </a:buClr>
              <a:buSzTx/>
              <a:buFont typeface="+mj-lt"/>
              <a:buAutoNum type="arabicPeriod"/>
              <a:tabLst>
                <a:tab pos="698500" algn="l"/>
              </a:tabLst>
              <a:defRPr/>
            </a:pPr>
            <a:r>
              <a:rPr kumimoji="0" lang="en-NZ" sz="2400" b="0" i="0" u="none" strike="noStrike" kern="0" cap="none" spc="-10" normalizeH="0" baseline="0" noProof="0" dirty="0">
                <a:ln>
                  <a:noFill/>
                </a:ln>
                <a:solidFill>
                  <a:sysClr val="windowText" lastClr="000000"/>
                </a:solidFill>
                <a:effectLst/>
                <a:uLnTx/>
                <a:uFillTx/>
                <a:latin typeface="Calibri"/>
                <a:cs typeface="Calibri"/>
              </a:rPr>
              <a:t>Executing the scope: </a:t>
            </a:r>
            <a:r>
              <a:rPr kumimoji="0" lang="en-NZ" sz="2400" b="1" i="1" u="none" strike="noStrike" kern="0" cap="none" spc="0" normalizeH="0" baseline="0" noProof="0" dirty="0">
                <a:ln>
                  <a:noFill/>
                </a:ln>
                <a:solidFill>
                  <a:sysClr val="windowText" lastClr="000000"/>
                </a:solidFill>
                <a:effectLst/>
                <a:uLnTx/>
                <a:uFillTx/>
              </a:rPr>
              <a:t>performing the actual work</a:t>
            </a:r>
            <a:r>
              <a:rPr kumimoji="0" lang="en-NZ" sz="2400" b="0" i="1" u="none" strike="noStrike" kern="0" cap="none" spc="0" normalizeH="0" baseline="0" noProof="0" dirty="0">
                <a:ln>
                  <a:noFill/>
                </a:ln>
                <a:solidFill>
                  <a:sysClr val="windowText" lastClr="000000"/>
                </a:solidFill>
                <a:effectLst/>
                <a:uLnTx/>
                <a:uFillTx/>
              </a:rPr>
              <a:t> </a:t>
            </a:r>
            <a:r>
              <a:rPr kumimoji="0" lang="en-NZ" sz="2400" b="0" i="0" u="none" strike="noStrike" kern="0" cap="none" spc="0" normalizeH="0" baseline="0" noProof="0" dirty="0">
                <a:ln>
                  <a:noFill/>
                </a:ln>
                <a:solidFill>
                  <a:sysClr val="windowText" lastClr="000000"/>
                </a:solidFill>
                <a:effectLst/>
                <a:uLnTx/>
                <a:uFillTx/>
              </a:rPr>
              <a:t>as defined in the project plan. During this phase, the project team uses the scope statement and WBS as a continuous reference to ensure all efforts remain focused on the approved deliverables</a:t>
            </a:r>
            <a:endParaRPr kumimoji="0" lang="en-NZ" sz="2400" b="0" i="0" u="none" strike="noStrike" kern="0" cap="none" spc="-10" normalizeH="0" baseline="0" noProof="0" dirty="0">
              <a:ln>
                <a:noFill/>
              </a:ln>
              <a:solidFill>
                <a:sysClr val="windowText" lastClr="000000"/>
              </a:solidFill>
              <a:effectLst/>
              <a:uLnTx/>
              <a:uFillTx/>
              <a:latin typeface="Calibri"/>
              <a:cs typeface="Calibri"/>
            </a:endParaRPr>
          </a:p>
          <a:p>
            <a:pPr marL="926465" marR="220979" lvl="1" indent="-457200" defTabSz="914400" eaLnBrk="1" fontAlgn="auto" latinLnBrk="0" hangingPunct="1">
              <a:lnSpc>
                <a:spcPts val="2300"/>
              </a:lnSpc>
              <a:spcBef>
                <a:spcPts val="520"/>
              </a:spcBef>
              <a:spcAft>
                <a:spcPts val="0"/>
              </a:spcAft>
              <a:buClr>
                <a:srgbClr val="F5821F"/>
              </a:buClr>
              <a:buSzTx/>
              <a:buFont typeface="+mj-lt"/>
              <a:buAutoNum type="arabicPeriod"/>
              <a:tabLst>
                <a:tab pos="698500" algn="l"/>
              </a:tabLst>
              <a:defRPr/>
            </a:pPr>
            <a:r>
              <a:rPr kumimoji="0" lang="en-NZ" sz="2400" b="0" i="0" u="none" strike="noStrike" kern="0" cap="none" spc="-10" normalizeH="0" baseline="0" noProof="0" dirty="0">
                <a:ln>
                  <a:noFill/>
                </a:ln>
                <a:solidFill>
                  <a:sysClr val="windowText" lastClr="000000"/>
                </a:solidFill>
                <a:effectLst/>
                <a:uLnTx/>
                <a:uFillTx/>
                <a:latin typeface="Calibri"/>
                <a:cs typeface="Calibri"/>
              </a:rPr>
              <a:t>Monitor and control of scope: </a:t>
            </a:r>
            <a:r>
              <a:rPr kumimoji="0" lang="en-NZ" sz="2400" b="1" i="1" u="none" strike="noStrike" kern="0" cap="none" spc="0" normalizeH="0" baseline="0" noProof="0" dirty="0">
                <a:ln>
                  <a:noFill/>
                </a:ln>
                <a:solidFill>
                  <a:sysClr val="windowText" lastClr="000000"/>
                </a:solidFill>
                <a:effectLst/>
                <a:uLnTx/>
                <a:uFillTx/>
              </a:rPr>
              <a:t>preventing scope creep </a:t>
            </a:r>
            <a:r>
              <a:rPr kumimoji="0" lang="en-NZ" sz="2400" b="0" i="0" u="none" strike="noStrike" kern="0" cap="none" spc="0" normalizeH="0" baseline="0" noProof="0" dirty="0">
                <a:ln>
                  <a:noFill/>
                </a:ln>
                <a:solidFill>
                  <a:sysClr val="windowText" lastClr="000000"/>
                </a:solidFill>
                <a:effectLst/>
                <a:uLnTx/>
                <a:uFillTx/>
              </a:rPr>
              <a:t>and managing </a:t>
            </a:r>
            <a:r>
              <a:rPr kumimoji="0" lang="en-NZ" sz="2400" b="1" i="0" u="none" strike="noStrike" kern="0" cap="none" spc="0" normalizeH="0" baseline="0" noProof="0" dirty="0">
                <a:ln>
                  <a:noFill/>
                </a:ln>
                <a:solidFill>
                  <a:sysClr val="windowText" lastClr="000000"/>
                </a:solidFill>
                <a:effectLst/>
                <a:uLnTx/>
                <a:uFillTx/>
              </a:rPr>
              <a:t>changes</a:t>
            </a:r>
            <a:r>
              <a:rPr kumimoji="0" lang="en-NZ" sz="2400" b="0" i="0" u="none" strike="noStrike" kern="0" cap="none" spc="0" normalizeH="0" baseline="0" noProof="0" dirty="0">
                <a:ln>
                  <a:noFill/>
                </a:ln>
                <a:solidFill>
                  <a:sysClr val="windowText" lastClr="000000"/>
                </a:solidFill>
                <a:effectLst/>
                <a:uLnTx/>
                <a:uFillTx/>
              </a:rPr>
              <a:t>. This phase runs in parallel with execution and involves benchmarking actual performance against the scope baseline to identify deviations.</a:t>
            </a:r>
            <a:endParaRPr kumimoji="0" sz="2400" b="0" i="0" u="none" strike="noStrike" kern="0" cap="none" spc="0" normalizeH="0" baseline="0" noProof="0" dirty="0">
              <a:ln>
                <a:noFill/>
              </a:ln>
              <a:solidFill>
                <a:sysClr val="windowText" lastClr="000000"/>
              </a:solidFill>
              <a:effectLst/>
              <a:uLnTx/>
              <a:uFillTx/>
              <a:latin typeface="Calibri"/>
              <a:cs typeface="Calibri"/>
            </a:endParaRPr>
          </a:p>
          <a:p>
            <a:pPr marL="0" marR="0" lvl="1" indent="0" defTabSz="914400" eaLnBrk="1" fontAlgn="auto" latinLnBrk="0" hangingPunct="1">
              <a:lnSpc>
                <a:spcPct val="100000"/>
              </a:lnSpc>
              <a:spcBef>
                <a:spcPts val="15"/>
              </a:spcBef>
              <a:spcAft>
                <a:spcPts val="0"/>
              </a:spcAft>
              <a:buClr>
                <a:srgbClr val="F5821F"/>
              </a:buClr>
              <a:buSzTx/>
              <a:buFont typeface="Arial"/>
              <a:buChar char="•"/>
              <a:tabLst/>
              <a:defRPr/>
            </a:pPr>
            <a:endParaRPr kumimoji="0" sz="2700" b="0" i="0" u="none" strike="noStrike" kern="0" cap="none" spc="0" normalizeH="0" baseline="0" noProof="0" dirty="0">
              <a:ln>
                <a:noFill/>
              </a:ln>
              <a:solidFill>
                <a:sysClr val="windowText" lastClr="000000"/>
              </a:solidFill>
              <a:effectLst/>
              <a:uLnTx/>
              <a:uFillTx/>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92148" y="0"/>
            <a:ext cx="9814434" cy="696595"/>
          </a:xfrm>
          <a:prstGeom prst="rect">
            <a:avLst/>
          </a:prstGeom>
        </p:spPr>
        <p:txBody>
          <a:bodyPr vert="horz" wrap="square" lIns="0" tIns="13335" rIns="0" bIns="0" rtlCol="0">
            <a:spAutoFit/>
          </a:bodyPr>
          <a:lstStyle/>
          <a:p>
            <a:pPr marL="12700">
              <a:lnSpc>
                <a:spcPct val="100000"/>
              </a:lnSpc>
              <a:spcBef>
                <a:spcPts val="105"/>
              </a:spcBef>
            </a:pPr>
            <a:r>
              <a:rPr dirty="0"/>
              <a:t>Scope</a:t>
            </a:r>
            <a:r>
              <a:rPr spc="-75" dirty="0"/>
              <a:t> </a:t>
            </a:r>
            <a:r>
              <a:rPr dirty="0"/>
              <a:t>Management</a:t>
            </a:r>
            <a:r>
              <a:rPr spc="-105" dirty="0"/>
              <a:t> </a:t>
            </a:r>
            <a:r>
              <a:rPr spc="-10" dirty="0"/>
              <a:t>Processes</a:t>
            </a:r>
            <a:r>
              <a:rPr lang="en-NZ" spc="-10" dirty="0"/>
              <a:t> (PM Tasks)</a:t>
            </a:r>
            <a:endParaRPr spc="-10" dirty="0"/>
          </a:p>
        </p:txBody>
      </p:sp>
      <p:sp>
        <p:nvSpPr>
          <p:cNvPr id="3" name="object 3"/>
          <p:cNvSpPr txBox="1"/>
          <p:nvPr/>
        </p:nvSpPr>
        <p:spPr>
          <a:xfrm>
            <a:off x="1219200" y="696595"/>
            <a:ext cx="11167745" cy="6260432"/>
          </a:xfrm>
          <a:prstGeom prst="rect">
            <a:avLst/>
          </a:prstGeom>
        </p:spPr>
        <p:txBody>
          <a:bodyPr vert="horz" wrap="square" lIns="0" tIns="12700" rIns="0" bIns="0" rtlCol="0">
            <a:spAutoFit/>
          </a:bodyPr>
          <a:lstStyle/>
          <a:p>
            <a:pPr marL="241300" indent="-228600">
              <a:lnSpc>
                <a:spcPts val="2595"/>
              </a:lnSpc>
              <a:spcBef>
                <a:spcPts val="100"/>
              </a:spcBef>
              <a:buClr>
                <a:srgbClr val="F5821F"/>
              </a:buClr>
              <a:buFont typeface="Arial"/>
              <a:buChar char="•"/>
              <a:tabLst>
                <a:tab pos="241300" algn="l"/>
              </a:tabLst>
            </a:pPr>
            <a:r>
              <a:rPr sz="2200" b="1" dirty="0">
                <a:latin typeface="Calibri"/>
                <a:cs typeface="Calibri"/>
              </a:rPr>
              <a:t>Planning:</a:t>
            </a:r>
            <a:r>
              <a:rPr sz="2200" b="1" spc="-40" dirty="0">
                <a:latin typeface="Calibri"/>
                <a:cs typeface="Calibri"/>
              </a:rPr>
              <a:t> </a:t>
            </a:r>
            <a:endParaRPr lang="en-NZ" sz="2200" b="1" spc="-40" dirty="0">
              <a:latin typeface="Calibri"/>
              <a:cs typeface="Calibri"/>
            </a:endParaRPr>
          </a:p>
          <a:p>
            <a:pPr marL="12700">
              <a:lnSpc>
                <a:spcPts val="2595"/>
              </a:lnSpc>
              <a:spcBef>
                <a:spcPts val="100"/>
              </a:spcBef>
              <a:buClr>
                <a:srgbClr val="F5821F"/>
              </a:buClr>
              <a:tabLst>
                <a:tab pos="241300" algn="l"/>
              </a:tabLst>
            </a:pPr>
            <a:r>
              <a:rPr lang="en-NZ" sz="2400" spc="-40" dirty="0">
                <a:latin typeface="Calibri"/>
                <a:cs typeface="Calibri"/>
              </a:rPr>
              <a:t>	</a:t>
            </a:r>
            <a:r>
              <a:rPr lang="en-NZ" sz="2000" spc="-40" dirty="0">
                <a:latin typeface="Calibri"/>
                <a:cs typeface="Calibri"/>
              </a:rPr>
              <a:t>1. </a:t>
            </a:r>
            <a:r>
              <a:rPr lang="en-NZ" spc="-40" dirty="0">
                <a:latin typeface="Calibri"/>
                <a:cs typeface="Calibri"/>
              </a:rPr>
              <a:t>Create a </a:t>
            </a:r>
            <a:r>
              <a:rPr lang="en-NZ" b="1" spc="-40" dirty="0">
                <a:latin typeface="Calibri"/>
                <a:cs typeface="Calibri"/>
              </a:rPr>
              <a:t>scope statement document </a:t>
            </a:r>
            <a:r>
              <a:rPr lang="en-NZ" spc="-40" dirty="0">
                <a:latin typeface="Calibri"/>
                <a:cs typeface="Calibri"/>
              </a:rPr>
              <a:t>(a high-level plan which has high-level requirements)</a:t>
            </a:r>
          </a:p>
          <a:p>
            <a:pPr marL="12700">
              <a:lnSpc>
                <a:spcPts val="2595"/>
              </a:lnSpc>
              <a:spcBef>
                <a:spcPts val="100"/>
              </a:spcBef>
              <a:buClr>
                <a:srgbClr val="F5821F"/>
              </a:buClr>
              <a:tabLst>
                <a:tab pos="241300" algn="l"/>
              </a:tabLst>
            </a:pPr>
            <a:r>
              <a:rPr lang="en-NZ" b="1" dirty="0">
                <a:latin typeface="Calibri"/>
                <a:cs typeface="Calibri"/>
              </a:rPr>
              <a:t>	      - </a:t>
            </a:r>
            <a:r>
              <a:rPr dirty="0">
                <a:latin typeface="Calibri"/>
                <a:cs typeface="Calibri"/>
              </a:rPr>
              <a:t>reviewing</a:t>
            </a:r>
            <a:r>
              <a:rPr spc="-10" dirty="0">
                <a:latin typeface="Calibri"/>
                <a:cs typeface="Calibri"/>
              </a:rPr>
              <a:t> </a:t>
            </a:r>
            <a:r>
              <a:rPr dirty="0">
                <a:latin typeface="Calibri"/>
                <a:cs typeface="Calibri"/>
              </a:rPr>
              <a:t>the</a:t>
            </a:r>
            <a:r>
              <a:rPr spc="-35" dirty="0">
                <a:latin typeface="Calibri"/>
                <a:cs typeface="Calibri"/>
              </a:rPr>
              <a:t> </a:t>
            </a:r>
            <a:r>
              <a:rPr lang="en-NZ" dirty="0">
                <a:latin typeface="Calibri"/>
                <a:cs typeface="Calibri"/>
              </a:rPr>
              <a:t>project</a:t>
            </a:r>
            <a:r>
              <a:rPr lang="en-NZ" spc="-30" dirty="0">
                <a:latin typeface="Calibri"/>
                <a:cs typeface="Calibri"/>
              </a:rPr>
              <a:t> </a:t>
            </a:r>
            <a:r>
              <a:rPr lang="en-NZ" dirty="0">
                <a:latin typeface="Calibri"/>
                <a:cs typeface="Calibri"/>
              </a:rPr>
              <a:t>specification,</a:t>
            </a:r>
            <a:r>
              <a:rPr lang="en-NZ" spc="-25" dirty="0">
                <a:latin typeface="Calibri"/>
                <a:cs typeface="Calibri"/>
              </a:rPr>
              <a:t> including the </a:t>
            </a:r>
            <a:r>
              <a:rPr dirty="0">
                <a:latin typeface="Calibri"/>
                <a:cs typeface="Calibri"/>
              </a:rPr>
              <a:t>business</a:t>
            </a:r>
            <a:r>
              <a:rPr spc="-30" dirty="0">
                <a:latin typeface="Calibri"/>
                <a:cs typeface="Calibri"/>
              </a:rPr>
              <a:t> </a:t>
            </a:r>
            <a:r>
              <a:rPr dirty="0">
                <a:latin typeface="Calibri"/>
                <a:cs typeface="Calibri"/>
              </a:rPr>
              <a:t>case</a:t>
            </a:r>
            <a:r>
              <a:rPr spc="-35" dirty="0">
                <a:latin typeface="Calibri"/>
                <a:cs typeface="Calibri"/>
              </a:rPr>
              <a:t> </a:t>
            </a:r>
            <a:r>
              <a:rPr lang="en-NZ" spc="-35" dirty="0">
                <a:latin typeface="Calibri"/>
                <a:cs typeface="Calibri"/>
              </a:rPr>
              <a:t>and </a:t>
            </a:r>
            <a:r>
              <a:rPr dirty="0">
                <a:latin typeface="Calibri"/>
                <a:cs typeface="Calibri"/>
              </a:rPr>
              <a:t>project</a:t>
            </a:r>
            <a:r>
              <a:rPr spc="-40" dirty="0">
                <a:latin typeface="Calibri"/>
                <a:cs typeface="Calibri"/>
              </a:rPr>
              <a:t> </a:t>
            </a:r>
            <a:r>
              <a:rPr dirty="0">
                <a:latin typeface="Calibri"/>
                <a:cs typeface="Calibri"/>
              </a:rPr>
              <a:t>charter</a:t>
            </a:r>
            <a:r>
              <a:rPr lang="en-NZ" spc="-20" dirty="0">
                <a:latin typeface="Calibri"/>
                <a:cs typeface="Calibri"/>
              </a:rPr>
              <a:t>, to capture the </a:t>
            </a:r>
            <a:r>
              <a:rPr lang="en-NZ" dirty="0">
                <a:latin typeface="Calibri"/>
                <a:cs typeface="Calibri"/>
              </a:rPr>
              <a:t>functional</a:t>
            </a:r>
            <a:r>
              <a:rPr lang="en-NZ" spc="-15" dirty="0">
                <a:latin typeface="Calibri"/>
                <a:cs typeface="Calibri"/>
              </a:rPr>
              <a:t> </a:t>
            </a:r>
            <a:r>
              <a:rPr lang="en-NZ" dirty="0">
                <a:latin typeface="Calibri"/>
                <a:cs typeface="Calibri"/>
              </a:rPr>
              <a:t>&amp;</a:t>
            </a:r>
            <a:r>
              <a:rPr lang="en-NZ" spc="-35" dirty="0">
                <a:latin typeface="Calibri"/>
                <a:cs typeface="Calibri"/>
              </a:rPr>
              <a:t> </a:t>
            </a:r>
          </a:p>
          <a:p>
            <a:pPr marL="12700">
              <a:lnSpc>
                <a:spcPts val="2595"/>
              </a:lnSpc>
              <a:spcBef>
                <a:spcPts val="100"/>
              </a:spcBef>
              <a:buClr>
                <a:srgbClr val="F5821F"/>
              </a:buClr>
              <a:tabLst>
                <a:tab pos="241300" algn="l"/>
              </a:tabLst>
            </a:pPr>
            <a:r>
              <a:rPr lang="en-NZ" spc="-35" dirty="0">
                <a:latin typeface="Calibri"/>
                <a:cs typeface="Calibri"/>
              </a:rPr>
              <a:t>              </a:t>
            </a:r>
            <a:r>
              <a:rPr lang="en-NZ" dirty="0">
                <a:latin typeface="Calibri"/>
                <a:cs typeface="Calibri"/>
              </a:rPr>
              <a:t>non-functional requirements,</a:t>
            </a:r>
            <a:r>
              <a:rPr lang="en-NZ" spc="-30" dirty="0">
                <a:latin typeface="Calibri"/>
                <a:cs typeface="Calibri"/>
              </a:rPr>
              <a:t> </a:t>
            </a:r>
            <a:r>
              <a:rPr lang="en-NZ" spc="-25" dirty="0">
                <a:latin typeface="Calibri"/>
                <a:cs typeface="Calibri"/>
              </a:rPr>
              <a:t>the </a:t>
            </a:r>
            <a:r>
              <a:rPr lang="en-NZ" dirty="0">
                <a:latin typeface="Calibri"/>
                <a:cs typeface="Calibri"/>
              </a:rPr>
              <a:t>product</a:t>
            </a:r>
            <a:r>
              <a:rPr lang="en-NZ" spc="-45" dirty="0">
                <a:latin typeface="Calibri"/>
                <a:cs typeface="Calibri"/>
              </a:rPr>
              <a:t> </a:t>
            </a:r>
            <a:r>
              <a:rPr lang="en-NZ" dirty="0">
                <a:latin typeface="Calibri"/>
                <a:cs typeface="Calibri"/>
              </a:rPr>
              <a:t>&amp;</a:t>
            </a:r>
            <a:r>
              <a:rPr lang="en-NZ" spc="-35" dirty="0">
                <a:latin typeface="Calibri"/>
                <a:cs typeface="Calibri"/>
              </a:rPr>
              <a:t> </a:t>
            </a:r>
            <a:r>
              <a:rPr lang="en-NZ" dirty="0">
                <a:latin typeface="Calibri"/>
                <a:cs typeface="Calibri"/>
              </a:rPr>
              <a:t>project</a:t>
            </a:r>
            <a:r>
              <a:rPr lang="en-NZ" spc="-45" dirty="0">
                <a:latin typeface="Calibri"/>
                <a:cs typeface="Calibri"/>
              </a:rPr>
              <a:t> </a:t>
            </a:r>
            <a:r>
              <a:rPr lang="en-NZ" dirty="0">
                <a:latin typeface="Calibri"/>
                <a:cs typeface="Calibri"/>
              </a:rPr>
              <a:t>related</a:t>
            </a:r>
            <a:r>
              <a:rPr lang="en-NZ" spc="-25" dirty="0">
                <a:latin typeface="Calibri"/>
                <a:cs typeface="Calibri"/>
              </a:rPr>
              <a:t> </a:t>
            </a:r>
            <a:r>
              <a:rPr lang="en-NZ" dirty="0">
                <a:latin typeface="Calibri"/>
                <a:cs typeface="Calibri"/>
              </a:rPr>
              <a:t>deliverables, etc</a:t>
            </a:r>
            <a:r>
              <a:rPr lang="en-NZ" spc="-20" dirty="0">
                <a:latin typeface="Calibri"/>
                <a:cs typeface="Calibri"/>
              </a:rPr>
              <a:t>. </a:t>
            </a:r>
            <a:r>
              <a:rPr dirty="0">
                <a:latin typeface="Calibri"/>
                <a:cs typeface="Calibri"/>
              </a:rPr>
              <a:t>to</a:t>
            </a:r>
            <a:r>
              <a:rPr spc="-40" dirty="0">
                <a:latin typeface="Calibri"/>
                <a:cs typeface="Calibri"/>
              </a:rPr>
              <a:t> </a:t>
            </a:r>
            <a:r>
              <a:rPr dirty="0">
                <a:latin typeface="Calibri"/>
                <a:cs typeface="Calibri"/>
              </a:rPr>
              <a:t>create</a:t>
            </a:r>
            <a:r>
              <a:rPr spc="-20" dirty="0">
                <a:latin typeface="Calibri"/>
                <a:cs typeface="Calibri"/>
              </a:rPr>
              <a:t> </a:t>
            </a:r>
            <a:r>
              <a:rPr spc="-50" dirty="0">
                <a:latin typeface="Calibri"/>
                <a:cs typeface="Calibri"/>
              </a:rPr>
              <a:t>a </a:t>
            </a:r>
            <a:r>
              <a:rPr b="1" i="1" dirty="0">
                <a:uFill>
                  <a:solidFill>
                    <a:srgbClr val="000000"/>
                  </a:solidFill>
                </a:uFill>
                <a:latin typeface="Calibri"/>
                <a:cs typeface="Calibri"/>
              </a:rPr>
              <a:t>scope</a:t>
            </a:r>
            <a:r>
              <a:rPr b="1" i="1" spc="-60" dirty="0">
                <a:uFill>
                  <a:solidFill>
                    <a:srgbClr val="000000"/>
                  </a:solidFill>
                </a:uFill>
                <a:latin typeface="Calibri"/>
                <a:cs typeface="Calibri"/>
              </a:rPr>
              <a:t> </a:t>
            </a:r>
            <a:r>
              <a:rPr lang="en-NZ" b="1" i="1" spc="-60" dirty="0">
                <a:uFill>
                  <a:solidFill>
                    <a:srgbClr val="000000"/>
                  </a:solidFill>
                </a:uFill>
                <a:latin typeface="Calibri"/>
                <a:cs typeface="Calibri"/>
              </a:rPr>
              <a:t>	    	           	          </a:t>
            </a:r>
            <a:r>
              <a:rPr b="1" i="1" spc="-10" dirty="0">
                <a:uFill>
                  <a:solidFill>
                    <a:srgbClr val="000000"/>
                  </a:solidFill>
                </a:uFill>
                <a:latin typeface="Calibri"/>
                <a:cs typeface="Calibri"/>
              </a:rPr>
              <a:t>statement</a:t>
            </a:r>
            <a:r>
              <a:rPr b="1" i="1" spc="-60" dirty="0">
                <a:uFill>
                  <a:solidFill>
                    <a:srgbClr val="000000"/>
                  </a:solidFill>
                </a:uFill>
                <a:latin typeface="Calibri"/>
                <a:cs typeface="Calibri"/>
              </a:rPr>
              <a:t> </a:t>
            </a:r>
            <a:r>
              <a:rPr lang="en-NZ" b="1" i="1" spc="-60" dirty="0">
                <a:uFill>
                  <a:solidFill>
                    <a:srgbClr val="000000"/>
                  </a:solidFill>
                </a:uFill>
                <a:latin typeface="Calibri"/>
                <a:cs typeface="Calibri"/>
              </a:rPr>
              <a:t> </a:t>
            </a:r>
            <a:r>
              <a:rPr b="1" i="1" dirty="0">
                <a:uFill>
                  <a:solidFill>
                    <a:srgbClr val="000000"/>
                  </a:solidFill>
                </a:uFill>
                <a:latin typeface="Calibri"/>
                <a:cs typeface="Calibri"/>
              </a:rPr>
              <a:t>document</a:t>
            </a:r>
            <a:endParaRPr dirty="0">
              <a:latin typeface="Calibri"/>
              <a:cs typeface="Calibri"/>
            </a:endParaRPr>
          </a:p>
          <a:p>
            <a:pPr marL="1155700" lvl="1" indent="-229235">
              <a:lnSpc>
                <a:spcPct val="100000"/>
              </a:lnSpc>
              <a:spcBef>
                <a:spcPts val="5"/>
              </a:spcBef>
              <a:buClr>
                <a:srgbClr val="F5821F"/>
              </a:buClr>
              <a:buFont typeface="Arial"/>
              <a:buChar char="•"/>
              <a:tabLst>
                <a:tab pos="1155700" algn="l"/>
                <a:tab pos="1156335" algn="l"/>
              </a:tabLst>
            </a:pPr>
            <a:r>
              <a:rPr b="1" i="1" u="sng" dirty="0">
                <a:uFill>
                  <a:solidFill>
                    <a:srgbClr val="000000"/>
                  </a:solidFill>
                </a:uFill>
                <a:latin typeface="Calibri"/>
                <a:cs typeface="Calibri"/>
              </a:rPr>
              <a:t>Scope</a:t>
            </a:r>
            <a:r>
              <a:rPr b="1" i="1" u="sng" spc="-70" dirty="0">
                <a:uFill>
                  <a:solidFill>
                    <a:srgbClr val="000000"/>
                  </a:solidFill>
                </a:uFill>
                <a:latin typeface="Calibri"/>
                <a:cs typeface="Calibri"/>
              </a:rPr>
              <a:t> </a:t>
            </a:r>
            <a:r>
              <a:rPr b="1" i="1" u="sng" spc="-10" dirty="0">
                <a:uFill>
                  <a:solidFill>
                    <a:srgbClr val="000000"/>
                  </a:solidFill>
                </a:uFill>
                <a:latin typeface="Calibri"/>
                <a:cs typeface="Calibri"/>
              </a:rPr>
              <a:t>statement</a:t>
            </a:r>
            <a:r>
              <a:rPr b="1" i="1" u="sng" spc="-65" dirty="0">
                <a:uFill>
                  <a:solidFill>
                    <a:srgbClr val="000000"/>
                  </a:solidFill>
                </a:uFill>
                <a:latin typeface="Calibri"/>
                <a:cs typeface="Calibri"/>
              </a:rPr>
              <a:t> </a:t>
            </a:r>
            <a:r>
              <a:rPr b="1" i="1" u="sng" spc="-10" dirty="0">
                <a:uFill>
                  <a:solidFill>
                    <a:srgbClr val="000000"/>
                  </a:solidFill>
                </a:uFill>
                <a:latin typeface="Calibri"/>
                <a:cs typeface="Calibri"/>
              </a:rPr>
              <a:t>document</a:t>
            </a:r>
            <a:endParaRPr dirty="0">
              <a:latin typeface="Calibri"/>
              <a:cs typeface="Calibri"/>
            </a:endParaRPr>
          </a:p>
          <a:p>
            <a:pPr marL="1612900" lvl="2" indent="-229235">
              <a:lnSpc>
                <a:spcPct val="100000"/>
              </a:lnSpc>
              <a:spcBef>
                <a:spcPts val="80"/>
              </a:spcBef>
              <a:buClr>
                <a:srgbClr val="F5821F"/>
              </a:buClr>
              <a:buFont typeface="Arial"/>
              <a:buChar char="•"/>
              <a:tabLst>
                <a:tab pos="1612900" algn="l"/>
                <a:tab pos="1613535" algn="l"/>
              </a:tabLst>
            </a:pPr>
            <a:r>
              <a:rPr dirty="0">
                <a:latin typeface="Calibri"/>
                <a:cs typeface="Calibri"/>
              </a:rPr>
              <a:t>Defines</a:t>
            </a:r>
            <a:r>
              <a:rPr spc="-20" dirty="0">
                <a:latin typeface="Calibri"/>
                <a:cs typeface="Calibri"/>
              </a:rPr>
              <a:t> </a:t>
            </a:r>
            <a:r>
              <a:rPr dirty="0">
                <a:latin typeface="Calibri"/>
                <a:cs typeface="Calibri"/>
              </a:rPr>
              <a:t>the total</a:t>
            </a:r>
            <a:r>
              <a:rPr spc="-10" dirty="0">
                <a:latin typeface="Calibri"/>
                <a:cs typeface="Calibri"/>
              </a:rPr>
              <a:t> </a:t>
            </a:r>
            <a:r>
              <a:rPr dirty="0">
                <a:latin typeface="Calibri"/>
                <a:cs typeface="Calibri"/>
              </a:rPr>
              <a:t>amount</a:t>
            </a:r>
            <a:r>
              <a:rPr spc="-20" dirty="0">
                <a:latin typeface="Calibri"/>
                <a:cs typeface="Calibri"/>
              </a:rPr>
              <a:t> </a:t>
            </a:r>
            <a:r>
              <a:rPr dirty="0">
                <a:latin typeface="Calibri"/>
                <a:cs typeface="Calibri"/>
              </a:rPr>
              <a:t>of</a:t>
            </a:r>
            <a:r>
              <a:rPr spc="-20" dirty="0">
                <a:latin typeface="Calibri"/>
                <a:cs typeface="Calibri"/>
              </a:rPr>
              <a:t> </a:t>
            </a:r>
            <a:r>
              <a:rPr dirty="0">
                <a:latin typeface="Calibri"/>
                <a:cs typeface="Calibri"/>
              </a:rPr>
              <a:t>work</a:t>
            </a:r>
            <a:r>
              <a:rPr spc="-25" dirty="0">
                <a:latin typeface="Calibri"/>
                <a:cs typeface="Calibri"/>
              </a:rPr>
              <a:t> </a:t>
            </a:r>
            <a:r>
              <a:rPr lang="en-NZ" spc="-25" dirty="0">
                <a:latin typeface="Calibri"/>
                <a:cs typeface="Calibri"/>
              </a:rPr>
              <a:t>that will be done </a:t>
            </a:r>
            <a:r>
              <a:rPr dirty="0">
                <a:latin typeface="Calibri"/>
                <a:cs typeface="Calibri"/>
              </a:rPr>
              <a:t>in</a:t>
            </a:r>
            <a:r>
              <a:rPr spc="-5" dirty="0">
                <a:latin typeface="Calibri"/>
                <a:cs typeface="Calibri"/>
              </a:rPr>
              <a:t> </a:t>
            </a:r>
            <a:r>
              <a:rPr dirty="0">
                <a:latin typeface="Calibri"/>
                <a:cs typeface="Calibri"/>
              </a:rPr>
              <a:t>the</a:t>
            </a:r>
            <a:r>
              <a:rPr spc="-5" dirty="0">
                <a:latin typeface="Calibri"/>
                <a:cs typeface="Calibri"/>
              </a:rPr>
              <a:t> </a:t>
            </a:r>
            <a:r>
              <a:rPr spc="-10" dirty="0">
                <a:latin typeface="Calibri"/>
                <a:cs typeface="Calibri"/>
              </a:rPr>
              <a:t>project</a:t>
            </a:r>
            <a:endParaRPr dirty="0">
              <a:latin typeface="Calibri"/>
              <a:cs typeface="Calibri"/>
            </a:endParaRPr>
          </a:p>
          <a:p>
            <a:pPr marL="1612900" lvl="2" indent="-229235">
              <a:lnSpc>
                <a:spcPct val="100000"/>
              </a:lnSpc>
              <a:spcBef>
                <a:spcPts val="70"/>
              </a:spcBef>
              <a:buClr>
                <a:srgbClr val="F5821F"/>
              </a:buClr>
              <a:buFont typeface="Arial"/>
              <a:buChar char="•"/>
              <a:tabLst>
                <a:tab pos="1612900" algn="l"/>
                <a:tab pos="1613535" algn="l"/>
              </a:tabLst>
            </a:pPr>
            <a:r>
              <a:rPr dirty="0">
                <a:latin typeface="Calibri"/>
                <a:cs typeface="Calibri"/>
              </a:rPr>
              <a:t>Agreement</a:t>
            </a:r>
            <a:r>
              <a:rPr spc="-60" dirty="0">
                <a:latin typeface="Calibri"/>
                <a:cs typeface="Calibri"/>
              </a:rPr>
              <a:t> </a:t>
            </a:r>
            <a:r>
              <a:rPr dirty="0">
                <a:latin typeface="Calibri"/>
                <a:cs typeface="Calibri"/>
              </a:rPr>
              <a:t>on</a:t>
            </a:r>
            <a:r>
              <a:rPr spc="-20" dirty="0">
                <a:latin typeface="Calibri"/>
                <a:cs typeface="Calibri"/>
              </a:rPr>
              <a:t> </a:t>
            </a:r>
            <a:r>
              <a:rPr dirty="0">
                <a:latin typeface="Calibri"/>
                <a:cs typeface="Calibri"/>
              </a:rPr>
              <a:t>the</a:t>
            </a:r>
            <a:r>
              <a:rPr spc="-25" dirty="0">
                <a:latin typeface="Calibri"/>
                <a:cs typeface="Calibri"/>
              </a:rPr>
              <a:t> </a:t>
            </a:r>
            <a:r>
              <a:rPr dirty="0">
                <a:latin typeface="Calibri"/>
                <a:cs typeface="Calibri"/>
              </a:rPr>
              <a:t>project</a:t>
            </a:r>
            <a:r>
              <a:rPr spc="-35" dirty="0">
                <a:latin typeface="Calibri"/>
                <a:cs typeface="Calibri"/>
              </a:rPr>
              <a:t> </a:t>
            </a:r>
            <a:r>
              <a:rPr dirty="0">
                <a:latin typeface="Calibri"/>
                <a:cs typeface="Calibri"/>
              </a:rPr>
              <a:t>work</a:t>
            </a:r>
            <a:r>
              <a:rPr spc="-40" dirty="0">
                <a:latin typeface="Calibri"/>
                <a:cs typeface="Calibri"/>
              </a:rPr>
              <a:t> </a:t>
            </a:r>
            <a:r>
              <a:rPr dirty="0">
                <a:latin typeface="Calibri"/>
                <a:cs typeface="Calibri"/>
              </a:rPr>
              <a:t>(deliverables)</a:t>
            </a:r>
            <a:r>
              <a:rPr spc="-15" dirty="0">
                <a:latin typeface="Calibri"/>
                <a:cs typeface="Calibri"/>
              </a:rPr>
              <a:t> </a:t>
            </a:r>
            <a:r>
              <a:rPr dirty="0">
                <a:latin typeface="Calibri"/>
                <a:cs typeface="Calibri"/>
              </a:rPr>
              <a:t>between</a:t>
            </a:r>
            <a:r>
              <a:rPr spc="-20" dirty="0">
                <a:latin typeface="Calibri"/>
                <a:cs typeface="Calibri"/>
              </a:rPr>
              <a:t> </a:t>
            </a:r>
            <a:r>
              <a:rPr lang="en-NZ" spc="-20" dirty="0">
                <a:latin typeface="Calibri"/>
                <a:cs typeface="Calibri"/>
              </a:rPr>
              <a:t>the </a:t>
            </a:r>
            <a:r>
              <a:rPr dirty="0">
                <a:latin typeface="Calibri"/>
                <a:cs typeface="Calibri"/>
              </a:rPr>
              <a:t>project</a:t>
            </a:r>
            <a:r>
              <a:rPr spc="-35" dirty="0">
                <a:latin typeface="Calibri"/>
                <a:cs typeface="Calibri"/>
              </a:rPr>
              <a:t> </a:t>
            </a:r>
            <a:r>
              <a:rPr dirty="0">
                <a:latin typeface="Calibri"/>
                <a:cs typeface="Calibri"/>
              </a:rPr>
              <a:t>team</a:t>
            </a:r>
            <a:r>
              <a:rPr spc="-15" dirty="0">
                <a:latin typeface="Calibri"/>
                <a:cs typeface="Calibri"/>
              </a:rPr>
              <a:t> </a:t>
            </a:r>
            <a:r>
              <a:rPr dirty="0">
                <a:latin typeface="Calibri"/>
                <a:cs typeface="Calibri"/>
              </a:rPr>
              <a:t>and</a:t>
            </a:r>
            <a:r>
              <a:rPr spc="-25" dirty="0">
                <a:latin typeface="Calibri"/>
                <a:cs typeface="Calibri"/>
              </a:rPr>
              <a:t> </a:t>
            </a:r>
            <a:r>
              <a:rPr lang="en-NZ" spc="-25" dirty="0">
                <a:latin typeface="Calibri"/>
                <a:cs typeface="Calibri"/>
              </a:rPr>
              <a:t>the </a:t>
            </a:r>
            <a:r>
              <a:rPr lang="en-NZ" spc="-10" dirty="0">
                <a:latin typeface="Calibri"/>
                <a:cs typeface="Calibri"/>
              </a:rPr>
              <a:t>sponsor.</a:t>
            </a:r>
            <a:endParaRPr lang="en-NZ" dirty="0">
              <a:latin typeface="Calibri"/>
              <a:cs typeface="Calibri"/>
            </a:endParaRPr>
          </a:p>
          <a:p>
            <a:pPr marL="1612900" lvl="2" indent="-229235">
              <a:lnSpc>
                <a:spcPct val="100000"/>
              </a:lnSpc>
              <a:spcBef>
                <a:spcPts val="60"/>
              </a:spcBef>
              <a:buClr>
                <a:srgbClr val="F5821F"/>
              </a:buClr>
              <a:buFont typeface="Arial"/>
              <a:buChar char="•"/>
              <a:tabLst>
                <a:tab pos="1612900" algn="l"/>
                <a:tab pos="1613535" algn="l"/>
              </a:tabLst>
            </a:pPr>
            <a:r>
              <a:rPr lang="en-NZ" dirty="0">
                <a:latin typeface="Calibri"/>
                <a:cs typeface="Calibri"/>
              </a:rPr>
              <a:t>Not</a:t>
            </a:r>
            <a:r>
              <a:rPr lang="en-NZ" spc="-10" dirty="0">
                <a:latin typeface="Calibri"/>
                <a:cs typeface="Calibri"/>
              </a:rPr>
              <a:t> </a:t>
            </a:r>
            <a:r>
              <a:rPr lang="en-NZ" dirty="0">
                <a:latin typeface="Calibri"/>
                <a:cs typeface="Calibri"/>
              </a:rPr>
              <a:t>rigid</a:t>
            </a:r>
            <a:r>
              <a:rPr lang="en-NZ" spc="10" dirty="0">
                <a:latin typeface="Calibri"/>
                <a:cs typeface="Calibri"/>
              </a:rPr>
              <a:t> </a:t>
            </a:r>
            <a:r>
              <a:rPr lang="en-NZ" dirty="0">
                <a:latin typeface="Calibri"/>
                <a:cs typeface="Calibri"/>
              </a:rPr>
              <a:t>–</a:t>
            </a:r>
            <a:r>
              <a:rPr lang="en-NZ" spc="-10" dirty="0">
                <a:latin typeface="Calibri"/>
                <a:cs typeface="Calibri"/>
              </a:rPr>
              <a:t> </a:t>
            </a:r>
            <a:r>
              <a:rPr lang="en-NZ" dirty="0">
                <a:latin typeface="Calibri"/>
                <a:cs typeface="Calibri"/>
              </a:rPr>
              <a:t>can</a:t>
            </a:r>
            <a:r>
              <a:rPr lang="en-NZ" spc="10" dirty="0">
                <a:latin typeface="Calibri"/>
                <a:cs typeface="Calibri"/>
              </a:rPr>
              <a:t> </a:t>
            </a:r>
            <a:r>
              <a:rPr lang="en-NZ" spc="-10" dirty="0">
                <a:latin typeface="Calibri"/>
                <a:cs typeface="Calibri"/>
              </a:rPr>
              <a:t>change</a:t>
            </a:r>
          </a:p>
          <a:p>
            <a:pPr marL="12700">
              <a:lnSpc>
                <a:spcPts val="2595"/>
              </a:lnSpc>
              <a:spcBef>
                <a:spcPts val="100"/>
              </a:spcBef>
              <a:buClr>
                <a:srgbClr val="F5821F"/>
              </a:buClr>
              <a:tabLst>
                <a:tab pos="241300" algn="l"/>
              </a:tabLst>
            </a:pPr>
            <a:r>
              <a:rPr lang="en-NZ" spc="-40" dirty="0">
                <a:latin typeface="Calibri"/>
                <a:cs typeface="Calibri"/>
              </a:rPr>
              <a:t>	  2.  </a:t>
            </a:r>
            <a:r>
              <a:rPr spc="-40" dirty="0">
                <a:latin typeface="Calibri"/>
                <a:cs typeface="Calibri"/>
              </a:rPr>
              <a:t>Creating </a:t>
            </a:r>
            <a:r>
              <a:rPr lang="en-NZ" spc="-40" dirty="0">
                <a:latin typeface="Calibri"/>
                <a:cs typeface="Calibri"/>
              </a:rPr>
              <a:t>a</a:t>
            </a:r>
            <a:r>
              <a:rPr spc="-40" dirty="0">
                <a:latin typeface="Calibri"/>
                <a:cs typeface="Calibri"/>
              </a:rPr>
              <a:t> </a:t>
            </a:r>
            <a:r>
              <a:rPr b="1" spc="-40" dirty="0">
                <a:latin typeface="Calibri"/>
                <a:cs typeface="Calibri"/>
              </a:rPr>
              <a:t>WBS</a:t>
            </a:r>
            <a:r>
              <a:rPr spc="-40" dirty="0">
                <a:latin typeface="Calibri"/>
                <a:cs typeface="Calibri"/>
              </a:rPr>
              <a:t>: </a:t>
            </a:r>
            <a:r>
              <a:rPr lang="en-NZ" spc="-40" dirty="0">
                <a:latin typeface="Calibri"/>
                <a:cs typeface="Calibri"/>
              </a:rPr>
              <a:t>a model that will identify project phases and tasks (project life cycle). Hence, using the 	    	        WBS, the </a:t>
            </a:r>
            <a:r>
              <a:rPr lang="en-NZ" b="1" spc="-40" dirty="0">
                <a:latin typeface="Calibri"/>
                <a:cs typeface="Calibri"/>
              </a:rPr>
              <a:t>project schedule, quality assurance (QA) plan </a:t>
            </a:r>
            <a:r>
              <a:rPr lang="en-NZ" spc="-40" dirty="0">
                <a:latin typeface="Calibri"/>
                <a:cs typeface="Calibri"/>
              </a:rPr>
              <a:t>and </a:t>
            </a:r>
            <a:r>
              <a:rPr lang="en-NZ" b="1" spc="-40" dirty="0">
                <a:latin typeface="Calibri"/>
                <a:cs typeface="Calibri"/>
              </a:rPr>
              <a:t>budget</a:t>
            </a:r>
            <a:r>
              <a:rPr lang="en-NZ" spc="-40" dirty="0">
                <a:latin typeface="Calibri"/>
                <a:cs typeface="Calibri"/>
              </a:rPr>
              <a:t> must also be planned</a:t>
            </a:r>
          </a:p>
          <a:p>
            <a:pPr marL="12700">
              <a:lnSpc>
                <a:spcPts val="2595"/>
              </a:lnSpc>
              <a:spcBef>
                <a:spcPts val="100"/>
              </a:spcBef>
              <a:buClr>
                <a:srgbClr val="F5821F"/>
              </a:buClr>
              <a:tabLst>
                <a:tab pos="241300" algn="l"/>
              </a:tabLst>
            </a:pPr>
            <a:r>
              <a:rPr lang="en-NZ" sz="2000" b="1" spc="-40" dirty="0">
                <a:latin typeface="Calibri"/>
                <a:cs typeface="Calibri"/>
              </a:rPr>
              <a:t>           </a:t>
            </a:r>
            <a:r>
              <a:rPr lang="en-NZ" sz="2000" b="1" i="1" u="sng" spc="-40" dirty="0">
                <a:highlight>
                  <a:srgbClr val="FFFF00"/>
                </a:highlight>
                <a:latin typeface="Calibri"/>
                <a:cs typeface="Calibri"/>
              </a:rPr>
              <a:t>Planning PM task </a:t>
            </a:r>
            <a:r>
              <a:rPr lang="en-NZ" sz="2000" i="1" spc="-40" dirty="0">
                <a:highlight>
                  <a:srgbClr val="FFFF00"/>
                </a:highlight>
                <a:latin typeface="Calibri"/>
                <a:cs typeface="Calibri"/>
              </a:rPr>
              <a:t>is carried out in the </a:t>
            </a:r>
            <a:r>
              <a:rPr lang="en-NZ" sz="2000" b="1" i="1" u="sng" spc="-40" dirty="0">
                <a:highlight>
                  <a:srgbClr val="FFFF00"/>
                </a:highlight>
                <a:latin typeface="Calibri"/>
                <a:cs typeface="Calibri"/>
              </a:rPr>
              <a:t>planning phase </a:t>
            </a:r>
            <a:r>
              <a:rPr lang="en-NZ" sz="2000" i="1" spc="-40" dirty="0">
                <a:highlight>
                  <a:srgbClr val="FFFF00"/>
                </a:highlight>
                <a:latin typeface="Calibri"/>
                <a:cs typeface="Calibri"/>
              </a:rPr>
              <a:t>of a project</a:t>
            </a:r>
          </a:p>
          <a:p>
            <a:pPr marL="241300" indent="-228600">
              <a:lnSpc>
                <a:spcPts val="2595"/>
              </a:lnSpc>
              <a:spcBef>
                <a:spcPts val="100"/>
              </a:spcBef>
              <a:buClr>
                <a:srgbClr val="F5821F"/>
              </a:buClr>
              <a:buFont typeface="Arial"/>
              <a:buChar char="•"/>
              <a:tabLst>
                <a:tab pos="241300" algn="l"/>
              </a:tabLst>
            </a:pPr>
            <a:r>
              <a:rPr lang="en-NZ" sz="2200" b="1" dirty="0">
                <a:latin typeface="Calibri"/>
                <a:cs typeface="Calibri"/>
              </a:rPr>
              <a:t>Executing;  scope statement document, schedule, QA and budget plans are executed</a:t>
            </a:r>
          </a:p>
          <a:p>
            <a:pPr marL="12700">
              <a:lnSpc>
                <a:spcPts val="2595"/>
              </a:lnSpc>
              <a:spcBef>
                <a:spcPts val="100"/>
              </a:spcBef>
              <a:buClr>
                <a:srgbClr val="F5821F"/>
              </a:buClr>
              <a:tabLst>
                <a:tab pos="241300" algn="l"/>
              </a:tabLst>
            </a:pPr>
            <a:r>
              <a:rPr lang="en-NZ" sz="2000" spc="-40" dirty="0">
                <a:latin typeface="Calibri"/>
                <a:cs typeface="Calibri"/>
              </a:rPr>
              <a:t>	1</a:t>
            </a:r>
            <a:r>
              <a:rPr lang="en-NZ" spc="-40" dirty="0">
                <a:latin typeface="Calibri"/>
                <a:cs typeface="Calibri"/>
              </a:rPr>
              <a:t>. </a:t>
            </a:r>
            <a:r>
              <a:rPr spc="-40" dirty="0">
                <a:latin typeface="Calibri"/>
                <a:cs typeface="Calibri"/>
              </a:rPr>
              <a:t>Collecting requirements: </a:t>
            </a:r>
            <a:r>
              <a:rPr lang="en-NZ" spc="-40" dirty="0">
                <a:latin typeface="Calibri"/>
                <a:cs typeface="Calibri"/>
              </a:rPr>
              <a:t>Analyzing and documenting the requirements that will be implemented. The deliverable will be the </a:t>
            </a:r>
            <a:r>
              <a:rPr spc="-40" dirty="0">
                <a:latin typeface="Calibri"/>
                <a:cs typeface="Calibri"/>
              </a:rPr>
              <a:t>requirements document</a:t>
            </a:r>
            <a:r>
              <a:rPr lang="en-NZ" spc="-40" dirty="0">
                <a:latin typeface="Calibri"/>
                <a:cs typeface="Calibri"/>
              </a:rPr>
              <a:t> or product backlog </a:t>
            </a:r>
            <a:r>
              <a:rPr spc="-40" dirty="0">
                <a:latin typeface="Calibri"/>
                <a:cs typeface="Calibri"/>
              </a:rPr>
              <a:t>(agile approach- product</a:t>
            </a:r>
            <a:r>
              <a:rPr lang="en-NZ" spc="-40" dirty="0">
                <a:latin typeface="Calibri"/>
                <a:cs typeface="Calibri"/>
              </a:rPr>
              <a:t> </a:t>
            </a:r>
            <a:r>
              <a:rPr spc="-40" dirty="0">
                <a:latin typeface="Calibri"/>
                <a:cs typeface="Calibri"/>
              </a:rPr>
              <a:t>backlog)</a:t>
            </a:r>
            <a:r>
              <a:rPr lang="en-NZ" spc="-40" dirty="0">
                <a:latin typeface="Calibri"/>
                <a:cs typeface="Calibri"/>
              </a:rPr>
              <a:t>.  </a:t>
            </a:r>
            <a:r>
              <a:rPr lang="en-NZ" i="1" u="sng" spc="-40" dirty="0">
                <a:highlight>
                  <a:srgbClr val="FFFF00"/>
                </a:highlight>
                <a:latin typeface="Calibri"/>
                <a:cs typeface="Calibri"/>
              </a:rPr>
              <a:t>Done in the analysis and design phases </a:t>
            </a:r>
            <a:endParaRPr i="1" u="sng" spc="-40" dirty="0">
              <a:highlight>
                <a:srgbClr val="FFFF00"/>
              </a:highlight>
              <a:latin typeface="Calibri"/>
              <a:cs typeface="Calibri"/>
            </a:endParaRPr>
          </a:p>
          <a:p>
            <a:pPr lvl="1">
              <a:lnSpc>
                <a:spcPts val="2595"/>
              </a:lnSpc>
              <a:spcBef>
                <a:spcPts val="100"/>
              </a:spcBef>
              <a:buClr>
                <a:srgbClr val="F5821F"/>
              </a:buClr>
              <a:tabLst>
                <a:tab pos="241300" algn="l"/>
              </a:tabLst>
            </a:pPr>
            <a:r>
              <a:rPr lang="en-NZ" spc="-40" dirty="0">
                <a:latin typeface="Calibri"/>
                <a:cs typeface="Calibri"/>
              </a:rPr>
              <a:t>	 2  </a:t>
            </a:r>
            <a:r>
              <a:rPr spc="-40" dirty="0">
                <a:latin typeface="Calibri"/>
                <a:cs typeface="Calibri"/>
              </a:rPr>
              <a:t>Planning for implementation (agile: sprint/iteration plans)</a:t>
            </a:r>
            <a:r>
              <a:rPr lang="en-NZ" spc="-40" dirty="0">
                <a:latin typeface="Calibri"/>
                <a:cs typeface="Calibri"/>
              </a:rPr>
              <a:t>.  </a:t>
            </a:r>
            <a:r>
              <a:rPr lang="en-NZ" i="1" u="sng" spc="-40" dirty="0">
                <a:highlight>
                  <a:srgbClr val="FFFF00"/>
                </a:highlight>
                <a:latin typeface="Calibri"/>
                <a:cs typeface="Calibri"/>
              </a:rPr>
              <a:t>Done in the design phase </a:t>
            </a:r>
            <a:r>
              <a:rPr lang="en-NZ" spc="-40" dirty="0">
                <a:latin typeface="Calibri"/>
                <a:cs typeface="Calibri"/>
              </a:rPr>
              <a:t>just before starting the development and testing phase.</a:t>
            </a:r>
          </a:p>
          <a:p>
            <a:pPr lvl="1">
              <a:lnSpc>
                <a:spcPts val="2595"/>
              </a:lnSpc>
              <a:spcBef>
                <a:spcPts val="100"/>
              </a:spcBef>
              <a:buClr>
                <a:srgbClr val="F5821F"/>
              </a:buClr>
              <a:tabLst>
                <a:tab pos="241300" algn="l"/>
              </a:tabLst>
            </a:pPr>
            <a:r>
              <a:rPr lang="en-NZ" sz="2000" b="1" u="sng" spc="-40" dirty="0">
                <a:highlight>
                  <a:srgbClr val="FFFF00"/>
                </a:highlight>
                <a:latin typeface="Calibri"/>
                <a:cs typeface="Calibri"/>
              </a:rPr>
              <a:t>Execution PM task </a:t>
            </a:r>
            <a:r>
              <a:rPr lang="en-NZ" sz="2000" spc="-40" dirty="0">
                <a:highlight>
                  <a:srgbClr val="FFFF00"/>
                </a:highlight>
                <a:latin typeface="Calibri"/>
                <a:cs typeface="Calibri"/>
              </a:rPr>
              <a:t>will be carried out in the </a:t>
            </a:r>
            <a:r>
              <a:rPr lang="en-NZ" sz="2000" b="1" u="sng" spc="-40" dirty="0">
                <a:highlight>
                  <a:srgbClr val="FFFF00"/>
                </a:highlight>
                <a:latin typeface="Calibri"/>
                <a:cs typeface="Calibri"/>
              </a:rPr>
              <a:t>analysis, design, and implementation (development &amp; testing) </a:t>
            </a:r>
            <a:r>
              <a:rPr lang="en-NZ" sz="2000" spc="-40" dirty="0">
                <a:highlight>
                  <a:srgbClr val="FFFF00"/>
                </a:highlight>
                <a:latin typeface="Calibri"/>
                <a:cs typeface="Calibri"/>
              </a:rPr>
              <a:t>phases</a:t>
            </a:r>
            <a:endParaRPr sz="2000" spc="-40" dirty="0">
              <a:highlight>
                <a:srgbClr val="FFFF00"/>
              </a:highlight>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430" rIns="0" bIns="0" rtlCol="0">
            <a:spAutoFit/>
          </a:bodyPr>
          <a:lstStyle/>
          <a:p>
            <a:pPr marL="12700">
              <a:lnSpc>
                <a:spcPct val="100000"/>
              </a:lnSpc>
              <a:spcBef>
                <a:spcPts val="105"/>
              </a:spcBef>
            </a:pPr>
            <a:r>
              <a:rPr dirty="0"/>
              <a:t>Scope</a:t>
            </a:r>
            <a:r>
              <a:rPr spc="-100" dirty="0"/>
              <a:t> </a:t>
            </a:r>
            <a:r>
              <a:rPr dirty="0"/>
              <a:t>Management</a:t>
            </a:r>
            <a:r>
              <a:rPr spc="-105" dirty="0"/>
              <a:t> </a:t>
            </a:r>
            <a:r>
              <a:rPr spc="-10" dirty="0"/>
              <a:t>Processes</a:t>
            </a:r>
          </a:p>
        </p:txBody>
      </p:sp>
      <p:sp>
        <p:nvSpPr>
          <p:cNvPr id="3" name="object 3"/>
          <p:cNvSpPr txBox="1"/>
          <p:nvPr/>
        </p:nvSpPr>
        <p:spPr>
          <a:xfrm>
            <a:off x="1996820" y="1634439"/>
            <a:ext cx="9046845" cy="4483279"/>
          </a:xfrm>
          <a:prstGeom prst="rect">
            <a:avLst/>
          </a:prstGeom>
        </p:spPr>
        <p:txBody>
          <a:bodyPr vert="horz" wrap="square" lIns="0" tIns="12700" rIns="0" bIns="0" rtlCol="0">
            <a:spAutoFit/>
          </a:bodyPr>
          <a:lstStyle/>
          <a:p>
            <a:pPr marL="241300" indent="-228600">
              <a:lnSpc>
                <a:spcPts val="2735"/>
              </a:lnSpc>
              <a:spcBef>
                <a:spcPts val="100"/>
              </a:spcBef>
              <a:buClr>
                <a:srgbClr val="F5821F"/>
              </a:buClr>
              <a:buFont typeface="Arial"/>
              <a:buChar char="•"/>
              <a:tabLst>
                <a:tab pos="241300" algn="l"/>
              </a:tabLst>
            </a:pPr>
            <a:r>
              <a:rPr lang="en-NZ" sz="2000" dirty="0">
                <a:latin typeface="Calibri"/>
                <a:cs typeface="Calibri"/>
              </a:rPr>
              <a:t>Analysis and design phases must be </a:t>
            </a:r>
            <a:r>
              <a:rPr lang="en-NZ" sz="2000" i="1" dirty="0">
                <a:latin typeface="Calibri"/>
                <a:cs typeface="Calibri"/>
              </a:rPr>
              <a:t>monitored</a:t>
            </a:r>
            <a:r>
              <a:rPr lang="en-NZ" sz="2000" i="1" spc="-65" dirty="0">
                <a:latin typeface="Calibri"/>
                <a:cs typeface="Calibri"/>
              </a:rPr>
              <a:t> </a:t>
            </a:r>
            <a:r>
              <a:rPr lang="en-NZ" sz="2000" i="1" dirty="0">
                <a:latin typeface="Calibri"/>
                <a:cs typeface="Calibri"/>
              </a:rPr>
              <a:t>&amp;</a:t>
            </a:r>
            <a:r>
              <a:rPr lang="en-NZ" sz="2000" i="1" spc="-40" dirty="0">
                <a:latin typeface="Calibri"/>
                <a:cs typeface="Calibri"/>
              </a:rPr>
              <a:t> controlled (M/C) to create requirements document or product backlog </a:t>
            </a:r>
            <a:r>
              <a:rPr lang="en-NZ" sz="2000" i="1" dirty="0">
                <a:latin typeface="Calibri"/>
                <a:cs typeface="Calibri"/>
              </a:rPr>
              <a:t> </a:t>
            </a:r>
            <a:endParaRPr lang="en-NZ" sz="2000" dirty="0">
              <a:latin typeface="Calibri"/>
              <a:cs typeface="Calibri"/>
            </a:endParaRPr>
          </a:p>
          <a:p>
            <a:pPr marL="241300" indent="-228600">
              <a:lnSpc>
                <a:spcPts val="2735"/>
              </a:lnSpc>
              <a:spcBef>
                <a:spcPts val="100"/>
              </a:spcBef>
              <a:buClr>
                <a:srgbClr val="F5821F"/>
              </a:buClr>
              <a:buFont typeface="Arial"/>
              <a:buChar char="•"/>
              <a:tabLst>
                <a:tab pos="241300" algn="l"/>
              </a:tabLst>
            </a:pPr>
            <a:r>
              <a:rPr lang="en-NZ" sz="2000" dirty="0">
                <a:latin typeface="Calibri"/>
                <a:cs typeface="Calibri"/>
              </a:rPr>
              <a:t>Development and testing phases-  must M/C the development &amp; testing work done based on the requirements document or product backlog, including your schedule, scope statement document, quality assurance plan, etc.</a:t>
            </a:r>
            <a:r>
              <a:rPr sz="2000" spc="-55" dirty="0">
                <a:latin typeface="Calibri"/>
                <a:cs typeface="Calibri"/>
              </a:rPr>
              <a:t> </a:t>
            </a:r>
            <a:endParaRPr lang="en-NZ" sz="2000" spc="-55" dirty="0">
              <a:latin typeface="Calibri"/>
              <a:cs typeface="Calibri"/>
            </a:endParaRPr>
          </a:p>
          <a:p>
            <a:pPr marL="241300" indent="-228600">
              <a:lnSpc>
                <a:spcPts val="2735"/>
              </a:lnSpc>
              <a:spcBef>
                <a:spcPts val="100"/>
              </a:spcBef>
              <a:buClr>
                <a:srgbClr val="F5821F"/>
              </a:buClr>
              <a:buFont typeface="Arial"/>
              <a:buChar char="•"/>
              <a:tabLst>
                <a:tab pos="241300" algn="l"/>
              </a:tabLst>
            </a:pPr>
            <a:r>
              <a:rPr lang="en-NZ" sz="2000" b="1" spc="-10" dirty="0">
                <a:highlight>
                  <a:srgbClr val="FFFF00"/>
                </a:highlight>
                <a:latin typeface="Calibri"/>
                <a:cs typeface="Calibri"/>
              </a:rPr>
              <a:t>M/C to validate</a:t>
            </a:r>
            <a:r>
              <a:rPr sz="2000" b="1" spc="-40" dirty="0">
                <a:highlight>
                  <a:srgbClr val="FFFF00"/>
                </a:highlight>
                <a:latin typeface="Calibri"/>
                <a:cs typeface="Calibri"/>
              </a:rPr>
              <a:t> </a:t>
            </a:r>
            <a:r>
              <a:rPr lang="en-NZ" sz="2000" b="1" spc="-40" dirty="0">
                <a:highlight>
                  <a:srgbClr val="FFFF00"/>
                </a:highlight>
                <a:latin typeface="Calibri"/>
                <a:cs typeface="Calibri"/>
              </a:rPr>
              <a:t>the </a:t>
            </a:r>
            <a:r>
              <a:rPr sz="2000" b="1" dirty="0">
                <a:highlight>
                  <a:srgbClr val="FFFF00"/>
                </a:highlight>
                <a:latin typeface="Calibri"/>
                <a:cs typeface="Calibri"/>
              </a:rPr>
              <a:t>scope</a:t>
            </a:r>
            <a:r>
              <a:rPr lang="en-NZ" sz="2000" b="1" dirty="0">
                <a:highlight>
                  <a:srgbClr val="FFFF00"/>
                </a:highlight>
                <a:latin typeface="Calibri"/>
                <a:cs typeface="Calibri"/>
              </a:rPr>
              <a:t>:</a:t>
            </a:r>
            <a:r>
              <a:rPr sz="2000" spc="-50" dirty="0">
                <a:highlight>
                  <a:srgbClr val="FFFF00"/>
                </a:highlight>
                <a:latin typeface="Calibri"/>
                <a:cs typeface="Calibri"/>
              </a:rPr>
              <a:t> </a:t>
            </a:r>
            <a:endParaRPr lang="en-NZ" sz="2000" spc="-50" dirty="0">
              <a:highlight>
                <a:srgbClr val="FFFF00"/>
              </a:highlight>
              <a:latin typeface="Calibri"/>
              <a:cs typeface="Calibri"/>
            </a:endParaRPr>
          </a:p>
          <a:p>
            <a:pPr marL="12700">
              <a:lnSpc>
                <a:spcPts val="2735"/>
              </a:lnSpc>
              <a:spcBef>
                <a:spcPts val="100"/>
              </a:spcBef>
              <a:buClr>
                <a:srgbClr val="F5821F"/>
              </a:buClr>
              <a:tabLst>
                <a:tab pos="241300" algn="l"/>
              </a:tabLst>
            </a:pPr>
            <a:r>
              <a:rPr lang="en-NZ" sz="2400" spc="-50" dirty="0">
                <a:latin typeface="Calibri"/>
                <a:cs typeface="Calibri"/>
              </a:rPr>
              <a:t>	 - </a:t>
            </a:r>
            <a:r>
              <a:rPr lang="en-NZ" dirty="0">
                <a:latin typeface="Calibri"/>
                <a:cs typeface="Calibri"/>
              </a:rPr>
              <a:t>Control</a:t>
            </a:r>
            <a:r>
              <a:rPr lang="en-NZ" spc="-55" dirty="0">
                <a:latin typeface="Calibri"/>
                <a:cs typeface="Calibri"/>
              </a:rPr>
              <a:t> </a:t>
            </a:r>
            <a:r>
              <a:rPr lang="en-NZ" dirty="0">
                <a:latin typeface="Calibri"/>
                <a:cs typeface="Calibri"/>
              </a:rPr>
              <a:t>(QC)</a:t>
            </a:r>
            <a:r>
              <a:rPr lang="en-NZ" spc="-45" dirty="0">
                <a:latin typeface="Calibri"/>
                <a:cs typeface="Calibri"/>
              </a:rPr>
              <a:t> </a:t>
            </a:r>
            <a:r>
              <a:rPr lang="en-NZ" spc="-50" dirty="0">
                <a:latin typeface="Calibri"/>
                <a:cs typeface="Calibri"/>
              </a:rPr>
              <a:t> </a:t>
            </a:r>
            <a:r>
              <a:rPr lang="en-NZ" dirty="0">
                <a:latin typeface="Calibri"/>
                <a:cs typeface="Calibri"/>
              </a:rPr>
              <a:t>implementation</a:t>
            </a:r>
            <a:r>
              <a:rPr lang="en-NZ" spc="-15" dirty="0">
                <a:latin typeface="Calibri"/>
                <a:cs typeface="Calibri"/>
              </a:rPr>
              <a:t> </a:t>
            </a:r>
            <a:r>
              <a:rPr lang="en-NZ" dirty="0">
                <a:latin typeface="Calibri"/>
                <a:cs typeface="Calibri"/>
              </a:rPr>
              <a:t>(based on sprint</a:t>
            </a:r>
            <a:r>
              <a:rPr lang="en-NZ" spc="-30" dirty="0">
                <a:latin typeface="Calibri"/>
                <a:cs typeface="Calibri"/>
              </a:rPr>
              <a:t> </a:t>
            </a:r>
            <a:r>
              <a:rPr lang="en-NZ" dirty="0">
                <a:latin typeface="Calibri"/>
                <a:cs typeface="Calibri"/>
              </a:rPr>
              <a:t>or</a:t>
            </a:r>
            <a:r>
              <a:rPr lang="en-NZ" spc="-40" dirty="0">
                <a:latin typeface="Calibri"/>
                <a:cs typeface="Calibri"/>
              </a:rPr>
              <a:t> </a:t>
            </a:r>
            <a:r>
              <a:rPr lang="en-NZ" dirty="0">
                <a:latin typeface="Calibri"/>
                <a:cs typeface="Calibri"/>
              </a:rPr>
              <a:t>iteration</a:t>
            </a:r>
            <a:r>
              <a:rPr lang="en-NZ" spc="-25" dirty="0">
                <a:latin typeface="Calibri"/>
                <a:cs typeface="Calibri"/>
              </a:rPr>
              <a:t> </a:t>
            </a:r>
            <a:r>
              <a:rPr lang="en-NZ" spc="-10" dirty="0">
                <a:latin typeface="Calibri"/>
                <a:cs typeface="Calibri"/>
              </a:rPr>
              <a:t>plan including product backlog) b based on the Quality Assurance (QA) plan</a:t>
            </a:r>
          </a:p>
          <a:p>
            <a:pPr marL="12700">
              <a:lnSpc>
                <a:spcPts val="2735"/>
              </a:lnSpc>
              <a:spcBef>
                <a:spcPts val="100"/>
              </a:spcBef>
              <a:buClr>
                <a:srgbClr val="F5821F"/>
              </a:buClr>
              <a:tabLst>
                <a:tab pos="241300" algn="l"/>
              </a:tabLst>
            </a:pPr>
            <a:r>
              <a:rPr lang="en-NZ" spc="-10" dirty="0">
                <a:uFill>
                  <a:solidFill>
                    <a:srgbClr val="000000"/>
                  </a:solidFill>
                </a:uFill>
                <a:latin typeface="Calibri"/>
                <a:cs typeface="Calibri"/>
              </a:rPr>
              <a:t>      - </a:t>
            </a:r>
            <a:r>
              <a:rPr lang="en-NZ" dirty="0">
                <a:uFill>
                  <a:solidFill>
                    <a:srgbClr val="000000"/>
                  </a:solidFill>
                </a:uFill>
                <a:latin typeface="Calibri"/>
                <a:cs typeface="Calibri"/>
              </a:rPr>
              <a:t>Controlling</a:t>
            </a:r>
            <a:r>
              <a:rPr lang="en-NZ" spc="-90" dirty="0">
                <a:uFill>
                  <a:solidFill>
                    <a:srgbClr val="000000"/>
                  </a:solidFill>
                </a:uFill>
                <a:latin typeface="Calibri"/>
                <a:cs typeface="Calibri"/>
              </a:rPr>
              <a:t> </a:t>
            </a:r>
            <a:r>
              <a:rPr lang="en-NZ" dirty="0">
                <a:uFill>
                  <a:solidFill>
                    <a:srgbClr val="000000"/>
                  </a:solidFill>
                </a:uFill>
                <a:latin typeface="Calibri"/>
                <a:cs typeface="Calibri"/>
              </a:rPr>
              <a:t>change</a:t>
            </a:r>
            <a:r>
              <a:rPr lang="en-NZ" u="sng" dirty="0">
                <a:uFill>
                  <a:solidFill>
                    <a:srgbClr val="000000"/>
                  </a:solidFill>
                </a:uFill>
                <a:latin typeface="Calibri"/>
                <a:cs typeface="Calibri"/>
              </a:rPr>
              <a:t>s</a:t>
            </a:r>
            <a:r>
              <a:rPr lang="en-NZ" spc="-30" dirty="0">
                <a:latin typeface="Calibri"/>
                <a:cs typeface="Calibri"/>
              </a:rPr>
              <a:t> </a:t>
            </a:r>
            <a:r>
              <a:rPr lang="en-NZ" dirty="0">
                <a:latin typeface="Calibri"/>
                <a:cs typeface="Calibri"/>
              </a:rPr>
              <a:t>to</a:t>
            </a:r>
            <a:r>
              <a:rPr lang="en-NZ" spc="-55" dirty="0">
                <a:latin typeface="Calibri"/>
                <a:cs typeface="Calibri"/>
              </a:rPr>
              <a:t> </a:t>
            </a:r>
            <a:r>
              <a:rPr lang="en-NZ" dirty="0">
                <a:latin typeface="Calibri"/>
                <a:cs typeface="Calibri"/>
              </a:rPr>
              <a:t>project</a:t>
            </a:r>
            <a:r>
              <a:rPr lang="en-NZ" spc="-55" dirty="0">
                <a:latin typeface="Calibri"/>
                <a:cs typeface="Calibri"/>
              </a:rPr>
              <a:t> </a:t>
            </a:r>
            <a:r>
              <a:rPr lang="en-NZ" dirty="0">
                <a:latin typeface="Calibri"/>
                <a:cs typeface="Calibri"/>
              </a:rPr>
              <a:t>scope</a:t>
            </a:r>
            <a:r>
              <a:rPr lang="en-NZ" spc="-55" dirty="0">
                <a:latin typeface="Calibri"/>
                <a:cs typeface="Calibri"/>
              </a:rPr>
              <a:t> </a:t>
            </a:r>
            <a:r>
              <a:rPr lang="en-NZ" dirty="0">
                <a:latin typeface="Calibri"/>
                <a:cs typeface="Calibri"/>
              </a:rPr>
              <a:t>throughout</a:t>
            </a:r>
            <a:r>
              <a:rPr lang="en-NZ" spc="-75" dirty="0">
                <a:latin typeface="Calibri"/>
                <a:cs typeface="Calibri"/>
              </a:rPr>
              <a:t> </a:t>
            </a:r>
            <a:r>
              <a:rPr lang="en-NZ" dirty="0">
                <a:latin typeface="Calibri"/>
                <a:cs typeface="Calibri"/>
              </a:rPr>
              <a:t>the</a:t>
            </a:r>
            <a:r>
              <a:rPr lang="en-NZ" spc="-40" dirty="0">
                <a:latin typeface="Calibri"/>
                <a:cs typeface="Calibri"/>
              </a:rPr>
              <a:t> </a:t>
            </a:r>
            <a:r>
              <a:rPr lang="en-NZ" dirty="0">
                <a:latin typeface="Calibri"/>
                <a:cs typeface="Calibri"/>
              </a:rPr>
              <a:t>life</a:t>
            </a:r>
            <a:r>
              <a:rPr lang="en-NZ" spc="-35" dirty="0">
                <a:latin typeface="Calibri"/>
                <a:cs typeface="Calibri"/>
              </a:rPr>
              <a:t> </a:t>
            </a:r>
            <a:r>
              <a:rPr lang="en-NZ" dirty="0">
                <a:latin typeface="Calibri"/>
                <a:cs typeface="Calibri"/>
              </a:rPr>
              <a:t>of</a:t>
            </a:r>
            <a:r>
              <a:rPr lang="en-NZ" spc="-50" dirty="0">
                <a:latin typeface="Calibri"/>
                <a:cs typeface="Calibri"/>
              </a:rPr>
              <a:t> </a:t>
            </a:r>
            <a:r>
              <a:rPr lang="en-NZ" dirty="0">
                <a:latin typeface="Calibri"/>
                <a:cs typeface="Calibri"/>
              </a:rPr>
              <a:t>the</a:t>
            </a:r>
            <a:r>
              <a:rPr lang="en-NZ" spc="-55" dirty="0">
                <a:latin typeface="Calibri"/>
                <a:cs typeface="Calibri"/>
              </a:rPr>
              <a:t> </a:t>
            </a:r>
            <a:r>
              <a:rPr lang="en-NZ" dirty="0">
                <a:latin typeface="Calibri"/>
                <a:cs typeface="Calibri"/>
              </a:rPr>
              <a:t>project</a:t>
            </a:r>
            <a:r>
              <a:rPr lang="en-NZ" spc="-50" dirty="0">
                <a:latin typeface="Calibri"/>
                <a:cs typeface="Calibri"/>
              </a:rPr>
              <a:t> </a:t>
            </a:r>
            <a:r>
              <a:rPr lang="en-NZ" spc="-10" dirty="0">
                <a:latin typeface="Calibri"/>
                <a:cs typeface="Calibri"/>
              </a:rPr>
              <a:t>[well</a:t>
            </a:r>
            <a:endParaRPr lang="en-NZ" dirty="0">
              <a:latin typeface="Calibri"/>
              <a:cs typeface="Calibri"/>
            </a:endParaRPr>
          </a:p>
          <a:p>
            <a:pPr marL="1155700">
              <a:lnSpc>
                <a:spcPts val="2280"/>
              </a:lnSpc>
            </a:pPr>
            <a:r>
              <a:rPr lang="en-NZ" dirty="0">
                <a:latin typeface="Calibri"/>
                <a:cs typeface="Calibri"/>
              </a:rPr>
              <a:t>established</a:t>
            </a:r>
            <a:r>
              <a:rPr lang="en-NZ" spc="-25" dirty="0">
                <a:latin typeface="Calibri"/>
                <a:cs typeface="Calibri"/>
              </a:rPr>
              <a:t> </a:t>
            </a:r>
            <a:r>
              <a:rPr lang="en-NZ" dirty="0">
                <a:latin typeface="Calibri"/>
                <a:cs typeface="Calibri"/>
              </a:rPr>
              <a:t>change</a:t>
            </a:r>
            <a:r>
              <a:rPr lang="en-NZ" spc="-65" dirty="0">
                <a:latin typeface="Calibri"/>
                <a:cs typeface="Calibri"/>
              </a:rPr>
              <a:t> </a:t>
            </a:r>
            <a:r>
              <a:rPr lang="en-NZ" dirty="0">
                <a:latin typeface="Calibri"/>
                <a:cs typeface="Calibri"/>
              </a:rPr>
              <a:t>management</a:t>
            </a:r>
            <a:r>
              <a:rPr lang="en-NZ" spc="-40" dirty="0">
                <a:latin typeface="Calibri"/>
                <a:cs typeface="Calibri"/>
              </a:rPr>
              <a:t> </a:t>
            </a:r>
            <a:r>
              <a:rPr lang="en-NZ" dirty="0">
                <a:latin typeface="Calibri"/>
                <a:cs typeface="Calibri"/>
              </a:rPr>
              <a:t>request</a:t>
            </a:r>
            <a:r>
              <a:rPr lang="en-NZ" spc="-35" dirty="0">
                <a:latin typeface="Calibri"/>
                <a:cs typeface="Calibri"/>
              </a:rPr>
              <a:t> </a:t>
            </a:r>
            <a:r>
              <a:rPr lang="en-NZ" spc="-10" dirty="0">
                <a:latin typeface="Calibri"/>
                <a:cs typeface="Calibri"/>
              </a:rPr>
              <a:t>processes]</a:t>
            </a:r>
            <a:endParaRPr lang="en-NZ" dirty="0">
              <a:latin typeface="Calibri"/>
              <a:cs typeface="Calibri"/>
            </a:endParaRPr>
          </a:p>
          <a:p>
            <a:pPr marL="12700">
              <a:lnSpc>
                <a:spcPts val="2735"/>
              </a:lnSpc>
              <a:spcBef>
                <a:spcPts val="100"/>
              </a:spcBef>
              <a:buClr>
                <a:srgbClr val="F5821F"/>
              </a:buClr>
              <a:tabLst>
                <a:tab pos="241300" algn="l"/>
              </a:tabLst>
            </a:pPr>
            <a:r>
              <a:rPr lang="en-NZ" spc="-50" dirty="0">
                <a:latin typeface="Calibri"/>
                <a:cs typeface="Calibri"/>
              </a:rPr>
              <a:t>	 - </a:t>
            </a:r>
            <a:r>
              <a:rPr spc="-10" dirty="0">
                <a:latin typeface="Calibri"/>
                <a:cs typeface="Calibri"/>
              </a:rPr>
              <a:t>formalizing</a:t>
            </a:r>
            <a:r>
              <a:rPr lang="en-NZ" spc="-10" dirty="0">
                <a:latin typeface="Calibri"/>
                <a:cs typeface="Calibri"/>
              </a:rPr>
              <a:t> </a:t>
            </a:r>
            <a:r>
              <a:rPr dirty="0">
                <a:latin typeface="Calibri"/>
                <a:cs typeface="Calibri"/>
              </a:rPr>
              <a:t>acceptance</a:t>
            </a:r>
            <a:r>
              <a:rPr spc="-70" dirty="0">
                <a:latin typeface="Calibri"/>
                <a:cs typeface="Calibri"/>
              </a:rPr>
              <a:t> </a:t>
            </a:r>
            <a:r>
              <a:rPr dirty="0">
                <a:latin typeface="Calibri"/>
                <a:cs typeface="Calibri"/>
              </a:rPr>
              <a:t>of</a:t>
            </a:r>
            <a:r>
              <a:rPr spc="-25" dirty="0">
                <a:latin typeface="Calibri"/>
                <a:cs typeface="Calibri"/>
              </a:rPr>
              <a:t> </a:t>
            </a:r>
            <a:r>
              <a:rPr dirty="0">
                <a:latin typeface="Calibri"/>
                <a:cs typeface="Calibri"/>
              </a:rPr>
              <a:t>the</a:t>
            </a:r>
            <a:r>
              <a:rPr spc="-30" dirty="0">
                <a:latin typeface="Calibri"/>
                <a:cs typeface="Calibri"/>
              </a:rPr>
              <a:t> </a:t>
            </a:r>
            <a:r>
              <a:rPr dirty="0">
                <a:latin typeface="Calibri"/>
                <a:cs typeface="Calibri"/>
              </a:rPr>
              <a:t>project</a:t>
            </a:r>
            <a:r>
              <a:rPr spc="-30" dirty="0">
                <a:latin typeface="Calibri"/>
                <a:cs typeface="Calibri"/>
              </a:rPr>
              <a:t> </a:t>
            </a:r>
            <a:r>
              <a:rPr spc="-10" dirty="0">
                <a:latin typeface="Calibri"/>
                <a:cs typeface="Calibri"/>
              </a:rPr>
              <a:t>deliverables</a:t>
            </a:r>
            <a:endParaRPr dirty="0">
              <a:latin typeface="Calibri"/>
              <a:cs typeface="Calibri"/>
            </a:endParaRPr>
          </a:p>
          <a:p>
            <a:pPr marL="12700">
              <a:lnSpc>
                <a:spcPct val="100000"/>
              </a:lnSpc>
              <a:spcBef>
                <a:spcPts val="215"/>
              </a:spcBef>
              <a:buClr>
                <a:srgbClr val="F5821F"/>
              </a:buClr>
              <a:tabLst>
                <a:tab pos="241300" algn="l"/>
              </a:tabLst>
            </a:pPr>
            <a:r>
              <a:rPr lang="en-NZ" spc="-10" dirty="0">
                <a:uFill>
                  <a:solidFill>
                    <a:srgbClr val="000000"/>
                  </a:solidFill>
                </a:uFill>
                <a:latin typeface="Calibri"/>
                <a:cs typeface="Calibri"/>
              </a:rPr>
              <a:t>     - </a:t>
            </a:r>
            <a:r>
              <a:rPr spc="-10" dirty="0">
                <a:uFill>
                  <a:solidFill>
                    <a:srgbClr val="000000"/>
                  </a:solidFill>
                </a:uFill>
                <a:latin typeface="Calibri"/>
                <a:cs typeface="Calibri"/>
              </a:rPr>
              <a:t>[stakeholder</a:t>
            </a:r>
            <a:r>
              <a:rPr spc="-40" dirty="0">
                <a:uFill>
                  <a:solidFill>
                    <a:srgbClr val="000000"/>
                  </a:solidFill>
                </a:uFill>
                <a:latin typeface="Calibri"/>
                <a:cs typeface="Calibri"/>
              </a:rPr>
              <a:t> </a:t>
            </a:r>
            <a:r>
              <a:rPr dirty="0">
                <a:uFill>
                  <a:solidFill>
                    <a:srgbClr val="000000"/>
                  </a:solidFill>
                </a:uFill>
                <a:latin typeface="Calibri"/>
                <a:cs typeface="Calibri"/>
              </a:rPr>
              <a:t>certifying</a:t>
            </a:r>
            <a:r>
              <a:rPr spc="-40" dirty="0">
                <a:uFill>
                  <a:solidFill>
                    <a:srgbClr val="000000"/>
                  </a:solidFill>
                </a:uFill>
                <a:latin typeface="Calibri"/>
                <a:cs typeface="Calibri"/>
              </a:rPr>
              <a:t> </a:t>
            </a:r>
            <a:r>
              <a:rPr dirty="0">
                <a:uFill>
                  <a:solidFill>
                    <a:srgbClr val="000000"/>
                  </a:solidFill>
                </a:uFill>
                <a:latin typeface="Calibri"/>
                <a:cs typeface="Calibri"/>
              </a:rPr>
              <a:t>and</a:t>
            </a:r>
            <a:r>
              <a:rPr spc="-20" dirty="0">
                <a:uFill>
                  <a:solidFill>
                    <a:srgbClr val="000000"/>
                  </a:solidFill>
                </a:uFill>
                <a:latin typeface="Calibri"/>
                <a:cs typeface="Calibri"/>
              </a:rPr>
              <a:t> </a:t>
            </a:r>
            <a:r>
              <a:rPr dirty="0">
                <a:uFill>
                  <a:solidFill>
                    <a:srgbClr val="000000"/>
                  </a:solidFill>
                </a:uFill>
                <a:latin typeface="Calibri"/>
                <a:cs typeface="Calibri"/>
              </a:rPr>
              <a:t>signing</a:t>
            </a:r>
            <a:r>
              <a:rPr spc="-45" dirty="0">
                <a:uFill>
                  <a:solidFill>
                    <a:srgbClr val="000000"/>
                  </a:solidFill>
                </a:uFill>
                <a:latin typeface="Calibri"/>
                <a:cs typeface="Calibri"/>
              </a:rPr>
              <a:t> </a:t>
            </a:r>
            <a:r>
              <a:rPr dirty="0">
                <a:uFill>
                  <a:solidFill>
                    <a:srgbClr val="000000"/>
                  </a:solidFill>
                </a:uFill>
                <a:latin typeface="Calibri"/>
                <a:cs typeface="Calibri"/>
              </a:rPr>
              <a:t>off</a:t>
            </a:r>
            <a:r>
              <a:rPr spc="-10" dirty="0">
                <a:uFill>
                  <a:solidFill>
                    <a:srgbClr val="000000"/>
                  </a:solidFill>
                </a:uFill>
                <a:latin typeface="Calibri"/>
                <a:cs typeface="Calibri"/>
              </a:rPr>
              <a:t> </a:t>
            </a:r>
            <a:r>
              <a:rPr dirty="0">
                <a:uFill>
                  <a:solidFill>
                    <a:srgbClr val="000000"/>
                  </a:solidFill>
                </a:uFill>
                <a:latin typeface="Calibri"/>
                <a:cs typeface="Calibri"/>
              </a:rPr>
              <a:t>after</a:t>
            </a:r>
            <a:r>
              <a:rPr spc="-10" dirty="0">
                <a:uFill>
                  <a:solidFill>
                    <a:srgbClr val="000000"/>
                  </a:solidFill>
                </a:uFill>
                <a:latin typeface="Calibri"/>
                <a:cs typeface="Calibri"/>
              </a:rPr>
              <a:t> implementation]</a:t>
            </a:r>
          </a:p>
          <a:p>
            <a:pPr marL="1155065" lvl="1" indent="-227965">
              <a:lnSpc>
                <a:spcPct val="100000"/>
              </a:lnSpc>
              <a:spcBef>
                <a:spcPts val="280"/>
              </a:spcBef>
              <a:buClr>
                <a:srgbClr val="F5821F"/>
              </a:buClr>
              <a:buFont typeface="Arial"/>
              <a:buChar char="•"/>
              <a:tabLst>
                <a:tab pos="1155065" algn="l"/>
                <a:tab pos="1155700" algn="l"/>
              </a:tabLst>
            </a:pPr>
            <a:endParaRPr sz="2000" dirty="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49F17-F3AB-E3CF-1062-5624E74A83E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BFA70C4-5C0B-A347-9DDB-29BFFA58C92A}"/>
              </a:ext>
            </a:extLst>
          </p:cNvPr>
          <p:cNvSpPr txBox="1">
            <a:spLocks noGrp="1"/>
          </p:cNvSpPr>
          <p:nvPr>
            <p:ph type="title"/>
          </p:nvPr>
        </p:nvSpPr>
        <p:spPr>
          <a:xfrm>
            <a:off x="1539366" y="233553"/>
            <a:ext cx="10119234" cy="844154"/>
          </a:xfrm>
          <a:prstGeom prst="rect">
            <a:avLst/>
          </a:prstGeom>
        </p:spPr>
        <p:txBody>
          <a:bodyPr vert="horz" wrap="square" lIns="0" tIns="165430" rIns="0" bIns="0" rtlCol="0">
            <a:spAutoFit/>
          </a:bodyPr>
          <a:lstStyle/>
          <a:p>
            <a:pPr marL="12700">
              <a:lnSpc>
                <a:spcPct val="100000"/>
              </a:lnSpc>
              <a:spcBef>
                <a:spcPts val="105"/>
              </a:spcBef>
            </a:pPr>
            <a:r>
              <a:rPr dirty="0"/>
              <a:t>Scope</a:t>
            </a:r>
            <a:r>
              <a:rPr spc="-100" dirty="0"/>
              <a:t> </a:t>
            </a:r>
            <a:r>
              <a:rPr dirty="0"/>
              <a:t>Management</a:t>
            </a:r>
            <a:r>
              <a:rPr spc="-105" dirty="0"/>
              <a:t> </a:t>
            </a:r>
            <a:r>
              <a:rPr spc="-10" dirty="0"/>
              <a:t>Processes</a:t>
            </a:r>
          </a:p>
        </p:txBody>
      </p:sp>
      <p:pic>
        <p:nvPicPr>
          <p:cNvPr id="5" name="Picture 4">
            <a:extLst>
              <a:ext uri="{FF2B5EF4-FFF2-40B4-BE49-F238E27FC236}">
                <a16:creationId xmlns:a16="http://schemas.microsoft.com/office/drawing/2014/main" id="{023A3BDB-660E-7F7E-7647-C824613A1D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990600"/>
            <a:ext cx="10003493" cy="5701178"/>
          </a:xfrm>
          <a:prstGeom prst="rect">
            <a:avLst/>
          </a:prstGeom>
        </p:spPr>
      </p:pic>
    </p:spTree>
    <p:extLst>
      <p:ext uri="{BB962C8B-B14F-4D97-AF65-F5344CB8AC3E}">
        <p14:creationId xmlns:p14="http://schemas.microsoft.com/office/powerpoint/2010/main" val="600865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486536"/>
            <a:ext cx="8595234" cy="751488"/>
          </a:xfrm>
          <a:prstGeom prst="rect">
            <a:avLst/>
          </a:prstGeom>
        </p:spPr>
        <p:txBody>
          <a:bodyPr vert="horz" wrap="square" lIns="0" tIns="12700" rIns="0" bIns="0" rtlCol="0">
            <a:spAutoFit/>
          </a:bodyPr>
          <a:lstStyle/>
          <a:p>
            <a:pPr marL="12700">
              <a:lnSpc>
                <a:spcPct val="100000"/>
              </a:lnSpc>
              <a:spcBef>
                <a:spcPts val="100"/>
              </a:spcBef>
            </a:pPr>
            <a:r>
              <a:rPr sz="2400" spc="-10" dirty="0"/>
              <a:t>Scope</a:t>
            </a:r>
            <a:r>
              <a:rPr lang="en-NZ" sz="2400" spc="-10" dirty="0"/>
              <a:t> Statement document- a high-level plan (planning process group)</a:t>
            </a:r>
            <a:endParaRPr sz="2400" dirty="0"/>
          </a:p>
        </p:txBody>
      </p:sp>
      <p:sp>
        <p:nvSpPr>
          <p:cNvPr id="3" name="object 3"/>
          <p:cNvSpPr txBox="1"/>
          <p:nvPr/>
        </p:nvSpPr>
        <p:spPr>
          <a:xfrm>
            <a:off x="1556382" y="1219200"/>
            <a:ext cx="7726680" cy="5060360"/>
          </a:xfrm>
          <a:prstGeom prst="rect">
            <a:avLst/>
          </a:prstGeom>
        </p:spPr>
        <p:txBody>
          <a:bodyPr vert="horz" wrap="square" lIns="0" tIns="66040" rIns="0" bIns="0" rtlCol="0">
            <a:spAutoFit/>
          </a:bodyPr>
          <a:lstStyle/>
          <a:p>
            <a:pPr marL="240665" indent="-227965">
              <a:lnSpc>
                <a:spcPct val="100000"/>
              </a:lnSpc>
              <a:spcBef>
                <a:spcPts val="520"/>
              </a:spcBef>
              <a:buClr>
                <a:srgbClr val="F5821F"/>
              </a:buClr>
              <a:buFont typeface="Arial"/>
              <a:buChar char="•"/>
              <a:tabLst>
                <a:tab pos="240665" algn="l"/>
              </a:tabLst>
            </a:pPr>
            <a:r>
              <a:rPr lang="en-NZ" sz="2000" dirty="0">
                <a:latin typeface="Calibri"/>
                <a:cs typeface="Calibri"/>
              </a:rPr>
              <a:t>One of the key PM tasks (process) to ensure a scope statement doc is developed</a:t>
            </a:r>
          </a:p>
          <a:p>
            <a:pPr marL="240665" indent="-227965">
              <a:lnSpc>
                <a:spcPct val="100000"/>
              </a:lnSpc>
              <a:spcBef>
                <a:spcPts val="520"/>
              </a:spcBef>
              <a:buClr>
                <a:srgbClr val="F5821F"/>
              </a:buClr>
              <a:buFont typeface="Arial"/>
              <a:buChar char="•"/>
              <a:tabLst>
                <a:tab pos="240665" algn="l"/>
              </a:tabLst>
            </a:pPr>
            <a:r>
              <a:rPr lang="en-NZ" sz="2000" dirty="0">
                <a:latin typeface="Calibri"/>
                <a:cs typeface="Calibri"/>
              </a:rPr>
              <a:t>It captures </a:t>
            </a:r>
            <a:r>
              <a:rPr sz="2000" dirty="0">
                <a:latin typeface="Calibri"/>
                <a:cs typeface="Calibri"/>
              </a:rPr>
              <a:t>all</a:t>
            </a:r>
            <a:r>
              <a:rPr sz="2000" spc="-50" dirty="0">
                <a:latin typeface="Calibri"/>
                <a:cs typeface="Calibri"/>
              </a:rPr>
              <a:t> </a:t>
            </a:r>
            <a:r>
              <a:rPr sz="2000" dirty="0">
                <a:latin typeface="Calibri"/>
                <a:cs typeface="Calibri"/>
              </a:rPr>
              <a:t>work</a:t>
            </a:r>
            <a:r>
              <a:rPr sz="2000" spc="-30" dirty="0">
                <a:latin typeface="Calibri"/>
                <a:cs typeface="Calibri"/>
              </a:rPr>
              <a:t> </a:t>
            </a:r>
            <a:r>
              <a:rPr lang="en-NZ" sz="2000" spc="-30" dirty="0">
                <a:latin typeface="Calibri"/>
                <a:cs typeface="Calibri"/>
              </a:rPr>
              <a:t>required to be done </a:t>
            </a:r>
            <a:r>
              <a:rPr sz="2000" dirty="0">
                <a:latin typeface="Calibri"/>
                <a:cs typeface="Calibri"/>
              </a:rPr>
              <a:t>in</a:t>
            </a:r>
            <a:r>
              <a:rPr sz="2000" spc="-35" dirty="0">
                <a:latin typeface="Calibri"/>
                <a:cs typeface="Calibri"/>
              </a:rPr>
              <a:t> </a:t>
            </a:r>
            <a:r>
              <a:rPr lang="en-NZ" sz="2000" spc="-35" dirty="0">
                <a:latin typeface="Calibri"/>
                <a:cs typeface="Calibri"/>
              </a:rPr>
              <a:t>a </a:t>
            </a:r>
            <a:r>
              <a:rPr sz="2000" spc="-10" dirty="0">
                <a:latin typeface="Calibri"/>
                <a:cs typeface="Calibri"/>
              </a:rPr>
              <a:t>project</a:t>
            </a:r>
            <a:endParaRPr lang="en-NZ" sz="2000" spc="-10" dirty="0">
              <a:latin typeface="Calibri"/>
              <a:cs typeface="Calibri"/>
            </a:endParaRPr>
          </a:p>
          <a:p>
            <a:pPr marL="240665" indent="-227965">
              <a:lnSpc>
                <a:spcPct val="100000"/>
              </a:lnSpc>
              <a:spcBef>
                <a:spcPts val="520"/>
              </a:spcBef>
              <a:buClr>
                <a:srgbClr val="F5821F"/>
              </a:buClr>
              <a:buFont typeface="Arial"/>
              <a:buChar char="•"/>
              <a:tabLst>
                <a:tab pos="240665" algn="l"/>
              </a:tabLst>
            </a:pPr>
            <a:r>
              <a:rPr lang="en-NZ" sz="2000" spc="-10" dirty="0">
                <a:highlight>
                  <a:srgbClr val="FFFF00"/>
                </a:highlight>
                <a:latin typeface="Calibri"/>
                <a:cs typeface="Calibri"/>
              </a:rPr>
              <a:t>Hence, an agreement between the team and product manager on what will be delivered </a:t>
            </a:r>
            <a:endParaRPr sz="2000" dirty="0">
              <a:highlight>
                <a:srgbClr val="FFFF00"/>
              </a:highlight>
              <a:latin typeface="Calibri"/>
              <a:cs typeface="Calibri"/>
            </a:endParaRPr>
          </a:p>
          <a:p>
            <a:pPr marL="240665" indent="-227965">
              <a:lnSpc>
                <a:spcPct val="100000"/>
              </a:lnSpc>
              <a:spcBef>
                <a:spcPts val="425"/>
              </a:spcBef>
              <a:buClr>
                <a:srgbClr val="F5821F"/>
              </a:buClr>
              <a:buFont typeface="Arial"/>
              <a:buChar char="•"/>
              <a:tabLst>
                <a:tab pos="240665" algn="l"/>
              </a:tabLst>
            </a:pPr>
            <a:r>
              <a:rPr sz="2000" dirty="0">
                <a:latin typeface="Calibri"/>
                <a:cs typeface="Calibri"/>
              </a:rPr>
              <a:t>Prevents</a:t>
            </a:r>
            <a:r>
              <a:rPr sz="2000" spc="-70" dirty="0">
                <a:latin typeface="Calibri"/>
                <a:cs typeface="Calibri"/>
              </a:rPr>
              <a:t> </a:t>
            </a:r>
            <a:r>
              <a:rPr sz="2000" dirty="0">
                <a:latin typeface="Calibri"/>
                <a:cs typeface="Calibri"/>
              </a:rPr>
              <a:t>scope</a:t>
            </a:r>
            <a:r>
              <a:rPr sz="2000" spc="-65" dirty="0">
                <a:latin typeface="Calibri"/>
                <a:cs typeface="Calibri"/>
              </a:rPr>
              <a:t> </a:t>
            </a:r>
            <a:r>
              <a:rPr sz="2000" spc="-10" dirty="0">
                <a:latin typeface="Calibri"/>
                <a:cs typeface="Calibri"/>
              </a:rPr>
              <a:t>creep</a:t>
            </a:r>
            <a:endParaRPr sz="2000" dirty="0">
              <a:latin typeface="Calibri"/>
              <a:cs typeface="Calibri"/>
            </a:endParaRPr>
          </a:p>
          <a:p>
            <a:pPr marL="240665" indent="-227965">
              <a:lnSpc>
                <a:spcPct val="100000"/>
              </a:lnSpc>
              <a:spcBef>
                <a:spcPts val="430"/>
              </a:spcBef>
              <a:buClr>
                <a:srgbClr val="F5821F"/>
              </a:buClr>
              <a:buFont typeface="Arial"/>
              <a:buChar char="•"/>
              <a:tabLst>
                <a:tab pos="240665" algn="l"/>
              </a:tabLst>
            </a:pPr>
            <a:r>
              <a:rPr sz="2000" dirty="0">
                <a:latin typeface="Calibri"/>
                <a:cs typeface="Calibri"/>
              </a:rPr>
              <a:t>Good</a:t>
            </a:r>
            <a:r>
              <a:rPr sz="2000" spc="-40" dirty="0">
                <a:latin typeface="Calibri"/>
                <a:cs typeface="Calibri"/>
              </a:rPr>
              <a:t> </a:t>
            </a:r>
            <a:r>
              <a:rPr sz="2000" dirty="0">
                <a:latin typeface="Calibri"/>
                <a:cs typeface="Calibri"/>
              </a:rPr>
              <a:t>scope</a:t>
            </a:r>
            <a:r>
              <a:rPr sz="2000" spc="-35" dirty="0">
                <a:latin typeface="Calibri"/>
                <a:cs typeface="Calibri"/>
              </a:rPr>
              <a:t> </a:t>
            </a:r>
            <a:r>
              <a:rPr sz="2000" dirty="0">
                <a:latin typeface="Calibri"/>
                <a:cs typeface="Calibri"/>
              </a:rPr>
              <a:t>definition</a:t>
            </a:r>
            <a:r>
              <a:rPr sz="2000" spc="-30" dirty="0">
                <a:latin typeface="Calibri"/>
                <a:cs typeface="Calibri"/>
              </a:rPr>
              <a:t> </a:t>
            </a:r>
            <a:r>
              <a:rPr sz="2000" dirty="0">
                <a:latin typeface="Calibri"/>
                <a:cs typeface="Calibri"/>
              </a:rPr>
              <a:t>is</a:t>
            </a:r>
            <a:r>
              <a:rPr sz="2000" spc="-40" dirty="0">
                <a:latin typeface="Calibri"/>
                <a:cs typeface="Calibri"/>
              </a:rPr>
              <a:t> </a:t>
            </a:r>
            <a:r>
              <a:rPr sz="2000" dirty="0">
                <a:latin typeface="Calibri"/>
                <a:cs typeface="Calibri"/>
              </a:rPr>
              <a:t>linked</a:t>
            </a:r>
            <a:r>
              <a:rPr sz="2000" spc="-5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project</a:t>
            </a:r>
            <a:r>
              <a:rPr sz="2000" spc="-60" dirty="0">
                <a:latin typeface="Calibri"/>
                <a:cs typeface="Calibri"/>
              </a:rPr>
              <a:t> </a:t>
            </a:r>
            <a:r>
              <a:rPr sz="2000" spc="-10" dirty="0">
                <a:latin typeface="Calibri"/>
                <a:cs typeface="Calibri"/>
              </a:rPr>
              <a:t>success</a:t>
            </a:r>
            <a:endParaRPr sz="2000" dirty="0">
              <a:latin typeface="Calibri"/>
              <a:cs typeface="Calibri"/>
            </a:endParaRPr>
          </a:p>
          <a:p>
            <a:pPr marL="698500" lvl="1" indent="-228600">
              <a:lnSpc>
                <a:spcPct val="100000"/>
              </a:lnSpc>
              <a:spcBef>
                <a:spcPts val="30"/>
              </a:spcBef>
              <a:buClr>
                <a:srgbClr val="F5821F"/>
              </a:buClr>
              <a:buFont typeface="Arial"/>
              <a:buChar char="•"/>
              <a:tabLst>
                <a:tab pos="698500" algn="l"/>
              </a:tabLst>
            </a:pPr>
            <a:r>
              <a:rPr i="1" dirty="0">
                <a:latin typeface="Calibri"/>
                <a:cs typeface="Calibri"/>
              </a:rPr>
              <a:t>improves</a:t>
            </a:r>
            <a:r>
              <a:rPr i="1" spc="-60" dirty="0">
                <a:latin typeface="Calibri"/>
                <a:cs typeface="Calibri"/>
              </a:rPr>
              <a:t> </a:t>
            </a:r>
            <a:r>
              <a:rPr lang="en-NZ" i="1" spc="-60" dirty="0">
                <a:latin typeface="Calibri"/>
                <a:cs typeface="Calibri"/>
              </a:rPr>
              <a:t>the </a:t>
            </a:r>
            <a:r>
              <a:rPr i="1" dirty="0">
                <a:latin typeface="Calibri"/>
                <a:cs typeface="Calibri"/>
              </a:rPr>
              <a:t>accuracy</a:t>
            </a:r>
            <a:r>
              <a:rPr i="1" spc="-20" dirty="0">
                <a:latin typeface="Calibri"/>
                <a:cs typeface="Calibri"/>
              </a:rPr>
              <a:t> </a:t>
            </a:r>
            <a:r>
              <a:rPr i="1" dirty="0">
                <a:latin typeface="Calibri"/>
                <a:cs typeface="Calibri"/>
              </a:rPr>
              <a:t>of</a:t>
            </a:r>
            <a:r>
              <a:rPr i="1" spc="-35" dirty="0">
                <a:latin typeface="Calibri"/>
                <a:cs typeface="Calibri"/>
              </a:rPr>
              <a:t> </a:t>
            </a:r>
            <a:r>
              <a:rPr i="1" dirty="0">
                <a:latin typeface="Calibri"/>
                <a:cs typeface="Calibri"/>
              </a:rPr>
              <a:t>time,</a:t>
            </a:r>
            <a:r>
              <a:rPr i="1" spc="-20" dirty="0">
                <a:latin typeface="Calibri"/>
                <a:cs typeface="Calibri"/>
              </a:rPr>
              <a:t> </a:t>
            </a:r>
            <a:r>
              <a:rPr i="1" dirty="0">
                <a:latin typeface="Calibri"/>
                <a:cs typeface="Calibri"/>
              </a:rPr>
              <a:t>cost</a:t>
            </a:r>
            <a:r>
              <a:rPr lang="en-NZ" i="1" dirty="0">
                <a:latin typeface="Calibri"/>
                <a:cs typeface="Calibri"/>
              </a:rPr>
              <a:t>,</a:t>
            </a:r>
            <a:r>
              <a:rPr i="1" spc="-35" dirty="0">
                <a:latin typeface="Calibri"/>
                <a:cs typeface="Calibri"/>
              </a:rPr>
              <a:t> </a:t>
            </a:r>
            <a:r>
              <a:rPr i="1" dirty="0">
                <a:latin typeface="Calibri"/>
                <a:cs typeface="Calibri"/>
              </a:rPr>
              <a:t>and</a:t>
            </a:r>
            <a:r>
              <a:rPr i="1" spc="-40" dirty="0">
                <a:latin typeface="Calibri"/>
                <a:cs typeface="Calibri"/>
              </a:rPr>
              <a:t> </a:t>
            </a:r>
            <a:r>
              <a:rPr i="1" dirty="0">
                <a:latin typeface="Calibri"/>
                <a:cs typeface="Calibri"/>
              </a:rPr>
              <a:t>resource</a:t>
            </a:r>
            <a:r>
              <a:rPr i="1" spc="-50" dirty="0">
                <a:latin typeface="Calibri"/>
                <a:cs typeface="Calibri"/>
              </a:rPr>
              <a:t> </a:t>
            </a:r>
            <a:r>
              <a:rPr i="1" spc="-10" dirty="0">
                <a:latin typeface="Calibri"/>
                <a:cs typeface="Calibri"/>
              </a:rPr>
              <a:t>estimates</a:t>
            </a:r>
            <a:endParaRPr dirty="0">
              <a:latin typeface="Calibri"/>
              <a:cs typeface="Calibri"/>
            </a:endParaRPr>
          </a:p>
          <a:p>
            <a:pPr marL="698500" lvl="1" indent="-228600">
              <a:lnSpc>
                <a:spcPct val="100000"/>
              </a:lnSpc>
              <a:spcBef>
                <a:spcPts val="25"/>
              </a:spcBef>
              <a:buClr>
                <a:srgbClr val="F5821F"/>
              </a:buClr>
              <a:buFont typeface="Arial"/>
              <a:buChar char="•"/>
              <a:tabLst>
                <a:tab pos="698500" algn="l"/>
              </a:tabLst>
            </a:pPr>
            <a:r>
              <a:rPr i="1" dirty="0">
                <a:latin typeface="Calibri"/>
                <a:cs typeface="Calibri"/>
              </a:rPr>
              <a:t>defines</a:t>
            </a:r>
            <a:r>
              <a:rPr i="1" spc="-75" dirty="0">
                <a:latin typeface="Calibri"/>
                <a:cs typeface="Calibri"/>
              </a:rPr>
              <a:t> </a:t>
            </a:r>
            <a:r>
              <a:rPr i="1" dirty="0">
                <a:latin typeface="Calibri"/>
                <a:cs typeface="Calibri"/>
              </a:rPr>
              <a:t>a</a:t>
            </a:r>
            <a:r>
              <a:rPr i="1" spc="-35" dirty="0">
                <a:latin typeface="Calibri"/>
                <a:cs typeface="Calibri"/>
              </a:rPr>
              <a:t> </a:t>
            </a:r>
            <a:r>
              <a:rPr i="1" dirty="0">
                <a:latin typeface="Calibri"/>
                <a:cs typeface="Calibri"/>
              </a:rPr>
              <a:t>baseline</a:t>
            </a:r>
            <a:r>
              <a:rPr i="1" spc="-65" dirty="0">
                <a:latin typeface="Calibri"/>
                <a:cs typeface="Calibri"/>
              </a:rPr>
              <a:t> </a:t>
            </a:r>
            <a:r>
              <a:rPr i="1" dirty="0">
                <a:latin typeface="Calibri"/>
                <a:cs typeface="Calibri"/>
              </a:rPr>
              <a:t>for</a:t>
            </a:r>
            <a:r>
              <a:rPr i="1" spc="-25" dirty="0">
                <a:latin typeface="Calibri"/>
                <a:cs typeface="Calibri"/>
              </a:rPr>
              <a:t> </a:t>
            </a:r>
            <a:r>
              <a:rPr i="1" dirty="0">
                <a:latin typeface="Calibri"/>
                <a:cs typeface="Calibri"/>
              </a:rPr>
              <a:t>performance</a:t>
            </a:r>
            <a:r>
              <a:rPr i="1" spc="-55" dirty="0">
                <a:latin typeface="Calibri"/>
                <a:cs typeface="Calibri"/>
              </a:rPr>
              <a:t> </a:t>
            </a:r>
            <a:r>
              <a:rPr i="1" dirty="0">
                <a:latin typeface="Calibri"/>
                <a:cs typeface="Calibri"/>
              </a:rPr>
              <a:t>management</a:t>
            </a:r>
            <a:r>
              <a:rPr i="1" spc="-55" dirty="0">
                <a:latin typeface="Calibri"/>
                <a:cs typeface="Calibri"/>
              </a:rPr>
              <a:t> </a:t>
            </a:r>
            <a:r>
              <a:rPr i="1" dirty="0">
                <a:latin typeface="Calibri"/>
                <a:cs typeface="Calibri"/>
              </a:rPr>
              <a:t>and</a:t>
            </a:r>
            <a:r>
              <a:rPr i="1" spc="-45" dirty="0">
                <a:latin typeface="Calibri"/>
                <a:cs typeface="Calibri"/>
              </a:rPr>
              <a:t> </a:t>
            </a:r>
            <a:r>
              <a:rPr i="1" dirty="0">
                <a:latin typeface="Calibri"/>
                <a:cs typeface="Calibri"/>
              </a:rPr>
              <a:t>project</a:t>
            </a:r>
            <a:r>
              <a:rPr i="1" spc="-50" dirty="0">
                <a:latin typeface="Calibri"/>
                <a:cs typeface="Calibri"/>
              </a:rPr>
              <a:t> </a:t>
            </a:r>
            <a:r>
              <a:rPr i="1" spc="-10" dirty="0">
                <a:latin typeface="Calibri"/>
                <a:cs typeface="Calibri"/>
              </a:rPr>
              <a:t>control</a:t>
            </a:r>
            <a:endParaRPr dirty="0">
              <a:latin typeface="Calibri"/>
              <a:cs typeface="Calibri"/>
            </a:endParaRPr>
          </a:p>
          <a:p>
            <a:pPr marL="698500" lvl="1" indent="-228600">
              <a:lnSpc>
                <a:spcPct val="100000"/>
              </a:lnSpc>
              <a:spcBef>
                <a:spcPts val="25"/>
              </a:spcBef>
              <a:buClr>
                <a:srgbClr val="F5821F"/>
              </a:buClr>
              <a:buFont typeface="Arial"/>
              <a:buChar char="•"/>
              <a:tabLst>
                <a:tab pos="698500" algn="l"/>
              </a:tabLst>
            </a:pPr>
            <a:r>
              <a:rPr i="1" dirty="0">
                <a:latin typeface="Calibri"/>
                <a:cs typeface="Calibri"/>
              </a:rPr>
              <a:t>aids</a:t>
            </a:r>
            <a:r>
              <a:rPr i="1" spc="-50" dirty="0">
                <a:latin typeface="Calibri"/>
                <a:cs typeface="Calibri"/>
              </a:rPr>
              <a:t> </a:t>
            </a:r>
            <a:r>
              <a:rPr i="1" dirty="0">
                <a:latin typeface="Calibri"/>
                <a:cs typeface="Calibri"/>
              </a:rPr>
              <a:t>in</a:t>
            </a:r>
            <a:r>
              <a:rPr i="1" spc="-20" dirty="0">
                <a:latin typeface="Calibri"/>
                <a:cs typeface="Calibri"/>
              </a:rPr>
              <a:t> </a:t>
            </a:r>
            <a:r>
              <a:rPr i="1" dirty="0">
                <a:latin typeface="Calibri"/>
                <a:cs typeface="Calibri"/>
              </a:rPr>
              <a:t>clearly</a:t>
            </a:r>
            <a:r>
              <a:rPr i="1" spc="-20" dirty="0">
                <a:latin typeface="Calibri"/>
                <a:cs typeface="Calibri"/>
              </a:rPr>
              <a:t> </a:t>
            </a:r>
            <a:r>
              <a:rPr i="1" dirty="0">
                <a:latin typeface="Calibri"/>
                <a:cs typeface="Calibri"/>
              </a:rPr>
              <a:t>communicating</a:t>
            </a:r>
            <a:r>
              <a:rPr i="1" spc="-30" dirty="0">
                <a:latin typeface="Calibri"/>
                <a:cs typeface="Calibri"/>
              </a:rPr>
              <a:t> </a:t>
            </a:r>
            <a:r>
              <a:rPr i="1" dirty="0">
                <a:latin typeface="Calibri"/>
                <a:cs typeface="Calibri"/>
              </a:rPr>
              <a:t>work</a:t>
            </a:r>
            <a:r>
              <a:rPr i="1" spc="-35" dirty="0">
                <a:latin typeface="Calibri"/>
                <a:cs typeface="Calibri"/>
              </a:rPr>
              <a:t> </a:t>
            </a:r>
            <a:r>
              <a:rPr i="1" spc="-10" dirty="0">
                <a:latin typeface="Calibri"/>
                <a:cs typeface="Calibri"/>
              </a:rPr>
              <a:t>responsibilities</a:t>
            </a:r>
            <a:endParaRPr dirty="0">
              <a:latin typeface="Calibri"/>
              <a:cs typeface="Calibri"/>
            </a:endParaRPr>
          </a:p>
          <a:p>
            <a:pPr marL="240665" indent="-227965">
              <a:lnSpc>
                <a:spcPct val="100000"/>
              </a:lnSpc>
              <a:spcBef>
                <a:spcPts val="405"/>
              </a:spcBef>
              <a:buClr>
                <a:srgbClr val="F5821F"/>
              </a:buClr>
              <a:buFont typeface="Arial"/>
              <a:buChar char="•"/>
              <a:tabLst>
                <a:tab pos="240665" algn="l"/>
              </a:tabLst>
            </a:pPr>
            <a:r>
              <a:rPr dirty="0">
                <a:latin typeface="Calibri"/>
                <a:cs typeface="Calibri"/>
              </a:rPr>
              <a:t>Key</a:t>
            </a:r>
            <a:r>
              <a:rPr spc="-40" dirty="0">
                <a:latin typeface="Calibri"/>
                <a:cs typeface="Calibri"/>
              </a:rPr>
              <a:t> </a:t>
            </a:r>
            <a:r>
              <a:rPr dirty="0">
                <a:latin typeface="Calibri"/>
                <a:cs typeface="Calibri"/>
              </a:rPr>
              <a:t>input</a:t>
            </a:r>
            <a:r>
              <a:rPr spc="-40" dirty="0">
                <a:latin typeface="Calibri"/>
                <a:cs typeface="Calibri"/>
              </a:rPr>
              <a:t> </a:t>
            </a:r>
            <a:r>
              <a:rPr dirty="0">
                <a:latin typeface="Calibri"/>
                <a:cs typeface="Calibri"/>
              </a:rPr>
              <a:t>for</a:t>
            </a:r>
            <a:r>
              <a:rPr spc="-35" dirty="0">
                <a:latin typeface="Calibri"/>
                <a:cs typeface="Calibri"/>
              </a:rPr>
              <a:t> </a:t>
            </a:r>
            <a:r>
              <a:rPr dirty="0">
                <a:latin typeface="Calibri"/>
                <a:cs typeface="Calibri"/>
              </a:rPr>
              <a:t>preparing</a:t>
            </a:r>
            <a:r>
              <a:rPr spc="-55" dirty="0">
                <a:latin typeface="Calibri"/>
                <a:cs typeface="Calibri"/>
              </a:rPr>
              <a:t> </a:t>
            </a:r>
            <a:r>
              <a:rPr dirty="0">
                <a:latin typeface="Calibri"/>
                <a:cs typeface="Calibri"/>
              </a:rPr>
              <a:t>project</a:t>
            </a:r>
            <a:r>
              <a:rPr spc="-45" dirty="0">
                <a:latin typeface="Calibri"/>
                <a:cs typeface="Calibri"/>
              </a:rPr>
              <a:t> </a:t>
            </a:r>
            <a:r>
              <a:rPr dirty="0">
                <a:latin typeface="Calibri"/>
                <a:cs typeface="Calibri"/>
              </a:rPr>
              <a:t>scope</a:t>
            </a:r>
            <a:r>
              <a:rPr spc="-35" dirty="0">
                <a:latin typeface="Calibri"/>
                <a:cs typeface="Calibri"/>
              </a:rPr>
              <a:t> </a:t>
            </a:r>
            <a:r>
              <a:rPr spc="-10" dirty="0">
                <a:latin typeface="Calibri"/>
                <a:cs typeface="Calibri"/>
              </a:rPr>
              <a:t>statement</a:t>
            </a:r>
            <a:endParaRPr dirty="0">
              <a:latin typeface="Calibri"/>
              <a:cs typeface="Calibri"/>
            </a:endParaRPr>
          </a:p>
          <a:p>
            <a:pPr marL="698500" lvl="1" indent="-228600">
              <a:spcBef>
                <a:spcPts val="95"/>
              </a:spcBef>
              <a:buClr>
                <a:srgbClr val="F5821F"/>
              </a:buClr>
              <a:buFont typeface="Arial"/>
              <a:buChar char="•"/>
              <a:tabLst>
                <a:tab pos="698500" algn="l"/>
              </a:tabLst>
            </a:pPr>
            <a:r>
              <a:rPr lang="en-NZ" sz="1800" dirty="0">
                <a:highlight>
                  <a:srgbClr val="FFFF00"/>
                </a:highlight>
                <a:latin typeface="Calibri"/>
                <a:cs typeface="Calibri"/>
              </a:rPr>
              <a:t>Business case</a:t>
            </a:r>
          </a:p>
          <a:p>
            <a:pPr marL="698500" lvl="1" indent="-228600">
              <a:spcBef>
                <a:spcPts val="95"/>
              </a:spcBef>
              <a:buClr>
                <a:srgbClr val="F5821F"/>
              </a:buClr>
              <a:buFont typeface="Arial"/>
              <a:buChar char="•"/>
              <a:tabLst>
                <a:tab pos="698500" algn="l"/>
              </a:tabLst>
            </a:pPr>
            <a:r>
              <a:rPr lang="en-NZ" sz="1800" dirty="0">
                <a:highlight>
                  <a:srgbClr val="FFFF00"/>
                </a:highlight>
                <a:latin typeface="Calibri"/>
                <a:cs typeface="Calibri"/>
              </a:rPr>
              <a:t>Scope specification or description provided</a:t>
            </a:r>
          </a:p>
          <a:p>
            <a:pPr marL="698500" lvl="1" indent="-228600">
              <a:lnSpc>
                <a:spcPct val="100000"/>
              </a:lnSpc>
              <a:spcBef>
                <a:spcPts val="95"/>
              </a:spcBef>
              <a:buClr>
                <a:srgbClr val="F5821F"/>
              </a:buClr>
              <a:buFont typeface="Arial"/>
              <a:buChar char="•"/>
              <a:tabLst>
                <a:tab pos="698500" algn="l"/>
              </a:tabLst>
            </a:pPr>
            <a:r>
              <a:rPr sz="1800" dirty="0">
                <a:latin typeface="Calibri"/>
                <a:cs typeface="Calibri"/>
              </a:rPr>
              <a:t>Project</a:t>
            </a:r>
            <a:r>
              <a:rPr sz="1800" spc="-45" dirty="0">
                <a:latin typeface="Calibri"/>
                <a:cs typeface="Calibri"/>
              </a:rPr>
              <a:t> </a:t>
            </a:r>
            <a:r>
              <a:rPr sz="1800" spc="-10" dirty="0">
                <a:latin typeface="Calibri"/>
                <a:cs typeface="Calibri"/>
              </a:rPr>
              <a:t>charter</a:t>
            </a:r>
            <a:endParaRPr sz="1800" dirty="0">
              <a:latin typeface="Calibri"/>
              <a:cs typeface="Calibri"/>
            </a:endParaRPr>
          </a:p>
          <a:p>
            <a:pPr marL="698500" lvl="1" indent="-228600">
              <a:lnSpc>
                <a:spcPct val="100000"/>
              </a:lnSpc>
              <a:spcBef>
                <a:spcPts val="75"/>
              </a:spcBef>
              <a:buClr>
                <a:srgbClr val="F5821F"/>
              </a:buClr>
              <a:buFont typeface="Arial"/>
              <a:buChar char="•"/>
              <a:tabLst>
                <a:tab pos="698500" algn="l"/>
              </a:tabLst>
            </a:pPr>
            <a:r>
              <a:rPr sz="1800" dirty="0">
                <a:latin typeface="Calibri"/>
                <a:cs typeface="Calibri"/>
              </a:rPr>
              <a:t>Lesson</a:t>
            </a:r>
            <a:r>
              <a:rPr sz="1800" spc="-25" dirty="0">
                <a:latin typeface="Calibri"/>
                <a:cs typeface="Calibri"/>
              </a:rPr>
              <a:t> </a:t>
            </a:r>
            <a:r>
              <a:rPr sz="1800" dirty="0">
                <a:latin typeface="Calibri"/>
                <a:cs typeface="Calibri"/>
              </a:rPr>
              <a:t>learned</a:t>
            </a:r>
            <a:r>
              <a:rPr sz="1800" spc="-10" dirty="0">
                <a:latin typeface="Calibri"/>
                <a:cs typeface="Calibri"/>
              </a:rPr>
              <a:t> reports</a:t>
            </a:r>
            <a:endParaRPr sz="1800" dirty="0">
              <a:latin typeface="Calibri"/>
              <a:cs typeface="Calibri"/>
            </a:endParaRPr>
          </a:p>
          <a:p>
            <a:pPr marL="698500" lvl="1" indent="-228600">
              <a:lnSpc>
                <a:spcPct val="100000"/>
              </a:lnSpc>
              <a:spcBef>
                <a:spcPts val="60"/>
              </a:spcBef>
              <a:buClr>
                <a:srgbClr val="F5821F"/>
              </a:buClr>
              <a:buFont typeface="Arial"/>
              <a:buChar char="•"/>
              <a:tabLst>
                <a:tab pos="698500" algn="l"/>
              </a:tabLst>
            </a:pPr>
            <a:r>
              <a:rPr lang="en-NZ" sz="1800" dirty="0">
                <a:latin typeface="Calibri"/>
                <a:cs typeface="Calibri"/>
              </a:rPr>
              <a:t>Policies</a:t>
            </a:r>
            <a:r>
              <a:rPr sz="1800" spc="-35"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procedures</a:t>
            </a:r>
            <a:r>
              <a:rPr sz="1800" spc="-25" dirty="0">
                <a:latin typeface="Calibri"/>
                <a:cs typeface="Calibri"/>
              </a:rPr>
              <a:t> </a:t>
            </a:r>
            <a:r>
              <a:rPr sz="1800" dirty="0">
                <a:latin typeface="Calibri"/>
                <a:cs typeface="Calibri"/>
              </a:rPr>
              <a:t>related</a:t>
            </a:r>
            <a:r>
              <a:rPr sz="1800" spc="-35" dirty="0">
                <a:latin typeface="Calibri"/>
                <a:cs typeface="Calibri"/>
              </a:rPr>
              <a:t> </a:t>
            </a:r>
            <a:r>
              <a:rPr sz="1800" dirty="0">
                <a:latin typeface="Calibri"/>
                <a:cs typeface="Calibri"/>
              </a:rPr>
              <a:t>to</a:t>
            </a:r>
            <a:r>
              <a:rPr sz="1800" spc="-30" dirty="0">
                <a:latin typeface="Calibri"/>
                <a:cs typeface="Calibri"/>
              </a:rPr>
              <a:t> </a:t>
            </a:r>
            <a:r>
              <a:rPr lang="en-NZ" sz="1800" spc="-30" dirty="0">
                <a:latin typeface="Calibri"/>
                <a:cs typeface="Calibri"/>
              </a:rPr>
              <a:t>the </a:t>
            </a:r>
            <a:r>
              <a:rPr sz="1800" dirty="0">
                <a:latin typeface="Calibri"/>
                <a:cs typeface="Calibri"/>
              </a:rPr>
              <a:t>scope</a:t>
            </a:r>
            <a:r>
              <a:rPr sz="1800" spc="-40" dirty="0">
                <a:latin typeface="Calibri"/>
                <a:cs typeface="Calibri"/>
              </a:rPr>
              <a:t> </a:t>
            </a:r>
            <a:r>
              <a:rPr sz="1800" spc="-10" dirty="0">
                <a:latin typeface="Calibri"/>
                <a:cs typeface="Calibri"/>
              </a:rPr>
              <a:t>statement</a:t>
            </a:r>
            <a:r>
              <a:rPr sz="1800" spc="-40" dirty="0">
                <a:latin typeface="Calibri"/>
                <a:cs typeface="Calibri"/>
              </a:rPr>
              <a:t> </a:t>
            </a:r>
            <a:r>
              <a:rPr sz="1800" spc="-10" dirty="0">
                <a:latin typeface="Calibri"/>
                <a:cs typeface="Calibri"/>
              </a:rPr>
              <a:t>document</a:t>
            </a:r>
            <a:endParaRPr sz="18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9458" rIns="0" bIns="0" rtlCol="0">
            <a:spAutoFit/>
          </a:bodyPr>
          <a:lstStyle/>
          <a:p>
            <a:pPr marL="12700">
              <a:lnSpc>
                <a:spcPct val="100000"/>
              </a:lnSpc>
              <a:spcBef>
                <a:spcPts val="105"/>
              </a:spcBef>
            </a:pPr>
            <a:r>
              <a:rPr dirty="0"/>
              <a:t>Scope</a:t>
            </a:r>
            <a:r>
              <a:rPr spc="-150" dirty="0"/>
              <a:t> </a:t>
            </a:r>
            <a:r>
              <a:rPr dirty="0"/>
              <a:t>Statement</a:t>
            </a:r>
            <a:r>
              <a:rPr spc="-150" dirty="0"/>
              <a:t> </a:t>
            </a:r>
            <a:r>
              <a:rPr spc="-10" dirty="0"/>
              <a:t>Document</a:t>
            </a:r>
          </a:p>
        </p:txBody>
      </p:sp>
      <p:sp>
        <p:nvSpPr>
          <p:cNvPr id="3" name="object 3"/>
          <p:cNvSpPr txBox="1">
            <a:spLocks noGrp="1"/>
          </p:cNvSpPr>
          <p:nvPr>
            <p:ph type="body" idx="1"/>
          </p:nvPr>
        </p:nvSpPr>
        <p:spPr>
          <a:xfrm>
            <a:off x="1539366" y="1608708"/>
            <a:ext cx="10327640" cy="3614451"/>
          </a:xfrm>
          <a:prstGeom prst="rect">
            <a:avLst/>
          </a:prstGeom>
        </p:spPr>
        <p:txBody>
          <a:bodyPr vert="horz" wrap="square" lIns="0" tIns="13335" rIns="0" bIns="0" rtlCol="0">
            <a:spAutoFit/>
          </a:bodyPr>
          <a:lstStyle/>
          <a:p>
            <a:pPr marL="12700">
              <a:lnSpc>
                <a:spcPct val="100000"/>
              </a:lnSpc>
              <a:spcBef>
                <a:spcPts val="755"/>
              </a:spcBef>
              <a:buClr>
                <a:srgbClr val="F5821F"/>
              </a:buClr>
              <a:tabLst>
                <a:tab pos="240665" algn="l"/>
              </a:tabLst>
            </a:pPr>
            <a:r>
              <a:rPr lang="en-NZ" sz="2000" dirty="0"/>
              <a:t>Template- Scope Statement Document</a:t>
            </a:r>
          </a:p>
          <a:p>
            <a:pPr marL="240665" indent="-227965">
              <a:lnSpc>
                <a:spcPct val="100000"/>
              </a:lnSpc>
              <a:spcBef>
                <a:spcPts val="755"/>
              </a:spcBef>
              <a:buClr>
                <a:srgbClr val="F5821F"/>
              </a:buClr>
              <a:buFont typeface="Arial"/>
              <a:buChar char="•"/>
              <a:tabLst>
                <a:tab pos="240665" algn="l"/>
              </a:tabLst>
            </a:pPr>
            <a:r>
              <a:rPr sz="2000" dirty="0"/>
              <a:t>Key</a:t>
            </a:r>
            <a:r>
              <a:rPr sz="2000" spc="-60" dirty="0"/>
              <a:t> </a:t>
            </a:r>
            <a:r>
              <a:rPr sz="2000" dirty="0"/>
              <a:t>elements</a:t>
            </a:r>
            <a:r>
              <a:rPr sz="2000" spc="-20" dirty="0"/>
              <a:t> </a:t>
            </a:r>
            <a:r>
              <a:rPr sz="2000" dirty="0"/>
              <a:t>of</a:t>
            </a:r>
            <a:r>
              <a:rPr sz="2000" spc="-35" dirty="0"/>
              <a:t> </a:t>
            </a:r>
            <a:r>
              <a:rPr lang="en-NZ" sz="2000" spc="-35" dirty="0"/>
              <a:t>the </a:t>
            </a:r>
            <a:r>
              <a:rPr sz="2000" dirty="0"/>
              <a:t>project</a:t>
            </a:r>
            <a:r>
              <a:rPr sz="2000" spc="-35" dirty="0"/>
              <a:t> </a:t>
            </a:r>
            <a:r>
              <a:rPr sz="2000" dirty="0"/>
              <a:t>scope</a:t>
            </a:r>
            <a:r>
              <a:rPr sz="2000" spc="-45" dirty="0"/>
              <a:t> </a:t>
            </a:r>
            <a:r>
              <a:rPr sz="2000" spc="-10" dirty="0"/>
              <a:t>statement document:</a:t>
            </a:r>
            <a:endParaRPr sz="2000" dirty="0"/>
          </a:p>
          <a:p>
            <a:pPr marL="698500" lvl="1" indent="-228600">
              <a:lnSpc>
                <a:spcPct val="100000"/>
              </a:lnSpc>
              <a:spcBef>
                <a:spcPts val="265"/>
              </a:spcBef>
              <a:buClr>
                <a:srgbClr val="F5821F"/>
              </a:buClr>
              <a:buFont typeface="Arial"/>
              <a:buChar char="•"/>
              <a:tabLst>
                <a:tab pos="698500" algn="l"/>
              </a:tabLst>
            </a:pPr>
            <a:r>
              <a:rPr sz="2000" i="1" dirty="0">
                <a:latin typeface="Calibri"/>
                <a:cs typeface="Calibri"/>
              </a:rPr>
              <a:t>Product</a:t>
            </a:r>
            <a:r>
              <a:rPr sz="2000" i="1" spc="-35" dirty="0">
                <a:latin typeface="Calibri"/>
                <a:cs typeface="Calibri"/>
              </a:rPr>
              <a:t> </a:t>
            </a:r>
            <a:r>
              <a:rPr sz="2000" i="1" dirty="0">
                <a:latin typeface="Calibri"/>
                <a:cs typeface="Calibri"/>
              </a:rPr>
              <a:t>scope</a:t>
            </a:r>
            <a:r>
              <a:rPr sz="2000" i="1" spc="-35" dirty="0">
                <a:latin typeface="Calibri"/>
                <a:cs typeface="Calibri"/>
              </a:rPr>
              <a:t> </a:t>
            </a:r>
            <a:r>
              <a:rPr sz="2000" i="1" dirty="0">
                <a:latin typeface="Calibri"/>
                <a:cs typeface="Calibri"/>
              </a:rPr>
              <a:t>description</a:t>
            </a:r>
            <a:r>
              <a:rPr lang="en-NZ" sz="2000" i="1" dirty="0">
                <a:latin typeface="Calibri"/>
                <a:cs typeface="Calibri"/>
              </a:rPr>
              <a:t>/justification</a:t>
            </a:r>
            <a:r>
              <a:rPr sz="2000" i="1" spc="-25" dirty="0">
                <a:latin typeface="Calibri"/>
                <a:cs typeface="Calibri"/>
              </a:rPr>
              <a:t> </a:t>
            </a:r>
            <a:r>
              <a:rPr sz="2000" i="1" dirty="0">
                <a:latin typeface="Calibri"/>
                <a:cs typeface="Calibri"/>
              </a:rPr>
              <a:t>(a</a:t>
            </a:r>
            <a:r>
              <a:rPr sz="2000" i="1" spc="-20" dirty="0">
                <a:latin typeface="Calibri"/>
                <a:cs typeface="Calibri"/>
              </a:rPr>
              <a:t> </a:t>
            </a:r>
            <a:r>
              <a:rPr sz="2000" i="1" dirty="0">
                <a:latin typeface="Calibri"/>
                <a:cs typeface="Calibri"/>
              </a:rPr>
              <a:t>paragraph</a:t>
            </a:r>
            <a:r>
              <a:rPr sz="2000" i="1" spc="-25" dirty="0">
                <a:latin typeface="Calibri"/>
                <a:cs typeface="Calibri"/>
              </a:rPr>
              <a:t> </a:t>
            </a:r>
            <a:r>
              <a:rPr sz="2000" i="1" dirty="0">
                <a:latin typeface="Calibri"/>
                <a:cs typeface="Calibri"/>
              </a:rPr>
              <a:t>-</a:t>
            </a:r>
            <a:r>
              <a:rPr sz="2000" i="1" spc="-35" dirty="0">
                <a:latin typeface="Calibri"/>
                <a:cs typeface="Calibri"/>
              </a:rPr>
              <a:t> </a:t>
            </a:r>
            <a:r>
              <a:rPr lang="en-NZ" sz="2000" i="1" spc="-35" dirty="0">
                <a:latin typeface="Calibri"/>
                <a:cs typeface="Calibri"/>
              </a:rPr>
              <a:t>2</a:t>
            </a:r>
            <a:r>
              <a:rPr sz="2000" i="1" spc="-20" dirty="0">
                <a:latin typeface="Calibri"/>
                <a:cs typeface="Calibri"/>
              </a:rPr>
              <a:t> </a:t>
            </a:r>
            <a:r>
              <a:rPr sz="2000" i="1" dirty="0">
                <a:latin typeface="Calibri"/>
                <a:cs typeface="Calibri"/>
              </a:rPr>
              <a:t>or</a:t>
            </a:r>
            <a:r>
              <a:rPr sz="2000" i="1" spc="-40" dirty="0">
                <a:latin typeface="Calibri"/>
                <a:cs typeface="Calibri"/>
              </a:rPr>
              <a:t> </a:t>
            </a:r>
            <a:r>
              <a:rPr lang="en-NZ" sz="2000" i="1" spc="-40" dirty="0">
                <a:latin typeface="Calibri"/>
                <a:cs typeface="Calibri"/>
              </a:rPr>
              <a:t>3</a:t>
            </a:r>
            <a:r>
              <a:rPr sz="2000" i="1" spc="-20" dirty="0">
                <a:latin typeface="Calibri"/>
                <a:cs typeface="Calibri"/>
              </a:rPr>
              <a:t> </a:t>
            </a:r>
            <a:r>
              <a:rPr sz="2000" i="1" spc="-10" dirty="0">
                <a:latin typeface="Calibri"/>
                <a:cs typeface="Calibri"/>
              </a:rPr>
              <a:t>sentences)</a:t>
            </a:r>
            <a:endParaRPr lang="en-NZ" sz="2000" i="1" spc="-10" dirty="0">
              <a:latin typeface="Calibri"/>
              <a:cs typeface="Calibri"/>
            </a:endParaRPr>
          </a:p>
          <a:p>
            <a:pPr marL="698500" lvl="1" indent="-228600">
              <a:lnSpc>
                <a:spcPct val="100000"/>
              </a:lnSpc>
              <a:spcBef>
                <a:spcPts val="265"/>
              </a:spcBef>
              <a:buClr>
                <a:srgbClr val="F5821F"/>
              </a:buClr>
              <a:buFont typeface="Arial"/>
              <a:buChar char="•"/>
              <a:tabLst>
                <a:tab pos="698500" algn="l"/>
              </a:tabLst>
            </a:pPr>
            <a:r>
              <a:rPr lang="en-NZ" sz="2000" i="1" dirty="0">
                <a:latin typeface="Calibri"/>
                <a:cs typeface="Calibri"/>
              </a:rPr>
              <a:t>Product characteristics  and requirements </a:t>
            </a:r>
            <a:endParaRPr sz="2000" i="1" dirty="0">
              <a:latin typeface="Calibri"/>
              <a:cs typeface="Calibri"/>
            </a:endParaRPr>
          </a:p>
          <a:p>
            <a:pPr marL="1155700" lvl="2" indent="-228600">
              <a:spcBef>
                <a:spcPts val="265"/>
              </a:spcBef>
              <a:buClr>
                <a:srgbClr val="F5821F"/>
              </a:buClr>
              <a:buFont typeface="Arial"/>
              <a:buChar char="•"/>
              <a:tabLst>
                <a:tab pos="698500" algn="l"/>
              </a:tabLst>
            </a:pPr>
            <a:r>
              <a:rPr sz="2000" i="1" dirty="0">
                <a:latin typeface="Calibri"/>
                <a:cs typeface="Calibri"/>
              </a:rPr>
              <a:t>Functional</a:t>
            </a:r>
            <a:r>
              <a:rPr sz="2000" i="1" spc="-10" dirty="0">
                <a:latin typeface="Calibri"/>
                <a:cs typeface="Calibri"/>
              </a:rPr>
              <a:t> requirements</a:t>
            </a:r>
            <a:endParaRPr sz="2000" i="1" dirty="0">
              <a:latin typeface="Calibri"/>
              <a:cs typeface="Calibri"/>
            </a:endParaRPr>
          </a:p>
          <a:p>
            <a:pPr marL="1155700" lvl="2" indent="-228600">
              <a:spcBef>
                <a:spcPts val="250"/>
              </a:spcBef>
              <a:buClr>
                <a:srgbClr val="F5821F"/>
              </a:buClr>
              <a:buFont typeface="Arial"/>
              <a:buChar char="•"/>
              <a:tabLst>
                <a:tab pos="698500" algn="l"/>
              </a:tabLst>
            </a:pPr>
            <a:r>
              <a:rPr sz="2000" i="1" spc="-10" dirty="0">
                <a:latin typeface="Calibri"/>
                <a:cs typeface="Calibri"/>
              </a:rPr>
              <a:t>Non-</a:t>
            </a:r>
            <a:r>
              <a:rPr sz="2000" i="1" dirty="0">
                <a:latin typeface="Calibri"/>
                <a:cs typeface="Calibri"/>
              </a:rPr>
              <a:t>functional</a:t>
            </a:r>
            <a:r>
              <a:rPr sz="2000" i="1" spc="-30" dirty="0">
                <a:latin typeface="Calibri"/>
                <a:cs typeface="Calibri"/>
              </a:rPr>
              <a:t> </a:t>
            </a:r>
            <a:r>
              <a:rPr sz="2000" i="1" spc="-10" dirty="0">
                <a:latin typeface="Calibri"/>
                <a:cs typeface="Calibri"/>
              </a:rPr>
              <a:t>requirements</a:t>
            </a:r>
            <a:endParaRPr sz="2000" i="1" dirty="0">
              <a:latin typeface="Calibri"/>
              <a:cs typeface="Calibri"/>
            </a:endParaRPr>
          </a:p>
          <a:p>
            <a:pPr marL="698500" lvl="1" indent="-228600">
              <a:spcBef>
                <a:spcPts val="265"/>
              </a:spcBef>
              <a:buClr>
                <a:srgbClr val="F5821F"/>
              </a:buClr>
              <a:buFont typeface="Arial"/>
              <a:buChar char="•"/>
              <a:tabLst>
                <a:tab pos="698500" algn="l"/>
              </a:tabLst>
            </a:pPr>
            <a:r>
              <a:rPr lang="en-NZ" sz="2000" i="1" dirty="0">
                <a:cs typeface="Calibri"/>
              </a:rPr>
              <a:t>Product user acceptance criteria or </a:t>
            </a:r>
            <a:r>
              <a:rPr lang="en-NZ" sz="2000" i="1" dirty="0">
                <a:highlight>
                  <a:srgbClr val="FFFF00"/>
                </a:highlight>
                <a:cs typeface="Calibri"/>
              </a:rPr>
              <a:t>project</a:t>
            </a:r>
            <a:r>
              <a:rPr lang="en-NZ" sz="2000" i="1" spc="-25" dirty="0">
                <a:highlight>
                  <a:srgbClr val="FFFF00"/>
                </a:highlight>
                <a:cs typeface="Calibri"/>
              </a:rPr>
              <a:t> </a:t>
            </a:r>
            <a:r>
              <a:rPr lang="en-NZ" sz="2000" i="1" dirty="0">
                <a:highlight>
                  <a:srgbClr val="FFFF00"/>
                </a:highlight>
                <a:cs typeface="Calibri"/>
              </a:rPr>
              <a:t>success</a:t>
            </a:r>
            <a:r>
              <a:rPr lang="en-NZ" sz="2000" i="1" spc="-25" dirty="0">
                <a:highlight>
                  <a:srgbClr val="FFFF00"/>
                </a:highlight>
                <a:cs typeface="Calibri"/>
              </a:rPr>
              <a:t> </a:t>
            </a:r>
            <a:r>
              <a:rPr lang="en-NZ" sz="2000" i="1" spc="-10" dirty="0">
                <a:highlight>
                  <a:srgbClr val="FFFF00"/>
                </a:highlight>
                <a:cs typeface="Calibri"/>
              </a:rPr>
              <a:t>factors</a:t>
            </a:r>
            <a:endParaRPr lang="en-NZ" sz="2000" i="1" dirty="0">
              <a:highlight>
                <a:srgbClr val="FFFF00"/>
              </a:highlight>
              <a:cs typeface="Calibri"/>
            </a:endParaRPr>
          </a:p>
          <a:p>
            <a:pPr marL="698500" lvl="1" indent="-228600">
              <a:lnSpc>
                <a:spcPct val="100000"/>
              </a:lnSpc>
              <a:spcBef>
                <a:spcPts val="265"/>
              </a:spcBef>
              <a:buClr>
                <a:srgbClr val="F5821F"/>
              </a:buClr>
              <a:buFont typeface="Arial"/>
              <a:buChar char="•"/>
              <a:tabLst>
                <a:tab pos="698500" algn="l"/>
              </a:tabLst>
            </a:pPr>
            <a:r>
              <a:rPr sz="2000" i="1" dirty="0">
                <a:latin typeface="Calibri"/>
                <a:cs typeface="Calibri"/>
              </a:rPr>
              <a:t>All</a:t>
            </a:r>
            <a:r>
              <a:rPr sz="2000" i="1" spc="-30" dirty="0">
                <a:latin typeface="Calibri"/>
                <a:cs typeface="Calibri"/>
              </a:rPr>
              <a:t> </a:t>
            </a:r>
            <a:r>
              <a:rPr sz="2000" i="1" dirty="0">
                <a:latin typeface="Calibri"/>
                <a:cs typeface="Calibri"/>
              </a:rPr>
              <a:t>product</a:t>
            </a:r>
            <a:r>
              <a:rPr sz="2000" i="1" spc="-20" dirty="0">
                <a:latin typeface="Calibri"/>
                <a:cs typeface="Calibri"/>
              </a:rPr>
              <a:t> </a:t>
            </a:r>
            <a:r>
              <a:rPr sz="2000" i="1" spc="-10" dirty="0">
                <a:latin typeface="Calibri"/>
                <a:cs typeface="Calibri"/>
              </a:rPr>
              <a:t>deliverables</a:t>
            </a:r>
            <a:endParaRPr sz="2000" i="1" dirty="0">
              <a:latin typeface="Calibri"/>
              <a:cs typeface="Calibri"/>
            </a:endParaRPr>
          </a:p>
          <a:p>
            <a:pPr marL="698500" lvl="1" indent="-228600">
              <a:lnSpc>
                <a:spcPct val="100000"/>
              </a:lnSpc>
              <a:spcBef>
                <a:spcPts val="265"/>
              </a:spcBef>
              <a:buClr>
                <a:srgbClr val="F5821F"/>
              </a:buClr>
              <a:buFont typeface="Arial"/>
              <a:buChar char="•"/>
              <a:tabLst>
                <a:tab pos="698500" algn="l"/>
              </a:tabLst>
            </a:pPr>
            <a:r>
              <a:rPr sz="2000" i="1" dirty="0">
                <a:latin typeface="Calibri"/>
                <a:cs typeface="Calibri"/>
              </a:rPr>
              <a:t>All</a:t>
            </a:r>
            <a:r>
              <a:rPr sz="2000" i="1" spc="-25" dirty="0">
                <a:latin typeface="Calibri"/>
                <a:cs typeface="Calibri"/>
              </a:rPr>
              <a:t> </a:t>
            </a:r>
            <a:r>
              <a:rPr sz="2000" i="1" dirty="0">
                <a:latin typeface="Calibri"/>
                <a:cs typeface="Calibri"/>
              </a:rPr>
              <a:t>project</a:t>
            </a:r>
            <a:r>
              <a:rPr sz="2000" i="1" spc="-20" dirty="0">
                <a:latin typeface="Calibri"/>
                <a:cs typeface="Calibri"/>
              </a:rPr>
              <a:t> </a:t>
            </a:r>
            <a:r>
              <a:rPr sz="2000" i="1" spc="-10" dirty="0">
                <a:latin typeface="Calibri"/>
                <a:cs typeface="Calibri"/>
              </a:rPr>
              <a:t>deliverables</a:t>
            </a:r>
            <a:endParaRPr sz="2000" i="1" dirty="0">
              <a:latin typeface="Calibri"/>
              <a:cs typeface="Calibri"/>
            </a:endParaRPr>
          </a:p>
          <a:p>
            <a:pPr marL="240665" indent="-227965">
              <a:lnSpc>
                <a:spcPct val="100000"/>
              </a:lnSpc>
              <a:spcBef>
                <a:spcPts val="690"/>
              </a:spcBef>
              <a:buClr>
                <a:srgbClr val="F5821F"/>
              </a:buClr>
              <a:buFont typeface="Arial"/>
              <a:buChar char="•"/>
              <a:tabLst>
                <a:tab pos="240665" algn="l"/>
              </a:tabLst>
            </a:pPr>
            <a:r>
              <a:rPr sz="2400" b="1" u="sng" dirty="0">
                <a:uFill>
                  <a:solidFill>
                    <a:srgbClr val="000000"/>
                  </a:solidFill>
                </a:uFill>
                <a:latin typeface="Calibri"/>
                <a:cs typeface="Calibri"/>
              </a:rPr>
              <a:t>For</a:t>
            </a:r>
            <a:r>
              <a:rPr sz="2400" b="1" u="sng" spc="-85" dirty="0">
                <a:uFill>
                  <a:solidFill>
                    <a:srgbClr val="000000"/>
                  </a:solidFill>
                </a:uFill>
                <a:latin typeface="Calibri"/>
                <a:cs typeface="Calibri"/>
              </a:rPr>
              <a:t> </a:t>
            </a:r>
            <a:r>
              <a:rPr sz="2400" b="1" u="sng" dirty="0">
                <a:uFill>
                  <a:solidFill>
                    <a:srgbClr val="000000"/>
                  </a:solidFill>
                </a:uFill>
                <a:latin typeface="Calibri"/>
                <a:cs typeface="Calibri"/>
              </a:rPr>
              <a:t>your</a:t>
            </a:r>
            <a:r>
              <a:rPr sz="2400" b="1" u="sng" spc="-70" dirty="0">
                <a:uFill>
                  <a:solidFill>
                    <a:srgbClr val="000000"/>
                  </a:solidFill>
                </a:uFill>
                <a:latin typeface="Calibri"/>
                <a:cs typeface="Calibri"/>
              </a:rPr>
              <a:t> </a:t>
            </a:r>
            <a:r>
              <a:rPr sz="2400" b="1" u="sng" dirty="0">
                <a:uFill>
                  <a:solidFill>
                    <a:srgbClr val="000000"/>
                  </a:solidFill>
                </a:uFill>
                <a:latin typeface="Calibri"/>
                <a:cs typeface="Calibri"/>
              </a:rPr>
              <a:t>assignment</a:t>
            </a:r>
            <a:r>
              <a:rPr lang="en-NZ" sz="2400" b="1" u="sng" dirty="0">
                <a:uFill>
                  <a:solidFill>
                    <a:srgbClr val="000000"/>
                  </a:solidFill>
                </a:uFill>
                <a:latin typeface="Calibri"/>
                <a:cs typeface="Calibri"/>
              </a:rPr>
              <a:t>,</a:t>
            </a:r>
            <a:r>
              <a:rPr sz="2400" b="1" u="sng" spc="-50" dirty="0">
                <a:uFill>
                  <a:solidFill>
                    <a:srgbClr val="000000"/>
                  </a:solidFill>
                </a:uFill>
                <a:latin typeface="Calibri"/>
                <a:cs typeface="Calibri"/>
              </a:rPr>
              <a:t> </a:t>
            </a:r>
            <a:r>
              <a:rPr sz="2400" b="1" u="sng" dirty="0">
                <a:uFill>
                  <a:solidFill>
                    <a:srgbClr val="000000"/>
                  </a:solidFill>
                </a:uFill>
                <a:latin typeface="Calibri"/>
                <a:cs typeface="Calibri"/>
              </a:rPr>
              <a:t>refer</a:t>
            </a:r>
            <a:r>
              <a:rPr sz="2400" b="1" u="sng" spc="-65" dirty="0">
                <a:uFill>
                  <a:solidFill>
                    <a:srgbClr val="000000"/>
                  </a:solidFill>
                </a:uFill>
                <a:latin typeface="Calibri"/>
                <a:cs typeface="Calibri"/>
              </a:rPr>
              <a:t> </a:t>
            </a:r>
            <a:r>
              <a:rPr sz="2400" b="1" u="sng" dirty="0">
                <a:uFill>
                  <a:solidFill>
                    <a:srgbClr val="000000"/>
                  </a:solidFill>
                </a:uFill>
                <a:latin typeface="Calibri"/>
                <a:cs typeface="Calibri"/>
              </a:rPr>
              <a:t>to</a:t>
            </a:r>
            <a:r>
              <a:rPr sz="2400" b="1" u="sng" spc="-50" dirty="0">
                <a:uFill>
                  <a:solidFill>
                    <a:srgbClr val="000000"/>
                  </a:solidFill>
                </a:uFill>
                <a:latin typeface="Calibri"/>
                <a:cs typeface="Calibri"/>
              </a:rPr>
              <a:t> </a:t>
            </a:r>
            <a:r>
              <a:rPr sz="2400" b="1" u="sng" dirty="0">
                <a:uFill>
                  <a:solidFill>
                    <a:srgbClr val="000000"/>
                  </a:solidFill>
                </a:uFill>
                <a:latin typeface="Calibri"/>
                <a:cs typeface="Calibri"/>
              </a:rPr>
              <a:t>the</a:t>
            </a:r>
            <a:r>
              <a:rPr sz="2400" b="1" u="sng" spc="-40" dirty="0">
                <a:uFill>
                  <a:solidFill>
                    <a:srgbClr val="000000"/>
                  </a:solidFill>
                </a:uFill>
                <a:latin typeface="Calibri"/>
                <a:cs typeface="Calibri"/>
              </a:rPr>
              <a:t> </a:t>
            </a:r>
            <a:r>
              <a:rPr sz="2400" b="1" u="sng" dirty="0">
                <a:uFill>
                  <a:solidFill>
                    <a:srgbClr val="000000"/>
                  </a:solidFill>
                </a:uFill>
                <a:latin typeface="Calibri"/>
                <a:cs typeface="Calibri"/>
              </a:rPr>
              <a:t>template</a:t>
            </a:r>
            <a:r>
              <a:rPr sz="2400" b="1" u="sng" spc="-55" dirty="0">
                <a:uFill>
                  <a:solidFill>
                    <a:srgbClr val="000000"/>
                  </a:solidFill>
                </a:uFill>
                <a:latin typeface="Calibri"/>
                <a:cs typeface="Calibri"/>
              </a:rPr>
              <a:t> </a:t>
            </a:r>
            <a:r>
              <a:rPr sz="2400" b="1" u="sng" dirty="0">
                <a:uFill>
                  <a:solidFill>
                    <a:srgbClr val="000000"/>
                  </a:solidFill>
                </a:uFill>
                <a:latin typeface="Calibri"/>
                <a:cs typeface="Calibri"/>
              </a:rPr>
              <a:t>for</a:t>
            </a:r>
            <a:r>
              <a:rPr sz="2400" b="1" u="sng" spc="-65" dirty="0">
                <a:uFill>
                  <a:solidFill>
                    <a:srgbClr val="000000"/>
                  </a:solidFill>
                </a:uFill>
                <a:latin typeface="Calibri"/>
                <a:cs typeface="Calibri"/>
              </a:rPr>
              <a:t> </a:t>
            </a:r>
            <a:r>
              <a:rPr sz="2400" b="1" u="sng" dirty="0">
                <a:uFill>
                  <a:solidFill>
                    <a:srgbClr val="000000"/>
                  </a:solidFill>
                </a:uFill>
                <a:latin typeface="Calibri"/>
                <a:cs typeface="Calibri"/>
              </a:rPr>
              <a:t>the</a:t>
            </a:r>
            <a:r>
              <a:rPr sz="2400" b="1" u="sng" spc="-40" dirty="0">
                <a:uFill>
                  <a:solidFill>
                    <a:srgbClr val="000000"/>
                  </a:solidFill>
                </a:uFill>
                <a:latin typeface="Calibri"/>
                <a:cs typeface="Calibri"/>
              </a:rPr>
              <a:t> </a:t>
            </a:r>
            <a:r>
              <a:rPr sz="2400" b="1" u="sng" dirty="0">
                <a:uFill>
                  <a:solidFill>
                    <a:srgbClr val="000000"/>
                  </a:solidFill>
                </a:uFill>
                <a:latin typeface="Calibri"/>
                <a:cs typeface="Calibri"/>
              </a:rPr>
              <a:t>scope</a:t>
            </a:r>
            <a:r>
              <a:rPr sz="2400" b="1" u="sng" spc="-70" dirty="0">
                <a:uFill>
                  <a:solidFill>
                    <a:srgbClr val="000000"/>
                  </a:solidFill>
                </a:uFill>
                <a:latin typeface="Calibri"/>
                <a:cs typeface="Calibri"/>
              </a:rPr>
              <a:t> </a:t>
            </a:r>
            <a:r>
              <a:rPr sz="2400" b="1" u="sng" dirty="0">
                <a:uFill>
                  <a:solidFill>
                    <a:srgbClr val="000000"/>
                  </a:solidFill>
                </a:uFill>
                <a:latin typeface="Calibri"/>
                <a:cs typeface="Calibri"/>
              </a:rPr>
              <a:t>statement</a:t>
            </a:r>
            <a:r>
              <a:rPr sz="2400" b="1" u="sng" spc="-35" dirty="0">
                <a:uFill>
                  <a:solidFill>
                    <a:srgbClr val="000000"/>
                  </a:solidFill>
                </a:uFill>
                <a:latin typeface="Calibri"/>
                <a:cs typeface="Calibri"/>
              </a:rPr>
              <a:t> </a:t>
            </a:r>
            <a:r>
              <a:rPr sz="2400" b="1" u="sng" spc="-10" dirty="0">
                <a:uFill>
                  <a:solidFill>
                    <a:srgbClr val="000000"/>
                  </a:solidFill>
                </a:uFill>
                <a:latin typeface="Calibri"/>
                <a:cs typeface="Calibri"/>
              </a:rPr>
              <a:t>document</a:t>
            </a:r>
            <a:endParaRPr sz="24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28F9F2-20A1-C034-3FD3-B2DEE94CF1A3}"/>
              </a:ext>
            </a:extLst>
          </p:cNvPr>
          <p:cNvSpPr>
            <a:spLocks noGrp="1"/>
          </p:cNvSpPr>
          <p:nvPr>
            <p:ph type="body" idx="1"/>
          </p:nvPr>
        </p:nvSpPr>
        <p:spPr>
          <a:xfrm>
            <a:off x="1539366" y="228600"/>
            <a:ext cx="10327640" cy="6705600"/>
          </a:xfrm>
        </p:spPr>
        <p:txBody>
          <a:bodyPr/>
          <a:lstStyle/>
          <a:p>
            <a:endParaRPr lang="en-NZ" dirty="0"/>
          </a:p>
        </p:txBody>
      </p:sp>
      <p:graphicFrame>
        <p:nvGraphicFramePr>
          <p:cNvPr id="4" name="Table 3">
            <a:extLst>
              <a:ext uri="{FF2B5EF4-FFF2-40B4-BE49-F238E27FC236}">
                <a16:creationId xmlns:a16="http://schemas.microsoft.com/office/drawing/2014/main" id="{7FF55F67-2CF9-4705-8CEC-312B07E70BF5}"/>
              </a:ext>
            </a:extLst>
          </p:cNvPr>
          <p:cNvGraphicFramePr>
            <a:graphicFrameLocks noGrp="1"/>
          </p:cNvGraphicFramePr>
          <p:nvPr>
            <p:extLst>
              <p:ext uri="{D42A27DB-BD31-4B8C-83A1-F6EECF244321}">
                <p14:modId xmlns:p14="http://schemas.microsoft.com/office/powerpoint/2010/main" val="255145250"/>
              </p:ext>
            </p:extLst>
          </p:nvPr>
        </p:nvGraphicFramePr>
        <p:xfrm>
          <a:off x="3352800" y="990600"/>
          <a:ext cx="4495800" cy="5541537"/>
        </p:xfrm>
        <a:graphic>
          <a:graphicData uri="http://schemas.openxmlformats.org/drawingml/2006/table">
            <a:tbl>
              <a:tblPr firstRow="1" firstCol="1" lastRow="1" lastCol="1" bandRow="1" bandCol="1"/>
              <a:tblGrid>
                <a:gridCol w="4495800">
                  <a:extLst>
                    <a:ext uri="{9D8B030D-6E8A-4147-A177-3AD203B41FA5}">
                      <a16:colId xmlns:a16="http://schemas.microsoft.com/office/drawing/2014/main" val="2653008754"/>
                    </a:ext>
                  </a:extLst>
                </a:gridCol>
              </a:tblGrid>
              <a:tr h="284594">
                <a:tc>
                  <a:txBody>
                    <a:bodyPr/>
                    <a:lstStyle/>
                    <a:p>
                      <a:r>
                        <a:rPr lang="en-NZ" sz="600" b="1">
                          <a:effectLst/>
                          <a:latin typeface="Calibri" panose="020F0502020204030204" pitchFamily="34" charset="0"/>
                          <a:cs typeface="Times New Roman" panose="02020603050405020304" pitchFamily="18" charset="0"/>
                        </a:rPr>
                        <a:t>Project Title: </a:t>
                      </a:r>
                    </a:p>
                    <a:p>
                      <a:r>
                        <a:rPr lang="en-NZ" sz="600" b="1">
                          <a:effectLst/>
                          <a:latin typeface="Calibri" panose="020F0502020204030204" pitchFamily="34" charset="0"/>
                          <a:cs typeface="Times New Roman" panose="02020603050405020304" pitchFamily="18" charset="0"/>
                        </a:rPr>
                        <a:t>Date:		Prepared by: </a:t>
                      </a:r>
                    </a:p>
                  </a:txBody>
                  <a:tcPr marL="43319" marR="433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7928012"/>
                  </a:ext>
                </a:extLst>
              </a:tr>
              <a:tr h="711486">
                <a:tc>
                  <a:txBody>
                    <a:bodyPr/>
                    <a:lstStyle/>
                    <a:p>
                      <a:r>
                        <a:rPr lang="en-NZ" sz="600" b="1">
                          <a:effectLst/>
                          <a:latin typeface="Calibri" panose="020F0502020204030204" pitchFamily="34" charset="0"/>
                          <a:cs typeface="Times New Roman" panose="02020603050405020304" pitchFamily="18" charset="0"/>
                        </a:rPr>
                        <a:t>Project Justification: </a:t>
                      </a:r>
                    </a:p>
                    <a:p>
                      <a:r>
                        <a:rPr lang="en-NZ" sz="600" b="1">
                          <a:effectLst/>
                          <a:latin typeface="Calibri" panose="020F0502020204030204" pitchFamily="34" charset="0"/>
                          <a:cs typeface="Times New Roman" panose="02020603050405020304" pitchFamily="18" charset="0"/>
                        </a:rPr>
                        <a:t> </a:t>
                      </a:r>
                    </a:p>
                    <a:p>
                      <a:r>
                        <a:rPr lang="en-NZ" sz="600" b="1">
                          <a:effectLst/>
                          <a:latin typeface="Calibri" panose="020F0502020204030204" pitchFamily="34" charset="0"/>
                          <a:cs typeface="Times New Roman" panose="02020603050405020304" pitchFamily="18" charset="0"/>
                        </a:rPr>
                        <a:t> </a:t>
                      </a:r>
                    </a:p>
                    <a:p>
                      <a:r>
                        <a:rPr lang="en-NZ" sz="600" b="1">
                          <a:effectLst/>
                          <a:latin typeface="Calibri" panose="020F0502020204030204" pitchFamily="34" charset="0"/>
                          <a:cs typeface="Times New Roman" panose="02020603050405020304" pitchFamily="18" charset="0"/>
                        </a:rPr>
                        <a:t> </a:t>
                      </a:r>
                    </a:p>
                    <a:p>
                      <a:r>
                        <a:rPr lang="en-NZ" sz="600" b="1">
                          <a:effectLst/>
                          <a:latin typeface="Calibri" panose="020F0502020204030204" pitchFamily="34" charset="0"/>
                          <a:cs typeface="Times New Roman" panose="02020603050405020304" pitchFamily="18" charset="0"/>
                        </a:rPr>
                        <a:t> </a:t>
                      </a:r>
                    </a:p>
                  </a:txBody>
                  <a:tcPr marL="43319" marR="433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1815753"/>
                  </a:ext>
                </a:extLst>
              </a:tr>
              <a:tr h="908920">
                <a:tc>
                  <a:txBody>
                    <a:bodyPr/>
                    <a:lstStyle/>
                    <a:p>
                      <a:r>
                        <a:rPr lang="en-NZ" sz="600" b="1" dirty="0">
                          <a:effectLst/>
                          <a:latin typeface="Calibri" panose="020F0502020204030204" pitchFamily="34" charset="0"/>
                          <a:cs typeface="Times New Roman" panose="02020603050405020304" pitchFamily="18" charset="0"/>
                        </a:rPr>
                        <a:t>Product Characteristics and Requirements:</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txBody>
                  <a:tcPr marL="43319" marR="433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7850524"/>
                  </a:ext>
                </a:extLst>
              </a:tr>
              <a:tr h="3636537">
                <a:tc>
                  <a:txBody>
                    <a:bodyPr/>
                    <a:lstStyle/>
                    <a:p>
                      <a:r>
                        <a:rPr lang="en-NZ" sz="600" b="1" dirty="0">
                          <a:effectLst/>
                          <a:latin typeface="Calibri" panose="020F0502020204030204" pitchFamily="34" charset="0"/>
                          <a:cs typeface="Times New Roman" panose="02020603050405020304" pitchFamily="18" charset="0"/>
                        </a:rPr>
                        <a:t>Product User Acceptance Criteria:</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Summary of Project Deliverables</a:t>
                      </a:r>
                    </a:p>
                    <a:p>
                      <a:pPr>
                        <a:lnSpc>
                          <a:spcPct val="107000"/>
                        </a:lnSpc>
                        <a:spcAft>
                          <a:spcPts val="800"/>
                        </a:spcAft>
                      </a:pPr>
                      <a:r>
                        <a:rPr lang="en-NZ" sz="700" b="1" dirty="0">
                          <a:effectLst/>
                          <a:latin typeface="Calibri" panose="020F0502020204030204" pitchFamily="34" charset="0"/>
                          <a:ea typeface="Calibri" panose="020F0502020204030204" pitchFamily="34" charset="0"/>
                          <a:cs typeface="Times New Roman" panose="02020603050405020304" pitchFamily="18" charset="0"/>
                        </a:rPr>
                        <a:t>Project management-related deliverables:</a:t>
                      </a:r>
                      <a:r>
                        <a:rPr lang="en-NZ" sz="700" dirty="0">
                          <a:effectLst/>
                          <a:latin typeface="Calibri" panose="020F0502020204030204" pitchFamily="34" charset="0"/>
                          <a:ea typeface="Calibri" panose="020F0502020204030204" pitchFamily="34" charset="0"/>
                          <a:cs typeface="Times New Roman" panose="02020603050405020304" pitchFamily="18" charset="0"/>
                        </a:rPr>
                        <a:t> business case, charter, team contract, scope statement, WBS, schedule, cost baseline, status reports, final project presentation, final project report, lessons-learned report, and any other documents required to manage the project.</a:t>
                      </a:r>
                    </a:p>
                    <a:p>
                      <a:pPr>
                        <a:lnSpc>
                          <a:spcPct val="107000"/>
                        </a:lnSpc>
                        <a:spcAft>
                          <a:spcPts val="800"/>
                        </a:spcAft>
                      </a:pPr>
                      <a:r>
                        <a:rPr lang="en-NZ" sz="700" b="1" dirty="0">
                          <a:effectLst/>
                          <a:latin typeface="Calibri" panose="020F0502020204030204" pitchFamily="34" charset="0"/>
                          <a:ea typeface="Calibri" panose="020F0502020204030204" pitchFamily="34" charset="0"/>
                          <a:cs typeface="Times New Roman" panose="02020603050405020304" pitchFamily="18" charset="0"/>
                        </a:rPr>
                        <a:t>Product-related deliverables: </a:t>
                      </a:r>
                      <a:r>
                        <a:rPr lang="en-NZ" sz="700" dirty="0">
                          <a:effectLst/>
                          <a:latin typeface="Calibri" panose="020F0502020204030204" pitchFamily="34" charset="0"/>
                          <a:ea typeface="Calibri" panose="020F0502020204030204" pitchFamily="34" charset="0"/>
                          <a:cs typeface="Times New Roman" panose="02020603050405020304" pitchFamily="18" charset="0"/>
                        </a:rPr>
                        <a:t>research reports, design documents, software code, hardware, etc.</a:t>
                      </a:r>
                    </a:p>
                    <a:p>
                      <a:pPr>
                        <a:lnSpc>
                          <a:spcPct val="107000"/>
                        </a:lnSpc>
                        <a:spcAft>
                          <a:spcPts val="800"/>
                        </a:spcAft>
                      </a:pPr>
                      <a:r>
                        <a:rPr lang="en-NZ" sz="700" dirty="0">
                          <a:effectLst/>
                          <a:latin typeface="Calibri" panose="020F0502020204030204" pitchFamily="34" charset="0"/>
                          <a:ea typeface="Calibri" panose="020F0502020204030204" pitchFamily="34" charset="0"/>
                          <a:cs typeface="Times New Roman" panose="02020603050405020304" pitchFamily="18" charset="0"/>
                        </a:rPr>
                        <a:t>1.</a:t>
                      </a:r>
                    </a:p>
                    <a:p>
                      <a:pPr>
                        <a:lnSpc>
                          <a:spcPct val="107000"/>
                        </a:lnSpc>
                        <a:spcAft>
                          <a:spcPts val="800"/>
                        </a:spcAft>
                      </a:pPr>
                      <a:r>
                        <a:rPr lang="en-NZ" sz="700" dirty="0">
                          <a:effectLst/>
                          <a:latin typeface="Calibri" panose="020F0502020204030204" pitchFamily="34" charset="0"/>
                          <a:ea typeface="Calibri" panose="020F0502020204030204" pitchFamily="34" charset="0"/>
                          <a:cs typeface="Times New Roman" panose="02020603050405020304" pitchFamily="18" charset="0"/>
                        </a:rPr>
                        <a:t>2.</a:t>
                      </a:r>
                    </a:p>
                    <a:p>
                      <a:pPr>
                        <a:lnSpc>
                          <a:spcPct val="107000"/>
                        </a:lnSpc>
                        <a:spcAft>
                          <a:spcPts val="800"/>
                        </a:spcAft>
                      </a:pPr>
                      <a:r>
                        <a:rPr lang="en-NZ" sz="700" dirty="0">
                          <a:effectLst/>
                          <a:latin typeface="Calibri" panose="020F0502020204030204" pitchFamily="34" charset="0"/>
                          <a:ea typeface="Calibri" panose="020F0502020204030204" pitchFamily="34" charset="0"/>
                          <a:cs typeface="Times New Roman" panose="02020603050405020304" pitchFamily="18" charset="0"/>
                        </a:rPr>
                        <a:t>3.</a:t>
                      </a:r>
                    </a:p>
                    <a:p>
                      <a:pPr>
                        <a:lnSpc>
                          <a:spcPct val="107000"/>
                        </a:lnSpc>
                        <a:spcAft>
                          <a:spcPts val="800"/>
                        </a:spcAft>
                      </a:pPr>
                      <a:r>
                        <a:rPr lang="en-NZ" sz="700" dirty="0">
                          <a:effectLst/>
                          <a:latin typeface="Calibri" panose="020F0502020204030204" pitchFamily="34" charset="0"/>
                          <a:ea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p>
                      <a:r>
                        <a:rPr lang="en-NZ" sz="600" b="1" dirty="0">
                          <a:effectLst/>
                          <a:latin typeface="Calibri" panose="020F0502020204030204" pitchFamily="34" charset="0"/>
                          <a:cs typeface="Times New Roman" panose="02020603050405020304" pitchFamily="18" charset="0"/>
                        </a:rPr>
                        <a:t> </a:t>
                      </a:r>
                    </a:p>
                  </a:txBody>
                  <a:tcPr marL="43319" marR="433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63093"/>
                  </a:ext>
                </a:extLst>
              </a:tr>
            </a:tbl>
          </a:graphicData>
        </a:graphic>
      </p:graphicFrame>
    </p:spTree>
    <p:extLst>
      <p:ext uri="{BB962C8B-B14F-4D97-AF65-F5344CB8AC3E}">
        <p14:creationId xmlns:p14="http://schemas.microsoft.com/office/powerpoint/2010/main" val="3407851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48A31E-D276-CA66-1B30-220BEFCA6BAF}"/>
              </a:ext>
            </a:extLst>
          </p:cNvPr>
          <p:cNvSpPr>
            <a:spLocks noGrp="1"/>
          </p:cNvSpPr>
          <p:nvPr>
            <p:ph type="body" idx="1"/>
          </p:nvPr>
        </p:nvSpPr>
        <p:spPr>
          <a:xfrm>
            <a:off x="1539366" y="1812112"/>
            <a:ext cx="10327640" cy="3200876"/>
          </a:xfrm>
        </p:spPr>
        <p:txBody>
          <a:bodyPr/>
          <a:lstStyle/>
          <a:p>
            <a:pPr algn="just"/>
            <a:r>
              <a:rPr lang="en-NZ" sz="1800" dirty="0">
                <a:effectLst/>
                <a:latin typeface="Times New Roman" panose="02020603050405020304" pitchFamily="18" charset="0"/>
                <a:ea typeface="Times New Roman" panose="02020603050405020304" pitchFamily="18" charset="0"/>
                <a:cs typeface="Times New Roman" panose="02020603050405020304" pitchFamily="18" charset="0"/>
              </a:rPr>
              <a:t>The Wiki project requires providing a review of two (2) cloud-based PMS (must not include Microsoft Project). Your project team must provide the criteria in the Wiki that your team has used to identify the two most suitable PMS for the R&amp;D students. For the two selected PMS, the wiki must describe and compare at least one key feature/functionality across each of the process groups of Initiating, Planning, Executing, Monitoring/Controlling, and Closing projects. You may have to investigate Microsoft Project 2019 for its features and functionalities to be able to identify elements that you will use to provide information on and compare the two cloud-based PMS. The Wiki must be supported by related materials sourced from trusted public domain resources and academic journals. SECMS expects a very high-quality Wiki. Hence, your team must identify and clearly state the quality goals in the scope statement document. The word length of this Wiki project (information on two PMS) is expected to be no more than 4,500 words.</a:t>
            </a:r>
            <a:endParaRPr lang="en-NZ" sz="1800" dirty="0">
              <a:effectLst/>
              <a:latin typeface="Verdana" panose="020B0604030504040204" pitchFamily="34" charset="0"/>
              <a:ea typeface="Times New Roman" panose="02020603050405020304" pitchFamily="18" charset="0"/>
              <a:cs typeface="Times New Roman" panose="02020603050405020304" pitchFamily="18" charset="0"/>
            </a:endParaRPr>
          </a:p>
          <a:p>
            <a:endParaRPr lang="en-NZ" dirty="0"/>
          </a:p>
        </p:txBody>
      </p:sp>
      <p:sp>
        <p:nvSpPr>
          <p:cNvPr id="5" name="Title 4">
            <a:extLst>
              <a:ext uri="{FF2B5EF4-FFF2-40B4-BE49-F238E27FC236}">
                <a16:creationId xmlns:a16="http://schemas.microsoft.com/office/drawing/2014/main" id="{0D8DBBB8-5B03-3B2D-9D0D-91E66440F7D9}"/>
              </a:ext>
            </a:extLst>
          </p:cNvPr>
          <p:cNvSpPr>
            <a:spLocks noGrp="1"/>
          </p:cNvSpPr>
          <p:nvPr>
            <p:ph type="title"/>
          </p:nvPr>
        </p:nvSpPr>
        <p:spPr>
          <a:xfrm>
            <a:off x="1539366" y="233553"/>
            <a:ext cx="10274300" cy="307777"/>
          </a:xfrm>
        </p:spPr>
        <p:txBody>
          <a:bodyPr>
            <a:normAutofit/>
          </a:bodyPr>
          <a:lstStyle/>
          <a:p>
            <a:r>
              <a:rPr lang="en-NZ" sz="2000" dirty="0"/>
              <a:t>Assignment 1- Project Scope </a:t>
            </a:r>
          </a:p>
        </p:txBody>
      </p:sp>
    </p:spTree>
    <p:extLst>
      <p:ext uri="{BB962C8B-B14F-4D97-AF65-F5344CB8AC3E}">
        <p14:creationId xmlns:p14="http://schemas.microsoft.com/office/powerpoint/2010/main" val="759916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8DBBB8-5B03-3B2D-9D0D-91E66440F7D9}"/>
              </a:ext>
            </a:extLst>
          </p:cNvPr>
          <p:cNvSpPr>
            <a:spLocks noGrp="1"/>
          </p:cNvSpPr>
          <p:nvPr>
            <p:ph type="title"/>
          </p:nvPr>
        </p:nvSpPr>
        <p:spPr>
          <a:xfrm>
            <a:off x="1539366" y="233553"/>
            <a:ext cx="10274300" cy="307777"/>
          </a:xfrm>
        </p:spPr>
        <p:txBody>
          <a:bodyPr>
            <a:normAutofit/>
          </a:bodyPr>
          <a:lstStyle/>
          <a:p>
            <a:r>
              <a:rPr lang="en-NZ" sz="2000" dirty="0"/>
              <a:t>Assignment 1- Project Scope </a:t>
            </a:r>
          </a:p>
        </p:txBody>
      </p:sp>
      <p:sp>
        <p:nvSpPr>
          <p:cNvPr id="4" name="Text Placeholder 3">
            <a:extLst>
              <a:ext uri="{FF2B5EF4-FFF2-40B4-BE49-F238E27FC236}">
                <a16:creationId xmlns:a16="http://schemas.microsoft.com/office/drawing/2014/main" id="{AB402C5F-7F67-8CA3-C196-1D461E692A22}"/>
              </a:ext>
            </a:extLst>
          </p:cNvPr>
          <p:cNvSpPr>
            <a:spLocks noGrp="1"/>
          </p:cNvSpPr>
          <p:nvPr>
            <p:ph type="body" idx="1"/>
          </p:nvPr>
        </p:nvSpPr>
        <p:spPr>
          <a:xfrm>
            <a:off x="1539366" y="1812112"/>
            <a:ext cx="10327640" cy="3200876"/>
          </a:xfrm>
        </p:spPr>
        <p:txBody>
          <a:bodyPr/>
          <a:lstStyle/>
          <a:p>
            <a:pPr algn="just"/>
            <a:r>
              <a:rPr lang="en-NZ" sz="1800" b="1" kern="0" dirty="0">
                <a:effectLst/>
                <a:latin typeface="Times New Roman" panose="02020603050405020304" pitchFamily="18" charset="0"/>
                <a:ea typeface="Times New Roman" panose="02020603050405020304" pitchFamily="18" charset="0"/>
              </a:rPr>
              <a:t>The Wiki project requires providing a review of two (2) cloud-based PMS (must not include Microsoft Project).</a:t>
            </a:r>
            <a:r>
              <a:rPr lang="en-NZ" sz="1800" kern="0" dirty="0">
                <a:effectLst/>
                <a:latin typeface="Times New Roman" panose="02020603050405020304" pitchFamily="18" charset="0"/>
                <a:ea typeface="Times New Roman" panose="02020603050405020304" pitchFamily="18" charset="0"/>
              </a:rPr>
              <a:t> </a:t>
            </a:r>
            <a:r>
              <a:rPr lang="en-NZ" sz="1800" kern="0" dirty="0">
                <a:effectLst/>
                <a:highlight>
                  <a:srgbClr val="00FFFF"/>
                </a:highlight>
                <a:latin typeface="Times New Roman" panose="02020603050405020304" pitchFamily="18" charset="0"/>
                <a:ea typeface="Times New Roman" panose="02020603050405020304" pitchFamily="18" charset="0"/>
              </a:rPr>
              <a:t>Your project team must provide the criteria in the Wiki that your team has used to identify the two most suitable PMS for the R&amp;D students</a:t>
            </a:r>
            <a:r>
              <a:rPr lang="en-NZ" sz="1800" kern="0" dirty="0">
                <a:effectLst/>
                <a:latin typeface="Times New Roman" panose="02020603050405020304" pitchFamily="18" charset="0"/>
                <a:ea typeface="Times New Roman" panose="02020603050405020304" pitchFamily="18" charset="0"/>
              </a:rPr>
              <a:t>. </a:t>
            </a:r>
            <a:r>
              <a:rPr lang="en-NZ" sz="1800" kern="0" dirty="0">
                <a:effectLst/>
                <a:highlight>
                  <a:srgbClr val="FFFF00"/>
                </a:highlight>
                <a:latin typeface="Times New Roman" panose="02020603050405020304" pitchFamily="18" charset="0"/>
                <a:ea typeface="Times New Roman" panose="02020603050405020304" pitchFamily="18" charset="0"/>
              </a:rPr>
              <a:t>For the two selected PMS, the wiki must describe and compare at least one key feature/functionality across each of the process groups of Initiating, Planning, Executing,</a:t>
            </a:r>
            <a:r>
              <a:rPr lang="en-NZ" sz="1800" b="1" u="sng" kern="0" dirty="0">
                <a:effectLst/>
                <a:highlight>
                  <a:srgbClr val="FFFF00"/>
                </a:highlight>
                <a:latin typeface="Times New Roman" panose="02020603050405020304" pitchFamily="18" charset="0"/>
                <a:ea typeface="Times New Roman" panose="02020603050405020304" pitchFamily="18" charset="0"/>
              </a:rPr>
              <a:t> </a:t>
            </a:r>
            <a:r>
              <a:rPr lang="en-NZ" sz="1800" kern="0" dirty="0">
                <a:effectLst/>
                <a:highlight>
                  <a:srgbClr val="FFFF00"/>
                </a:highlight>
                <a:latin typeface="Times New Roman" panose="02020603050405020304" pitchFamily="18" charset="0"/>
                <a:ea typeface="Times New Roman" panose="02020603050405020304" pitchFamily="18" charset="0"/>
              </a:rPr>
              <a:t>Monitoring/Controlling, and Closing projects. You may have to investigate Microsoft Project 2019 for its features and functionalities to be able to identify elements that you will use to provide information on and compare the two cloud-based PMS</a:t>
            </a:r>
            <a:r>
              <a:rPr lang="en-NZ" sz="1800" kern="0" dirty="0">
                <a:effectLst/>
                <a:highlight>
                  <a:srgbClr val="00FF00"/>
                </a:highlight>
                <a:latin typeface="Times New Roman" panose="02020603050405020304" pitchFamily="18" charset="0"/>
                <a:ea typeface="Times New Roman" panose="02020603050405020304" pitchFamily="18" charset="0"/>
              </a:rPr>
              <a:t>.</a:t>
            </a:r>
            <a:r>
              <a:rPr lang="en-NZ" sz="1800" kern="0" dirty="0">
                <a:effectLst/>
                <a:latin typeface="Times New Roman" panose="02020603050405020304" pitchFamily="18" charset="0"/>
                <a:ea typeface="Times New Roman" panose="02020603050405020304" pitchFamily="18" charset="0"/>
              </a:rPr>
              <a:t> </a:t>
            </a:r>
            <a:r>
              <a:rPr lang="en-NZ" sz="1800" kern="0" dirty="0">
                <a:effectLst/>
                <a:highlight>
                  <a:srgbClr val="C0C0C0"/>
                </a:highlight>
                <a:latin typeface="Times New Roman" panose="02020603050405020304" pitchFamily="18" charset="0"/>
                <a:ea typeface="Times New Roman" panose="02020603050405020304" pitchFamily="18" charset="0"/>
              </a:rPr>
              <a:t>The Wiki must be supported by </a:t>
            </a:r>
            <a:r>
              <a:rPr lang="en-NZ" sz="1800" kern="0" dirty="0">
                <a:solidFill>
                  <a:srgbClr val="000000"/>
                </a:solidFill>
                <a:effectLst/>
                <a:highlight>
                  <a:srgbClr val="C0C0C0"/>
                </a:highlight>
                <a:latin typeface="Times New Roman" panose="02020603050405020304" pitchFamily="18" charset="0"/>
                <a:ea typeface="Times New Roman" panose="02020603050405020304" pitchFamily="18" charset="0"/>
              </a:rPr>
              <a:t>related materials sourced from trusted public domain resources and academic journals.</a:t>
            </a:r>
            <a:r>
              <a:rPr lang="en-NZ" sz="1800" kern="0" dirty="0">
                <a:solidFill>
                  <a:srgbClr val="000000"/>
                </a:solidFill>
                <a:effectLst/>
                <a:latin typeface="Times New Roman" panose="02020603050405020304" pitchFamily="18" charset="0"/>
                <a:ea typeface="Times New Roman" panose="02020603050405020304" pitchFamily="18" charset="0"/>
              </a:rPr>
              <a:t> </a:t>
            </a:r>
            <a:r>
              <a:rPr lang="en-NZ" sz="1800" kern="0" dirty="0">
                <a:solidFill>
                  <a:srgbClr val="000000"/>
                </a:solidFill>
                <a:effectLst/>
                <a:highlight>
                  <a:srgbClr val="FF00FF"/>
                </a:highlight>
                <a:latin typeface="Times New Roman" panose="02020603050405020304" pitchFamily="18" charset="0"/>
                <a:ea typeface="Times New Roman" panose="02020603050405020304" pitchFamily="18" charset="0"/>
              </a:rPr>
              <a:t>SECMS expects a very high-quality Wiki. Hence, your team must identify and clearly state the quality goals in the scope statement document.</a:t>
            </a:r>
            <a:r>
              <a:rPr lang="en-NZ" sz="1800" kern="0" dirty="0">
                <a:solidFill>
                  <a:srgbClr val="000000"/>
                </a:solidFill>
                <a:effectLst/>
                <a:latin typeface="Times New Roman" panose="02020603050405020304" pitchFamily="18" charset="0"/>
                <a:ea typeface="Times New Roman" panose="02020603050405020304" pitchFamily="18" charset="0"/>
              </a:rPr>
              <a:t> </a:t>
            </a:r>
            <a:r>
              <a:rPr lang="en-NZ" sz="1800" dirty="0">
                <a:solidFill>
                  <a:srgbClr val="000000"/>
                </a:solidFill>
                <a:effectLst/>
                <a:highlight>
                  <a:srgbClr val="808000"/>
                </a:highlight>
                <a:latin typeface="Times New Roman" panose="02020603050405020304" pitchFamily="18" charset="0"/>
                <a:ea typeface="Times New Roman" panose="02020603050405020304" pitchFamily="18" charset="0"/>
                <a:cs typeface="Times New Roman" panose="02020603050405020304" pitchFamily="18" charset="0"/>
              </a:rPr>
              <a:t>The word length of this Wiki project (information on two PMS) is expected to be no more than 4,500 words.</a:t>
            </a:r>
            <a:r>
              <a:rPr lang="en-NZ"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NZ" sz="1800" dirty="0">
              <a:effectLst/>
              <a:latin typeface="Verdana" panose="020B0604030504040204" pitchFamily="34" charset="0"/>
              <a:ea typeface="Times New Roman" panose="02020603050405020304" pitchFamily="18" charset="0"/>
              <a:cs typeface="Times New Roman" panose="02020603050405020304" pitchFamily="18" charset="0"/>
            </a:endParaRPr>
          </a:p>
          <a:p>
            <a:endParaRPr lang="en-NZ" dirty="0"/>
          </a:p>
        </p:txBody>
      </p:sp>
    </p:spTree>
    <p:extLst>
      <p:ext uri="{BB962C8B-B14F-4D97-AF65-F5344CB8AC3E}">
        <p14:creationId xmlns:p14="http://schemas.microsoft.com/office/powerpoint/2010/main" val="2404839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8DBBB8-5B03-3B2D-9D0D-91E66440F7D9}"/>
              </a:ext>
            </a:extLst>
          </p:cNvPr>
          <p:cNvSpPr>
            <a:spLocks noGrp="1"/>
          </p:cNvSpPr>
          <p:nvPr>
            <p:ph type="title"/>
          </p:nvPr>
        </p:nvSpPr>
        <p:spPr>
          <a:xfrm>
            <a:off x="1539366" y="233553"/>
            <a:ext cx="10274300" cy="307777"/>
          </a:xfrm>
        </p:spPr>
        <p:txBody>
          <a:bodyPr>
            <a:normAutofit/>
          </a:bodyPr>
          <a:lstStyle/>
          <a:p>
            <a:r>
              <a:rPr lang="en-NZ" sz="2000" dirty="0"/>
              <a:t>Assignment 1- Project Scope </a:t>
            </a:r>
          </a:p>
        </p:txBody>
      </p:sp>
      <p:sp>
        <p:nvSpPr>
          <p:cNvPr id="4" name="Text Placeholder 3">
            <a:extLst>
              <a:ext uri="{FF2B5EF4-FFF2-40B4-BE49-F238E27FC236}">
                <a16:creationId xmlns:a16="http://schemas.microsoft.com/office/drawing/2014/main" id="{AB402C5F-7F67-8CA3-C196-1D461E692A22}"/>
              </a:ext>
            </a:extLst>
          </p:cNvPr>
          <p:cNvSpPr>
            <a:spLocks noGrp="1"/>
          </p:cNvSpPr>
          <p:nvPr>
            <p:ph type="body" idx="1"/>
          </p:nvPr>
        </p:nvSpPr>
        <p:spPr>
          <a:xfrm>
            <a:off x="1676400" y="990600"/>
            <a:ext cx="10327640" cy="4616648"/>
          </a:xfrm>
        </p:spPr>
        <p:txBody>
          <a:bodyPr>
            <a:normAutofit/>
          </a:bodyPr>
          <a:lstStyle/>
          <a:p>
            <a:pPr algn="just"/>
            <a:r>
              <a:rPr lang="en-NZ" sz="1800" b="1" kern="0" dirty="0">
                <a:effectLst/>
                <a:latin typeface="Times New Roman" panose="02020603050405020304" pitchFamily="18" charset="0"/>
                <a:ea typeface="Times New Roman" panose="02020603050405020304" pitchFamily="18" charset="0"/>
              </a:rPr>
              <a:t>The Wiki project requires providing a review of two (2) cloud-based PMS (must not include Microsoft Project).</a:t>
            </a:r>
            <a:r>
              <a:rPr lang="en-NZ" sz="1800" kern="0" dirty="0">
                <a:effectLst/>
                <a:latin typeface="Times New Roman" panose="02020603050405020304" pitchFamily="18" charset="0"/>
                <a:ea typeface="Times New Roman" panose="02020603050405020304" pitchFamily="18" charset="0"/>
              </a:rPr>
              <a:t> </a:t>
            </a:r>
          </a:p>
          <a:p>
            <a:pPr algn="just"/>
            <a:endParaRPr lang="en-NZ" sz="1800" dirty="0">
              <a:latin typeface="Times New Roman" panose="02020603050405020304" pitchFamily="18" charset="0"/>
              <a:ea typeface="Times New Roman" panose="02020603050405020304" pitchFamily="18" charset="0"/>
            </a:endParaRPr>
          </a:p>
          <a:p>
            <a:pPr algn="just"/>
            <a:r>
              <a:rPr lang="en-NZ" sz="1800" b="1" kern="0" dirty="0">
                <a:effectLst/>
                <a:latin typeface="Times New Roman" panose="02020603050405020304" pitchFamily="18" charset="0"/>
                <a:ea typeface="Times New Roman" panose="02020603050405020304" pitchFamily="18" charset="0"/>
              </a:rPr>
              <a:t>Functional requirements </a:t>
            </a:r>
          </a:p>
          <a:p>
            <a:pPr algn="just"/>
            <a:endParaRPr lang="en-NZ" sz="1400" dirty="0">
              <a:highlight>
                <a:srgbClr val="00FFFF"/>
              </a:highlight>
              <a:latin typeface="Times New Roman" panose="02020603050405020304" pitchFamily="18" charset="0"/>
              <a:ea typeface="Times New Roman" panose="02020603050405020304" pitchFamily="18" charset="0"/>
            </a:endParaRPr>
          </a:p>
          <a:p>
            <a:pPr algn="just"/>
            <a:r>
              <a:rPr lang="en-NZ" sz="1400" kern="0" dirty="0">
                <a:effectLst/>
                <a:highlight>
                  <a:srgbClr val="00FFFF"/>
                </a:highlight>
                <a:latin typeface="Times New Roman" panose="02020603050405020304" pitchFamily="18" charset="0"/>
                <a:ea typeface="Times New Roman" panose="02020603050405020304" pitchFamily="18" charset="0"/>
              </a:rPr>
              <a:t>1. Your project team must provide the criteria in the Wiki that your team has used to identify the two most suitable PMS for the R&amp;D students</a:t>
            </a:r>
            <a:r>
              <a:rPr lang="en-NZ" sz="1400" kern="0" dirty="0">
                <a:effectLst/>
                <a:latin typeface="Times New Roman" panose="02020603050405020304" pitchFamily="18" charset="0"/>
                <a:ea typeface="Times New Roman" panose="02020603050405020304" pitchFamily="18" charset="0"/>
              </a:rPr>
              <a:t>. </a:t>
            </a:r>
          </a:p>
          <a:p>
            <a:pPr algn="just"/>
            <a:endParaRPr lang="en-NZ" sz="1400" kern="0" dirty="0">
              <a:effectLst/>
              <a:latin typeface="Times New Roman" panose="02020603050405020304" pitchFamily="18" charset="0"/>
              <a:ea typeface="Times New Roman" panose="02020603050405020304" pitchFamily="18" charset="0"/>
            </a:endParaRPr>
          </a:p>
          <a:p>
            <a:pPr algn="just"/>
            <a:r>
              <a:rPr lang="en-NZ" sz="1400" kern="0" dirty="0">
                <a:effectLst/>
                <a:highlight>
                  <a:srgbClr val="FFFF00"/>
                </a:highlight>
                <a:latin typeface="Times New Roman" panose="02020603050405020304" pitchFamily="18" charset="0"/>
                <a:ea typeface="Times New Roman" panose="02020603050405020304" pitchFamily="18" charset="0"/>
              </a:rPr>
              <a:t>2. For the two selected PMS, the wiki must describe and compare at least one key feature/functionality across each of the process groups of Initiating, Planning, Executing,</a:t>
            </a:r>
            <a:r>
              <a:rPr lang="en-NZ" sz="1400" b="1" u="sng" kern="0" dirty="0">
                <a:effectLst/>
                <a:highlight>
                  <a:srgbClr val="FFFF00"/>
                </a:highlight>
                <a:latin typeface="Times New Roman" panose="02020603050405020304" pitchFamily="18" charset="0"/>
                <a:ea typeface="Times New Roman" panose="02020603050405020304" pitchFamily="18" charset="0"/>
              </a:rPr>
              <a:t> </a:t>
            </a:r>
            <a:r>
              <a:rPr lang="en-NZ" sz="1400" kern="0" dirty="0">
                <a:effectLst/>
                <a:highlight>
                  <a:srgbClr val="FFFF00"/>
                </a:highlight>
                <a:latin typeface="Times New Roman" panose="02020603050405020304" pitchFamily="18" charset="0"/>
                <a:ea typeface="Times New Roman" panose="02020603050405020304" pitchFamily="18" charset="0"/>
              </a:rPr>
              <a:t>Monitoring/Controlling, and Closing projects. You may have to investigate Microsoft Project 2019 for its features and functionalities to be able to identify elements that you will use to provide information on and compare the two cloud-based PMS</a:t>
            </a:r>
            <a:endParaRPr lang="en-NZ" sz="1400" kern="0" dirty="0">
              <a:effectLst/>
              <a:highlight>
                <a:srgbClr val="00FF00"/>
              </a:highlight>
              <a:latin typeface="Times New Roman" panose="02020603050405020304" pitchFamily="18" charset="0"/>
              <a:ea typeface="Times New Roman" panose="02020603050405020304" pitchFamily="18" charset="0"/>
            </a:endParaRPr>
          </a:p>
          <a:p>
            <a:pPr algn="just"/>
            <a:endParaRPr lang="en-NZ" sz="1400" kern="0" dirty="0">
              <a:effectLst/>
              <a:latin typeface="Times New Roman" panose="02020603050405020304" pitchFamily="18" charset="0"/>
              <a:ea typeface="Times New Roman" panose="02020603050405020304" pitchFamily="18" charset="0"/>
            </a:endParaRPr>
          </a:p>
          <a:p>
            <a:pPr algn="just"/>
            <a:r>
              <a:rPr lang="en-NZ" sz="1400" kern="0" dirty="0">
                <a:effectLst/>
                <a:highlight>
                  <a:srgbClr val="C0C0C0"/>
                </a:highlight>
                <a:latin typeface="Times New Roman" panose="02020603050405020304" pitchFamily="18" charset="0"/>
                <a:ea typeface="Times New Roman" panose="02020603050405020304" pitchFamily="18" charset="0"/>
              </a:rPr>
              <a:t>3. The Wiki must be supported by </a:t>
            </a:r>
            <a:r>
              <a:rPr lang="en-NZ" sz="1400" kern="0" dirty="0">
                <a:solidFill>
                  <a:srgbClr val="000000"/>
                </a:solidFill>
                <a:effectLst/>
                <a:highlight>
                  <a:srgbClr val="C0C0C0"/>
                </a:highlight>
                <a:latin typeface="Times New Roman" panose="02020603050405020304" pitchFamily="18" charset="0"/>
                <a:ea typeface="Times New Roman" panose="02020603050405020304" pitchFamily="18" charset="0"/>
              </a:rPr>
              <a:t>related materials sourced from trusted public domain resources and academic journals.</a:t>
            </a:r>
            <a:r>
              <a:rPr lang="en-NZ" sz="1400" kern="0" dirty="0">
                <a:solidFill>
                  <a:srgbClr val="000000"/>
                </a:solidFill>
                <a:effectLst/>
                <a:latin typeface="Times New Roman" panose="02020603050405020304" pitchFamily="18" charset="0"/>
                <a:ea typeface="Times New Roman" panose="02020603050405020304" pitchFamily="18" charset="0"/>
              </a:rPr>
              <a:t> </a:t>
            </a:r>
          </a:p>
          <a:p>
            <a:pPr algn="just"/>
            <a:endParaRPr lang="en-NZ" sz="1400" dirty="0">
              <a:solidFill>
                <a:srgbClr val="000000"/>
              </a:solidFill>
              <a:highlight>
                <a:srgbClr val="808000"/>
              </a:highligh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400" dirty="0">
                <a:solidFill>
                  <a:srgbClr val="000000"/>
                </a:solidFill>
                <a:effectLst/>
                <a:highlight>
                  <a:srgbClr val="808000"/>
                </a:highlight>
                <a:latin typeface="Times New Roman" panose="02020603050405020304" pitchFamily="18" charset="0"/>
                <a:ea typeface="Times New Roman" panose="02020603050405020304" pitchFamily="18" charset="0"/>
                <a:cs typeface="Times New Roman" panose="02020603050405020304" pitchFamily="18" charset="0"/>
              </a:rPr>
              <a:t>4. The word length of this Wiki project (information on two PMS) is expected to be no more than 4,500 words.</a:t>
            </a:r>
            <a:r>
              <a:rPr lang="en-NZ"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Non-functional requirements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400" kern="0" dirty="0">
                <a:solidFill>
                  <a:srgbClr val="000000"/>
                </a:solidFill>
                <a:effectLst/>
                <a:highlight>
                  <a:srgbClr val="FF00FF"/>
                </a:highlight>
                <a:latin typeface="Times New Roman" panose="02020603050405020304" pitchFamily="18" charset="0"/>
                <a:ea typeface="Times New Roman" panose="02020603050405020304" pitchFamily="18" charset="0"/>
              </a:rPr>
              <a:t>1. SECMS expects a very high-quality Wiki. Hence, your team must identify and clearly state the quality goals in the scope statement document.</a:t>
            </a:r>
            <a:endParaRPr lang="en-NZ" sz="1400" dirty="0">
              <a:effectLst/>
              <a:latin typeface="Verdana" panose="020B0604030504040204" pitchFamily="34" charset="0"/>
              <a:ea typeface="Times New Roman" panose="02020603050405020304" pitchFamily="18" charset="0"/>
              <a:cs typeface="Times New Roman" panose="02020603050405020304" pitchFamily="18" charset="0"/>
            </a:endParaRPr>
          </a:p>
          <a:p>
            <a:endParaRPr lang="en-NZ" dirty="0"/>
          </a:p>
        </p:txBody>
      </p:sp>
    </p:spTree>
    <p:extLst>
      <p:ext uri="{BB962C8B-B14F-4D97-AF65-F5344CB8AC3E}">
        <p14:creationId xmlns:p14="http://schemas.microsoft.com/office/powerpoint/2010/main" val="1598116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8DBBB8-5B03-3B2D-9D0D-91E66440F7D9}"/>
              </a:ext>
            </a:extLst>
          </p:cNvPr>
          <p:cNvSpPr>
            <a:spLocks noGrp="1"/>
          </p:cNvSpPr>
          <p:nvPr>
            <p:ph type="title"/>
          </p:nvPr>
        </p:nvSpPr>
        <p:spPr>
          <a:xfrm>
            <a:off x="1539366" y="233553"/>
            <a:ext cx="10274300" cy="307777"/>
          </a:xfrm>
        </p:spPr>
        <p:txBody>
          <a:bodyPr>
            <a:normAutofit/>
          </a:bodyPr>
          <a:lstStyle/>
          <a:p>
            <a:r>
              <a:rPr lang="en-NZ" sz="2000" dirty="0"/>
              <a:t>Assignment 1- Project Scope (high-level requirements) </a:t>
            </a:r>
          </a:p>
        </p:txBody>
      </p:sp>
      <p:sp>
        <p:nvSpPr>
          <p:cNvPr id="4" name="Text Placeholder 3">
            <a:extLst>
              <a:ext uri="{FF2B5EF4-FFF2-40B4-BE49-F238E27FC236}">
                <a16:creationId xmlns:a16="http://schemas.microsoft.com/office/drawing/2014/main" id="{AB402C5F-7F67-8CA3-C196-1D461E692A22}"/>
              </a:ext>
            </a:extLst>
          </p:cNvPr>
          <p:cNvSpPr>
            <a:spLocks noGrp="1"/>
          </p:cNvSpPr>
          <p:nvPr>
            <p:ph type="body" idx="1"/>
          </p:nvPr>
        </p:nvSpPr>
        <p:spPr>
          <a:xfrm>
            <a:off x="1676400" y="990600"/>
            <a:ext cx="10327640" cy="4339650"/>
          </a:xfrm>
        </p:spPr>
        <p:txBody>
          <a:bodyPr>
            <a:normAutofit/>
          </a:bodyPr>
          <a:lstStyle/>
          <a:p>
            <a:pPr algn="just"/>
            <a:r>
              <a:rPr lang="en-NZ" sz="1400" kern="0" dirty="0">
                <a:effectLst/>
                <a:latin typeface="Times New Roman" panose="02020603050405020304" pitchFamily="18" charset="0"/>
                <a:ea typeface="Times New Roman" panose="02020603050405020304" pitchFamily="18" charset="0"/>
              </a:rPr>
              <a:t>The Wiki project requires providing a review of two (2) cloud-based PMS (must not include Microsoft Project). </a:t>
            </a:r>
          </a:p>
          <a:p>
            <a:pPr algn="just"/>
            <a:endParaRPr lang="en-NZ" sz="1800" dirty="0">
              <a:latin typeface="Times New Roman" panose="02020603050405020304" pitchFamily="18" charset="0"/>
              <a:ea typeface="Times New Roman" panose="02020603050405020304" pitchFamily="18" charset="0"/>
            </a:endParaRPr>
          </a:p>
          <a:p>
            <a:pPr algn="just"/>
            <a:r>
              <a:rPr lang="en-NZ" sz="1800" b="1" kern="0" dirty="0">
                <a:effectLst/>
                <a:latin typeface="Times New Roman" panose="02020603050405020304" pitchFamily="18" charset="0"/>
                <a:ea typeface="Times New Roman" panose="02020603050405020304" pitchFamily="18" charset="0"/>
              </a:rPr>
              <a:t>Functional requirements </a:t>
            </a:r>
          </a:p>
          <a:p>
            <a:pPr algn="just"/>
            <a:endParaRPr lang="en-NZ" sz="1400" dirty="0">
              <a:highlight>
                <a:srgbClr val="00FFFF"/>
              </a:highlight>
              <a:latin typeface="Times New Roman" panose="02020603050405020304" pitchFamily="18" charset="0"/>
              <a:ea typeface="Times New Roman" panose="02020603050405020304" pitchFamily="18" charset="0"/>
            </a:endParaRPr>
          </a:p>
          <a:p>
            <a:pPr algn="just"/>
            <a:r>
              <a:rPr lang="en-NZ" sz="1400" kern="0" dirty="0">
                <a:effectLst/>
                <a:latin typeface="Times New Roman" panose="02020603050405020304" pitchFamily="18" charset="0"/>
                <a:ea typeface="Times New Roman" panose="02020603050405020304" pitchFamily="18" charset="0"/>
              </a:rPr>
              <a:t>1. Your project team must provide the criteria in the Wiki that your team has used to identify the two most suitable PMS for the R&amp;D students. </a:t>
            </a:r>
          </a:p>
          <a:p>
            <a:pPr algn="just"/>
            <a:endParaRPr lang="en-NZ" sz="1400" kern="0" dirty="0">
              <a:effectLst/>
              <a:latin typeface="Times New Roman" panose="02020603050405020304" pitchFamily="18" charset="0"/>
              <a:ea typeface="Times New Roman" panose="02020603050405020304" pitchFamily="18" charset="0"/>
            </a:endParaRPr>
          </a:p>
          <a:p>
            <a:pPr algn="just"/>
            <a:r>
              <a:rPr lang="en-NZ" sz="1400" kern="0" dirty="0">
                <a:effectLst/>
                <a:latin typeface="Times New Roman" panose="02020603050405020304" pitchFamily="18" charset="0"/>
                <a:ea typeface="Times New Roman" panose="02020603050405020304" pitchFamily="18" charset="0"/>
              </a:rPr>
              <a:t>2. For the two selected PMS, the wiki must describe and compare at least one key feature/functionality across each of the process groups of Initiating, Planning, Executing,</a:t>
            </a:r>
            <a:r>
              <a:rPr lang="en-NZ" sz="1400" b="1" u="sng" kern="0" dirty="0">
                <a:effectLst/>
                <a:latin typeface="Times New Roman" panose="02020603050405020304" pitchFamily="18" charset="0"/>
                <a:ea typeface="Times New Roman" panose="02020603050405020304" pitchFamily="18" charset="0"/>
              </a:rPr>
              <a:t> </a:t>
            </a:r>
            <a:r>
              <a:rPr lang="en-NZ" sz="1400" kern="0" dirty="0">
                <a:effectLst/>
                <a:latin typeface="Times New Roman" panose="02020603050405020304" pitchFamily="18" charset="0"/>
                <a:ea typeface="Times New Roman" panose="02020603050405020304" pitchFamily="18" charset="0"/>
              </a:rPr>
              <a:t>Monitoring/Controlling, and Closing projects. You may have to investigate Microsoft Project 2019 for its features and functionalities to be able to identify elements that you will use to provide information on and compare the two cloud-based PMS</a:t>
            </a:r>
          </a:p>
          <a:p>
            <a:pPr algn="just"/>
            <a:endParaRPr lang="en-NZ" sz="1400" kern="0" dirty="0">
              <a:effectLst/>
              <a:latin typeface="Times New Roman" panose="02020603050405020304" pitchFamily="18" charset="0"/>
              <a:ea typeface="Times New Roman" panose="02020603050405020304" pitchFamily="18" charset="0"/>
            </a:endParaRPr>
          </a:p>
          <a:p>
            <a:pPr algn="just"/>
            <a:r>
              <a:rPr lang="en-NZ" sz="1400" kern="0" dirty="0">
                <a:effectLst/>
                <a:latin typeface="Times New Roman" panose="02020603050405020304" pitchFamily="18" charset="0"/>
                <a:ea typeface="Times New Roman" panose="02020603050405020304" pitchFamily="18" charset="0"/>
              </a:rPr>
              <a:t>3. The Wiki must be supported by </a:t>
            </a:r>
            <a:r>
              <a:rPr lang="en-NZ" sz="1400" kern="0" dirty="0">
                <a:solidFill>
                  <a:srgbClr val="000000"/>
                </a:solidFill>
                <a:effectLst/>
                <a:latin typeface="Times New Roman" panose="02020603050405020304" pitchFamily="18" charset="0"/>
                <a:ea typeface="Times New Roman" panose="02020603050405020304" pitchFamily="18" charset="0"/>
              </a:rPr>
              <a:t>related materials sourced from trusted public domain resources and academic journals. </a:t>
            </a:r>
          </a:p>
          <a:p>
            <a:pPr algn="just"/>
            <a:endParaRPr lang="en-NZ" sz="1400" dirty="0">
              <a:solidFill>
                <a:srgbClr val="000000"/>
              </a:solidFill>
              <a:highlight>
                <a:srgbClr val="808000"/>
              </a:highligh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The word length of this Wiki project (information on two PMS) is expected to be no more than 4,500 words.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Non-functional requirements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400" kern="0" dirty="0">
                <a:solidFill>
                  <a:srgbClr val="000000"/>
                </a:solidFill>
                <a:effectLst/>
                <a:latin typeface="Times New Roman" panose="02020603050405020304" pitchFamily="18" charset="0"/>
                <a:ea typeface="Times New Roman" panose="02020603050405020304" pitchFamily="18" charset="0"/>
              </a:rPr>
              <a:t>1. SECMS expects a very high-quality Wiki. Hence, your team must identify and clearly state the quality goals in the scope statement document.</a:t>
            </a:r>
            <a:endParaRPr lang="en-NZ" sz="1400" dirty="0">
              <a:effectLst/>
              <a:latin typeface="Verdana" panose="020B0604030504040204" pitchFamily="34" charset="0"/>
              <a:ea typeface="Times New Roman" panose="02020603050405020304" pitchFamily="18" charset="0"/>
              <a:cs typeface="Times New Roman" panose="02020603050405020304" pitchFamily="18" charset="0"/>
            </a:endParaRPr>
          </a:p>
          <a:p>
            <a:endParaRPr lang="en-NZ" dirty="0"/>
          </a:p>
        </p:txBody>
      </p:sp>
    </p:spTree>
    <p:extLst>
      <p:ext uri="{BB962C8B-B14F-4D97-AF65-F5344CB8AC3E}">
        <p14:creationId xmlns:p14="http://schemas.microsoft.com/office/powerpoint/2010/main" val="2723730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8DBBB8-5B03-3B2D-9D0D-91E66440F7D9}"/>
              </a:ext>
            </a:extLst>
          </p:cNvPr>
          <p:cNvSpPr>
            <a:spLocks noGrp="1"/>
          </p:cNvSpPr>
          <p:nvPr>
            <p:ph type="title"/>
          </p:nvPr>
        </p:nvSpPr>
        <p:spPr>
          <a:xfrm>
            <a:off x="1539366" y="233553"/>
            <a:ext cx="10274300" cy="307777"/>
          </a:xfrm>
        </p:spPr>
        <p:txBody>
          <a:bodyPr>
            <a:normAutofit/>
          </a:bodyPr>
          <a:lstStyle/>
          <a:p>
            <a:r>
              <a:rPr lang="en-NZ" sz="2000" dirty="0"/>
              <a:t>Assignment 1- high-level requirements </a:t>
            </a:r>
          </a:p>
        </p:txBody>
      </p:sp>
      <p:sp>
        <p:nvSpPr>
          <p:cNvPr id="4" name="Text Placeholder 3">
            <a:extLst>
              <a:ext uri="{FF2B5EF4-FFF2-40B4-BE49-F238E27FC236}">
                <a16:creationId xmlns:a16="http://schemas.microsoft.com/office/drawing/2014/main" id="{AB402C5F-7F67-8CA3-C196-1D461E692A22}"/>
              </a:ext>
            </a:extLst>
          </p:cNvPr>
          <p:cNvSpPr>
            <a:spLocks noGrp="1"/>
          </p:cNvSpPr>
          <p:nvPr>
            <p:ph type="body" idx="1"/>
          </p:nvPr>
        </p:nvSpPr>
        <p:spPr>
          <a:xfrm>
            <a:off x="1447800" y="762000"/>
            <a:ext cx="10556240" cy="4401205"/>
          </a:xfrm>
        </p:spPr>
        <p:txBody>
          <a:bodyPr>
            <a:normAutofit lnSpcReduction="10000"/>
          </a:bodyPr>
          <a:lstStyle/>
          <a:p>
            <a:pPr algn="just"/>
            <a:r>
              <a:rPr lang="en-NZ" sz="1800" b="1" kern="0" dirty="0">
                <a:effectLst/>
                <a:latin typeface="Times New Roman" panose="02020603050405020304" pitchFamily="18" charset="0"/>
                <a:ea typeface="Times New Roman" panose="02020603050405020304" pitchFamily="18" charset="0"/>
              </a:rPr>
              <a:t>Must properly be captured as high-level requirements based on certain rules </a:t>
            </a:r>
          </a:p>
          <a:p>
            <a:pPr algn="just"/>
            <a:r>
              <a:rPr lang="en-NZ" sz="1800" b="1" dirty="0"/>
              <a:t>- </a:t>
            </a:r>
            <a:r>
              <a:rPr lang="en-NZ" sz="1800" b="1" dirty="0">
                <a:latin typeface="Calibri"/>
                <a:cs typeface="Calibri"/>
              </a:rPr>
              <a:t>Shall</a:t>
            </a:r>
            <a:r>
              <a:rPr lang="en-NZ" sz="1800" dirty="0">
                <a:latin typeface="Calibri"/>
                <a:cs typeface="Calibri"/>
              </a:rPr>
              <a:t>,</a:t>
            </a:r>
            <a:r>
              <a:rPr lang="en-NZ" sz="1800" spc="-60" dirty="0">
                <a:latin typeface="Calibri"/>
                <a:cs typeface="Calibri"/>
              </a:rPr>
              <a:t> </a:t>
            </a:r>
            <a:r>
              <a:rPr lang="en-NZ" sz="1800" b="1" dirty="0">
                <a:latin typeface="Calibri"/>
                <a:cs typeface="Calibri"/>
              </a:rPr>
              <a:t>Will</a:t>
            </a:r>
            <a:r>
              <a:rPr lang="en-NZ" sz="1800" dirty="0">
                <a:latin typeface="Calibri"/>
                <a:cs typeface="Calibri"/>
              </a:rPr>
              <a:t>,</a:t>
            </a:r>
            <a:r>
              <a:rPr lang="en-NZ" sz="1800" spc="-50" dirty="0">
                <a:latin typeface="Calibri"/>
                <a:cs typeface="Calibri"/>
              </a:rPr>
              <a:t> </a:t>
            </a:r>
            <a:r>
              <a:rPr lang="en-NZ" sz="1800" dirty="0">
                <a:latin typeface="Calibri"/>
                <a:cs typeface="Calibri"/>
              </a:rPr>
              <a:t>and</a:t>
            </a:r>
            <a:r>
              <a:rPr lang="en-NZ" sz="1800" spc="-70" dirty="0">
                <a:latin typeface="Calibri"/>
                <a:cs typeface="Calibri"/>
              </a:rPr>
              <a:t> </a:t>
            </a:r>
            <a:r>
              <a:rPr lang="en-NZ" sz="1800" b="1" dirty="0">
                <a:latin typeface="Calibri"/>
                <a:cs typeface="Calibri"/>
              </a:rPr>
              <a:t>Should</a:t>
            </a:r>
            <a:r>
              <a:rPr lang="en-NZ" sz="1800" b="1" spc="-55" dirty="0">
                <a:latin typeface="Calibri"/>
                <a:cs typeface="Calibri"/>
              </a:rPr>
              <a:t> </a:t>
            </a:r>
            <a:r>
              <a:rPr lang="en-NZ" sz="1800" dirty="0">
                <a:latin typeface="Calibri"/>
                <a:cs typeface="Calibri"/>
              </a:rPr>
              <a:t>is</a:t>
            </a:r>
            <a:r>
              <a:rPr lang="en-NZ" sz="1800" spc="-55" dirty="0">
                <a:latin typeface="Calibri"/>
                <a:cs typeface="Calibri"/>
              </a:rPr>
              <a:t> </a:t>
            </a:r>
            <a:r>
              <a:rPr lang="en-NZ" sz="1800" dirty="0">
                <a:latin typeface="Calibri"/>
                <a:cs typeface="Calibri"/>
              </a:rPr>
              <a:t>the</a:t>
            </a:r>
            <a:r>
              <a:rPr lang="en-NZ" sz="1800" spc="-50" dirty="0">
                <a:latin typeface="Calibri"/>
                <a:cs typeface="Calibri"/>
              </a:rPr>
              <a:t> </a:t>
            </a:r>
            <a:r>
              <a:rPr lang="en-NZ" sz="1800" spc="-10" dirty="0">
                <a:latin typeface="Calibri"/>
                <a:cs typeface="Calibri"/>
              </a:rPr>
              <a:t>standard</a:t>
            </a:r>
            <a:r>
              <a:rPr lang="en-NZ" sz="1800" spc="-85" dirty="0">
                <a:latin typeface="Calibri"/>
                <a:cs typeface="Calibri"/>
              </a:rPr>
              <a:t> </a:t>
            </a:r>
            <a:r>
              <a:rPr lang="en-NZ" sz="1800" spc="-10" dirty="0">
                <a:latin typeface="Calibri"/>
                <a:cs typeface="Calibri"/>
              </a:rPr>
              <a:t>requirements</a:t>
            </a:r>
            <a:r>
              <a:rPr lang="en-NZ" sz="1800" spc="-40" dirty="0">
                <a:latin typeface="Calibri"/>
                <a:cs typeface="Calibri"/>
              </a:rPr>
              <a:t> </a:t>
            </a:r>
            <a:r>
              <a:rPr lang="en-NZ" sz="1800" spc="-10" dirty="0">
                <a:latin typeface="Calibri"/>
                <a:cs typeface="Calibri"/>
              </a:rPr>
              <a:t>terminology</a:t>
            </a:r>
            <a:endParaRPr lang="en-NZ" sz="1800" dirty="0">
              <a:latin typeface="Calibri"/>
              <a:cs typeface="Calibri"/>
            </a:endParaRPr>
          </a:p>
          <a:p>
            <a:pPr algn="just"/>
            <a:endParaRPr lang="en-NZ" sz="1800" b="1" kern="0" dirty="0">
              <a:effectLst/>
              <a:latin typeface="Times New Roman" panose="02020603050405020304" pitchFamily="18" charset="0"/>
              <a:ea typeface="Times New Roman" panose="02020603050405020304" pitchFamily="18" charset="0"/>
            </a:endParaRPr>
          </a:p>
          <a:p>
            <a:pPr algn="just"/>
            <a:r>
              <a:rPr lang="en-NZ" sz="1800" b="1" kern="0" dirty="0">
                <a:effectLst/>
                <a:latin typeface="Times New Roman" panose="02020603050405020304" pitchFamily="18" charset="0"/>
                <a:ea typeface="Times New Roman" panose="02020603050405020304" pitchFamily="18" charset="0"/>
              </a:rPr>
              <a:t>Functional requirements </a:t>
            </a:r>
          </a:p>
          <a:p>
            <a:pPr algn="just"/>
            <a:endParaRPr lang="en-NZ" sz="1400" dirty="0">
              <a:highlight>
                <a:srgbClr val="00FFFF"/>
              </a:highlight>
              <a:latin typeface="Times New Roman" panose="02020603050405020304" pitchFamily="18" charset="0"/>
              <a:ea typeface="Times New Roman" panose="02020603050405020304" pitchFamily="18" charset="0"/>
            </a:endParaRPr>
          </a:p>
          <a:p>
            <a:pPr algn="just"/>
            <a:r>
              <a:rPr lang="en-NZ" sz="1400" kern="0" dirty="0">
                <a:effectLst/>
                <a:latin typeface="Times New Roman" panose="02020603050405020304" pitchFamily="18" charset="0"/>
                <a:ea typeface="Times New Roman" panose="02020603050405020304" pitchFamily="18" charset="0"/>
              </a:rPr>
              <a:t>1. The Wiki </a:t>
            </a:r>
            <a:r>
              <a:rPr lang="en-NZ" sz="1400" b="1" u="sng" kern="0" dirty="0">
                <a:effectLst/>
                <a:latin typeface="Times New Roman" panose="02020603050405020304" pitchFamily="18" charset="0"/>
                <a:ea typeface="Times New Roman" panose="02020603050405020304" pitchFamily="18" charset="0"/>
              </a:rPr>
              <a:t>shall</a:t>
            </a:r>
            <a:r>
              <a:rPr lang="en-NZ" sz="1400" kern="0" dirty="0">
                <a:effectLst/>
                <a:latin typeface="Times New Roman" panose="02020603050405020304" pitchFamily="18" charset="0"/>
                <a:ea typeface="Times New Roman" panose="02020603050405020304" pitchFamily="18" charset="0"/>
              </a:rPr>
              <a:t> provide the criteria used to identify the two most suitable PMS for the R&amp;D students.</a:t>
            </a:r>
          </a:p>
          <a:p>
            <a:pPr algn="just"/>
            <a:endParaRPr lang="en-NZ" sz="1400" kern="0" dirty="0">
              <a:effectLst/>
              <a:latin typeface="Times New Roman" panose="02020603050405020304" pitchFamily="18" charset="0"/>
              <a:ea typeface="Times New Roman" panose="02020603050405020304" pitchFamily="18" charset="0"/>
            </a:endParaRPr>
          </a:p>
          <a:p>
            <a:pPr algn="just"/>
            <a:r>
              <a:rPr lang="en-NZ" sz="1400" kern="0" dirty="0">
                <a:effectLst/>
                <a:latin typeface="Times New Roman" panose="02020603050405020304" pitchFamily="18" charset="0"/>
                <a:ea typeface="Times New Roman" panose="02020603050405020304" pitchFamily="18" charset="0"/>
              </a:rPr>
              <a:t>2. For the two PMS, the wiki </a:t>
            </a:r>
            <a:r>
              <a:rPr lang="en-NZ" sz="1400" b="1" u="sng" kern="0" dirty="0">
                <a:effectLst/>
                <a:latin typeface="Times New Roman" panose="02020603050405020304" pitchFamily="18" charset="0"/>
                <a:ea typeface="Times New Roman" panose="02020603050405020304" pitchFamily="18" charset="0"/>
              </a:rPr>
              <a:t>should</a:t>
            </a:r>
            <a:r>
              <a:rPr lang="en-NZ" sz="1400" kern="0" dirty="0">
                <a:effectLst/>
                <a:latin typeface="Times New Roman" panose="02020603050405020304" pitchFamily="18" charset="0"/>
                <a:ea typeface="Times New Roman" panose="02020603050405020304" pitchFamily="18" charset="0"/>
              </a:rPr>
              <a:t> describe and compare at least one key feature/functionality across each of the process groups of Initiating, Planning, Executing,</a:t>
            </a:r>
            <a:r>
              <a:rPr lang="en-NZ" sz="1400" b="1" u="sng" kern="0" dirty="0">
                <a:effectLst/>
                <a:latin typeface="Times New Roman" panose="02020603050405020304" pitchFamily="18" charset="0"/>
                <a:ea typeface="Times New Roman" panose="02020603050405020304" pitchFamily="18" charset="0"/>
              </a:rPr>
              <a:t> </a:t>
            </a:r>
            <a:r>
              <a:rPr lang="en-NZ" sz="1400" kern="0" dirty="0">
                <a:effectLst/>
                <a:latin typeface="Times New Roman" panose="02020603050405020304" pitchFamily="18" charset="0"/>
                <a:ea typeface="Times New Roman" panose="02020603050405020304" pitchFamily="18" charset="0"/>
              </a:rPr>
              <a:t>Monitoring/Controlling, and Closing projects based on Microsoft Project 2019 features and functionalities </a:t>
            </a:r>
          </a:p>
          <a:p>
            <a:pPr algn="just"/>
            <a:endParaRPr lang="en-NZ" sz="1400" dirty="0">
              <a:latin typeface="Times New Roman" panose="02020603050405020304" pitchFamily="18" charset="0"/>
              <a:ea typeface="Times New Roman" panose="02020603050405020304" pitchFamily="18" charset="0"/>
            </a:endParaRPr>
          </a:p>
          <a:p>
            <a:pPr algn="just"/>
            <a:r>
              <a:rPr lang="en-NZ" sz="1400" kern="0" dirty="0">
                <a:effectLst/>
                <a:latin typeface="Times New Roman" panose="02020603050405020304" pitchFamily="18" charset="0"/>
                <a:ea typeface="Times New Roman" panose="02020603050405020304" pitchFamily="18" charset="0"/>
              </a:rPr>
              <a:t>3. The Wiki </a:t>
            </a:r>
            <a:r>
              <a:rPr lang="en-NZ" sz="1400" b="1" u="sng" kern="0" dirty="0">
                <a:effectLst/>
                <a:latin typeface="Times New Roman" panose="02020603050405020304" pitchFamily="18" charset="0"/>
                <a:ea typeface="Times New Roman" panose="02020603050405020304" pitchFamily="18" charset="0"/>
              </a:rPr>
              <a:t>should</a:t>
            </a:r>
            <a:r>
              <a:rPr lang="en-NZ" sz="1400" kern="0" dirty="0">
                <a:effectLst/>
                <a:latin typeface="Times New Roman" panose="02020603050405020304" pitchFamily="18" charset="0"/>
                <a:ea typeface="Times New Roman" panose="02020603050405020304" pitchFamily="18" charset="0"/>
              </a:rPr>
              <a:t> be supported by </a:t>
            </a:r>
            <a:r>
              <a:rPr lang="en-NZ" sz="1400" kern="0" dirty="0">
                <a:solidFill>
                  <a:srgbClr val="000000"/>
                </a:solidFill>
                <a:effectLst/>
                <a:latin typeface="Times New Roman" panose="02020603050405020304" pitchFamily="18" charset="0"/>
                <a:ea typeface="Times New Roman" panose="02020603050405020304" pitchFamily="18" charset="0"/>
              </a:rPr>
              <a:t>related materials sourced from trusted public domain resources and academic journals. </a:t>
            </a:r>
          </a:p>
          <a:p>
            <a:pPr algn="just"/>
            <a:endParaRPr lang="en-NZ" sz="1400" dirty="0">
              <a:solidFill>
                <a:srgbClr val="000000"/>
              </a:solidFill>
              <a:highlight>
                <a:srgbClr val="808000"/>
              </a:highligh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The word length of this Wiki project (information on two PMS) </a:t>
            </a:r>
            <a:r>
              <a:rPr lang="en-NZ" sz="1400" b="1"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will </a:t>
            </a:r>
            <a:r>
              <a:rPr lang="en-NZ" sz="1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 no more than 4,500 words.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Non-functional requirements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AutoNum type="arabicPeriod"/>
            </a:pPr>
            <a:r>
              <a:rPr lang="en-NZ" sz="1400" kern="0" dirty="0">
                <a:solidFill>
                  <a:srgbClr val="000000"/>
                </a:solidFill>
                <a:effectLst/>
                <a:latin typeface="Times New Roman" panose="02020603050405020304" pitchFamily="18" charset="0"/>
                <a:ea typeface="Times New Roman" panose="02020603050405020304" pitchFamily="18" charset="0"/>
              </a:rPr>
              <a:t>The Wiki </a:t>
            </a:r>
            <a:r>
              <a:rPr lang="en-NZ" sz="1400" b="1" u="sng" kern="0" dirty="0">
                <a:solidFill>
                  <a:srgbClr val="000000"/>
                </a:solidFill>
                <a:effectLst/>
                <a:latin typeface="Times New Roman" panose="02020603050405020304" pitchFamily="18" charset="0"/>
                <a:ea typeface="Times New Roman" panose="02020603050405020304" pitchFamily="18" charset="0"/>
              </a:rPr>
              <a:t>should </a:t>
            </a:r>
            <a:r>
              <a:rPr lang="en-NZ" sz="1400" kern="0" dirty="0">
                <a:solidFill>
                  <a:srgbClr val="000000"/>
                </a:solidFill>
                <a:effectLst/>
                <a:latin typeface="Times New Roman" panose="02020603050405020304" pitchFamily="18" charset="0"/>
                <a:ea typeface="Times New Roman" panose="02020603050405020304" pitchFamily="18" charset="0"/>
              </a:rPr>
              <a:t>be easy to read and understand (high quality- usability). </a:t>
            </a:r>
          </a:p>
          <a:p>
            <a:pPr algn="just"/>
            <a:endParaRPr lang="en-NZ" sz="1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NZ" sz="2400" dirty="0">
                <a:solidFill>
                  <a:srgbClr val="000000"/>
                </a:solidFill>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Copy and paste the above in your scope statement document and fill in the rest of the sections </a:t>
            </a:r>
            <a:endParaRPr lang="en-NZ" sz="2400" dirty="0">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endParaRPr>
          </a:p>
          <a:p>
            <a:endParaRPr lang="en-NZ" sz="3200" dirty="0"/>
          </a:p>
          <a:p>
            <a:endParaRPr lang="en-NZ" dirty="0"/>
          </a:p>
          <a:p>
            <a:endParaRPr lang="en-NZ" dirty="0"/>
          </a:p>
        </p:txBody>
      </p:sp>
    </p:spTree>
    <p:extLst>
      <p:ext uri="{BB962C8B-B14F-4D97-AF65-F5344CB8AC3E}">
        <p14:creationId xmlns:p14="http://schemas.microsoft.com/office/powerpoint/2010/main" val="2941665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59740"/>
            <a:ext cx="8474075" cy="697230"/>
          </a:xfrm>
          <a:prstGeom prst="rect">
            <a:avLst/>
          </a:prstGeom>
        </p:spPr>
        <p:txBody>
          <a:bodyPr vert="horz" wrap="square" lIns="0" tIns="13335" rIns="0" bIns="0" rtlCol="0">
            <a:spAutoFit/>
          </a:bodyPr>
          <a:lstStyle/>
          <a:p>
            <a:pPr marL="12700">
              <a:lnSpc>
                <a:spcPct val="100000"/>
              </a:lnSpc>
              <a:spcBef>
                <a:spcPts val="105"/>
              </a:spcBef>
            </a:pPr>
            <a:r>
              <a:rPr dirty="0"/>
              <a:t>Examples</a:t>
            </a:r>
            <a:r>
              <a:rPr spc="-80" dirty="0"/>
              <a:t> </a:t>
            </a:r>
            <a:r>
              <a:rPr dirty="0"/>
              <a:t>of</a:t>
            </a:r>
            <a:r>
              <a:rPr spc="-50" dirty="0"/>
              <a:t> </a:t>
            </a:r>
            <a:r>
              <a:rPr spc="-10" dirty="0"/>
              <a:t>high-</a:t>
            </a:r>
            <a:r>
              <a:rPr dirty="0"/>
              <a:t>level</a:t>
            </a:r>
            <a:r>
              <a:rPr spc="-60" dirty="0"/>
              <a:t> </a:t>
            </a:r>
            <a:r>
              <a:rPr spc="-10" dirty="0"/>
              <a:t>requirements</a:t>
            </a:r>
          </a:p>
        </p:txBody>
      </p:sp>
      <p:sp>
        <p:nvSpPr>
          <p:cNvPr id="3" name="object 3"/>
          <p:cNvSpPr txBox="1"/>
          <p:nvPr/>
        </p:nvSpPr>
        <p:spPr>
          <a:xfrm>
            <a:off x="1539366" y="1368297"/>
            <a:ext cx="10323195" cy="2406300"/>
          </a:xfrm>
          <a:prstGeom prst="rect">
            <a:avLst/>
          </a:prstGeom>
        </p:spPr>
        <p:txBody>
          <a:bodyPr vert="horz" wrap="square" lIns="0" tIns="13335" rIns="0" bIns="0" rtlCol="0">
            <a:spAutoFit/>
          </a:bodyPr>
          <a:lstStyle/>
          <a:p>
            <a:pPr marL="240665" indent="-227965">
              <a:lnSpc>
                <a:spcPct val="100000"/>
              </a:lnSpc>
              <a:spcBef>
                <a:spcPts val="105"/>
              </a:spcBef>
              <a:buClr>
                <a:srgbClr val="F5821F"/>
              </a:buClr>
              <a:buFont typeface="Arial"/>
              <a:buChar char="•"/>
              <a:tabLst>
                <a:tab pos="240665" algn="l"/>
              </a:tabLst>
            </a:pPr>
            <a:r>
              <a:rPr sz="2600" dirty="0">
                <a:latin typeface="Calibri"/>
                <a:cs typeface="Calibri"/>
              </a:rPr>
              <a:t>Functional</a:t>
            </a:r>
            <a:r>
              <a:rPr sz="2600" spc="-40" dirty="0">
                <a:latin typeface="Calibri"/>
                <a:cs typeface="Calibri"/>
              </a:rPr>
              <a:t> </a:t>
            </a:r>
            <a:r>
              <a:rPr sz="2600" spc="-10" dirty="0">
                <a:latin typeface="Calibri"/>
                <a:cs typeface="Calibri"/>
              </a:rPr>
              <a:t>requirements-</a:t>
            </a:r>
            <a:r>
              <a:rPr sz="2600" spc="-50" dirty="0">
                <a:latin typeface="Calibri"/>
                <a:cs typeface="Calibri"/>
              </a:rPr>
              <a:t> </a:t>
            </a:r>
            <a:r>
              <a:rPr sz="2600" spc="-10" dirty="0">
                <a:highlight>
                  <a:srgbClr val="FFFF00"/>
                </a:highlight>
                <a:latin typeface="Calibri"/>
                <a:cs typeface="Calibri"/>
              </a:rPr>
              <a:t>features</a:t>
            </a:r>
            <a:r>
              <a:rPr sz="2600" spc="-60" dirty="0">
                <a:highlight>
                  <a:srgbClr val="FFFF00"/>
                </a:highlight>
                <a:latin typeface="Calibri"/>
                <a:cs typeface="Calibri"/>
              </a:rPr>
              <a:t> </a:t>
            </a:r>
            <a:r>
              <a:rPr sz="2600" dirty="0">
                <a:highlight>
                  <a:srgbClr val="FFFF00"/>
                </a:highlight>
                <a:latin typeface="Calibri"/>
                <a:cs typeface="Calibri"/>
              </a:rPr>
              <a:t>of</a:t>
            </a:r>
            <a:r>
              <a:rPr sz="2600" spc="-20" dirty="0">
                <a:highlight>
                  <a:srgbClr val="FFFF00"/>
                </a:highlight>
                <a:latin typeface="Calibri"/>
                <a:cs typeface="Calibri"/>
              </a:rPr>
              <a:t> </a:t>
            </a:r>
            <a:r>
              <a:rPr sz="2600" dirty="0">
                <a:highlight>
                  <a:srgbClr val="FFFF00"/>
                </a:highlight>
                <a:latin typeface="Calibri"/>
                <a:cs typeface="Calibri"/>
              </a:rPr>
              <a:t>a</a:t>
            </a:r>
            <a:r>
              <a:rPr sz="2600" spc="-20" dirty="0">
                <a:highlight>
                  <a:srgbClr val="FFFF00"/>
                </a:highlight>
                <a:latin typeface="Calibri"/>
                <a:cs typeface="Calibri"/>
              </a:rPr>
              <a:t> </a:t>
            </a:r>
            <a:r>
              <a:rPr sz="2600" spc="-10" dirty="0">
                <a:highlight>
                  <a:srgbClr val="FFFF00"/>
                </a:highlight>
                <a:latin typeface="Calibri"/>
                <a:cs typeface="Calibri"/>
              </a:rPr>
              <a:t>system</a:t>
            </a:r>
            <a:r>
              <a:rPr sz="2600" spc="-10" dirty="0">
                <a:latin typeface="Calibri"/>
                <a:cs typeface="Calibri"/>
              </a:rPr>
              <a:t>.</a:t>
            </a:r>
            <a:r>
              <a:rPr sz="2600" spc="-55" dirty="0">
                <a:latin typeface="Calibri"/>
                <a:cs typeface="Calibri"/>
              </a:rPr>
              <a:t> </a:t>
            </a:r>
            <a:r>
              <a:rPr sz="2600" spc="-10" dirty="0">
                <a:latin typeface="Calibri"/>
                <a:cs typeface="Calibri"/>
              </a:rPr>
              <a:t>Example:</a:t>
            </a:r>
            <a:endParaRPr sz="2600" dirty="0">
              <a:latin typeface="Calibri"/>
              <a:cs typeface="Calibri"/>
            </a:endParaRPr>
          </a:p>
          <a:p>
            <a:pPr marL="913130" marR="403225" indent="-508000">
              <a:lnSpc>
                <a:spcPts val="1820"/>
              </a:lnSpc>
              <a:spcBef>
                <a:spcPts val="515"/>
              </a:spcBef>
              <a:tabLst>
                <a:tab pos="913130" algn="l"/>
              </a:tabLst>
            </a:pPr>
            <a:r>
              <a:rPr sz="1900" spc="-25" dirty="0">
                <a:latin typeface="Calibri"/>
                <a:cs typeface="Calibri"/>
              </a:rPr>
              <a:t>R1.</a:t>
            </a:r>
            <a:r>
              <a:rPr sz="1900" dirty="0">
                <a:latin typeface="Calibri"/>
                <a:cs typeface="Calibri"/>
              </a:rPr>
              <a:t>	The</a:t>
            </a:r>
            <a:r>
              <a:rPr sz="1900" spc="-40" dirty="0">
                <a:latin typeface="Calibri"/>
                <a:cs typeface="Calibri"/>
              </a:rPr>
              <a:t> </a:t>
            </a:r>
            <a:r>
              <a:rPr sz="1900" spc="-10" dirty="0">
                <a:latin typeface="Calibri"/>
                <a:cs typeface="Calibri"/>
              </a:rPr>
              <a:t>Background</a:t>
            </a:r>
            <a:r>
              <a:rPr sz="1900" spc="-25" dirty="0">
                <a:latin typeface="Calibri"/>
                <a:cs typeface="Calibri"/>
              </a:rPr>
              <a:t> </a:t>
            </a:r>
            <a:r>
              <a:rPr sz="1900" spc="-30" dirty="0">
                <a:latin typeface="Calibri"/>
                <a:cs typeface="Calibri"/>
              </a:rPr>
              <a:t>Task</a:t>
            </a:r>
            <a:r>
              <a:rPr sz="1900" spc="-55" dirty="0">
                <a:latin typeface="Calibri"/>
                <a:cs typeface="Calibri"/>
              </a:rPr>
              <a:t> </a:t>
            </a:r>
            <a:r>
              <a:rPr sz="1900" dirty="0">
                <a:latin typeface="Calibri"/>
                <a:cs typeface="Calibri"/>
              </a:rPr>
              <a:t>Manager</a:t>
            </a:r>
            <a:r>
              <a:rPr sz="1900" spc="-20" dirty="0">
                <a:latin typeface="Calibri"/>
                <a:cs typeface="Calibri"/>
              </a:rPr>
              <a:t> </a:t>
            </a:r>
            <a:r>
              <a:rPr sz="1900" u="sng" dirty="0">
                <a:uFill>
                  <a:solidFill>
                    <a:srgbClr val="000000"/>
                  </a:solidFill>
                </a:uFill>
                <a:latin typeface="Calibri"/>
                <a:cs typeface="Calibri"/>
              </a:rPr>
              <a:t>shall</a:t>
            </a:r>
            <a:r>
              <a:rPr sz="1900" spc="-55" dirty="0">
                <a:latin typeface="Calibri"/>
                <a:cs typeface="Calibri"/>
              </a:rPr>
              <a:t> </a:t>
            </a:r>
            <a:r>
              <a:rPr sz="1900" dirty="0">
                <a:latin typeface="Calibri"/>
                <a:cs typeface="Calibri"/>
              </a:rPr>
              <a:t>display</a:t>
            </a:r>
            <a:r>
              <a:rPr sz="1900" spc="-30" dirty="0">
                <a:latin typeface="Calibri"/>
                <a:cs typeface="Calibri"/>
              </a:rPr>
              <a:t> </a:t>
            </a:r>
            <a:r>
              <a:rPr sz="1900" spc="-10" dirty="0">
                <a:latin typeface="Calibri"/>
                <a:cs typeface="Calibri"/>
              </a:rPr>
              <a:t>status</a:t>
            </a:r>
            <a:r>
              <a:rPr sz="1900" spc="-45" dirty="0">
                <a:latin typeface="Calibri"/>
                <a:cs typeface="Calibri"/>
              </a:rPr>
              <a:t> </a:t>
            </a:r>
            <a:r>
              <a:rPr sz="1900" spc="-10" dirty="0">
                <a:latin typeface="Calibri"/>
                <a:cs typeface="Calibri"/>
              </a:rPr>
              <a:t>messages</a:t>
            </a:r>
            <a:r>
              <a:rPr sz="1900" spc="-55" dirty="0">
                <a:latin typeface="Calibri"/>
                <a:cs typeface="Calibri"/>
              </a:rPr>
              <a:t> </a:t>
            </a:r>
            <a:r>
              <a:rPr sz="1900" dirty="0">
                <a:latin typeface="Calibri"/>
                <a:cs typeface="Calibri"/>
              </a:rPr>
              <a:t>in</a:t>
            </a:r>
            <a:r>
              <a:rPr sz="1900" spc="-45" dirty="0">
                <a:latin typeface="Calibri"/>
                <a:cs typeface="Calibri"/>
              </a:rPr>
              <a:t> </a:t>
            </a:r>
            <a:r>
              <a:rPr sz="1900" dirty="0">
                <a:latin typeface="Calibri"/>
                <a:cs typeface="Calibri"/>
              </a:rPr>
              <a:t>a</a:t>
            </a:r>
            <a:r>
              <a:rPr sz="1900" spc="-50" dirty="0">
                <a:latin typeface="Calibri"/>
                <a:cs typeface="Calibri"/>
              </a:rPr>
              <a:t> </a:t>
            </a:r>
            <a:r>
              <a:rPr sz="1900" spc="-10" dirty="0">
                <a:latin typeface="Calibri"/>
                <a:cs typeface="Calibri"/>
              </a:rPr>
              <a:t>designated</a:t>
            </a:r>
            <a:r>
              <a:rPr sz="1900" spc="-20" dirty="0">
                <a:latin typeface="Calibri"/>
                <a:cs typeface="Calibri"/>
              </a:rPr>
              <a:t> </a:t>
            </a:r>
            <a:r>
              <a:rPr sz="1900" dirty="0">
                <a:latin typeface="Calibri"/>
                <a:cs typeface="Calibri"/>
              </a:rPr>
              <a:t>area</a:t>
            </a:r>
            <a:r>
              <a:rPr sz="1900" spc="-45" dirty="0">
                <a:latin typeface="Calibri"/>
                <a:cs typeface="Calibri"/>
              </a:rPr>
              <a:t> </a:t>
            </a:r>
            <a:r>
              <a:rPr sz="1900" dirty="0">
                <a:latin typeface="Calibri"/>
                <a:cs typeface="Calibri"/>
              </a:rPr>
              <a:t>of</a:t>
            </a:r>
            <a:r>
              <a:rPr sz="1900" spc="-55" dirty="0">
                <a:latin typeface="Calibri"/>
                <a:cs typeface="Calibri"/>
              </a:rPr>
              <a:t> </a:t>
            </a:r>
            <a:r>
              <a:rPr sz="1900" dirty="0">
                <a:latin typeface="Calibri"/>
                <a:cs typeface="Calibri"/>
              </a:rPr>
              <a:t>the</a:t>
            </a:r>
            <a:r>
              <a:rPr sz="1900" spc="-40" dirty="0">
                <a:latin typeface="Calibri"/>
                <a:cs typeface="Calibri"/>
              </a:rPr>
              <a:t> </a:t>
            </a:r>
            <a:r>
              <a:rPr sz="1900" spc="-20" dirty="0">
                <a:latin typeface="Calibri"/>
                <a:cs typeface="Calibri"/>
              </a:rPr>
              <a:t>user </a:t>
            </a:r>
            <a:r>
              <a:rPr sz="1900" spc="-10" dirty="0">
                <a:latin typeface="Calibri"/>
                <a:cs typeface="Calibri"/>
              </a:rPr>
              <a:t>interface</a:t>
            </a:r>
            <a:r>
              <a:rPr sz="1900" spc="-40" dirty="0">
                <a:latin typeface="Calibri"/>
                <a:cs typeface="Calibri"/>
              </a:rPr>
              <a:t> </a:t>
            </a:r>
            <a:r>
              <a:rPr sz="1900" dirty="0">
                <a:latin typeface="Calibri"/>
                <a:cs typeface="Calibri"/>
              </a:rPr>
              <a:t>at</a:t>
            </a:r>
            <a:r>
              <a:rPr sz="1900" spc="-45" dirty="0">
                <a:latin typeface="Calibri"/>
                <a:cs typeface="Calibri"/>
              </a:rPr>
              <a:t> </a:t>
            </a:r>
            <a:r>
              <a:rPr sz="1900" spc="-10" dirty="0">
                <a:latin typeface="Calibri"/>
                <a:cs typeface="Calibri"/>
              </a:rPr>
              <a:t>intervals</a:t>
            </a:r>
            <a:r>
              <a:rPr sz="1900" spc="-20" dirty="0">
                <a:latin typeface="Calibri"/>
                <a:cs typeface="Calibri"/>
              </a:rPr>
              <a:t> </a:t>
            </a:r>
            <a:r>
              <a:rPr sz="1900" dirty="0">
                <a:latin typeface="Calibri"/>
                <a:cs typeface="Calibri"/>
              </a:rPr>
              <a:t>of</a:t>
            </a:r>
            <a:r>
              <a:rPr sz="1900" spc="-45" dirty="0">
                <a:latin typeface="Calibri"/>
                <a:cs typeface="Calibri"/>
              </a:rPr>
              <a:t> </a:t>
            </a:r>
            <a:r>
              <a:rPr sz="1900" dirty="0">
                <a:latin typeface="Calibri"/>
                <a:cs typeface="Calibri"/>
              </a:rPr>
              <a:t>60</a:t>
            </a:r>
            <a:r>
              <a:rPr sz="1900" spc="-55" dirty="0">
                <a:latin typeface="Calibri"/>
                <a:cs typeface="Calibri"/>
              </a:rPr>
              <a:t> </a:t>
            </a:r>
            <a:r>
              <a:rPr sz="1900" spc="-10" dirty="0">
                <a:latin typeface="Calibri"/>
                <a:cs typeface="Calibri"/>
              </a:rPr>
              <a:t>seconds.</a:t>
            </a:r>
            <a:endParaRPr sz="1900" dirty="0">
              <a:latin typeface="Calibri"/>
              <a:cs typeface="Calibri"/>
            </a:endParaRPr>
          </a:p>
          <a:p>
            <a:pPr marL="405765" marR="5080">
              <a:lnSpc>
                <a:spcPct val="80000"/>
              </a:lnSpc>
              <a:spcBef>
                <a:spcPts val="515"/>
              </a:spcBef>
              <a:tabLst>
                <a:tab pos="927100" algn="l"/>
                <a:tab pos="9157335" algn="l"/>
              </a:tabLst>
            </a:pPr>
            <a:r>
              <a:rPr sz="1900" spc="-25" dirty="0">
                <a:latin typeface="Calibri"/>
                <a:cs typeface="Calibri"/>
              </a:rPr>
              <a:t>R2.</a:t>
            </a:r>
            <a:r>
              <a:rPr sz="1900" dirty="0">
                <a:latin typeface="Calibri"/>
                <a:cs typeface="Calibri"/>
              </a:rPr>
              <a:t>	If</a:t>
            </a:r>
            <a:r>
              <a:rPr sz="1900" spc="-55" dirty="0">
                <a:latin typeface="Calibri"/>
                <a:cs typeface="Calibri"/>
              </a:rPr>
              <a:t> </a:t>
            </a:r>
            <a:r>
              <a:rPr sz="1900" spc="-10" dirty="0">
                <a:latin typeface="Calibri"/>
                <a:cs typeface="Calibri"/>
              </a:rPr>
              <a:t>background</a:t>
            </a:r>
            <a:r>
              <a:rPr sz="1900" spc="-20" dirty="0">
                <a:latin typeface="Calibri"/>
                <a:cs typeface="Calibri"/>
              </a:rPr>
              <a:t> </a:t>
            </a:r>
            <a:r>
              <a:rPr sz="1900" dirty="0">
                <a:latin typeface="Calibri"/>
                <a:cs typeface="Calibri"/>
              </a:rPr>
              <a:t>task</a:t>
            </a:r>
            <a:r>
              <a:rPr sz="1900" spc="-50" dirty="0">
                <a:latin typeface="Calibri"/>
                <a:cs typeface="Calibri"/>
              </a:rPr>
              <a:t> </a:t>
            </a:r>
            <a:r>
              <a:rPr sz="1900" spc="-10" dirty="0">
                <a:latin typeface="Calibri"/>
                <a:cs typeface="Calibri"/>
              </a:rPr>
              <a:t>processing</a:t>
            </a:r>
            <a:r>
              <a:rPr sz="1900" spc="-25" dirty="0">
                <a:latin typeface="Calibri"/>
                <a:cs typeface="Calibri"/>
              </a:rPr>
              <a:t> </a:t>
            </a:r>
            <a:r>
              <a:rPr sz="1900" dirty="0">
                <a:latin typeface="Calibri"/>
                <a:cs typeface="Calibri"/>
              </a:rPr>
              <a:t>is</a:t>
            </a:r>
            <a:r>
              <a:rPr sz="1900" spc="-55" dirty="0">
                <a:latin typeface="Calibri"/>
                <a:cs typeface="Calibri"/>
              </a:rPr>
              <a:t> </a:t>
            </a:r>
            <a:r>
              <a:rPr sz="1900" spc="-10" dirty="0">
                <a:latin typeface="Calibri"/>
                <a:cs typeface="Calibri"/>
              </a:rPr>
              <a:t>progressing </a:t>
            </a:r>
            <a:r>
              <a:rPr sz="1900" spc="-20" dirty="0">
                <a:latin typeface="Calibri"/>
                <a:cs typeface="Calibri"/>
              </a:rPr>
              <a:t>normally,</a:t>
            </a:r>
            <a:r>
              <a:rPr sz="1900" spc="-35" dirty="0">
                <a:latin typeface="Calibri"/>
                <a:cs typeface="Calibri"/>
              </a:rPr>
              <a:t> </a:t>
            </a:r>
            <a:r>
              <a:rPr sz="1900" dirty="0">
                <a:latin typeface="Calibri"/>
                <a:cs typeface="Calibri"/>
              </a:rPr>
              <a:t>the</a:t>
            </a:r>
            <a:r>
              <a:rPr sz="1900" spc="-35" dirty="0">
                <a:latin typeface="Calibri"/>
                <a:cs typeface="Calibri"/>
              </a:rPr>
              <a:t> </a:t>
            </a:r>
            <a:r>
              <a:rPr sz="1900" spc="-10" dirty="0">
                <a:latin typeface="Calibri"/>
                <a:cs typeface="Calibri"/>
              </a:rPr>
              <a:t>percentage</a:t>
            </a:r>
            <a:r>
              <a:rPr sz="1900" spc="-30" dirty="0">
                <a:latin typeface="Calibri"/>
                <a:cs typeface="Calibri"/>
              </a:rPr>
              <a:t> </a:t>
            </a:r>
            <a:r>
              <a:rPr sz="1900" dirty="0">
                <a:latin typeface="Calibri"/>
                <a:cs typeface="Calibri"/>
              </a:rPr>
              <a:t>of</a:t>
            </a:r>
            <a:r>
              <a:rPr sz="1900" spc="-50" dirty="0">
                <a:latin typeface="Calibri"/>
                <a:cs typeface="Calibri"/>
              </a:rPr>
              <a:t> </a:t>
            </a:r>
            <a:r>
              <a:rPr sz="1900" spc="-25" dirty="0">
                <a:latin typeface="Calibri"/>
                <a:cs typeface="Calibri"/>
              </a:rPr>
              <a:t>the</a:t>
            </a:r>
            <a:r>
              <a:rPr lang="en-NZ" sz="1900" spc="-25" dirty="0">
                <a:latin typeface="Calibri"/>
                <a:cs typeface="Calibri"/>
              </a:rPr>
              <a:t> </a:t>
            </a:r>
            <a:r>
              <a:rPr sz="1900" spc="-10" dirty="0">
                <a:latin typeface="Calibri"/>
                <a:cs typeface="Calibri"/>
              </a:rPr>
              <a:t>background </a:t>
            </a:r>
            <a:r>
              <a:rPr sz="1900" dirty="0">
                <a:latin typeface="Calibri"/>
                <a:cs typeface="Calibri"/>
              </a:rPr>
              <a:t>task</a:t>
            </a:r>
            <a:r>
              <a:rPr sz="1900" spc="-50" dirty="0">
                <a:latin typeface="Calibri"/>
                <a:cs typeface="Calibri"/>
              </a:rPr>
              <a:t> </a:t>
            </a:r>
            <a:r>
              <a:rPr sz="1900" spc="-10" dirty="0">
                <a:latin typeface="Calibri"/>
                <a:cs typeface="Calibri"/>
              </a:rPr>
              <a:t>processing</a:t>
            </a:r>
            <a:r>
              <a:rPr sz="1900" spc="-30" dirty="0">
                <a:latin typeface="Calibri"/>
                <a:cs typeface="Calibri"/>
              </a:rPr>
              <a:t> </a:t>
            </a:r>
            <a:r>
              <a:rPr sz="1900" dirty="0">
                <a:latin typeface="Calibri"/>
                <a:cs typeface="Calibri"/>
              </a:rPr>
              <a:t>that</a:t>
            </a:r>
            <a:r>
              <a:rPr sz="1900" spc="-45" dirty="0">
                <a:latin typeface="Calibri"/>
                <a:cs typeface="Calibri"/>
              </a:rPr>
              <a:t> </a:t>
            </a:r>
            <a:r>
              <a:rPr sz="1900" dirty="0">
                <a:latin typeface="Calibri"/>
                <a:cs typeface="Calibri"/>
              </a:rPr>
              <a:t>has</a:t>
            </a:r>
            <a:r>
              <a:rPr sz="1900" spc="-45" dirty="0">
                <a:latin typeface="Calibri"/>
                <a:cs typeface="Calibri"/>
              </a:rPr>
              <a:t> </a:t>
            </a:r>
            <a:r>
              <a:rPr sz="1900" dirty="0">
                <a:latin typeface="Calibri"/>
                <a:cs typeface="Calibri"/>
              </a:rPr>
              <a:t>been</a:t>
            </a:r>
            <a:r>
              <a:rPr sz="1900" spc="-30" dirty="0">
                <a:latin typeface="Calibri"/>
                <a:cs typeface="Calibri"/>
              </a:rPr>
              <a:t> </a:t>
            </a:r>
            <a:r>
              <a:rPr sz="1900" spc="-10" dirty="0">
                <a:latin typeface="Calibri"/>
                <a:cs typeface="Calibri"/>
              </a:rPr>
              <a:t>completed </a:t>
            </a:r>
            <a:r>
              <a:rPr sz="1900" u="sng" dirty="0">
                <a:uFill>
                  <a:solidFill>
                    <a:srgbClr val="000000"/>
                  </a:solidFill>
                </a:uFill>
                <a:latin typeface="Calibri"/>
                <a:cs typeface="Calibri"/>
              </a:rPr>
              <a:t>shall</a:t>
            </a:r>
            <a:r>
              <a:rPr sz="1900" spc="-50" dirty="0">
                <a:latin typeface="Calibri"/>
                <a:cs typeface="Calibri"/>
              </a:rPr>
              <a:t> </a:t>
            </a:r>
            <a:r>
              <a:rPr sz="1900" dirty="0">
                <a:latin typeface="Calibri"/>
                <a:cs typeface="Calibri"/>
              </a:rPr>
              <a:t>be</a:t>
            </a:r>
            <a:r>
              <a:rPr sz="1900" spc="-30" dirty="0">
                <a:latin typeface="Calibri"/>
                <a:cs typeface="Calibri"/>
              </a:rPr>
              <a:t> </a:t>
            </a:r>
            <a:r>
              <a:rPr sz="1900" spc="-10" dirty="0">
                <a:latin typeface="Calibri"/>
                <a:cs typeface="Calibri"/>
              </a:rPr>
              <a:t>displayed.</a:t>
            </a:r>
            <a:endParaRPr sz="1900" dirty="0">
              <a:latin typeface="Calibri"/>
              <a:cs typeface="Calibri"/>
            </a:endParaRPr>
          </a:p>
          <a:p>
            <a:pPr marL="405765" marR="2514600">
              <a:lnSpc>
                <a:spcPct val="102099"/>
              </a:lnSpc>
              <a:spcBef>
                <a:spcPts val="5"/>
              </a:spcBef>
              <a:tabLst>
                <a:tab pos="927100" algn="l"/>
              </a:tabLst>
            </a:pPr>
            <a:r>
              <a:rPr sz="1900" spc="-25" dirty="0">
                <a:latin typeface="Calibri"/>
                <a:cs typeface="Calibri"/>
              </a:rPr>
              <a:t>R3.</a:t>
            </a:r>
            <a:r>
              <a:rPr sz="1900" dirty="0">
                <a:latin typeface="Calibri"/>
                <a:cs typeface="Calibri"/>
              </a:rPr>
              <a:t>	A</a:t>
            </a:r>
            <a:r>
              <a:rPr sz="1900" spc="-55" dirty="0">
                <a:latin typeface="Calibri"/>
                <a:cs typeface="Calibri"/>
              </a:rPr>
              <a:t> </a:t>
            </a:r>
            <a:r>
              <a:rPr sz="1900" dirty="0">
                <a:latin typeface="Calibri"/>
                <a:cs typeface="Calibri"/>
              </a:rPr>
              <a:t>message</a:t>
            </a:r>
            <a:r>
              <a:rPr sz="1900" spc="-40" dirty="0">
                <a:latin typeface="Calibri"/>
                <a:cs typeface="Calibri"/>
              </a:rPr>
              <a:t> </a:t>
            </a:r>
            <a:r>
              <a:rPr sz="1900" u="sng" dirty="0">
                <a:uFill>
                  <a:solidFill>
                    <a:srgbClr val="000000"/>
                  </a:solidFill>
                </a:uFill>
                <a:latin typeface="Calibri"/>
                <a:cs typeface="Calibri"/>
              </a:rPr>
              <a:t>shall</a:t>
            </a:r>
            <a:r>
              <a:rPr sz="1900" u="sng" spc="-40" dirty="0">
                <a:uFill>
                  <a:solidFill>
                    <a:srgbClr val="000000"/>
                  </a:solidFill>
                </a:uFill>
                <a:latin typeface="Calibri"/>
                <a:cs typeface="Calibri"/>
              </a:rPr>
              <a:t> </a:t>
            </a:r>
            <a:r>
              <a:rPr sz="1900" dirty="0">
                <a:latin typeface="Calibri"/>
                <a:cs typeface="Calibri"/>
              </a:rPr>
              <a:t>be</a:t>
            </a:r>
            <a:r>
              <a:rPr sz="1900" spc="-35" dirty="0">
                <a:latin typeface="Calibri"/>
                <a:cs typeface="Calibri"/>
              </a:rPr>
              <a:t> </a:t>
            </a:r>
            <a:r>
              <a:rPr sz="1900" spc="-10" dirty="0">
                <a:latin typeface="Calibri"/>
                <a:cs typeface="Calibri"/>
              </a:rPr>
              <a:t>displayed</a:t>
            </a:r>
            <a:r>
              <a:rPr sz="1900" spc="-30" dirty="0">
                <a:latin typeface="Calibri"/>
                <a:cs typeface="Calibri"/>
              </a:rPr>
              <a:t> </a:t>
            </a:r>
            <a:r>
              <a:rPr sz="1900" dirty="0">
                <a:latin typeface="Calibri"/>
                <a:cs typeface="Calibri"/>
              </a:rPr>
              <a:t>when</a:t>
            </a:r>
            <a:r>
              <a:rPr sz="1900" spc="-35" dirty="0">
                <a:latin typeface="Calibri"/>
                <a:cs typeface="Calibri"/>
              </a:rPr>
              <a:t> </a:t>
            </a:r>
            <a:r>
              <a:rPr sz="1900" dirty="0">
                <a:latin typeface="Calibri"/>
                <a:cs typeface="Calibri"/>
              </a:rPr>
              <a:t>the</a:t>
            </a:r>
            <a:r>
              <a:rPr sz="1900" spc="-40" dirty="0">
                <a:latin typeface="Calibri"/>
                <a:cs typeface="Calibri"/>
              </a:rPr>
              <a:t> </a:t>
            </a:r>
            <a:r>
              <a:rPr sz="1900" spc="-10" dirty="0">
                <a:latin typeface="Calibri"/>
                <a:cs typeface="Calibri"/>
              </a:rPr>
              <a:t>background </a:t>
            </a:r>
            <a:r>
              <a:rPr sz="1900" dirty="0">
                <a:latin typeface="Calibri"/>
                <a:cs typeface="Calibri"/>
              </a:rPr>
              <a:t>task</a:t>
            </a:r>
            <a:r>
              <a:rPr sz="1900" spc="-50" dirty="0">
                <a:latin typeface="Calibri"/>
                <a:cs typeface="Calibri"/>
              </a:rPr>
              <a:t> </a:t>
            </a:r>
            <a:r>
              <a:rPr sz="1900" dirty="0">
                <a:latin typeface="Calibri"/>
                <a:cs typeface="Calibri"/>
              </a:rPr>
              <a:t>is</a:t>
            </a:r>
            <a:r>
              <a:rPr sz="1900" spc="-55" dirty="0">
                <a:latin typeface="Calibri"/>
                <a:cs typeface="Calibri"/>
              </a:rPr>
              <a:t> </a:t>
            </a:r>
            <a:r>
              <a:rPr sz="1900" spc="-10" dirty="0">
                <a:latin typeface="Calibri"/>
                <a:cs typeface="Calibri"/>
              </a:rPr>
              <a:t>completed. </a:t>
            </a:r>
            <a:r>
              <a:rPr sz="1900" spc="-25" dirty="0">
                <a:latin typeface="Calibri"/>
                <a:cs typeface="Calibri"/>
              </a:rPr>
              <a:t>R4.</a:t>
            </a:r>
            <a:r>
              <a:rPr sz="1900" dirty="0">
                <a:latin typeface="Calibri"/>
                <a:cs typeface="Calibri"/>
              </a:rPr>
              <a:t>	An</a:t>
            </a:r>
            <a:r>
              <a:rPr sz="1900" spc="-50" dirty="0">
                <a:latin typeface="Calibri"/>
                <a:cs typeface="Calibri"/>
              </a:rPr>
              <a:t> </a:t>
            </a:r>
            <a:r>
              <a:rPr sz="1900" dirty="0">
                <a:latin typeface="Calibri"/>
                <a:cs typeface="Calibri"/>
              </a:rPr>
              <a:t>error</a:t>
            </a:r>
            <a:r>
              <a:rPr sz="1900" spc="-40" dirty="0">
                <a:latin typeface="Calibri"/>
                <a:cs typeface="Calibri"/>
              </a:rPr>
              <a:t> </a:t>
            </a:r>
            <a:r>
              <a:rPr sz="1900" dirty="0">
                <a:latin typeface="Calibri"/>
                <a:cs typeface="Calibri"/>
              </a:rPr>
              <a:t>message</a:t>
            </a:r>
            <a:r>
              <a:rPr sz="1900" spc="-30" dirty="0">
                <a:latin typeface="Calibri"/>
                <a:cs typeface="Calibri"/>
              </a:rPr>
              <a:t> </a:t>
            </a:r>
            <a:r>
              <a:rPr sz="1900" u="sng" dirty="0">
                <a:uFill>
                  <a:solidFill>
                    <a:srgbClr val="000000"/>
                  </a:solidFill>
                </a:uFill>
                <a:latin typeface="Calibri"/>
                <a:cs typeface="Calibri"/>
              </a:rPr>
              <a:t>shall</a:t>
            </a:r>
            <a:r>
              <a:rPr sz="1900" spc="-50" dirty="0">
                <a:latin typeface="Calibri"/>
                <a:cs typeface="Calibri"/>
              </a:rPr>
              <a:t> </a:t>
            </a:r>
            <a:r>
              <a:rPr sz="1900" dirty="0">
                <a:latin typeface="Calibri"/>
                <a:cs typeface="Calibri"/>
              </a:rPr>
              <a:t>be</a:t>
            </a:r>
            <a:r>
              <a:rPr sz="1900" spc="-40" dirty="0">
                <a:latin typeface="Calibri"/>
                <a:cs typeface="Calibri"/>
              </a:rPr>
              <a:t> </a:t>
            </a:r>
            <a:r>
              <a:rPr sz="1900" spc="-10" dirty="0">
                <a:latin typeface="Calibri"/>
                <a:cs typeface="Calibri"/>
              </a:rPr>
              <a:t>displayed</a:t>
            </a:r>
            <a:r>
              <a:rPr sz="1900" spc="-30" dirty="0">
                <a:latin typeface="Calibri"/>
                <a:cs typeface="Calibri"/>
              </a:rPr>
              <a:t> </a:t>
            </a:r>
            <a:r>
              <a:rPr sz="1900" dirty="0">
                <a:latin typeface="Calibri"/>
                <a:cs typeface="Calibri"/>
              </a:rPr>
              <a:t>if</a:t>
            </a:r>
            <a:r>
              <a:rPr sz="1900" spc="-50" dirty="0">
                <a:latin typeface="Calibri"/>
                <a:cs typeface="Calibri"/>
              </a:rPr>
              <a:t> </a:t>
            </a:r>
            <a:r>
              <a:rPr sz="1900" dirty="0">
                <a:latin typeface="Calibri"/>
                <a:cs typeface="Calibri"/>
              </a:rPr>
              <a:t>the</a:t>
            </a:r>
            <a:r>
              <a:rPr sz="1900" spc="-40" dirty="0">
                <a:latin typeface="Calibri"/>
                <a:cs typeface="Calibri"/>
              </a:rPr>
              <a:t> </a:t>
            </a:r>
            <a:r>
              <a:rPr sz="1900" spc="-10" dirty="0">
                <a:latin typeface="Calibri"/>
                <a:cs typeface="Calibri"/>
              </a:rPr>
              <a:t>background</a:t>
            </a:r>
            <a:r>
              <a:rPr sz="1900" spc="-25" dirty="0">
                <a:latin typeface="Calibri"/>
                <a:cs typeface="Calibri"/>
              </a:rPr>
              <a:t> </a:t>
            </a:r>
            <a:r>
              <a:rPr sz="1900" dirty="0">
                <a:latin typeface="Calibri"/>
                <a:cs typeface="Calibri"/>
              </a:rPr>
              <a:t>task</a:t>
            </a:r>
            <a:r>
              <a:rPr sz="1900" spc="-50" dirty="0">
                <a:latin typeface="Calibri"/>
                <a:cs typeface="Calibri"/>
              </a:rPr>
              <a:t> </a:t>
            </a:r>
            <a:r>
              <a:rPr sz="1900" dirty="0">
                <a:latin typeface="Calibri"/>
                <a:cs typeface="Calibri"/>
              </a:rPr>
              <a:t>has</a:t>
            </a:r>
            <a:r>
              <a:rPr sz="1900" spc="-50" dirty="0">
                <a:latin typeface="Calibri"/>
                <a:cs typeface="Calibri"/>
              </a:rPr>
              <a:t> </a:t>
            </a:r>
            <a:r>
              <a:rPr sz="1900" spc="-10" dirty="0">
                <a:latin typeface="Calibri"/>
                <a:cs typeface="Calibri"/>
              </a:rPr>
              <a:t>stalled.</a:t>
            </a:r>
            <a:endParaRPr sz="1900" dirty="0">
              <a:latin typeface="Calibri"/>
              <a:cs typeface="Calibri"/>
            </a:endParaRPr>
          </a:p>
          <a:p>
            <a:pPr marL="240665" indent="-227965">
              <a:lnSpc>
                <a:spcPct val="100000"/>
              </a:lnSpc>
              <a:buClr>
                <a:srgbClr val="F5821F"/>
              </a:buClr>
              <a:buFont typeface="Arial"/>
              <a:buChar char="•"/>
              <a:tabLst>
                <a:tab pos="240665" algn="l"/>
              </a:tabLst>
            </a:pPr>
            <a:r>
              <a:rPr sz="2200" b="1" dirty="0">
                <a:latin typeface="Calibri"/>
                <a:cs typeface="Calibri"/>
              </a:rPr>
              <a:t>Shall</a:t>
            </a:r>
            <a:r>
              <a:rPr sz="2200" dirty="0">
                <a:latin typeface="Calibri"/>
                <a:cs typeface="Calibri"/>
              </a:rPr>
              <a:t>,</a:t>
            </a:r>
            <a:r>
              <a:rPr sz="2200" spc="-60" dirty="0">
                <a:latin typeface="Calibri"/>
                <a:cs typeface="Calibri"/>
              </a:rPr>
              <a:t> </a:t>
            </a:r>
            <a:r>
              <a:rPr sz="2200" b="1" dirty="0">
                <a:latin typeface="Calibri"/>
                <a:cs typeface="Calibri"/>
              </a:rPr>
              <a:t>Will</a:t>
            </a:r>
            <a:r>
              <a:rPr sz="2200" dirty="0">
                <a:latin typeface="Calibri"/>
                <a:cs typeface="Calibri"/>
              </a:rPr>
              <a:t>,</a:t>
            </a:r>
            <a:r>
              <a:rPr sz="2200" spc="-50" dirty="0">
                <a:latin typeface="Calibri"/>
                <a:cs typeface="Calibri"/>
              </a:rPr>
              <a:t> </a:t>
            </a:r>
            <a:r>
              <a:rPr sz="2200" dirty="0">
                <a:latin typeface="Calibri"/>
                <a:cs typeface="Calibri"/>
              </a:rPr>
              <a:t>and</a:t>
            </a:r>
            <a:r>
              <a:rPr sz="2200" spc="-70" dirty="0">
                <a:latin typeface="Calibri"/>
                <a:cs typeface="Calibri"/>
              </a:rPr>
              <a:t> </a:t>
            </a:r>
            <a:r>
              <a:rPr sz="2200" b="1" dirty="0">
                <a:latin typeface="Calibri"/>
                <a:cs typeface="Calibri"/>
              </a:rPr>
              <a:t>Should</a:t>
            </a:r>
            <a:r>
              <a:rPr sz="2200" b="1" spc="-55" dirty="0">
                <a:latin typeface="Calibri"/>
                <a:cs typeface="Calibri"/>
              </a:rPr>
              <a:t> </a:t>
            </a:r>
            <a:r>
              <a:rPr sz="2200" dirty="0">
                <a:latin typeface="Calibri"/>
                <a:cs typeface="Calibri"/>
              </a:rPr>
              <a:t>is</a:t>
            </a:r>
            <a:r>
              <a:rPr sz="2200" spc="-55" dirty="0">
                <a:latin typeface="Calibri"/>
                <a:cs typeface="Calibri"/>
              </a:rPr>
              <a:t> </a:t>
            </a:r>
            <a:r>
              <a:rPr sz="2200" dirty="0">
                <a:latin typeface="Calibri"/>
                <a:cs typeface="Calibri"/>
              </a:rPr>
              <a:t>the</a:t>
            </a:r>
            <a:r>
              <a:rPr sz="2200" spc="-50" dirty="0">
                <a:latin typeface="Calibri"/>
                <a:cs typeface="Calibri"/>
              </a:rPr>
              <a:t> </a:t>
            </a:r>
            <a:r>
              <a:rPr sz="2200" spc="-10" dirty="0">
                <a:latin typeface="Calibri"/>
                <a:cs typeface="Calibri"/>
              </a:rPr>
              <a:t>standard</a:t>
            </a:r>
            <a:r>
              <a:rPr sz="2200" spc="-85" dirty="0">
                <a:latin typeface="Calibri"/>
                <a:cs typeface="Calibri"/>
              </a:rPr>
              <a:t> </a:t>
            </a:r>
            <a:r>
              <a:rPr sz="2200" spc="-10" dirty="0">
                <a:latin typeface="Calibri"/>
                <a:cs typeface="Calibri"/>
              </a:rPr>
              <a:t>requirements</a:t>
            </a:r>
            <a:r>
              <a:rPr sz="2200" spc="-40" dirty="0">
                <a:latin typeface="Calibri"/>
                <a:cs typeface="Calibri"/>
              </a:rPr>
              <a:t> </a:t>
            </a:r>
            <a:r>
              <a:rPr sz="2200" spc="-10" dirty="0">
                <a:latin typeface="Calibri"/>
                <a:cs typeface="Calibri"/>
              </a:rPr>
              <a:t>terminology</a:t>
            </a:r>
            <a:endParaRPr sz="22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510032"/>
            <a:ext cx="6779259" cy="696595"/>
          </a:xfrm>
          <a:prstGeom prst="rect">
            <a:avLst/>
          </a:prstGeom>
        </p:spPr>
        <p:txBody>
          <a:bodyPr vert="horz" wrap="square" lIns="0" tIns="13335" rIns="0" bIns="0" rtlCol="0">
            <a:spAutoFit/>
          </a:bodyPr>
          <a:lstStyle/>
          <a:p>
            <a:pPr marL="12700">
              <a:lnSpc>
                <a:spcPct val="100000"/>
              </a:lnSpc>
              <a:spcBef>
                <a:spcPts val="105"/>
              </a:spcBef>
            </a:pPr>
            <a:r>
              <a:rPr spc="-10" dirty="0"/>
              <a:t>Non-</a:t>
            </a:r>
            <a:r>
              <a:rPr dirty="0"/>
              <a:t>functional</a:t>
            </a:r>
            <a:r>
              <a:rPr spc="-15" dirty="0"/>
              <a:t> </a:t>
            </a:r>
            <a:r>
              <a:rPr spc="-10" dirty="0"/>
              <a:t>requirements</a:t>
            </a:r>
          </a:p>
        </p:txBody>
      </p:sp>
      <p:sp>
        <p:nvSpPr>
          <p:cNvPr id="3" name="object 3"/>
          <p:cNvSpPr txBox="1"/>
          <p:nvPr/>
        </p:nvSpPr>
        <p:spPr>
          <a:xfrm>
            <a:off x="1539366" y="1423554"/>
            <a:ext cx="10350500" cy="4363374"/>
          </a:xfrm>
          <a:prstGeom prst="rect">
            <a:avLst/>
          </a:prstGeom>
        </p:spPr>
        <p:txBody>
          <a:bodyPr vert="horz" wrap="square" lIns="0" tIns="56515" rIns="0" bIns="0" rtlCol="0">
            <a:spAutoFit/>
          </a:bodyPr>
          <a:lstStyle/>
          <a:p>
            <a:pPr marL="240665" indent="-227965">
              <a:lnSpc>
                <a:spcPct val="100000"/>
              </a:lnSpc>
              <a:spcBef>
                <a:spcPts val="445"/>
              </a:spcBef>
              <a:buClr>
                <a:srgbClr val="F5821F"/>
              </a:buClr>
              <a:buFont typeface="Arial"/>
              <a:buChar char="•"/>
              <a:tabLst>
                <a:tab pos="240665" algn="l"/>
              </a:tabLst>
            </a:pPr>
            <a:r>
              <a:rPr sz="2400" spc="-10" dirty="0">
                <a:latin typeface="Calibri"/>
                <a:cs typeface="Calibri"/>
              </a:rPr>
              <a:t>Non-</a:t>
            </a:r>
            <a:r>
              <a:rPr sz="2400" dirty="0">
                <a:latin typeface="Calibri"/>
                <a:cs typeface="Calibri"/>
              </a:rPr>
              <a:t>functional</a:t>
            </a:r>
            <a:r>
              <a:rPr sz="2400" spc="30" dirty="0">
                <a:latin typeface="Calibri"/>
                <a:cs typeface="Calibri"/>
              </a:rPr>
              <a:t> </a:t>
            </a:r>
            <a:r>
              <a:rPr sz="2400" spc="-10" dirty="0">
                <a:latin typeface="Calibri"/>
                <a:cs typeface="Calibri"/>
              </a:rPr>
              <a:t>requirements:</a:t>
            </a:r>
            <a:endParaRPr sz="2400" dirty="0">
              <a:latin typeface="Calibri"/>
              <a:cs typeface="Calibri"/>
            </a:endParaRPr>
          </a:p>
          <a:p>
            <a:pPr marL="698500" lvl="1" indent="-228600">
              <a:lnSpc>
                <a:spcPct val="100000"/>
              </a:lnSpc>
              <a:spcBef>
                <a:spcPts val="290"/>
              </a:spcBef>
              <a:buClr>
                <a:srgbClr val="F5821F"/>
              </a:buClr>
              <a:buFont typeface="Arial"/>
              <a:buChar char="•"/>
              <a:tabLst>
                <a:tab pos="698500" algn="l"/>
              </a:tabLst>
            </a:pPr>
            <a:r>
              <a:rPr sz="2000" dirty="0">
                <a:highlight>
                  <a:srgbClr val="FFFF00"/>
                </a:highlight>
                <a:latin typeface="Calibri"/>
                <a:cs typeface="Calibri"/>
              </a:rPr>
              <a:t>are</a:t>
            </a:r>
            <a:r>
              <a:rPr sz="2000" spc="-50" dirty="0">
                <a:highlight>
                  <a:srgbClr val="FFFF00"/>
                </a:highlight>
                <a:latin typeface="Calibri"/>
                <a:cs typeface="Calibri"/>
              </a:rPr>
              <a:t> </a:t>
            </a:r>
            <a:r>
              <a:rPr sz="2000" dirty="0">
                <a:highlight>
                  <a:srgbClr val="FFFF00"/>
                </a:highlight>
                <a:latin typeface="Calibri"/>
                <a:cs typeface="Calibri"/>
              </a:rPr>
              <a:t>the</a:t>
            </a:r>
            <a:r>
              <a:rPr sz="2000" spc="-35" dirty="0">
                <a:highlight>
                  <a:srgbClr val="FFFF00"/>
                </a:highlight>
                <a:latin typeface="Calibri"/>
                <a:cs typeface="Calibri"/>
              </a:rPr>
              <a:t> </a:t>
            </a:r>
            <a:r>
              <a:rPr lang="en-NZ" sz="2000" spc="-35" dirty="0">
                <a:highlight>
                  <a:srgbClr val="FFFF00"/>
                </a:highlight>
                <a:latin typeface="Calibri"/>
                <a:cs typeface="Calibri"/>
              </a:rPr>
              <a:t>quality </a:t>
            </a:r>
            <a:r>
              <a:rPr sz="2000" dirty="0">
                <a:highlight>
                  <a:srgbClr val="FFFF00"/>
                </a:highlight>
                <a:latin typeface="Calibri"/>
                <a:cs typeface="Calibri"/>
              </a:rPr>
              <a:t>attributes</a:t>
            </a:r>
            <a:r>
              <a:rPr sz="2000" spc="-35" dirty="0">
                <a:highlight>
                  <a:srgbClr val="FFFF00"/>
                </a:highlight>
                <a:latin typeface="Calibri"/>
                <a:cs typeface="Calibri"/>
              </a:rPr>
              <a:t> </a:t>
            </a:r>
            <a:r>
              <a:rPr sz="2000" dirty="0">
                <a:highlight>
                  <a:srgbClr val="FFFF00"/>
                </a:highlight>
                <a:latin typeface="Calibri"/>
                <a:cs typeface="Calibri"/>
              </a:rPr>
              <a:t>such</a:t>
            </a:r>
            <a:r>
              <a:rPr sz="2000" spc="-40" dirty="0">
                <a:highlight>
                  <a:srgbClr val="FFFF00"/>
                </a:highlight>
                <a:latin typeface="Calibri"/>
                <a:cs typeface="Calibri"/>
              </a:rPr>
              <a:t> </a:t>
            </a:r>
            <a:r>
              <a:rPr sz="2000" dirty="0">
                <a:highlight>
                  <a:srgbClr val="FFFF00"/>
                </a:highlight>
                <a:latin typeface="Calibri"/>
                <a:cs typeface="Calibri"/>
              </a:rPr>
              <a:t>as</a:t>
            </a:r>
            <a:r>
              <a:rPr sz="2000" spc="-30" dirty="0">
                <a:highlight>
                  <a:srgbClr val="FFFF00"/>
                </a:highlight>
                <a:latin typeface="Calibri"/>
                <a:cs typeface="Calibri"/>
              </a:rPr>
              <a:t> </a:t>
            </a:r>
            <a:r>
              <a:rPr lang="en-NZ" sz="2000" spc="-30" dirty="0">
                <a:highlight>
                  <a:srgbClr val="FFFF00"/>
                </a:highlight>
                <a:latin typeface="Calibri"/>
                <a:cs typeface="Calibri"/>
              </a:rPr>
              <a:t>reliability, </a:t>
            </a:r>
            <a:r>
              <a:rPr sz="2000" dirty="0">
                <a:highlight>
                  <a:srgbClr val="FFFF00"/>
                </a:highlight>
                <a:latin typeface="Calibri"/>
                <a:cs typeface="Calibri"/>
              </a:rPr>
              <a:t>performance,</a:t>
            </a:r>
            <a:r>
              <a:rPr sz="2000" spc="-50" dirty="0">
                <a:highlight>
                  <a:srgbClr val="FFFF00"/>
                </a:highlight>
                <a:latin typeface="Calibri"/>
                <a:cs typeface="Calibri"/>
              </a:rPr>
              <a:t> </a:t>
            </a:r>
            <a:r>
              <a:rPr sz="2000" spc="-10" dirty="0">
                <a:highlight>
                  <a:srgbClr val="FFFF00"/>
                </a:highlight>
                <a:latin typeface="Calibri"/>
                <a:cs typeface="Calibri"/>
              </a:rPr>
              <a:t>security,</a:t>
            </a:r>
            <a:r>
              <a:rPr sz="2000" spc="-40" dirty="0">
                <a:highlight>
                  <a:srgbClr val="FFFF00"/>
                </a:highlight>
                <a:latin typeface="Calibri"/>
                <a:cs typeface="Calibri"/>
              </a:rPr>
              <a:t> </a:t>
            </a:r>
            <a:r>
              <a:rPr sz="2000" spc="-10" dirty="0">
                <a:highlight>
                  <a:srgbClr val="FFFF00"/>
                </a:highlight>
                <a:latin typeface="Calibri"/>
                <a:cs typeface="Calibri"/>
              </a:rPr>
              <a:t>usability,</a:t>
            </a:r>
            <a:r>
              <a:rPr sz="2000" spc="-30" dirty="0">
                <a:highlight>
                  <a:srgbClr val="FFFF00"/>
                </a:highlight>
                <a:latin typeface="Calibri"/>
                <a:cs typeface="Calibri"/>
              </a:rPr>
              <a:t> </a:t>
            </a:r>
            <a:r>
              <a:rPr lang="en-NZ" sz="2000" spc="-30" dirty="0">
                <a:highlight>
                  <a:srgbClr val="FFFF00"/>
                </a:highlight>
                <a:latin typeface="Calibri"/>
                <a:cs typeface="Calibri"/>
              </a:rPr>
              <a:t>and </a:t>
            </a:r>
            <a:r>
              <a:rPr sz="2000" spc="-10" dirty="0">
                <a:highlight>
                  <a:srgbClr val="FFFF00"/>
                </a:highlight>
                <a:latin typeface="Calibri"/>
                <a:cs typeface="Calibri"/>
              </a:rPr>
              <a:t>compatibility</a:t>
            </a:r>
            <a:r>
              <a:rPr sz="2000" spc="-10" dirty="0">
                <a:latin typeface="Calibri"/>
                <a:cs typeface="Calibri"/>
              </a:rPr>
              <a:t>.</a:t>
            </a:r>
            <a:endParaRPr sz="2000" dirty="0">
              <a:latin typeface="Calibri"/>
              <a:cs typeface="Calibri"/>
            </a:endParaRPr>
          </a:p>
          <a:p>
            <a:pPr marL="698500" lvl="1" indent="-228600">
              <a:lnSpc>
                <a:spcPct val="100000"/>
              </a:lnSpc>
              <a:spcBef>
                <a:spcPts val="254"/>
              </a:spcBef>
              <a:buClr>
                <a:srgbClr val="F5821F"/>
              </a:buClr>
              <a:buFont typeface="Arial"/>
              <a:buChar char="•"/>
              <a:tabLst>
                <a:tab pos="698500" algn="l"/>
              </a:tabLst>
            </a:pPr>
            <a:r>
              <a:rPr sz="2000" dirty="0">
                <a:latin typeface="Calibri"/>
                <a:cs typeface="Calibri"/>
              </a:rPr>
              <a:t>Not</a:t>
            </a:r>
            <a:r>
              <a:rPr sz="2000" spc="-50" dirty="0">
                <a:latin typeface="Calibri"/>
                <a:cs typeface="Calibri"/>
              </a:rPr>
              <a:t> </a:t>
            </a:r>
            <a:r>
              <a:rPr sz="2000" dirty="0">
                <a:latin typeface="Calibri"/>
                <a:cs typeface="Calibri"/>
              </a:rPr>
              <a:t>a</a:t>
            </a:r>
            <a:r>
              <a:rPr sz="2000" spc="-50" dirty="0">
                <a:latin typeface="Calibri"/>
                <a:cs typeface="Calibri"/>
              </a:rPr>
              <a:t> </a:t>
            </a:r>
            <a:r>
              <a:rPr sz="2000" dirty="0">
                <a:latin typeface="Calibri"/>
                <a:cs typeface="Calibri"/>
              </a:rPr>
              <a:t>"feature"</a:t>
            </a:r>
            <a:r>
              <a:rPr sz="2000" spc="-40"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the</a:t>
            </a:r>
            <a:r>
              <a:rPr sz="2000" spc="-40" dirty="0">
                <a:latin typeface="Calibri"/>
                <a:cs typeface="Calibri"/>
              </a:rPr>
              <a:t> </a:t>
            </a:r>
            <a:r>
              <a:rPr sz="2000" dirty="0">
                <a:latin typeface="Calibri"/>
                <a:cs typeface="Calibri"/>
              </a:rPr>
              <a:t>system,</a:t>
            </a:r>
            <a:r>
              <a:rPr sz="2000" spc="-25" dirty="0">
                <a:latin typeface="Calibri"/>
                <a:cs typeface="Calibri"/>
              </a:rPr>
              <a:t> </a:t>
            </a:r>
            <a:r>
              <a:rPr sz="2000" dirty="0">
                <a:latin typeface="Calibri"/>
                <a:cs typeface="Calibri"/>
              </a:rPr>
              <a:t>but</a:t>
            </a:r>
            <a:r>
              <a:rPr sz="2000" spc="-50" dirty="0">
                <a:latin typeface="Calibri"/>
                <a:cs typeface="Calibri"/>
              </a:rPr>
              <a:t> </a:t>
            </a:r>
            <a:r>
              <a:rPr sz="2000" dirty="0">
                <a:latin typeface="Calibri"/>
                <a:cs typeface="Calibri"/>
              </a:rPr>
              <a:t>are</a:t>
            </a:r>
            <a:r>
              <a:rPr sz="2000" spc="-35" dirty="0">
                <a:latin typeface="Calibri"/>
                <a:cs typeface="Calibri"/>
              </a:rPr>
              <a:t> </a:t>
            </a:r>
            <a:r>
              <a:rPr sz="2000" dirty="0">
                <a:latin typeface="Calibri"/>
                <a:cs typeface="Calibri"/>
              </a:rPr>
              <a:t>a</a:t>
            </a:r>
            <a:r>
              <a:rPr sz="2000" spc="-40" dirty="0">
                <a:latin typeface="Calibri"/>
                <a:cs typeface="Calibri"/>
              </a:rPr>
              <a:t> </a:t>
            </a:r>
            <a:r>
              <a:rPr sz="2000" dirty="0">
                <a:latin typeface="Calibri"/>
                <a:cs typeface="Calibri"/>
              </a:rPr>
              <a:t>required</a:t>
            </a:r>
            <a:r>
              <a:rPr sz="2000" spc="-50" dirty="0">
                <a:latin typeface="Calibri"/>
                <a:cs typeface="Calibri"/>
              </a:rPr>
              <a:t> </a:t>
            </a:r>
            <a:r>
              <a:rPr sz="2000" dirty="0">
                <a:latin typeface="Calibri"/>
                <a:cs typeface="Calibri"/>
              </a:rPr>
              <a:t>characteristic</a:t>
            </a:r>
            <a:r>
              <a:rPr sz="2000" spc="-15" dirty="0">
                <a:latin typeface="Calibri"/>
                <a:cs typeface="Calibri"/>
              </a:rPr>
              <a:t> </a:t>
            </a:r>
            <a:r>
              <a:rPr sz="2000" dirty="0">
                <a:latin typeface="Calibri"/>
                <a:cs typeface="Calibri"/>
              </a:rPr>
              <a:t>for</a:t>
            </a:r>
            <a:r>
              <a:rPr sz="2000" spc="-50" dirty="0">
                <a:latin typeface="Calibri"/>
                <a:cs typeface="Calibri"/>
              </a:rPr>
              <a:t> </a:t>
            </a:r>
            <a:r>
              <a:rPr sz="2000" spc="-10" dirty="0">
                <a:latin typeface="Calibri"/>
                <a:cs typeface="Calibri"/>
              </a:rPr>
              <a:t>success</a:t>
            </a:r>
            <a:endParaRPr sz="2000" dirty="0">
              <a:latin typeface="Calibri"/>
              <a:cs typeface="Calibri"/>
            </a:endParaRPr>
          </a:p>
          <a:p>
            <a:pPr marL="240665" indent="-227965">
              <a:lnSpc>
                <a:spcPct val="100000"/>
              </a:lnSpc>
              <a:spcBef>
                <a:spcPts val="690"/>
              </a:spcBef>
              <a:buClr>
                <a:srgbClr val="F5821F"/>
              </a:buClr>
              <a:buFont typeface="Arial"/>
              <a:buChar char="•"/>
              <a:tabLst>
                <a:tab pos="240665" algn="l"/>
              </a:tabLst>
            </a:pPr>
            <a:r>
              <a:rPr sz="2400" spc="-10" dirty="0">
                <a:latin typeface="Calibri"/>
                <a:cs typeface="Calibri"/>
              </a:rPr>
              <a:t>Example:</a:t>
            </a:r>
            <a:endParaRPr sz="2400" dirty="0">
              <a:latin typeface="Calibri"/>
              <a:cs typeface="Calibri"/>
            </a:endParaRPr>
          </a:p>
          <a:p>
            <a:pPr marL="405765">
              <a:lnSpc>
                <a:spcPct val="100000"/>
              </a:lnSpc>
              <a:spcBef>
                <a:spcPts val="325"/>
              </a:spcBef>
              <a:tabLst>
                <a:tab pos="927100" algn="l"/>
              </a:tabLst>
            </a:pPr>
            <a:r>
              <a:rPr sz="1800" spc="-25" dirty="0">
                <a:latin typeface="Calibri"/>
                <a:cs typeface="Calibri"/>
              </a:rPr>
              <a:t>R1</a:t>
            </a:r>
            <a:r>
              <a:rPr sz="1800" dirty="0">
                <a:latin typeface="Calibri"/>
                <a:cs typeface="Calibri"/>
              </a:rPr>
              <a:t>	The</a:t>
            </a:r>
            <a:r>
              <a:rPr sz="1800" spc="-35" dirty="0">
                <a:latin typeface="Calibri"/>
                <a:cs typeface="Calibri"/>
              </a:rPr>
              <a:t> </a:t>
            </a:r>
            <a:r>
              <a:rPr sz="1800" dirty="0">
                <a:latin typeface="Calibri"/>
                <a:cs typeface="Calibri"/>
              </a:rPr>
              <a:t>System</a:t>
            </a:r>
            <a:r>
              <a:rPr sz="1800" spc="-20" dirty="0">
                <a:latin typeface="Calibri"/>
                <a:cs typeface="Calibri"/>
              </a:rPr>
              <a:t> </a:t>
            </a:r>
            <a:r>
              <a:rPr sz="1800" u="sng" dirty="0">
                <a:uFill>
                  <a:solidFill>
                    <a:srgbClr val="000000"/>
                  </a:solidFill>
                </a:uFill>
                <a:latin typeface="Calibri"/>
                <a:cs typeface="Calibri"/>
              </a:rPr>
              <a:t>shall</a:t>
            </a:r>
            <a:r>
              <a:rPr sz="1800" spc="-30" dirty="0">
                <a:latin typeface="Calibri"/>
                <a:cs typeface="Calibri"/>
              </a:rPr>
              <a:t> </a:t>
            </a:r>
            <a:r>
              <a:rPr sz="1800" dirty="0">
                <a:latin typeface="Calibri"/>
                <a:cs typeface="Calibri"/>
              </a:rPr>
              <a:t>have</a:t>
            </a:r>
            <a:r>
              <a:rPr sz="1800" spc="-25" dirty="0">
                <a:latin typeface="Calibri"/>
                <a:cs typeface="Calibri"/>
              </a:rPr>
              <a:t> </a:t>
            </a:r>
            <a:r>
              <a:rPr sz="1800" dirty="0">
                <a:latin typeface="Calibri"/>
                <a:cs typeface="Calibri"/>
              </a:rPr>
              <a:t>an</a:t>
            </a:r>
            <a:r>
              <a:rPr sz="1800" spc="-30" dirty="0">
                <a:latin typeface="Calibri"/>
                <a:cs typeface="Calibri"/>
              </a:rPr>
              <a:t> </a:t>
            </a:r>
            <a:r>
              <a:rPr sz="1800" dirty="0">
                <a:latin typeface="Calibri"/>
                <a:cs typeface="Calibri"/>
              </a:rPr>
              <a:t>availability</a:t>
            </a:r>
            <a:r>
              <a:rPr sz="1800" spc="-1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999/1000</a:t>
            </a:r>
            <a:r>
              <a:rPr sz="1800" spc="-15" dirty="0">
                <a:latin typeface="Calibri"/>
                <a:cs typeface="Calibri"/>
              </a:rPr>
              <a:t> </a:t>
            </a:r>
            <a:r>
              <a:rPr sz="1800" dirty="0">
                <a:latin typeface="Calibri"/>
                <a:cs typeface="Calibri"/>
              </a:rPr>
              <a:t>(or </a:t>
            </a:r>
            <a:r>
              <a:rPr sz="1800" spc="-10" dirty="0">
                <a:latin typeface="Calibri"/>
                <a:cs typeface="Calibri"/>
              </a:rPr>
              <a:t>99.9%).</a:t>
            </a:r>
            <a:endParaRPr sz="1800" dirty="0">
              <a:latin typeface="Calibri"/>
              <a:cs typeface="Calibri"/>
            </a:endParaRPr>
          </a:p>
          <a:p>
            <a:pPr marL="1612900" lvl="1" indent="-228600">
              <a:lnSpc>
                <a:spcPct val="100000"/>
              </a:lnSpc>
              <a:spcBef>
                <a:spcPts val="275"/>
              </a:spcBef>
              <a:buClr>
                <a:srgbClr val="F5821F"/>
              </a:buClr>
              <a:buFont typeface="Arial"/>
              <a:buChar char="•"/>
              <a:tabLst>
                <a:tab pos="1612900" algn="l"/>
              </a:tabLst>
            </a:pPr>
            <a:r>
              <a:rPr sz="1800" i="1" dirty="0">
                <a:latin typeface="Calibri"/>
                <a:cs typeface="Calibri"/>
              </a:rPr>
              <a:t>reliability</a:t>
            </a:r>
            <a:r>
              <a:rPr sz="1800" i="1" spc="-15" dirty="0">
                <a:latin typeface="Calibri"/>
                <a:cs typeface="Calibri"/>
              </a:rPr>
              <a:t> </a:t>
            </a:r>
            <a:r>
              <a:rPr sz="1800" i="1" dirty="0">
                <a:latin typeface="Calibri"/>
                <a:cs typeface="Calibri"/>
              </a:rPr>
              <a:t>requirement</a:t>
            </a:r>
            <a:r>
              <a:rPr sz="1800" i="1" spc="-25" dirty="0">
                <a:latin typeface="Calibri"/>
                <a:cs typeface="Calibri"/>
              </a:rPr>
              <a:t> </a:t>
            </a:r>
            <a:r>
              <a:rPr sz="1800" i="1" dirty="0">
                <a:latin typeface="Calibri"/>
                <a:cs typeface="Calibri"/>
              </a:rPr>
              <a:t>(out</a:t>
            </a:r>
            <a:r>
              <a:rPr sz="1800" i="1" spc="-10" dirty="0">
                <a:latin typeface="Calibri"/>
                <a:cs typeface="Calibri"/>
              </a:rPr>
              <a:t> </a:t>
            </a:r>
            <a:r>
              <a:rPr sz="1800" i="1" dirty="0">
                <a:latin typeface="Calibri"/>
                <a:cs typeface="Calibri"/>
              </a:rPr>
              <a:t>of</a:t>
            </a:r>
            <a:r>
              <a:rPr sz="1800" i="1" spc="380" dirty="0">
                <a:latin typeface="Calibri"/>
                <a:cs typeface="Calibri"/>
              </a:rPr>
              <a:t> </a:t>
            </a:r>
            <a:r>
              <a:rPr sz="1800" i="1" dirty="0">
                <a:latin typeface="Calibri"/>
                <a:cs typeface="Calibri"/>
              </a:rPr>
              <a:t>every</a:t>
            </a:r>
            <a:r>
              <a:rPr sz="1800" i="1" spc="-35" dirty="0">
                <a:latin typeface="Calibri"/>
                <a:cs typeface="Calibri"/>
              </a:rPr>
              <a:t> </a:t>
            </a:r>
            <a:r>
              <a:rPr sz="1800" i="1" dirty="0">
                <a:latin typeface="Calibri"/>
                <a:cs typeface="Calibri"/>
              </a:rPr>
              <a:t>1000</a:t>
            </a:r>
            <a:r>
              <a:rPr sz="1800" i="1" spc="-10" dirty="0">
                <a:latin typeface="Calibri"/>
                <a:cs typeface="Calibri"/>
              </a:rPr>
              <a:t> </a:t>
            </a:r>
            <a:r>
              <a:rPr sz="1800" i="1" dirty="0">
                <a:latin typeface="Calibri"/>
                <a:cs typeface="Calibri"/>
              </a:rPr>
              <a:t>requests,</a:t>
            </a:r>
            <a:r>
              <a:rPr sz="1800" i="1" spc="-5" dirty="0">
                <a:latin typeface="Calibri"/>
                <a:cs typeface="Calibri"/>
              </a:rPr>
              <a:t> </a:t>
            </a:r>
            <a:r>
              <a:rPr sz="1800" i="1" dirty="0">
                <a:latin typeface="Calibri"/>
                <a:cs typeface="Calibri"/>
              </a:rPr>
              <a:t>999</a:t>
            </a:r>
            <a:r>
              <a:rPr sz="1800" i="1" spc="-15" dirty="0">
                <a:latin typeface="Calibri"/>
                <a:cs typeface="Calibri"/>
              </a:rPr>
              <a:t> </a:t>
            </a:r>
            <a:r>
              <a:rPr sz="1800" i="1" dirty="0">
                <a:latin typeface="Calibri"/>
                <a:cs typeface="Calibri"/>
              </a:rPr>
              <a:t>must</a:t>
            </a:r>
            <a:r>
              <a:rPr sz="1800" i="1" spc="-15" dirty="0">
                <a:latin typeface="Calibri"/>
                <a:cs typeface="Calibri"/>
              </a:rPr>
              <a:t> </a:t>
            </a:r>
            <a:r>
              <a:rPr sz="1800" i="1" dirty="0">
                <a:latin typeface="Calibri"/>
                <a:cs typeface="Calibri"/>
              </a:rPr>
              <a:t>be</a:t>
            </a:r>
            <a:r>
              <a:rPr sz="1800" i="1" spc="-15" dirty="0">
                <a:latin typeface="Calibri"/>
                <a:cs typeface="Calibri"/>
              </a:rPr>
              <a:t> </a:t>
            </a:r>
            <a:r>
              <a:rPr sz="1800" i="1" spc="-10" dirty="0">
                <a:latin typeface="Calibri"/>
                <a:cs typeface="Calibri"/>
              </a:rPr>
              <a:t>satisfied).</a:t>
            </a:r>
            <a:endParaRPr sz="1800" dirty="0">
              <a:latin typeface="Calibri"/>
              <a:cs typeface="Calibri"/>
            </a:endParaRPr>
          </a:p>
          <a:p>
            <a:pPr marL="405765">
              <a:lnSpc>
                <a:spcPct val="100000"/>
              </a:lnSpc>
              <a:spcBef>
                <a:spcPts val="290"/>
              </a:spcBef>
              <a:tabLst>
                <a:tab pos="927100" algn="l"/>
              </a:tabLst>
            </a:pPr>
            <a:r>
              <a:rPr sz="1800" spc="-25" dirty="0">
                <a:latin typeface="Calibri"/>
                <a:cs typeface="Calibri"/>
              </a:rPr>
              <a:t>R2</a:t>
            </a:r>
            <a:r>
              <a:rPr sz="1800" dirty="0">
                <a:latin typeface="Calibri"/>
                <a:cs typeface="Calibri"/>
              </a:rPr>
              <a:t>	The</a:t>
            </a:r>
            <a:r>
              <a:rPr sz="1800" spc="-35" dirty="0">
                <a:latin typeface="Calibri"/>
                <a:cs typeface="Calibri"/>
              </a:rPr>
              <a:t> </a:t>
            </a:r>
            <a:r>
              <a:rPr sz="1800" dirty="0">
                <a:latin typeface="Calibri"/>
                <a:cs typeface="Calibri"/>
              </a:rPr>
              <a:t>System</a:t>
            </a:r>
            <a:r>
              <a:rPr sz="1800" spc="-15" dirty="0">
                <a:latin typeface="Calibri"/>
                <a:cs typeface="Calibri"/>
              </a:rPr>
              <a:t> </a:t>
            </a:r>
            <a:r>
              <a:rPr sz="1800" u="sng" dirty="0">
                <a:uFill>
                  <a:solidFill>
                    <a:srgbClr val="000000"/>
                  </a:solidFill>
                </a:uFill>
                <a:latin typeface="Calibri"/>
                <a:cs typeface="Calibri"/>
              </a:rPr>
              <a:t>shall</a:t>
            </a:r>
            <a:r>
              <a:rPr sz="1800" spc="-30" dirty="0">
                <a:latin typeface="Calibri"/>
                <a:cs typeface="Calibri"/>
              </a:rPr>
              <a:t> </a:t>
            </a:r>
            <a:r>
              <a:rPr sz="1800" dirty="0">
                <a:latin typeface="Calibri"/>
                <a:cs typeface="Calibri"/>
              </a:rPr>
              <a:t>process</a:t>
            </a:r>
            <a:r>
              <a:rPr sz="1800" spc="-20" dirty="0">
                <a:latin typeface="Calibri"/>
                <a:cs typeface="Calibri"/>
              </a:rPr>
              <a:t> </a:t>
            </a:r>
            <a:r>
              <a:rPr sz="1800" dirty="0">
                <a:latin typeface="Calibri"/>
                <a:cs typeface="Calibri"/>
              </a:rPr>
              <a:t>a</a:t>
            </a:r>
            <a:r>
              <a:rPr sz="1800" spc="-25" dirty="0">
                <a:latin typeface="Calibri"/>
                <a:cs typeface="Calibri"/>
              </a:rPr>
              <a:t> </a:t>
            </a:r>
            <a:r>
              <a:rPr sz="1800" dirty="0">
                <a:latin typeface="Calibri"/>
                <a:cs typeface="Calibri"/>
              </a:rPr>
              <a:t>minimum</a:t>
            </a:r>
            <a:r>
              <a:rPr sz="1800" spc="-10"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8</a:t>
            </a:r>
            <a:r>
              <a:rPr sz="1800" spc="-10" dirty="0">
                <a:latin typeface="Calibri"/>
                <a:cs typeface="Calibri"/>
              </a:rPr>
              <a:t> </a:t>
            </a:r>
            <a:r>
              <a:rPr sz="1800" dirty="0">
                <a:latin typeface="Calibri"/>
                <a:cs typeface="Calibri"/>
              </a:rPr>
              <a:t>transactions</a:t>
            </a:r>
            <a:r>
              <a:rPr sz="1800" spc="-15" dirty="0">
                <a:latin typeface="Calibri"/>
                <a:cs typeface="Calibri"/>
              </a:rPr>
              <a:t> </a:t>
            </a:r>
            <a:r>
              <a:rPr sz="1800" dirty="0">
                <a:latin typeface="Calibri"/>
                <a:cs typeface="Calibri"/>
              </a:rPr>
              <a:t>per</a:t>
            </a:r>
            <a:r>
              <a:rPr sz="1800" spc="-15" dirty="0">
                <a:latin typeface="Calibri"/>
                <a:cs typeface="Calibri"/>
              </a:rPr>
              <a:t> </a:t>
            </a:r>
            <a:r>
              <a:rPr sz="1800" spc="-10" dirty="0">
                <a:latin typeface="Calibri"/>
                <a:cs typeface="Calibri"/>
              </a:rPr>
              <a:t>second.</a:t>
            </a:r>
            <a:endParaRPr sz="1800" dirty="0">
              <a:latin typeface="Calibri"/>
              <a:cs typeface="Calibri"/>
            </a:endParaRPr>
          </a:p>
          <a:p>
            <a:pPr marL="1384300">
              <a:lnSpc>
                <a:spcPct val="100000"/>
              </a:lnSpc>
              <a:spcBef>
                <a:spcPts val="290"/>
              </a:spcBef>
            </a:pPr>
            <a:r>
              <a:rPr sz="1800" i="1" dirty="0">
                <a:latin typeface="Calibri"/>
                <a:cs typeface="Calibri"/>
              </a:rPr>
              <a:t>a</a:t>
            </a:r>
            <a:r>
              <a:rPr sz="1800" i="1" spc="-35" dirty="0">
                <a:latin typeface="Calibri"/>
                <a:cs typeface="Calibri"/>
              </a:rPr>
              <a:t> </a:t>
            </a:r>
            <a:r>
              <a:rPr sz="1800" i="1" dirty="0">
                <a:latin typeface="Calibri"/>
                <a:cs typeface="Calibri"/>
              </a:rPr>
              <a:t>performance</a:t>
            </a:r>
            <a:r>
              <a:rPr sz="1800" i="1" spc="-15" dirty="0">
                <a:latin typeface="Calibri"/>
                <a:cs typeface="Calibri"/>
              </a:rPr>
              <a:t> </a:t>
            </a:r>
            <a:r>
              <a:rPr sz="1800" i="1" spc="-10" dirty="0">
                <a:latin typeface="Calibri"/>
                <a:cs typeface="Calibri"/>
              </a:rPr>
              <a:t>requirement</a:t>
            </a:r>
            <a:endParaRPr sz="1800" dirty="0">
              <a:latin typeface="Calibri"/>
              <a:cs typeface="Calibri"/>
            </a:endParaRPr>
          </a:p>
          <a:p>
            <a:pPr marL="405765">
              <a:lnSpc>
                <a:spcPct val="100000"/>
              </a:lnSpc>
              <a:spcBef>
                <a:spcPts val="275"/>
              </a:spcBef>
              <a:tabLst>
                <a:tab pos="927100" algn="l"/>
              </a:tabLst>
            </a:pPr>
            <a:r>
              <a:rPr sz="1800" spc="-25" dirty="0">
                <a:latin typeface="Calibri"/>
                <a:cs typeface="Calibri"/>
              </a:rPr>
              <a:t>R3</a:t>
            </a:r>
            <a:r>
              <a:rPr sz="1800" dirty="0">
                <a:latin typeface="Calibri"/>
                <a:cs typeface="Calibri"/>
              </a:rPr>
              <a:t>	The</a:t>
            </a:r>
            <a:r>
              <a:rPr sz="1800" spc="-30" dirty="0">
                <a:latin typeface="Calibri"/>
                <a:cs typeface="Calibri"/>
              </a:rPr>
              <a:t> </a:t>
            </a:r>
            <a:r>
              <a:rPr sz="1800" dirty="0">
                <a:latin typeface="Calibri"/>
                <a:cs typeface="Calibri"/>
              </a:rPr>
              <a:t>access</a:t>
            </a:r>
            <a:r>
              <a:rPr sz="1800" spc="-20" dirty="0">
                <a:latin typeface="Calibri"/>
                <a:cs typeface="Calibri"/>
              </a:rPr>
              <a:t> </a:t>
            </a:r>
            <a:r>
              <a:rPr sz="1800" dirty="0">
                <a:latin typeface="Calibri"/>
                <a:cs typeface="Calibri"/>
              </a:rPr>
              <a:t>permissions</a:t>
            </a:r>
            <a:r>
              <a:rPr sz="1800" spc="-15" dirty="0">
                <a:latin typeface="Calibri"/>
                <a:cs typeface="Calibri"/>
              </a:rPr>
              <a:t> </a:t>
            </a:r>
            <a:r>
              <a:rPr sz="1800" dirty="0">
                <a:latin typeface="Calibri"/>
                <a:cs typeface="Calibri"/>
              </a:rPr>
              <a:t>for</a:t>
            </a:r>
            <a:r>
              <a:rPr sz="1800" spc="-15" dirty="0">
                <a:latin typeface="Calibri"/>
                <a:cs typeface="Calibri"/>
              </a:rPr>
              <a:t> </a:t>
            </a:r>
            <a:r>
              <a:rPr sz="1800" spc="-10" dirty="0">
                <a:latin typeface="Calibri"/>
                <a:cs typeface="Calibri"/>
              </a:rPr>
              <a:t>system</a:t>
            </a:r>
            <a:r>
              <a:rPr sz="1800" spc="-30" dirty="0">
                <a:latin typeface="Calibri"/>
                <a:cs typeface="Calibri"/>
              </a:rPr>
              <a:t> </a:t>
            </a:r>
            <a:r>
              <a:rPr sz="1800" dirty="0">
                <a:latin typeface="Calibri"/>
                <a:cs typeface="Calibri"/>
              </a:rPr>
              <a:t>data </a:t>
            </a:r>
            <a:r>
              <a:rPr sz="1800" u="sng" dirty="0">
                <a:uFill>
                  <a:solidFill>
                    <a:srgbClr val="000000"/>
                  </a:solidFill>
                </a:uFill>
                <a:latin typeface="Calibri"/>
                <a:cs typeface="Calibri"/>
              </a:rPr>
              <a:t>will</a:t>
            </a:r>
            <a:r>
              <a:rPr sz="1800" spc="-10" dirty="0">
                <a:latin typeface="Calibri"/>
                <a:cs typeface="Calibri"/>
              </a:rPr>
              <a:t> </a:t>
            </a:r>
            <a:r>
              <a:rPr sz="1800" dirty="0">
                <a:latin typeface="Calibri"/>
                <a:cs typeface="Calibri"/>
              </a:rPr>
              <a:t>only</a:t>
            </a:r>
            <a:r>
              <a:rPr sz="1800" spc="-15" dirty="0">
                <a:latin typeface="Calibri"/>
                <a:cs typeface="Calibri"/>
              </a:rPr>
              <a:t> </a:t>
            </a:r>
            <a:r>
              <a:rPr sz="1800" dirty="0">
                <a:latin typeface="Calibri"/>
                <a:cs typeface="Calibri"/>
              </a:rPr>
              <a:t>be</a:t>
            </a:r>
            <a:r>
              <a:rPr sz="1800" spc="-5" dirty="0">
                <a:latin typeface="Calibri"/>
                <a:cs typeface="Calibri"/>
              </a:rPr>
              <a:t> </a:t>
            </a:r>
            <a:r>
              <a:rPr sz="1800" dirty="0">
                <a:latin typeface="Calibri"/>
                <a:cs typeface="Calibri"/>
              </a:rPr>
              <a:t>changed</a:t>
            </a:r>
            <a:r>
              <a:rPr sz="1800" spc="-5" dirty="0">
                <a:latin typeface="Calibri"/>
                <a:cs typeface="Calibri"/>
              </a:rPr>
              <a:t> </a:t>
            </a:r>
            <a:r>
              <a:rPr sz="1800" dirty="0">
                <a:latin typeface="Calibri"/>
                <a:cs typeface="Calibri"/>
              </a:rPr>
              <a:t>by</a:t>
            </a:r>
            <a:r>
              <a:rPr sz="1800" spc="-20" dirty="0">
                <a:latin typeface="Calibri"/>
                <a:cs typeface="Calibri"/>
              </a:rPr>
              <a:t> </a:t>
            </a:r>
            <a:r>
              <a:rPr sz="1800" dirty="0">
                <a:latin typeface="Calibri"/>
                <a:cs typeface="Calibri"/>
              </a:rPr>
              <a:t>the </a:t>
            </a:r>
            <a:r>
              <a:rPr sz="1800" spc="-25" dirty="0">
                <a:latin typeface="Calibri"/>
                <a:cs typeface="Calibri"/>
              </a:rPr>
              <a:t>system’s</a:t>
            </a:r>
            <a:r>
              <a:rPr sz="1800" spc="-40" dirty="0">
                <a:latin typeface="Calibri"/>
                <a:cs typeface="Calibri"/>
              </a:rPr>
              <a:t> </a:t>
            </a:r>
            <a:r>
              <a:rPr sz="1800" dirty="0">
                <a:latin typeface="Calibri"/>
                <a:cs typeface="Calibri"/>
              </a:rPr>
              <a:t>data</a:t>
            </a:r>
            <a:r>
              <a:rPr sz="1800" spc="-20" dirty="0">
                <a:latin typeface="Calibri"/>
                <a:cs typeface="Calibri"/>
              </a:rPr>
              <a:t> </a:t>
            </a:r>
            <a:r>
              <a:rPr sz="1800" spc="-10" dirty="0">
                <a:latin typeface="Calibri"/>
                <a:cs typeface="Calibri"/>
              </a:rPr>
              <a:t>administrator</a:t>
            </a:r>
            <a:endParaRPr sz="1800" dirty="0">
              <a:latin typeface="Calibri"/>
              <a:cs typeface="Calibri"/>
            </a:endParaRPr>
          </a:p>
          <a:p>
            <a:pPr marL="405765">
              <a:lnSpc>
                <a:spcPts val="2050"/>
              </a:lnSpc>
              <a:spcBef>
                <a:spcPts val="290"/>
              </a:spcBef>
              <a:tabLst>
                <a:tab pos="927100" algn="l"/>
              </a:tabLst>
            </a:pPr>
            <a:r>
              <a:rPr sz="1800" spc="-25" dirty="0">
                <a:latin typeface="Calibri"/>
                <a:cs typeface="Calibri"/>
              </a:rPr>
              <a:t>R4</a:t>
            </a:r>
            <a:r>
              <a:rPr sz="1800" dirty="0">
                <a:latin typeface="Calibri"/>
                <a:cs typeface="Calibri"/>
              </a:rPr>
              <a:t>	All</a:t>
            </a:r>
            <a:r>
              <a:rPr sz="1800" spc="-25" dirty="0">
                <a:latin typeface="Calibri"/>
                <a:cs typeface="Calibri"/>
              </a:rPr>
              <a:t> </a:t>
            </a:r>
            <a:r>
              <a:rPr sz="1800" spc="-10" dirty="0">
                <a:latin typeface="Calibri"/>
                <a:cs typeface="Calibri"/>
              </a:rPr>
              <a:t>system</a:t>
            </a:r>
            <a:r>
              <a:rPr sz="1800" spc="-35" dirty="0">
                <a:latin typeface="Calibri"/>
                <a:cs typeface="Calibri"/>
              </a:rPr>
              <a:t> </a:t>
            </a:r>
            <a:r>
              <a:rPr sz="1800" dirty="0">
                <a:latin typeface="Calibri"/>
                <a:cs typeface="Calibri"/>
              </a:rPr>
              <a:t>data</a:t>
            </a:r>
            <a:r>
              <a:rPr sz="1800" spc="-15" dirty="0">
                <a:latin typeface="Calibri"/>
                <a:cs typeface="Calibri"/>
              </a:rPr>
              <a:t> </a:t>
            </a:r>
            <a:r>
              <a:rPr sz="1800" u="sng" dirty="0">
                <a:uFill>
                  <a:solidFill>
                    <a:srgbClr val="000000"/>
                  </a:solidFill>
                </a:uFill>
                <a:latin typeface="Calibri"/>
                <a:cs typeface="Calibri"/>
              </a:rPr>
              <a:t>should</a:t>
            </a:r>
            <a:r>
              <a:rPr sz="1800" spc="-10" dirty="0">
                <a:latin typeface="Calibri"/>
                <a:cs typeface="Calibri"/>
              </a:rPr>
              <a:t> </a:t>
            </a:r>
            <a:r>
              <a:rPr sz="1800" dirty="0">
                <a:latin typeface="Calibri"/>
                <a:cs typeface="Calibri"/>
              </a:rPr>
              <a:t>be</a:t>
            </a:r>
            <a:r>
              <a:rPr sz="1800" spc="-20" dirty="0">
                <a:latin typeface="Calibri"/>
                <a:cs typeface="Calibri"/>
              </a:rPr>
              <a:t> </a:t>
            </a:r>
            <a:r>
              <a:rPr sz="1800" dirty="0">
                <a:latin typeface="Calibri"/>
                <a:cs typeface="Calibri"/>
              </a:rPr>
              <a:t>backed</a:t>
            </a:r>
            <a:r>
              <a:rPr sz="1800" spc="-10" dirty="0">
                <a:latin typeface="Calibri"/>
                <a:cs typeface="Calibri"/>
              </a:rPr>
              <a:t> </a:t>
            </a:r>
            <a:r>
              <a:rPr sz="1800" dirty="0">
                <a:latin typeface="Calibri"/>
                <a:cs typeface="Calibri"/>
              </a:rPr>
              <a:t>up</a:t>
            </a:r>
            <a:r>
              <a:rPr sz="1800" spc="-15" dirty="0">
                <a:latin typeface="Calibri"/>
                <a:cs typeface="Calibri"/>
              </a:rPr>
              <a:t> </a:t>
            </a:r>
            <a:r>
              <a:rPr sz="1800" dirty="0">
                <a:latin typeface="Calibri"/>
                <a:cs typeface="Calibri"/>
              </a:rPr>
              <a:t>every</a:t>
            </a:r>
            <a:r>
              <a:rPr sz="1800" spc="-35" dirty="0">
                <a:latin typeface="Calibri"/>
                <a:cs typeface="Calibri"/>
              </a:rPr>
              <a:t> </a:t>
            </a:r>
            <a:r>
              <a:rPr sz="1800" dirty="0">
                <a:latin typeface="Calibri"/>
                <a:cs typeface="Calibri"/>
              </a:rPr>
              <a:t>24</a:t>
            </a:r>
            <a:r>
              <a:rPr sz="1800" spc="-15" dirty="0">
                <a:latin typeface="Calibri"/>
                <a:cs typeface="Calibri"/>
              </a:rPr>
              <a:t> </a:t>
            </a:r>
            <a:r>
              <a:rPr sz="1800" dirty="0">
                <a:latin typeface="Calibri"/>
                <a:cs typeface="Calibri"/>
              </a:rPr>
              <a:t>hours</a:t>
            </a:r>
            <a:r>
              <a:rPr sz="1800" spc="-25" dirty="0">
                <a:latin typeface="Calibri"/>
                <a:cs typeface="Calibri"/>
              </a:rPr>
              <a:t> </a:t>
            </a:r>
            <a:r>
              <a:rPr sz="1800" dirty="0">
                <a:latin typeface="Calibri"/>
                <a:cs typeface="Calibri"/>
              </a:rPr>
              <a:t>and</a:t>
            </a:r>
            <a:r>
              <a:rPr sz="1800" spc="-5" dirty="0">
                <a:latin typeface="Calibri"/>
                <a:cs typeface="Calibri"/>
              </a:rPr>
              <a:t> </a:t>
            </a:r>
            <a:r>
              <a:rPr sz="1800" dirty="0">
                <a:latin typeface="Calibri"/>
                <a:cs typeface="Calibri"/>
              </a:rPr>
              <a:t>the</a:t>
            </a:r>
            <a:r>
              <a:rPr sz="1800" spc="-10" dirty="0">
                <a:latin typeface="Calibri"/>
                <a:cs typeface="Calibri"/>
              </a:rPr>
              <a:t> </a:t>
            </a:r>
            <a:r>
              <a:rPr sz="1800" dirty="0">
                <a:latin typeface="Calibri"/>
                <a:cs typeface="Calibri"/>
              </a:rPr>
              <a:t>backup</a:t>
            </a:r>
            <a:r>
              <a:rPr sz="1800" spc="-15" dirty="0">
                <a:latin typeface="Calibri"/>
                <a:cs typeface="Calibri"/>
              </a:rPr>
              <a:t> </a:t>
            </a:r>
            <a:r>
              <a:rPr sz="1800" dirty="0">
                <a:latin typeface="Calibri"/>
                <a:cs typeface="Calibri"/>
              </a:rPr>
              <a:t>copies</a:t>
            </a:r>
            <a:r>
              <a:rPr sz="1800" spc="-25" dirty="0">
                <a:latin typeface="Calibri"/>
                <a:cs typeface="Calibri"/>
              </a:rPr>
              <a:t> </a:t>
            </a:r>
            <a:r>
              <a:rPr sz="1800" dirty="0">
                <a:latin typeface="Calibri"/>
                <a:cs typeface="Calibri"/>
              </a:rPr>
              <a:t>stored</a:t>
            </a:r>
            <a:r>
              <a:rPr sz="1800" spc="-20" dirty="0">
                <a:latin typeface="Calibri"/>
                <a:cs typeface="Calibri"/>
              </a:rPr>
              <a:t> </a:t>
            </a:r>
            <a:r>
              <a:rPr sz="1800" dirty="0">
                <a:latin typeface="Calibri"/>
                <a:cs typeface="Calibri"/>
              </a:rPr>
              <a:t>in</a:t>
            </a:r>
            <a:r>
              <a:rPr sz="1800" spc="-20" dirty="0">
                <a:latin typeface="Calibri"/>
                <a:cs typeface="Calibri"/>
              </a:rPr>
              <a:t> </a:t>
            </a:r>
            <a:r>
              <a:rPr sz="1800" dirty="0">
                <a:latin typeface="Calibri"/>
                <a:cs typeface="Calibri"/>
              </a:rPr>
              <a:t>a</a:t>
            </a:r>
            <a:r>
              <a:rPr sz="1800" spc="-15" dirty="0">
                <a:latin typeface="Calibri"/>
                <a:cs typeface="Calibri"/>
              </a:rPr>
              <a:t> </a:t>
            </a:r>
            <a:r>
              <a:rPr sz="1800" dirty="0">
                <a:latin typeface="Calibri"/>
                <a:cs typeface="Calibri"/>
              </a:rPr>
              <a:t>secure</a:t>
            </a:r>
            <a:r>
              <a:rPr sz="1800" spc="-20" dirty="0">
                <a:latin typeface="Calibri"/>
                <a:cs typeface="Calibri"/>
              </a:rPr>
              <a:t> </a:t>
            </a:r>
            <a:r>
              <a:rPr sz="1800" spc="-10" dirty="0">
                <a:latin typeface="Calibri"/>
                <a:cs typeface="Calibri"/>
              </a:rPr>
              <a:t>location</a:t>
            </a:r>
            <a:endParaRPr sz="1800" dirty="0">
              <a:latin typeface="Calibri"/>
              <a:cs typeface="Calibri"/>
            </a:endParaRPr>
          </a:p>
          <a:p>
            <a:pPr marL="927100">
              <a:lnSpc>
                <a:spcPts val="2050"/>
              </a:lnSpc>
            </a:pPr>
            <a:r>
              <a:rPr sz="1800" dirty="0">
                <a:latin typeface="Calibri"/>
                <a:cs typeface="Calibri"/>
              </a:rPr>
              <a:t>which is</a:t>
            </a:r>
            <a:r>
              <a:rPr sz="1800" spc="-5" dirty="0">
                <a:latin typeface="Calibri"/>
                <a:cs typeface="Calibri"/>
              </a:rPr>
              <a:t> </a:t>
            </a:r>
            <a:r>
              <a:rPr sz="1800" dirty="0">
                <a:latin typeface="Calibri"/>
                <a:cs typeface="Calibri"/>
              </a:rPr>
              <a:t>not in</a:t>
            </a:r>
            <a:r>
              <a:rPr sz="1800" spc="5" dirty="0">
                <a:latin typeface="Calibri"/>
                <a:cs typeface="Calibri"/>
              </a:rPr>
              <a:t> </a:t>
            </a:r>
            <a:r>
              <a:rPr sz="1800" dirty="0">
                <a:latin typeface="Calibri"/>
                <a:cs typeface="Calibri"/>
              </a:rPr>
              <a:t>the</a:t>
            </a:r>
            <a:r>
              <a:rPr sz="1800" spc="405" dirty="0">
                <a:latin typeface="Calibri"/>
                <a:cs typeface="Calibri"/>
              </a:rPr>
              <a:t> </a:t>
            </a:r>
            <a:r>
              <a:rPr sz="1800" dirty="0">
                <a:latin typeface="Calibri"/>
                <a:cs typeface="Calibri"/>
              </a:rPr>
              <a:t>same</a:t>
            </a:r>
            <a:r>
              <a:rPr sz="1800" spc="-15" dirty="0">
                <a:latin typeface="Calibri"/>
                <a:cs typeface="Calibri"/>
              </a:rPr>
              <a:t> </a:t>
            </a:r>
            <a:r>
              <a:rPr sz="1800" dirty="0">
                <a:latin typeface="Calibri"/>
                <a:cs typeface="Calibri"/>
              </a:rPr>
              <a:t>building</a:t>
            </a:r>
            <a:r>
              <a:rPr sz="1800" spc="15" dirty="0">
                <a:latin typeface="Calibri"/>
                <a:cs typeface="Calibri"/>
              </a:rPr>
              <a:t> </a:t>
            </a:r>
            <a:r>
              <a:rPr sz="1800" dirty="0">
                <a:latin typeface="Calibri"/>
                <a:cs typeface="Calibri"/>
              </a:rPr>
              <a:t>as</a:t>
            </a:r>
            <a:r>
              <a:rPr sz="1800" spc="-5" dirty="0">
                <a:latin typeface="Calibri"/>
                <a:cs typeface="Calibri"/>
              </a:rPr>
              <a:t> </a:t>
            </a:r>
            <a:r>
              <a:rPr sz="1800" dirty="0">
                <a:latin typeface="Calibri"/>
                <a:cs typeface="Calibri"/>
              </a:rPr>
              <a:t>the</a:t>
            </a:r>
            <a:r>
              <a:rPr sz="1800" spc="-5" dirty="0">
                <a:latin typeface="Calibri"/>
                <a:cs typeface="Calibri"/>
              </a:rPr>
              <a:t> </a:t>
            </a:r>
            <a:r>
              <a:rPr sz="1800" spc="-10" dirty="0">
                <a:latin typeface="Calibri"/>
                <a:cs typeface="Calibri"/>
              </a:rPr>
              <a:t>system</a:t>
            </a:r>
            <a:endParaRPr sz="1800" dirty="0">
              <a:latin typeface="Calibri"/>
              <a:cs typeface="Calibri"/>
            </a:endParaRPr>
          </a:p>
          <a:p>
            <a:pPr marL="405765">
              <a:lnSpc>
                <a:spcPct val="100000"/>
              </a:lnSpc>
              <a:spcBef>
                <a:spcPts val="290"/>
              </a:spcBef>
              <a:tabLst>
                <a:tab pos="927100" algn="l"/>
              </a:tabLst>
            </a:pPr>
            <a:r>
              <a:rPr sz="1800" spc="-25" dirty="0">
                <a:latin typeface="Calibri"/>
                <a:cs typeface="Calibri"/>
              </a:rPr>
              <a:t>R5</a:t>
            </a:r>
            <a:r>
              <a:rPr sz="1800" dirty="0">
                <a:latin typeface="Calibri"/>
                <a:cs typeface="Calibri"/>
              </a:rPr>
              <a:t>	All</a:t>
            </a:r>
            <a:r>
              <a:rPr sz="1800" spc="-40" dirty="0">
                <a:latin typeface="Calibri"/>
                <a:cs typeface="Calibri"/>
              </a:rPr>
              <a:t> </a:t>
            </a:r>
            <a:r>
              <a:rPr sz="1800" dirty="0">
                <a:latin typeface="Calibri"/>
                <a:cs typeface="Calibri"/>
              </a:rPr>
              <a:t>external</a:t>
            </a:r>
            <a:r>
              <a:rPr sz="1800" spc="-20" dirty="0">
                <a:latin typeface="Calibri"/>
                <a:cs typeface="Calibri"/>
              </a:rPr>
              <a:t> </a:t>
            </a:r>
            <a:r>
              <a:rPr sz="1800" dirty="0">
                <a:latin typeface="Calibri"/>
                <a:cs typeface="Calibri"/>
              </a:rPr>
              <a:t>communications</a:t>
            </a:r>
            <a:r>
              <a:rPr sz="1800" spc="-10" dirty="0">
                <a:latin typeface="Calibri"/>
                <a:cs typeface="Calibri"/>
              </a:rPr>
              <a:t> </a:t>
            </a:r>
            <a:r>
              <a:rPr sz="1800" dirty="0">
                <a:latin typeface="Calibri"/>
                <a:cs typeface="Calibri"/>
              </a:rPr>
              <a:t>between</a:t>
            </a:r>
            <a:r>
              <a:rPr sz="1800" spc="-30" dirty="0">
                <a:latin typeface="Calibri"/>
                <a:cs typeface="Calibri"/>
              </a:rPr>
              <a:t> </a:t>
            </a:r>
            <a:r>
              <a:rPr sz="1800" dirty="0">
                <a:latin typeface="Calibri"/>
                <a:cs typeface="Calibri"/>
              </a:rPr>
              <a:t>the</a:t>
            </a:r>
            <a:r>
              <a:rPr sz="1800" spc="-10" dirty="0">
                <a:latin typeface="Calibri"/>
                <a:cs typeface="Calibri"/>
              </a:rPr>
              <a:t> </a:t>
            </a:r>
            <a:r>
              <a:rPr sz="1800" spc="-20" dirty="0">
                <a:latin typeface="Calibri"/>
                <a:cs typeface="Calibri"/>
              </a:rPr>
              <a:t>system’s</a:t>
            </a:r>
            <a:r>
              <a:rPr sz="1800" spc="-35" dirty="0">
                <a:latin typeface="Calibri"/>
                <a:cs typeface="Calibri"/>
              </a:rPr>
              <a:t> </a:t>
            </a:r>
            <a:r>
              <a:rPr sz="1800" dirty="0">
                <a:latin typeface="Calibri"/>
                <a:cs typeface="Calibri"/>
              </a:rPr>
              <a:t>data</a:t>
            </a:r>
            <a:r>
              <a:rPr sz="1800" spc="-30" dirty="0">
                <a:latin typeface="Calibri"/>
                <a:cs typeface="Calibri"/>
              </a:rPr>
              <a:t> </a:t>
            </a:r>
            <a:r>
              <a:rPr sz="1800" dirty="0">
                <a:latin typeface="Calibri"/>
                <a:cs typeface="Calibri"/>
              </a:rPr>
              <a:t>server</a:t>
            </a:r>
            <a:r>
              <a:rPr sz="1800" spc="-40" dirty="0">
                <a:latin typeface="Calibri"/>
                <a:cs typeface="Calibri"/>
              </a:rPr>
              <a:t> </a:t>
            </a:r>
            <a:r>
              <a:rPr sz="1800" dirty="0">
                <a:latin typeface="Calibri"/>
                <a:cs typeface="Calibri"/>
              </a:rPr>
              <a:t>and</a:t>
            </a:r>
            <a:r>
              <a:rPr sz="1800" spc="-10" dirty="0">
                <a:latin typeface="Calibri"/>
                <a:cs typeface="Calibri"/>
              </a:rPr>
              <a:t> </a:t>
            </a:r>
            <a:r>
              <a:rPr sz="1800" dirty="0">
                <a:latin typeface="Calibri"/>
                <a:cs typeface="Calibri"/>
              </a:rPr>
              <a:t>clients</a:t>
            </a:r>
            <a:r>
              <a:rPr sz="1800" spc="10" dirty="0">
                <a:latin typeface="Calibri"/>
                <a:cs typeface="Calibri"/>
              </a:rPr>
              <a:t> </a:t>
            </a:r>
            <a:r>
              <a:rPr sz="1800" u="sng" dirty="0">
                <a:uFill>
                  <a:solidFill>
                    <a:srgbClr val="000000"/>
                  </a:solidFill>
                </a:uFill>
                <a:latin typeface="Calibri"/>
                <a:cs typeface="Calibri"/>
              </a:rPr>
              <a:t>shall</a:t>
            </a:r>
            <a:r>
              <a:rPr sz="1800" spc="-35" dirty="0">
                <a:latin typeface="Calibri"/>
                <a:cs typeface="Calibri"/>
              </a:rPr>
              <a:t> </a:t>
            </a:r>
            <a:r>
              <a:rPr sz="1800" dirty="0">
                <a:latin typeface="Calibri"/>
                <a:cs typeface="Calibri"/>
              </a:rPr>
              <a:t>be</a:t>
            </a:r>
            <a:r>
              <a:rPr sz="1800" spc="-10" dirty="0">
                <a:latin typeface="Calibri"/>
                <a:cs typeface="Calibri"/>
              </a:rPr>
              <a:t> encrypted</a:t>
            </a:r>
            <a:endParaRPr sz="1800" dirty="0">
              <a:latin typeface="Calibri"/>
              <a:cs typeface="Calibri"/>
            </a:endParaRPr>
          </a:p>
          <a:p>
            <a:pPr marL="1384300">
              <a:lnSpc>
                <a:spcPct val="100000"/>
              </a:lnSpc>
              <a:spcBef>
                <a:spcPts val="275"/>
              </a:spcBef>
            </a:pPr>
            <a:r>
              <a:rPr sz="1800" i="1" dirty="0">
                <a:latin typeface="Calibri"/>
                <a:cs typeface="Calibri"/>
              </a:rPr>
              <a:t>3,</a:t>
            </a:r>
            <a:r>
              <a:rPr sz="1800" i="1" spc="-10" dirty="0">
                <a:latin typeface="Calibri"/>
                <a:cs typeface="Calibri"/>
              </a:rPr>
              <a:t> </a:t>
            </a:r>
            <a:r>
              <a:rPr sz="1800" i="1" dirty="0">
                <a:latin typeface="Calibri"/>
                <a:cs typeface="Calibri"/>
              </a:rPr>
              <a:t>4</a:t>
            </a:r>
            <a:r>
              <a:rPr sz="1800" i="1" spc="-10" dirty="0">
                <a:latin typeface="Calibri"/>
                <a:cs typeface="Calibri"/>
              </a:rPr>
              <a:t> </a:t>
            </a:r>
            <a:r>
              <a:rPr sz="1800" i="1" dirty="0">
                <a:latin typeface="Calibri"/>
                <a:cs typeface="Calibri"/>
              </a:rPr>
              <a:t>&amp; 5</a:t>
            </a:r>
            <a:r>
              <a:rPr sz="1800" i="1" spc="-10" dirty="0">
                <a:latin typeface="Calibri"/>
                <a:cs typeface="Calibri"/>
              </a:rPr>
              <a:t> </a:t>
            </a:r>
            <a:r>
              <a:rPr sz="1800" i="1" dirty="0">
                <a:latin typeface="Calibri"/>
                <a:cs typeface="Calibri"/>
              </a:rPr>
              <a:t>security </a:t>
            </a:r>
            <a:r>
              <a:rPr sz="1800" i="1" spc="-10" dirty="0">
                <a:latin typeface="Calibri"/>
                <a:cs typeface="Calibri"/>
              </a:rPr>
              <a:t>requirements</a:t>
            </a:r>
            <a:endParaRPr sz="1800"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20547" rIns="0" bIns="0" rtlCol="0">
            <a:spAutoFit/>
          </a:bodyPr>
          <a:lstStyle/>
          <a:p>
            <a:pPr marL="12700">
              <a:lnSpc>
                <a:spcPct val="100000"/>
              </a:lnSpc>
              <a:spcBef>
                <a:spcPts val="105"/>
              </a:spcBef>
            </a:pPr>
            <a:r>
              <a:rPr spc="-10" dirty="0"/>
              <a:t>Non-</a:t>
            </a:r>
            <a:r>
              <a:rPr dirty="0"/>
              <a:t>functional</a:t>
            </a:r>
            <a:r>
              <a:rPr spc="-15" dirty="0"/>
              <a:t> </a:t>
            </a:r>
            <a:r>
              <a:rPr spc="-10" dirty="0"/>
              <a:t>requirements</a:t>
            </a:r>
          </a:p>
        </p:txBody>
      </p:sp>
      <p:sp>
        <p:nvSpPr>
          <p:cNvPr id="3" name="object 3"/>
          <p:cNvSpPr txBox="1"/>
          <p:nvPr/>
        </p:nvSpPr>
        <p:spPr>
          <a:xfrm>
            <a:off x="1932558" y="1644396"/>
            <a:ext cx="9888220" cy="2446655"/>
          </a:xfrm>
          <a:prstGeom prst="rect">
            <a:avLst/>
          </a:prstGeom>
        </p:spPr>
        <p:txBody>
          <a:bodyPr vert="horz" wrap="square" lIns="0" tIns="49530" rIns="0" bIns="0" rtlCol="0">
            <a:spAutoFit/>
          </a:bodyPr>
          <a:lstStyle/>
          <a:p>
            <a:pPr marL="12700">
              <a:lnSpc>
                <a:spcPct val="100000"/>
              </a:lnSpc>
              <a:spcBef>
                <a:spcPts val="390"/>
              </a:spcBef>
              <a:tabLst>
                <a:tab pos="534035" algn="l"/>
              </a:tabLst>
            </a:pPr>
            <a:r>
              <a:rPr sz="1800" spc="-25" dirty="0">
                <a:latin typeface="Calibri"/>
                <a:cs typeface="Calibri"/>
              </a:rPr>
              <a:t>R6</a:t>
            </a:r>
            <a:r>
              <a:rPr sz="1800" dirty="0">
                <a:latin typeface="Calibri"/>
                <a:cs typeface="Calibri"/>
              </a:rPr>
              <a:t>	Novice</a:t>
            </a:r>
            <a:r>
              <a:rPr sz="1800" spc="-15" dirty="0">
                <a:latin typeface="Calibri"/>
                <a:cs typeface="Calibri"/>
              </a:rPr>
              <a:t> </a:t>
            </a:r>
            <a:r>
              <a:rPr sz="1800" dirty="0">
                <a:latin typeface="Calibri"/>
                <a:cs typeface="Calibri"/>
              </a:rPr>
              <a:t>users</a:t>
            </a:r>
            <a:r>
              <a:rPr sz="1800" spc="-10" dirty="0">
                <a:latin typeface="Calibri"/>
                <a:cs typeface="Calibri"/>
              </a:rPr>
              <a:t> </a:t>
            </a:r>
            <a:r>
              <a:rPr sz="1800" u="sng" dirty="0">
                <a:uFill>
                  <a:solidFill>
                    <a:srgbClr val="000000"/>
                  </a:solidFill>
                </a:uFill>
                <a:latin typeface="Calibri"/>
                <a:cs typeface="Calibri"/>
              </a:rPr>
              <a:t>shall</a:t>
            </a:r>
            <a:r>
              <a:rPr sz="1800" spc="-20" dirty="0">
                <a:latin typeface="Calibri"/>
                <a:cs typeface="Calibri"/>
              </a:rPr>
              <a:t> </a:t>
            </a:r>
            <a:r>
              <a:rPr sz="1800" dirty="0">
                <a:latin typeface="Calibri"/>
                <a:cs typeface="Calibri"/>
              </a:rPr>
              <a:t>perform</a:t>
            </a:r>
            <a:r>
              <a:rPr sz="1800" spc="-20" dirty="0">
                <a:latin typeface="Calibri"/>
                <a:cs typeface="Calibri"/>
              </a:rPr>
              <a:t> </a:t>
            </a:r>
            <a:r>
              <a:rPr sz="1800" dirty="0">
                <a:latin typeface="Calibri"/>
                <a:cs typeface="Calibri"/>
              </a:rPr>
              <a:t>task</a:t>
            </a:r>
            <a:r>
              <a:rPr sz="1800" spc="-35" dirty="0">
                <a:latin typeface="Calibri"/>
                <a:cs typeface="Calibri"/>
              </a:rPr>
              <a:t> </a:t>
            </a:r>
            <a:r>
              <a:rPr sz="1800" dirty="0">
                <a:latin typeface="Calibri"/>
                <a:cs typeface="Calibri"/>
              </a:rPr>
              <a:t>X</a:t>
            </a:r>
            <a:r>
              <a:rPr sz="1800" spc="-10" dirty="0">
                <a:latin typeface="Calibri"/>
                <a:cs typeface="Calibri"/>
              </a:rPr>
              <a:t> </a:t>
            </a:r>
            <a:r>
              <a:rPr sz="1800" dirty="0">
                <a:latin typeface="Calibri"/>
                <a:cs typeface="Calibri"/>
              </a:rPr>
              <a:t>in</a:t>
            </a:r>
            <a:r>
              <a:rPr sz="1800" spc="-10" dirty="0">
                <a:latin typeface="Calibri"/>
                <a:cs typeface="Calibri"/>
              </a:rPr>
              <a:t> </a:t>
            </a:r>
            <a:r>
              <a:rPr sz="1800" dirty="0">
                <a:latin typeface="Calibri"/>
                <a:cs typeface="Calibri"/>
              </a:rPr>
              <a:t>Y</a:t>
            </a:r>
            <a:r>
              <a:rPr sz="1800" spc="-20" dirty="0">
                <a:latin typeface="Calibri"/>
                <a:cs typeface="Calibri"/>
              </a:rPr>
              <a:t> </a:t>
            </a:r>
            <a:r>
              <a:rPr sz="1800" spc="-10" dirty="0">
                <a:latin typeface="Calibri"/>
                <a:cs typeface="Calibri"/>
              </a:rPr>
              <a:t>minutes.</a:t>
            </a:r>
            <a:endParaRPr sz="1800">
              <a:latin typeface="Calibri"/>
              <a:cs typeface="Calibri"/>
            </a:endParaRPr>
          </a:p>
          <a:p>
            <a:pPr marL="12700">
              <a:lnSpc>
                <a:spcPct val="100000"/>
              </a:lnSpc>
              <a:spcBef>
                <a:spcPts val="290"/>
              </a:spcBef>
              <a:tabLst>
                <a:tab pos="534035" algn="l"/>
              </a:tabLst>
            </a:pPr>
            <a:r>
              <a:rPr sz="1800" spc="-25" dirty="0">
                <a:latin typeface="Calibri"/>
                <a:cs typeface="Calibri"/>
              </a:rPr>
              <a:t>R7</a:t>
            </a:r>
            <a:r>
              <a:rPr sz="1800" dirty="0">
                <a:latin typeface="Calibri"/>
                <a:cs typeface="Calibri"/>
              </a:rPr>
              <a:t>	The</a:t>
            </a:r>
            <a:r>
              <a:rPr sz="1800" spc="-35" dirty="0">
                <a:latin typeface="Calibri"/>
                <a:cs typeface="Calibri"/>
              </a:rPr>
              <a:t> </a:t>
            </a:r>
            <a:r>
              <a:rPr sz="1800" dirty="0">
                <a:latin typeface="Calibri"/>
                <a:cs typeface="Calibri"/>
              </a:rPr>
              <a:t>system</a:t>
            </a:r>
            <a:r>
              <a:rPr sz="1800" spc="-15" dirty="0">
                <a:latin typeface="Calibri"/>
                <a:cs typeface="Calibri"/>
              </a:rPr>
              <a:t> </a:t>
            </a:r>
            <a:r>
              <a:rPr sz="1800" u="sng" dirty="0">
                <a:uFill>
                  <a:solidFill>
                    <a:srgbClr val="000000"/>
                  </a:solidFill>
                </a:uFill>
                <a:latin typeface="Calibri"/>
                <a:cs typeface="Calibri"/>
              </a:rPr>
              <a:t>shall</a:t>
            </a:r>
            <a:r>
              <a:rPr sz="1800" spc="-35" dirty="0">
                <a:latin typeface="Calibri"/>
                <a:cs typeface="Calibri"/>
              </a:rPr>
              <a:t> </a:t>
            </a:r>
            <a:r>
              <a:rPr sz="1800" dirty="0">
                <a:latin typeface="Calibri"/>
                <a:cs typeface="Calibri"/>
              </a:rPr>
              <a:t>use</a:t>
            </a:r>
            <a:r>
              <a:rPr sz="1800" spc="-20" dirty="0">
                <a:latin typeface="Calibri"/>
                <a:cs typeface="Calibri"/>
              </a:rPr>
              <a:t> </a:t>
            </a:r>
            <a:r>
              <a:rPr sz="1800" dirty="0">
                <a:latin typeface="Calibri"/>
                <a:cs typeface="Calibri"/>
              </a:rPr>
              <a:t>the</a:t>
            </a:r>
            <a:r>
              <a:rPr sz="1800" spc="-5" dirty="0">
                <a:latin typeface="Calibri"/>
                <a:cs typeface="Calibri"/>
              </a:rPr>
              <a:t> </a:t>
            </a:r>
            <a:r>
              <a:rPr sz="1800" dirty="0">
                <a:latin typeface="Calibri"/>
                <a:cs typeface="Calibri"/>
              </a:rPr>
              <a:t>screen</a:t>
            </a:r>
            <a:r>
              <a:rPr sz="1800" spc="-30" dirty="0">
                <a:latin typeface="Calibri"/>
                <a:cs typeface="Calibri"/>
              </a:rPr>
              <a:t> </a:t>
            </a:r>
            <a:r>
              <a:rPr sz="1800" dirty="0">
                <a:latin typeface="Calibri"/>
                <a:cs typeface="Calibri"/>
              </a:rPr>
              <a:t>pictures</a:t>
            </a:r>
            <a:r>
              <a:rPr sz="1800" spc="-5" dirty="0">
                <a:latin typeface="Calibri"/>
                <a:cs typeface="Calibri"/>
              </a:rPr>
              <a:t> </a:t>
            </a:r>
            <a:r>
              <a:rPr sz="1800" dirty="0">
                <a:latin typeface="Calibri"/>
                <a:cs typeface="Calibri"/>
              </a:rPr>
              <a:t>shown</a:t>
            </a:r>
            <a:r>
              <a:rPr sz="1800" spc="-15" dirty="0">
                <a:latin typeface="Calibri"/>
                <a:cs typeface="Calibri"/>
              </a:rPr>
              <a:t> </a:t>
            </a:r>
            <a:r>
              <a:rPr sz="1800" dirty="0">
                <a:latin typeface="Calibri"/>
                <a:cs typeface="Calibri"/>
              </a:rPr>
              <a:t>in</a:t>
            </a:r>
            <a:r>
              <a:rPr sz="1800" spc="-10" dirty="0">
                <a:latin typeface="Calibri"/>
                <a:cs typeface="Calibri"/>
              </a:rPr>
              <a:t> </a:t>
            </a:r>
            <a:r>
              <a:rPr sz="1800" dirty="0">
                <a:latin typeface="Calibri"/>
                <a:cs typeface="Calibri"/>
              </a:rPr>
              <a:t>App.</a:t>
            </a:r>
            <a:r>
              <a:rPr sz="1800" spc="-25" dirty="0">
                <a:latin typeface="Calibri"/>
                <a:cs typeface="Calibri"/>
              </a:rPr>
              <a:t> xx.</a:t>
            </a:r>
            <a:endParaRPr sz="1800">
              <a:latin typeface="Calibri"/>
              <a:cs typeface="Calibri"/>
            </a:endParaRPr>
          </a:p>
          <a:p>
            <a:pPr marL="12700" marR="2867025">
              <a:lnSpc>
                <a:spcPct val="112799"/>
              </a:lnSpc>
              <a:spcBef>
                <a:spcPts val="10"/>
              </a:spcBef>
              <a:tabLst>
                <a:tab pos="534035" algn="l"/>
              </a:tabLst>
            </a:pPr>
            <a:r>
              <a:rPr sz="1800" spc="-25" dirty="0">
                <a:latin typeface="Calibri"/>
                <a:cs typeface="Calibri"/>
              </a:rPr>
              <a:t>R8</a:t>
            </a:r>
            <a:r>
              <a:rPr sz="1800" dirty="0">
                <a:latin typeface="Calibri"/>
                <a:cs typeface="Calibri"/>
              </a:rPr>
              <a:t>	The</a:t>
            </a:r>
            <a:r>
              <a:rPr sz="1800" spc="-25" dirty="0">
                <a:latin typeface="Calibri"/>
                <a:cs typeface="Calibri"/>
              </a:rPr>
              <a:t> </a:t>
            </a:r>
            <a:r>
              <a:rPr sz="1800" dirty="0">
                <a:latin typeface="Calibri"/>
                <a:cs typeface="Calibri"/>
              </a:rPr>
              <a:t>menu</a:t>
            </a:r>
            <a:r>
              <a:rPr sz="1800" spc="-5" dirty="0">
                <a:latin typeface="Calibri"/>
                <a:cs typeface="Calibri"/>
              </a:rPr>
              <a:t> </a:t>
            </a:r>
            <a:r>
              <a:rPr sz="1800" dirty="0">
                <a:latin typeface="Calibri"/>
                <a:cs typeface="Calibri"/>
              </a:rPr>
              <a:t>points</a:t>
            </a:r>
            <a:r>
              <a:rPr sz="1800" spc="-20" dirty="0">
                <a:latin typeface="Calibri"/>
                <a:cs typeface="Calibri"/>
              </a:rPr>
              <a:t> </a:t>
            </a:r>
            <a:r>
              <a:rPr sz="1800" dirty="0">
                <a:latin typeface="Calibri"/>
                <a:cs typeface="Calibri"/>
              </a:rPr>
              <a:t>and</a:t>
            </a:r>
            <a:r>
              <a:rPr sz="1800" spc="-5" dirty="0">
                <a:latin typeface="Calibri"/>
                <a:cs typeface="Calibri"/>
              </a:rPr>
              <a:t> </a:t>
            </a:r>
            <a:r>
              <a:rPr sz="1800" dirty="0">
                <a:latin typeface="Calibri"/>
                <a:cs typeface="Calibri"/>
              </a:rPr>
              <a:t>push</a:t>
            </a:r>
            <a:r>
              <a:rPr sz="1800" spc="-15" dirty="0">
                <a:latin typeface="Calibri"/>
                <a:cs typeface="Calibri"/>
              </a:rPr>
              <a:t> </a:t>
            </a:r>
            <a:r>
              <a:rPr sz="1800" dirty="0">
                <a:latin typeface="Calibri"/>
                <a:cs typeface="Calibri"/>
              </a:rPr>
              <a:t>buttons</a:t>
            </a:r>
            <a:r>
              <a:rPr sz="1800" spc="10" dirty="0">
                <a:latin typeface="Calibri"/>
                <a:cs typeface="Calibri"/>
              </a:rPr>
              <a:t> </a:t>
            </a:r>
            <a:r>
              <a:rPr sz="1800" u="sng" dirty="0">
                <a:uFill>
                  <a:solidFill>
                    <a:srgbClr val="000000"/>
                  </a:solidFill>
                </a:uFill>
                <a:latin typeface="Calibri"/>
                <a:cs typeface="Calibri"/>
              </a:rPr>
              <a:t>shall</a:t>
            </a:r>
            <a:r>
              <a:rPr sz="1800" spc="-25" dirty="0">
                <a:latin typeface="Calibri"/>
                <a:cs typeface="Calibri"/>
              </a:rPr>
              <a:t> </a:t>
            </a:r>
            <a:r>
              <a:rPr sz="1800" dirty="0">
                <a:latin typeface="Calibri"/>
                <a:cs typeface="Calibri"/>
              </a:rPr>
              <a:t>function</a:t>
            </a:r>
            <a:r>
              <a:rPr sz="1800" spc="5" dirty="0">
                <a:latin typeface="Calibri"/>
                <a:cs typeface="Calibri"/>
              </a:rPr>
              <a:t> </a:t>
            </a:r>
            <a:r>
              <a:rPr sz="1800" dirty="0">
                <a:latin typeface="Calibri"/>
                <a:cs typeface="Calibri"/>
              </a:rPr>
              <a:t>as</a:t>
            </a:r>
            <a:r>
              <a:rPr sz="1800" spc="-15" dirty="0">
                <a:latin typeface="Calibri"/>
                <a:cs typeface="Calibri"/>
              </a:rPr>
              <a:t> </a:t>
            </a:r>
            <a:r>
              <a:rPr sz="1800" dirty="0">
                <a:latin typeface="Calibri"/>
                <a:cs typeface="Calibri"/>
              </a:rPr>
              <a:t>shown</a:t>
            </a:r>
            <a:r>
              <a:rPr sz="1800" spc="-5" dirty="0">
                <a:latin typeface="Calibri"/>
                <a:cs typeface="Calibri"/>
              </a:rPr>
              <a:t> </a:t>
            </a:r>
            <a:r>
              <a:rPr sz="1800" dirty="0">
                <a:latin typeface="Calibri"/>
                <a:cs typeface="Calibri"/>
              </a:rPr>
              <a:t>in</a:t>
            </a:r>
            <a:r>
              <a:rPr sz="1800" spc="-15" dirty="0">
                <a:latin typeface="Calibri"/>
                <a:cs typeface="Calibri"/>
              </a:rPr>
              <a:t> </a:t>
            </a:r>
            <a:r>
              <a:rPr sz="1800" dirty="0">
                <a:latin typeface="Calibri"/>
                <a:cs typeface="Calibri"/>
              </a:rPr>
              <a:t>App.</a:t>
            </a:r>
            <a:r>
              <a:rPr sz="1800" spc="5" dirty="0">
                <a:latin typeface="Calibri"/>
                <a:cs typeface="Calibri"/>
              </a:rPr>
              <a:t> </a:t>
            </a:r>
            <a:r>
              <a:rPr sz="1800" spc="-25" dirty="0">
                <a:latin typeface="Calibri"/>
                <a:cs typeface="Calibri"/>
              </a:rPr>
              <a:t>yy. R9</a:t>
            </a:r>
            <a:r>
              <a:rPr sz="1800" dirty="0">
                <a:latin typeface="Calibri"/>
                <a:cs typeface="Calibri"/>
              </a:rPr>
              <a:t>	The</a:t>
            </a:r>
            <a:r>
              <a:rPr sz="1800" spc="-45" dirty="0">
                <a:latin typeface="Calibri"/>
                <a:cs typeface="Calibri"/>
              </a:rPr>
              <a:t> </a:t>
            </a:r>
            <a:r>
              <a:rPr sz="1800" dirty="0">
                <a:latin typeface="Calibri"/>
                <a:cs typeface="Calibri"/>
              </a:rPr>
              <a:t>system</a:t>
            </a:r>
            <a:r>
              <a:rPr sz="1800" spc="-25" dirty="0">
                <a:latin typeface="Calibri"/>
                <a:cs typeface="Calibri"/>
              </a:rPr>
              <a:t> </a:t>
            </a:r>
            <a:r>
              <a:rPr sz="1800" u="sng" dirty="0">
                <a:uFill>
                  <a:solidFill>
                    <a:srgbClr val="000000"/>
                  </a:solidFill>
                </a:uFill>
                <a:latin typeface="Calibri"/>
                <a:cs typeface="Calibri"/>
              </a:rPr>
              <a:t>shall</a:t>
            </a:r>
            <a:r>
              <a:rPr sz="1800" spc="-40" dirty="0">
                <a:latin typeface="Calibri"/>
                <a:cs typeface="Calibri"/>
              </a:rPr>
              <a:t> </a:t>
            </a:r>
            <a:r>
              <a:rPr sz="1800" dirty="0">
                <a:latin typeface="Calibri"/>
                <a:cs typeface="Calibri"/>
              </a:rPr>
              <a:t>follow</a:t>
            </a:r>
            <a:r>
              <a:rPr sz="1800" spc="-15" dirty="0">
                <a:latin typeface="Calibri"/>
                <a:cs typeface="Calibri"/>
              </a:rPr>
              <a:t> </a:t>
            </a:r>
            <a:r>
              <a:rPr sz="1800" dirty="0">
                <a:latin typeface="Calibri"/>
                <a:cs typeface="Calibri"/>
              </a:rPr>
              <a:t>the</a:t>
            </a:r>
            <a:r>
              <a:rPr sz="1800" spc="-20" dirty="0">
                <a:latin typeface="Calibri"/>
                <a:cs typeface="Calibri"/>
              </a:rPr>
              <a:t> </a:t>
            </a:r>
            <a:r>
              <a:rPr sz="1800" spc="-10" dirty="0">
                <a:latin typeface="Calibri"/>
                <a:cs typeface="Calibri"/>
              </a:rPr>
              <a:t>MS-</a:t>
            </a:r>
            <a:r>
              <a:rPr sz="1800" dirty="0">
                <a:latin typeface="Calibri"/>
                <a:cs typeface="Calibri"/>
              </a:rPr>
              <a:t>Windows</a:t>
            </a:r>
            <a:r>
              <a:rPr sz="1800" spc="-15" dirty="0">
                <a:latin typeface="Calibri"/>
                <a:cs typeface="Calibri"/>
              </a:rPr>
              <a:t> </a:t>
            </a:r>
            <a:r>
              <a:rPr sz="1800" dirty="0">
                <a:latin typeface="Calibri"/>
                <a:cs typeface="Calibri"/>
              </a:rPr>
              <a:t>style</a:t>
            </a:r>
            <a:r>
              <a:rPr sz="1800" spc="-30" dirty="0">
                <a:latin typeface="Calibri"/>
                <a:cs typeface="Calibri"/>
              </a:rPr>
              <a:t> </a:t>
            </a:r>
            <a:r>
              <a:rPr sz="1800" spc="-10" dirty="0">
                <a:latin typeface="Calibri"/>
                <a:cs typeface="Calibri"/>
              </a:rPr>
              <a:t>guide.</a:t>
            </a:r>
            <a:endParaRPr sz="1800">
              <a:latin typeface="Calibri"/>
              <a:cs typeface="Calibri"/>
            </a:endParaRPr>
          </a:p>
          <a:p>
            <a:pPr marL="12700">
              <a:lnSpc>
                <a:spcPts val="2050"/>
              </a:lnSpc>
              <a:spcBef>
                <a:spcPts val="290"/>
              </a:spcBef>
              <a:tabLst>
                <a:tab pos="534035" algn="l"/>
              </a:tabLst>
            </a:pPr>
            <a:r>
              <a:rPr sz="1800" spc="-25" dirty="0">
                <a:latin typeface="Calibri"/>
                <a:cs typeface="Calibri"/>
              </a:rPr>
              <a:t>R10</a:t>
            </a:r>
            <a:r>
              <a:rPr sz="1800" dirty="0">
                <a:latin typeface="Calibri"/>
                <a:cs typeface="Calibri"/>
              </a:rPr>
              <a:t>	For</a:t>
            </a:r>
            <a:r>
              <a:rPr sz="1800" spc="-25" dirty="0">
                <a:latin typeface="Calibri"/>
                <a:cs typeface="Calibri"/>
              </a:rPr>
              <a:t> </a:t>
            </a:r>
            <a:r>
              <a:rPr sz="1800" dirty="0">
                <a:latin typeface="Calibri"/>
                <a:cs typeface="Calibri"/>
              </a:rPr>
              <a:t>input</a:t>
            </a:r>
            <a:r>
              <a:rPr sz="1800" spc="5" dirty="0">
                <a:latin typeface="Calibri"/>
                <a:cs typeface="Calibri"/>
              </a:rPr>
              <a:t> </a:t>
            </a:r>
            <a:r>
              <a:rPr sz="1800" dirty="0">
                <a:latin typeface="Calibri"/>
                <a:cs typeface="Calibri"/>
              </a:rPr>
              <a:t>fields</a:t>
            </a:r>
            <a:r>
              <a:rPr sz="1800" spc="-5" dirty="0">
                <a:latin typeface="Calibri"/>
                <a:cs typeface="Calibri"/>
              </a:rPr>
              <a:t> </a:t>
            </a:r>
            <a:r>
              <a:rPr sz="1800" dirty="0">
                <a:latin typeface="Calibri"/>
                <a:cs typeface="Calibri"/>
              </a:rPr>
              <a:t>with</a:t>
            </a:r>
            <a:r>
              <a:rPr sz="1800" spc="-5" dirty="0">
                <a:latin typeface="Calibri"/>
                <a:cs typeface="Calibri"/>
              </a:rPr>
              <a:t> </a:t>
            </a:r>
            <a:r>
              <a:rPr sz="1800" dirty="0">
                <a:latin typeface="Calibri"/>
                <a:cs typeface="Calibri"/>
              </a:rPr>
              <a:t>a</a:t>
            </a:r>
            <a:r>
              <a:rPr sz="1800" spc="-5" dirty="0">
                <a:latin typeface="Calibri"/>
                <a:cs typeface="Calibri"/>
              </a:rPr>
              <a:t> </a:t>
            </a:r>
            <a:r>
              <a:rPr sz="1800" dirty="0">
                <a:latin typeface="Calibri"/>
                <a:cs typeface="Calibri"/>
              </a:rPr>
              <a:t>limited set</a:t>
            </a:r>
            <a:r>
              <a:rPr sz="1800" spc="-20" dirty="0">
                <a:latin typeface="Calibri"/>
                <a:cs typeface="Calibri"/>
              </a:rPr>
              <a:t> </a:t>
            </a:r>
            <a:r>
              <a:rPr sz="1800" dirty="0">
                <a:latin typeface="Calibri"/>
                <a:cs typeface="Calibri"/>
              </a:rPr>
              <a:t>of</a:t>
            </a:r>
            <a:r>
              <a:rPr sz="1800" spc="-5" dirty="0">
                <a:latin typeface="Calibri"/>
                <a:cs typeface="Calibri"/>
              </a:rPr>
              <a:t> </a:t>
            </a:r>
            <a:r>
              <a:rPr sz="1800" dirty="0">
                <a:latin typeface="Calibri"/>
                <a:cs typeface="Calibri"/>
              </a:rPr>
              <a:t>values,</a:t>
            </a:r>
            <a:r>
              <a:rPr sz="1800" spc="-15" dirty="0">
                <a:latin typeface="Calibri"/>
                <a:cs typeface="Calibri"/>
              </a:rPr>
              <a:t> </a:t>
            </a:r>
            <a:r>
              <a:rPr sz="1800" dirty="0">
                <a:latin typeface="Calibri"/>
                <a:cs typeface="Calibri"/>
              </a:rPr>
              <a:t>it</a:t>
            </a:r>
            <a:r>
              <a:rPr sz="1800" spc="5" dirty="0">
                <a:latin typeface="Calibri"/>
                <a:cs typeface="Calibri"/>
              </a:rPr>
              <a:t> </a:t>
            </a:r>
            <a:r>
              <a:rPr sz="1800" u="sng" dirty="0">
                <a:uFill>
                  <a:solidFill>
                    <a:srgbClr val="000000"/>
                  </a:solidFill>
                </a:uFill>
                <a:latin typeface="Calibri"/>
                <a:cs typeface="Calibri"/>
              </a:rPr>
              <a:t>should</a:t>
            </a:r>
            <a:r>
              <a:rPr sz="1800" spc="-10" dirty="0">
                <a:latin typeface="Calibri"/>
                <a:cs typeface="Calibri"/>
              </a:rPr>
              <a:t> </a:t>
            </a:r>
            <a:r>
              <a:rPr sz="1800" dirty="0">
                <a:latin typeface="Calibri"/>
                <a:cs typeface="Calibri"/>
              </a:rPr>
              <a:t>be</a:t>
            </a:r>
            <a:r>
              <a:rPr sz="1800" spc="5" dirty="0">
                <a:latin typeface="Calibri"/>
                <a:cs typeface="Calibri"/>
              </a:rPr>
              <a:t> </a:t>
            </a:r>
            <a:r>
              <a:rPr sz="1800" dirty="0">
                <a:latin typeface="Calibri"/>
                <a:cs typeface="Calibri"/>
              </a:rPr>
              <a:t>possible</a:t>
            </a:r>
            <a:r>
              <a:rPr sz="1800" spc="-15" dirty="0">
                <a:latin typeface="Calibri"/>
                <a:cs typeface="Calibri"/>
              </a:rPr>
              <a:t> </a:t>
            </a:r>
            <a:r>
              <a:rPr sz="1800" dirty="0">
                <a:latin typeface="Calibri"/>
                <a:cs typeface="Calibri"/>
              </a:rPr>
              <a:t>for</a:t>
            </a:r>
            <a:r>
              <a:rPr sz="1800" spc="-15" dirty="0">
                <a:latin typeface="Calibri"/>
                <a:cs typeface="Calibri"/>
              </a:rPr>
              <a:t> </a:t>
            </a:r>
            <a:r>
              <a:rPr sz="1800" dirty="0">
                <a:latin typeface="Calibri"/>
                <a:cs typeface="Calibri"/>
              </a:rPr>
              <a:t>the</a:t>
            </a:r>
            <a:r>
              <a:rPr sz="1800" spc="5" dirty="0">
                <a:latin typeface="Calibri"/>
                <a:cs typeface="Calibri"/>
              </a:rPr>
              <a:t> </a:t>
            </a:r>
            <a:r>
              <a:rPr sz="1800" dirty="0">
                <a:latin typeface="Calibri"/>
                <a:cs typeface="Calibri"/>
              </a:rPr>
              <a:t>user</a:t>
            </a:r>
            <a:r>
              <a:rPr sz="1800" spc="-15" dirty="0">
                <a:latin typeface="Calibri"/>
                <a:cs typeface="Calibri"/>
              </a:rPr>
              <a:t> </a:t>
            </a:r>
            <a:r>
              <a:rPr sz="1800" dirty="0">
                <a:latin typeface="Calibri"/>
                <a:cs typeface="Calibri"/>
              </a:rPr>
              <a:t>to</a:t>
            </a:r>
            <a:r>
              <a:rPr sz="1800" spc="-20" dirty="0">
                <a:latin typeface="Calibri"/>
                <a:cs typeface="Calibri"/>
              </a:rPr>
              <a:t> </a:t>
            </a:r>
            <a:r>
              <a:rPr sz="1800" dirty="0">
                <a:latin typeface="Calibri"/>
                <a:cs typeface="Calibri"/>
              </a:rPr>
              <a:t>select</a:t>
            </a:r>
            <a:r>
              <a:rPr sz="1800" spc="-5" dirty="0">
                <a:latin typeface="Calibri"/>
                <a:cs typeface="Calibri"/>
              </a:rPr>
              <a:t> </a:t>
            </a:r>
            <a:r>
              <a:rPr sz="1800" dirty="0">
                <a:latin typeface="Calibri"/>
                <a:cs typeface="Calibri"/>
              </a:rPr>
              <a:t>the</a:t>
            </a:r>
            <a:r>
              <a:rPr sz="1800" spc="-15" dirty="0">
                <a:latin typeface="Calibri"/>
                <a:cs typeface="Calibri"/>
              </a:rPr>
              <a:t> </a:t>
            </a:r>
            <a:r>
              <a:rPr sz="1800" dirty="0">
                <a:latin typeface="Calibri"/>
                <a:cs typeface="Calibri"/>
              </a:rPr>
              <a:t>value</a:t>
            </a:r>
            <a:r>
              <a:rPr sz="1800" spc="-10" dirty="0">
                <a:latin typeface="Calibri"/>
                <a:cs typeface="Calibri"/>
              </a:rPr>
              <a:t> </a:t>
            </a:r>
            <a:r>
              <a:rPr sz="1800" spc="-20" dirty="0">
                <a:latin typeface="Calibri"/>
                <a:cs typeface="Calibri"/>
              </a:rPr>
              <a:t>from</a:t>
            </a:r>
            <a:endParaRPr sz="1800">
              <a:latin typeface="Calibri"/>
              <a:cs typeface="Calibri"/>
            </a:endParaRPr>
          </a:p>
          <a:p>
            <a:pPr marL="534035">
              <a:lnSpc>
                <a:spcPts val="2050"/>
              </a:lnSpc>
            </a:pPr>
            <a:r>
              <a:rPr sz="1800" dirty="0">
                <a:latin typeface="Calibri"/>
                <a:cs typeface="Calibri"/>
              </a:rPr>
              <a:t>a </a:t>
            </a:r>
            <a:r>
              <a:rPr sz="1800" spc="-10" dirty="0">
                <a:latin typeface="Calibri"/>
                <a:cs typeface="Calibri"/>
              </a:rPr>
              <a:t>list.</a:t>
            </a:r>
            <a:endParaRPr sz="1800">
              <a:latin typeface="Calibri"/>
              <a:cs typeface="Calibri"/>
            </a:endParaRPr>
          </a:p>
          <a:p>
            <a:pPr marL="12700">
              <a:lnSpc>
                <a:spcPct val="100000"/>
              </a:lnSpc>
              <a:spcBef>
                <a:spcPts val="290"/>
              </a:spcBef>
              <a:tabLst>
                <a:tab pos="534035" algn="l"/>
              </a:tabLst>
            </a:pPr>
            <a:r>
              <a:rPr sz="1800" spc="-25" dirty="0">
                <a:latin typeface="Calibri"/>
                <a:cs typeface="Calibri"/>
              </a:rPr>
              <a:t>R11</a:t>
            </a:r>
            <a:r>
              <a:rPr sz="1800" dirty="0">
                <a:latin typeface="Calibri"/>
                <a:cs typeface="Calibri"/>
              </a:rPr>
              <a:t>	The</a:t>
            </a:r>
            <a:r>
              <a:rPr sz="1800" spc="-50" dirty="0">
                <a:latin typeface="Calibri"/>
                <a:cs typeface="Calibri"/>
              </a:rPr>
              <a:t> </a:t>
            </a:r>
            <a:r>
              <a:rPr sz="1800" dirty="0">
                <a:latin typeface="Calibri"/>
                <a:cs typeface="Calibri"/>
              </a:rPr>
              <a:t>interface</a:t>
            </a:r>
            <a:r>
              <a:rPr sz="1800" spc="-15" dirty="0">
                <a:latin typeface="Calibri"/>
                <a:cs typeface="Calibri"/>
              </a:rPr>
              <a:t> </a:t>
            </a:r>
            <a:r>
              <a:rPr sz="1800" u="sng" dirty="0">
                <a:uFill>
                  <a:solidFill>
                    <a:srgbClr val="000000"/>
                  </a:solidFill>
                </a:uFill>
                <a:latin typeface="Calibri"/>
                <a:cs typeface="Calibri"/>
              </a:rPr>
              <a:t>should</a:t>
            </a:r>
            <a:r>
              <a:rPr sz="1800" spc="-25" dirty="0">
                <a:latin typeface="Calibri"/>
                <a:cs typeface="Calibri"/>
              </a:rPr>
              <a:t> </a:t>
            </a:r>
            <a:r>
              <a:rPr sz="1800" dirty="0">
                <a:latin typeface="Calibri"/>
                <a:cs typeface="Calibri"/>
              </a:rPr>
              <a:t>resemble</a:t>
            </a:r>
            <a:r>
              <a:rPr sz="1800" spc="-40" dirty="0">
                <a:latin typeface="Calibri"/>
                <a:cs typeface="Calibri"/>
              </a:rPr>
              <a:t> </a:t>
            </a:r>
            <a:r>
              <a:rPr sz="1800" dirty="0">
                <a:latin typeface="Calibri"/>
                <a:cs typeface="Calibri"/>
              </a:rPr>
              <a:t>the</a:t>
            </a:r>
            <a:r>
              <a:rPr sz="1800" spc="-40" dirty="0">
                <a:latin typeface="Calibri"/>
                <a:cs typeface="Calibri"/>
              </a:rPr>
              <a:t> </a:t>
            </a:r>
            <a:r>
              <a:rPr sz="1800" dirty="0">
                <a:latin typeface="Calibri"/>
                <a:cs typeface="Calibri"/>
              </a:rPr>
              <a:t>interface</a:t>
            </a:r>
            <a:r>
              <a:rPr sz="1800" spc="-20"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application</a:t>
            </a:r>
            <a:r>
              <a:rPr sz="1800" spc="-20" dirty="0">
                <a:latin typeface="Calibri"/>
                <a:cs typeface="Calibri"/>
              </a:rPr>
              <a:t> </a:t>
            </a:r>
            <a:r>
              <a:rPr sz="1800" spc="-25" dirty="0">
                <a:latin typeface="Calibri"/>
                <a:cs typeface="Calibri"/>
              </a:rPr>
              <a:t>xx.</a:t>
            </a:r>
            <a:endParaRPr sz="1800">
              <a:latin typeface="Calibri"/>
              <a:cs typeface="Calibri"/>
            </a:endParaRPr>
          </a:p>
          <a:p>
            <a:pPr marL="1271270" indent="-280035">
              <a:lnSpc>
                <a:spcPct val="100000"/>
              </a:lnSpc>
              <a:spcBef>
                <a:spcPts val="275"/>
              </a:spcBef>
              <a:buClr>
                <a:srgbClr val="F5821F"/>
              </a:buClr>
              <a:buSzPct val="66666"/>
              <a:buFont typeface="Arial"/>
              <a:buChar char="•"/>
              <a:tabLst>
                <a:tab pos="1271270" algn="l"/>
              </a:tabLst>
            </a:pPr>
            <a:r>
              <a:rPr sz="1800" i="1" spc="-10" dirty="0">
                <a:latin typeface="Calibri"/>
                <a:cs typeface="Calibri"/>
              </a:rPr>
              <a:t>6-</a:t>
            </a:r>
            <a:r>
              <a:rPr sz="1800" i="1" dirty="0">
                <a:latin typeface="Calibri"/>
                <a:cs typeface="Calibri"/>
              </a:rPr>
              <a:t>11</a:t>
            </a:r>
            <a:r>
              <a:rPr sz="1800" i="1" spc="-5" dirty="0">
                <a:latin typeface="Calibri"/>
                <a:cs typeface="Calibri"/>
              </a:rPr>
              <a:t> </a:t>
            </a:r>
            <a:r>
              <a:rPr sz="1800" i="1" dirty="0">
                <a:latin typeface="Calibri"/>
                <a:cs typeface="Calibri"/>
              </a:rPr>
              <a:t>usability</a:t>
            </a:r>
            <a:r>
              <a:rPr sz="1800" i="1" spc="-5" dirty="0">
                <a:latin typeface="Calibri"/>
                <a:cs typeface="Calibri"/>
              </a:rPr>
              <a:t> </a:t>
            </a:r>
            <a:r>
              <a:rPr sz="1800" i="1" spc="-10" dirty="0">
                <a:latin typeface="Calibri"/>
                <a:cs typeface="Calibri"/>
              </a:rPr>
              <a:t>requirements</a:t>
            </a:r>
            <a:endParaRPr sz="18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0650" y="453706"/>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p>
        </p:txBody>
      </p:sp>
      <p:sp>
        <p:nvSpPr>
          <p:cNvPr id="3" name="object 3"/>
          <p:cNvSpPr txBox="1"/>
          <p:nvPr/>
        </p:nvSpPr>
        <p:spPr>
          <a:xfrm>
            <a:off x="1555471" y="1066800"/>
            <a:ext cx="10067290" cy="4315925"/>
          </a:xfrm>
          <a:prstGeom prst="rect">
            <a:avLst/>
          </a:prstGeom>
        </p:spPr>
        <p:txBody>
          <a:bodyPr vert="horz" wrap="square" lIns="0" tIns="103505" rIns="0" bIns="0" rtlCol="0">
            <a:spAutoFit/>
          </a:bodyPr>
          <a:lstStyle/>
          <a:p>
            <a:pPr marL="240665" indent="-227965">
              <a:lnSpc>
                <a:spcPct val="100000"/>
              </a:lnSpc>
              <a:spcBef>
                <a:spcPts val="815"/>
              </a:spcBef>
              <a:buClr>
                <a:srgbClr val="F5821F"/>
              </a:buClr>
              <a:buFont typeface="Arial"/>
              <a:buChar char="•"/>
              <a:tabLst>
                <a:tab pos="240665" algn="l"/>
              </a:tabLst>
            </a:pPr>
            <a:r>
              <a:rPr sz="2000" dirty="0">
                <a:latin typeface="Calibri"/>
                <a:cs typeface="Calibri"/>
              </a:rPr>
              <a:t>WBS</a:t>
            </a:r>
            <a:r>
              <a:rPr sz="2000" spc="-40" dirty="0">
                <a:latin typeface="Calibri"/>
                <a:cs typeface="Calibri"/>
              </a:rPr>
              <a:t> </a:t>
            </a:r>
            <a:r>
              <a:rPr lang="en-NZ" sz="2000" spc="-40" dirty="0">
                <a:latin typeface="Calibri"/>
                <a:cs typeface="Calibri"/>
              </a:rPr>
              <a:t>provides projects with phases and tasks or work items (i.e., project lifecycle) and enables us to define the PM methodology</a:t>
            </a:r>
          </a:p>
          <a:p>
            <a:pPr marL="697865" lvl="1" indent="-227965">
              <a:lnSpc>
                <a:spcPct val="100000"/>
              </a:lnSpc>
              <a:spcBef>
                <a:spcPts val="204"/>
              </a:spcBef>
              <a:buClr>
                <a:srgbClr val="F5821F"/>
              </a:buClr>
              <a:buFont typeface="Arial"/>
              <a:buChar char="•"/>
              <a:tabLst>
                <a:tab pos="697865" algn="l"/>
              </a:tabLst>
            </a:pPr>
            <a:r>
              <a:rPr u="sng" dirty="0">
                <a:uFill>
                  <a:solidFill>
                    <a:srgbClr val="000000"/>
                  </a:solidFill>
                </a:uFill>
                <a:latin typeface="Calibri"/>
                <a:cs typeface="Calibri"/>
              </a:rPr>
              <a:t>is</a:t>
            </a:r>
            <a:r>
              <a:rPr u="sng" spc="-30" dirty="0">
                <a:uFill>
                  <a:solidFill>
                    <a:srgbClr val="000000"/>
                  </a:solidFill>
                </a:uFill>
                <a:latin typeface="Calibri"/>
                <a:cs typeface="Calibri"/>
              </a:rPr>
              <a:t> </a:t>
            </a:r>
            <a:r>
              <a:rPr u="sng" dirty="0">
                <a:uFill>
                  <a:solidFill>
                    <a:srgbClr val="000000"/>
                  </a:solidFill>
                </a:uFill>
                <a:latin typeface="Calibri"/>
                <a:cs typeface="Calibri"/>
              </a:rPr>
              <a:t>a</a:t>
            </a:r>
            <a:r>
              <a:rPr u="sng" spc="-30" dirty="0">
                <a:uFill>
                  <a:solidFill>
                    <a:srgbClr val="000000"/>
                  </a:solidFill>
                </a:uFill>
                <a:latin typeface="Calibri"/>
                <a:cs typeface="Calibri"/>
              </a:rPr>
              <a:t> </a:t>
            </a:r>
            <a:r>
              <a:rPr u="sng" spc="-10" dirty="0">
                <a:uFill>
                  <a:solidFill>
                    <a:srgbClr val="000000"/>
                  </a:solidFill>
                </a:uFill>
                <a:latin typeface="Calibri"/>
                <a:cs typeface="Calibri"/>
              </a:rPr>
              <a:t>deliverable-</a:t>
            </a:r>
            <a:r>
              <a:rPr u="sng" dirty="0">
                <a:uFill>
                  <a:solidFill>
                    <a:srgbClr val="000000"/>
                  </a:solidFill>
                </a:uFill>
                <a:latin typeface="Calibri"/>
                <a:cs typeface="Calibri"/>
              </a:rPr>
              <a:t>oriented</a:t>
            </a:r>
            <a:r>
              <a:rPr u="sng" spc="-5" dirty="0">
                <a:uFill>
                  <a:solidFill>
                    <a:srgbClr val="000000"/>
                  </a:solidFill>
                </a:uFill>
                <a:latin typeface="Calibri"/>
                <a:cs typeface="Calibri"/>
              </a:rPr>
              <a:t> </a:t>
            </a:r>
            <a:r>
              <a:rPr u="sng" dirty="0">
                <a:uFill>
                  <a:solidFill>
                    <a:srgbClr val="000000"/>
                  </a:solidFill>
                </a:uFill>
                <a:latin typeface="Calibri"/>
                <a:cs typeface="Calibri"/>
              </a:rPr>
              <a:t>grouping</a:t>
            </a:r>
            <a:r>
              <a:rPr u="sng" spc="-35" dirty="0">
                <a:uFill>
                  <a:solidFill>
                    <a:srgbClr val="000000"/>
                  </a:solidFill>
                </a:uFill>
                <a:latin typeface="Calibri"/>
                <a:cs typeface="Calibri"/>
              </a:rPr>
              <a:t> </a:t>
            </a:r>
            <a:r>
              <a:rPr u="sng" dirty="0">
                <a:uFill>
                  <a:solidFill>
                    <a:srgbClr val="000000"/>
                  </a:solidFill>
                </a:uFill>
                <a:latin typeface="Calibri"/>
                <a:cs typeface="Calibri"/>
              </a:rPr>
              <a:t>of</a:t>
            </a:r>
            <a:r>
              <a:rPr u="sng" spc="-15" dirty="0">
                <a:uFill>
                  <a:solidFill>
                    <a:srgbClr val="000000"/>
                  </a:solidFill>
                </a:uFill>
                <a:latin typeface="Calibri"/>
                <a:cs typeface="Calibri"/>
              </a:rPr>
              <a:t> </a:t>
            </a:r>
            <a:r>
              <a:rPr u="sng" dirty="0">
                <a:uFill>
                  <a:solidFill>
                    <a:srgbClr val="000000"/>
                  </a:solidFill>
                </a:uFill>
                <a:latin typeface="Calibri"/>
                <a:cs typeface="Calibri"/>
              </a:rPr>
              <a:t>the</a:t>
            </a:r>
            <a:r>
              <a:rPr u="sng" spc="-20" dirty="0">
                <a:uFill>
                  <a:solidFill>
                    <a:srgbClr val="000000"/>
                  </a:solidFill>
                </a:uFill>
                <a:latin typeface="Calibri"/>
                <a:cs typeface="Calibri"/>
              </a:rPr>
              <a:t> work</a:t>
            </a:r>
            <a:endParaRPr dirty="0">
              <a:latin typeface="Calibri"/>
              <a:cs typeface="Calibri"/>
            </a:endParaRPr>
          </a:p>
          <a:p>
            <a:pPr marL="697865" lvl="1" indent="-227965">
              <a:lnSpc>
                <a:spcPct val="100000"/>
              </a:lnSpc>
              <a:spcBef>
                <a:spcPts val="219"/>
              </a:spcBef>
              <a:buClr>
                <a:srgbClr val="F5821F"/>
              </a:buClr>
              <a:buFont typeface="Arial"/>
              <a:buChar char="•"/>
              <a:tabLst>
                <a:tab pos="697865" algn="l"/>
              </a:tabLst>
            </a:pPr>
            <a:r>
              <a:rPr lang="en-NZ" dirty="0">
                <a:latin typeface="Calibri"/>
                <a:cs typeface="Calibri"/>
              </a:rPr>
              <a:t>must enable to deliver the </a:t>
            </a:r>
            <a:r>
              <a:rPr u="sng" dirty="0">
                <a:uFill>
                  <a:solidFill>
                    <a:srgbClr val="000000"/>
                  </a:solidFill>
                </a:uFill>
                <a:latin typeface="Calibri"/>
                <a:cs typeface="Calibri"/>
              </a:rPr>
              <a:t>scope</a:t>
            </a:r>
            <a:r>
              <a:rPr spc="-30" dirty="0">
                <a:latin typeface="Calibri"/>
                <a:cs typeface="Calibri"/>
              </a:rPr>
              <a:t> </a:t>
            </a:r>
            <a:r>
              <a:rPr dirty="0">
                <a:latin typeface="Calibri"/>
                <a:cs typeface="Calibri"/>
              </a:rPr>
              <a:t>of</a:t>
            </a:r>
            <a:r>
              <a:rPr spc="-25" dirty="0">
                <a:latin typeface="Calibri"/>
                <a:cs typeface="Calibri"/>
              </a:rPr>
              <a:t> </a:t>
            </a:r>
            <a:r>
              <a:rPr lang="en-NZ" dirty="0">
                <a:latin typeface="Calibri"/>
                <a:cs typeface="Calibri"/>
              </a:rPr>
              <a:t>a </a:t>
            </a:r>
            <a:r>
              <a:rPr spc="-10" dirty="0">
                <a:latin typeface="Calibri"/>
                <a:cs typeface="Calibri"/>
              </a:rPr>
              <a:t>project</a:t>
            </a:r>
            <a:r>
              <a:rPr lang="en-NZ" spc="-10" dirty="0">
                <a:latin typeface="Calibri"/>
                <a:cs typeface="Calibri"/>
              </a:rPr>
              <a:t> captured in the scope statement document</a:t>
            </a:r>
            <a:r>
              <a:rPr spc="-10" dirty="0">
                <a:latin typeface="Calibri"/>
                <a:cs typeface="Calibri"/>
              </a:rPr>
              <a:t>.</a:t>
            </a:r>
            <a:endParaRPr dirty="0">
              <a:latin typeface="Calibri"/>
              <a:cs typeface="Calibri"/>
            </a:endParaRPr>
          </a:p>
          <a:p>
            <a:pPr marL="240665" indent="-227965">
              <a:lnSpc>
                <a:spcPts val="2735"/>
              </a:lnSpc>
              <a:spcBef>
                <a:spcPts val="705"/>
              </a:spcBef>
              <a:buClr>
                <a:srgbClr val="F5821F"/>
              </a:buClr>
              <a:buFont typeface="Arial"/>
              <a:buChar char="•"/>
              <a:tabLst>
                <a:tab pos="240665" algn="l"/>
              </a:tabLst>
            </a:pPr>
            <a:r>
              <a:rPr sz="2000" dirty="0">
                <a:latin typeface="Calibri"/>
                <a:cs typeface="Calibri"/>
              </a:rPr>
              <a:t>WBS</a:t>
            </a:r>
            <a:r>
              <a:rPr sz="2000" spc="-55" dirty="0">
                <a:latin typeface="Calibri"/>
                <a:cs typeface="Calibri"/>
              </a:rPr>
              <a:t> </a:t>
            </a:r>
            <a:r>
              <a:rPr sz="2000" dirty="0">
                <a:latin typeface="Calibri"/>
                <a:cs typeface="Calibri"/>
              </a:rPr>
              <a:t>provides</a:t>
            </a:r>
            <a:r>
              <a:rPr sz="2000" spc="-3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basis</a:t>
            </a:r>
            <a:r>
              <a:rPr sz="2000" spc="-45" dirty="0">
                <a:latin typeface="Calibri"/>
                <a:cs typeface="Calibri"/>
              </a:rPr>
              <a:t> </a:t>
            </a:r>
            <a:r>
              <a:rPr sz="2000" dirty="0">
                <a:latin typeface="Calibri"/>
                <a:cs typeface="Calibri"/>
              </a:rPr>
              <a:t>for</a:t>
            </a:r>
            <a:r>
              <a:rPr sz="2000" spc="-30" dirty="0">
                <a:latin typeface="Calibri"/>
                <a:cs typeface="Calibri"/>
              </a:rPr>
              <a:t> </a:t>
            </a:r>
            <a:r>
              <a:rPr sz="2000" u="sng" dirty="0">
                <a:uFill>
                  <a:solidFill>
                    <a:srgbClr val="000000"/>
                  </a:solidFill>
                </a:uFill>
                <a:latin typeface="Calibri"/>
                <a:cs typeface="Calibri"/>
              </a:rPr>
              <a:t>planning</a:t>
            </a:r>
            <a:r>
              <a:rPr sz="2000" u="sng" spc="-45" dirty="0">
                <a:uFill>
                  <a:solidFill>
                    <a:srgbClr val="000000"/>
                  </a:solidFill>
                </a:uFill>
                <a:latin typeface="Calibri"/>
                <a:cs typeface="Calibri"/>
              </a:rPr>
              <a:t> </a:t>
            </a:r>
            <a:r>
              <a:rPr lang="en-NZ" sz="2000" u="sng" spc="-45" dirty="0">
                <a:uFill>
                  <a:solidFill>
                    <a:srgbClr val="000000"/>
                  </a:solidFill>
                </a:uFill>
                <a:latin typeface="Calibri"/>
                <a:cs typeface="Calibri"/>
              </a:rPr>
              <a:t>a </a:t>
            </a:r>
            <a:r>
              <a:rPr sz="2000" u="sng" dirty="0">
                <a:uFill>
                  <a:solidFill>
                    <a:srgbClr val="000000"/>
                  </a:solidFill>
                </a:uFill>
                <a:latin typeface="Calibri"/>
                <a:cs typeface="Calibri"/>
              </a:rPr>
              <a:t>project</a:t>
            </a:r>
            <a:r>
              <a:rPr sz="2000" u="sng" spc="-45" dirty="0">
                <a:uFill>
                  <a:solidFill>
                    <a:srgbClr val="000000"/>
                  </a:solidFill>
                </a:uFill>
                <a:latin typeface="Calibri"/>
                <a:cs typeface="Calibri"/>
              </a:rPr>
              <a:t> </a:t>
            </a:r>
            <a:r>
              <a:rPr sz="2000" u="sng" spc="-10" dirty="0">
                <a:uFill>
                  <a:solidFill>
                    <a:srgbClr val="000000"/>
                  </a:solidFill>
                </a:uFill>
                <a:latin typeface="Calibri"/>
                <a:cs typeface="Calibri"/>
              </a:rPr>
              <a:t>schedule,</a:t>
            </a:r>
            <a:r>
              <a:rPr lang="en-NZ" sz="2000" spc="-10" dirty="0">
                <a:latin typeface="Calibri"/>
                <a:cs typeface="Calibri"/>
              </a:rPr>
              <a:t> and budget</a:t>
            </a:r>
            <a:r>
              <a:rPr lang="en-NZ" sz="2000" u="sng" dirty="0">
                <a:uFill>
                  <a:solidFill>
                    <a:srgbClr val="000000"/>
                  </a:solidFill>
                </a:uFill>
                <a:latin typeface="Calibri"/>
                <a:cs typeface="Calibri"/>
              </a:rPr>
              <a:t> (</a:t>
            </a:r>
            <a:r>
              <a:rPr sz="2000" u="sng" dirty="0">
                <a:uFill>
                  <a:solidFill>
                    <a:srgbClr val="000000"/>
                  </a:solidFill>
                </a:uFill>
                <a:latin typeface="Calibri"/>
                <a:cs typeface="Calibri"/>
              </a:rPr>
              <a:t>cost</a:t>
            </a:r>
            <a:r>
              <a:rPr lang="en-NZ" sz="2000" u="sng" dirty="0">
                <a:uFill>
                  <a:solidFill>
                    <a:srgbClr val="000000"/>
                  </a:solidFill>
                </a:uFill>
                <a:latin typeface="Calibri"/>
                <a:cs typeface="Calibri"/>
              </a:rPr>
              <a:t>)</a:t>
            </a:r>
            <a:r>
              <a:rPr sz="2000" u="sng" dirty="0">
                <a:uFill>
                  <a:solidFill>
                    <a:srgbClr val="000000"/>
                  </a:solidFill>
                </a:uFill>
                <a:latin typeface="Calibri"/>
                <a:cs typeface="Calibri"/>
              </a:rPr>
              <a:t>,</a:t>
            </a:r>
            <a:r>
              <a:rPr sz="2000" u="sng" spc="-80" dirty="0">
                <a:uFill>
                  <a:solidFill>
                    <a:srgbClr val="000000"/>
                  </a:solidFill>
                </a:uFill>
                <a:latin typeface="Calibri"/>
                <a:cs typeface="Calibri"/>
              </a:rPr>
              <a:t> </a:t>
            </a:r>
            <a:r>
              <a:rPr lang="en-NZ" sz="2000" u="sng" spc="-80" dirty="0">
                <a:uFill>
                  <a:solidFill>
                    <a:srgbClr val="000000"/>
                  </a:solidFill>
                </a:uFill>
                <a:latin typeface="Calibri"/>
                <a:cs typeface="Calibri"/>
              </a:rPr>
              <a:t>including executing, M/C</a:t>
            </a:r>
            <a:r>
              <a:rPr sz="2000" u="sng" spc="-50" dirty="0">
                <a:uFill>
                  <a:solidFill>
                    <a:srgbClr val="000000"/>
                  </a:solidFill>
                </a:uFill>
                <a:latin typeface="Calibri"/>
                <a:cs typeface="Calibri"/>
              </a:rPr>
              <a:t> </a:t>
            </a:r>
            <a:r>
              <a:rPr lang="en-NZ" sz="2000" u="sng" spc="-50" dirty="0">
                <a:uFill>
                  <a:solidFill>
                    <a:srgbClr val="000000"/>
                  </a:solidFill>
                </a:uFill>
                <a:latin typeface="Calibri"/>
                <a:cs typeface="Calibri"/>
              </a:rPr>
              <a:t>&amp; closing </a:t>
            </a:r>
            <a:r>
              <a:rPr lang="en-NZ" sz="2000" u="sng" spc="-10" dirty="0">
                <a:uFill>
                  <a:solidFill>
                    <a:srgbClr val="000000"/>
                  </a:solidFill>
                </a:uFill>
                <a:latin typeface="Calibri"/>
                <a:cs typeface="Calibri"/>
              </a:rPr>
              <a:t>a project</a:t>
            </a:r>
            <a:endParaRPr sz="2000" dirty="0">
              <a:latin typeface="Calibri"/>
              <a:cs typeface="Calibri"/>
            </a:endParaRPr>
          </a:p>
          <a:p>
            <a:pPr marL="240665" indent="-227965">
              <a:lnSpc>
                <a:spcPct val="100000"/>
              </a:lnSpc>
              <a:spcBef>
                <a:spcPts val="720"/>
              </a:spcBef>
              <a:buClr>
                <a:srgbClr val="F5821F"/>
              </a:buClr>
              <a:buFont typeface="Arial"/>
              <a:buChar char="•"/>
              <a:tabLst>
                <a:tab pos="240665" algn="l"/>
              </a:tabLst>
            </a:pPr>
            <a:r>
              <a:rPr sz="2000" dirty="0">
                <a:latin typeface="Calibri"/>
                <a:cs typeface="Calibri"/>
              </a:rPr>
              <a:t>WBS</a:t>
            </a:r>
            <a:r>
              <a:rPr sz="2000" spc="-40" dirty="0">
                <a:latin typeface="Calibri"/>
                <a:cs typeface="Calibri"/>
              </a:rPr>
              <a:t> </a:t>
            </a:r>
            <a:r>
              <a:rPr sz="2000" dirty="0">
                <a:latin typeface="Calibri"/>
                <a:cs typeface="Calibri"/>
              </a:rPr>
              <a:t>must</a:t>
            </a:r>
            <a:r>
              <a:rPr sz="2000" spc="-35" dirty="0">
                <a:latin typeface="Calibri"/>
                <a:cs typeface="Calibri"/>
              </a:rPr>
              <a:t> </a:t>
            </a:r>
            <a:r>
              <a:rPr sz="2000" spc="-10" dirty="0">
                <a:latin typeface="Calibri"/>
                <a:cs typeface="Calibri"/>
              </a:rPr>
              <a:t>enable:</a:t>
            </a:r>
            <a:endParaRPr sz="2000" dirty="0">
              <a:latin typeface="Calibri"/>
              <a:cs typeface="Calibri"/>
            </a:endParaRPr>
          </a:p>
          <a:p>
            <a:pPr marL="697865" lvl="1" indent="-227965">
              <a:lnSpc>
                <a:spcPct val="100000"/>
              </a:lnSpc>
              <a:spcBef>
                <a:spcPts val="204"/>
              </a:spcBef>
              <a:buClr>
                <a:srgbClr val="F5821F"/>
              </a:buClr>
              <a:buFont typeface="Arial"/>
              <a:buChar char="•"/>
              <a:tabLst>
                <a:tab pos="697865" algn="l"/>
              </a:tabLst>
            </a:pPr>
            <a:r>
              <a:rPr dirty="0">
                <a:latin typeface="Calibri"/>
                <a:cs typeface="Calibri"/>
              </a:rPr>
              <a:t>Decomposition</a:t>
            </a:r>
            <a:r>
              <a:rPr spc="-45" dirty="0">
                <a:latin typeface="Calibri"/>
                <a:cs typeface="Calibri"/>
              </a:rPr>
              <a:t> </a:t>
            </a:r>
            <a:r>
              <a:rPr dirty="0">
                <a:latin typeface="Calibri"/>
                <a:cs typeface="Calibri"/>
              </a:rPr>
              <a:t>-</a:t>
            </a:r>
            <a:r>
              <a:rPr spc="-25" dirty="0">
                <a:latin typeface="Calibri"/>
                <a:cs typeface="Calibri"/>
              </a:rPr>
              <a:t> </a:t>
            </a:r>
            <a:r>
              <a:rPr dirty="0">
                <a:latin typeface="Calibri"/>
                <a:cs typeface="Calibri"/>
              </a:rPr>
              <a:t>subdividing</a:t>
            </a:r>
            <a:r>
              <a:rPr spc="-35" dirty="0">
                <a:latin typeface="Calibri"/>
                <a:cs typeface="Calibri"/>
              </a:rPr>
              <a:t> </a:t>
            </a:r>
            <a:r>
              <a:rPr dirty="0">
                <a:latin typeface="Calibri"/>
                <a:cs typeface="Calibri"/>
              </a:rPr>
              <a:t>project</a:t>
            </a:r>
            <a:r>
              <a:rPr spc="-45" dirty="0">
                <a:latin typeface="Calibri"/>
                <a:cs typeface="Calibri"/>
              </a:rPr>
              <a:t> </a:t>
            </a:r>
            <a:r>
              <a:rPr dirty="0">
                <a:latin typeface="Calibri"/>
                <a:cs typeface="Calibri"/>
              </a:rPr>
              <a:t>deliverables</a:t>
            </a:r>
            <a:r>
              <a:rPr spc="-35" dirty="0">
                <a:latin typeface="Calibri"/>
                <a:cs typeface="Calibri"/>
              </a:rPr>
              <a:t> </a:t>
            </a:r>
            <a:r>
              <a:rPr dirty="0">
                <a:latin typeface="Calibri"/>
                <a:cs typeface="Calibri"/>
              </a:rPr>
              <a:t>into</a:t>
            </a:r>
            <a:r>
              <a:rPr spc="-35" dirty="0">
                <a:latin typeface="Calibri"/>
                <a:cs typeface="Calibri"/>
              </a:rPr>
              <a:t> </a:t>
            </a:r>
            <a:r>
              <a:rPr dirty="0">
                <a:latin typeface="Calibri"/>
                <a:cs typeface="Calibri"/>
              </a:rPr>
              <a:t>smaller</a:t>
            </a:r>
            <a:r>
              <a:rPr spc="-45" dirty="0">
                <a:latin typeface="Calibri"/>
                <a:cs typeface="Calibri"/>
              </a:rPr>
              <a:t> </a:t>
            </a:r>
            <a:r>
              <a:rPr spc="-10" dirty="0">
                <a:latin typeface="Calibri"/>
                <a:cs typeface="Calibri"/>
              </a:rPr>
              <a:t>pieces</a:t>
            </a:r>
            <a:endParaRPr dirty="0">
              <a:latin typeface="Calibri"/>
              <a:cs typeface="Calibri"/>
            </a:endParaRPr>
          </a:p>
          <a:p>
            <a:pPr marL="697865" lvl="1" indent="-227965">
              <a:lnSpc>
                <a:spcPct val="100000"/>
              </a:lnSpc>
              <a:spcBef>
                <a:spcPts val="219"/>
              </a:spcBef>
              <a:buClr>
                <a:srgbClr val="F5821F"/>
              </a:buClr>
              <a:buFont typeface="Arial"/>
              <a:buChar char="•"/>
              <a:tabLst>
                <a:tab pos="697865" algn="l"/>
              </a:tabLst>
            </a:pPr>
            <a:r>
              <a:rPr dirty="0">
                <a:latin typeface="Calibri"/>
                <a:cs typeface="Calibri"/>
              </a:rPr>
              <a:t>A</a:t>
            </a:r>
            <a:r>
              <a:rPr spc="-40" dirty="0">
                <a:latin typeface="Calibri"/>
                <a:cs typeface="Calibri"/>
              </a:rPr>
              <a:t> </a:t>
            </a:r>
            <a:r>
              <a:rPr b="1" dirty="0">
                <a:latin typeface="Calibri"/>
                <a:cs typeface="Calibri"/>
              </a:rPr>
              <a:t>work</a:t>
            </a:r>
            <a:r>
              <a:rPr b="1" spc="-30" dirty="0">
                <a:latin typeface="Calibri"/>
                <a:cs typeface="Calibri"/>
              </a:rPr>
              <a:t> </a:t>
            </a:r>
            <a:r>
              <a:rPr b="1" dirty="0">
                <a:latin typeface="Calibri"/>
                <a:cs typeface="Calibri"/>
              </a:rPr>
              <a:t>package</a:t>
            </a:r>
            <a:r>
              <a:rPr b="1" spc="-30" dirty="0">
                <a:latin typeface="Calibri"/>
                <a:cs typeface="Calibri"/>
              </a:rPr>
              <a:t> </a:t>
            </a:r>
            <a:r>
              <a:rPr dirty="0">
                <a:latin typeface="Calibri"/>
                <a:cs typeface="Calibri"/>
              </a:rPr>
              <a:t>is</a:t>
            </a:r>
            <a:r>
              <a:rPr spc="-25" dirty="0">
                <a:latin typeface="Calibri"/>
                <a:cs typeface="Calibri"/>
              </a:rPr>
              <a:t> </a:t>
            </a:r>
            <a:r>
              <a:rPr dirty="0">
                <a:latin typeface="Calibri"/>
                <a:cs typeface="Calibri"/>
              </a:rPr>
              <a:t>a</a:t>
            </a:r>
            <a:r>
              <a:rPr spc="-45" dirty="0">
                <a:latin typeface="Calibri"/>
                <a:cs typeface="Calibri"/>
              </a:rPr>
              <a:t> </a:t>
            </a:r>
            <a:r>
              <a:rPr dirty="0">
                <a:latin typeface="Calibri"/>
                <a:cs typeface="Calibri"/>
              </a:rPr>
              <a:t>task</a:t>
            </a:r>
            <a:r>
              <a:rPr lang="en-NZ" dirty="0">
                <a:latin typeface="Calibri"/>
                <a:cs typeface="Calibri"/>
              </a:rPr>
              <a:t> or work item</a:t>
            </a:r>
            <a:r>
              <a:rPr spc="-35" dirty="0">
                <a:latin typeface="Calibri"/>
                <a:cs typeface="Calibri"/>
              </a:rPr>
              <a:t> </a:t>
            </a:r>
            <a:r>
              <a:rPr dirty="0">
                <a:latin typeface="Calibri"/>
                <a:cs typeface="Calibri"/>
              </a:rPr>
              <a:t>at</a:t>
            </a:r>
            <a:r>
              <a:rPr spc="-35" dirty="0">
                <a:latin typeface="Calibri"/>
                <a:cs typeface="Calibri"/>
              </a:rPr>
              <a:t> </a:t>
            </a:r>
            <a:r>
              <a:rPr dirty="0">
                <a:latin typeface="Calibri"/>
                <a:cs typeface="Calibri"/>
              </a:rPr>
              <a:t>the</a:t>
            </a:r>
            <a:r>
              <a:rPr spc="-20" dirty="0">
                <a:latin typeface="Calibri"/>
                <a:cs typeface="Calibri"/>
              </a:rPr>
              <a:t> </a:t>
            </a:r>
            <a:r>
              <a:rPr dirty="0">
                <a:latin typeface="Calibri"/>
                <a:cs typeface="Calibri"/>
              </a:rPr>
              <a:t>lowest</a:t>
            </a:r>
            <a:r>
              <a:rPr spc="-40" dirty="0">
                <a:latin typeface="Calibri"/>
                <a:cs typeface="Calibri"/>
              </a:rPr>
              <a:t> </a:t>
            </a:r>
            <a:r>
              <a:rPr dirty="0">
                <a:latin typeface="Calibri"/>
                <a:cs typeface="Calibri"/>
              </a:rPr>
              <a:t>level</a:t>
            </a:r>
            <a:r>
              <a:rPr spc="-10" dirty="0">
                <a:latin typeface="Calibri"/>
                <a:cs typeface="Calibri"/>
              </a:rPr>
              <a:t> </a:t>
            </a:r>
            <a:r>
              <a:rPr dirty="0">
                <a:latin typeface="Calibri"/>
                <a:cs typeface="Calibri"/>
              </a:rPr>
              <a:t>of</a:t>
            </a:r>
            <a:r>
              <a:rPr spc="-30" dirty="0">
                <a:latin typeface="Calibri"/>
                <a:cs typeface="Calibri"/>
              </a:rPr>
              <a:t> </a:t>
            </a:r>
            <a:r>
              <a:rPr dirty="0">
                <a:latin typeface="Calibri"/>
                <a:cs typeface="Calibri"/>
              </a:rPr>
              <a:t>the</a:t>
            </a:r>
            <a:r>
              <a:rPr spc="-20" dirty="0">
                <a:latin typeface="Calibri"/>
                <a:cs typeface="Calibri"/>
              </a:rPr>
              <a:t> </a:t>
            </a:r>
            <a:r>
              <a:rPr spc="-25" dirty="0">
                <a:latin typeface="Calibri"/>
                <a:cs typeface="Calibri"/>
              </a:rPr>
              <a:t>WBS</a:t>
            </a:r>
            <a:endParaRPr dirty="0">
              <a:latin typeface="Calibri"/>
              <a:cs typeface="Calibri"/>
            </a:endParaRPr>
          </a:p>
          <a:p>
            <a:pPr marL="241300" marR="89535" indent="-228600">
              <a:lnSpc>
                <a:spcPts val="2590"/>
              </a:lnSpc>
              <a:spcBef>
                <a:spcPts val="1050"/>
              </a:spcBef>
              <a:buClr>
                <a:srgbClr val="F5821F"/>
              </a:buClr>
              <a:buFont typeface="Arial"/>
              <a:buChar char="•"/>
              <a:tabLst>
                <a:tab pos="241300" algn="l"/>
              </a:tabLst>
            </a:pPr>
            <a:r>
              <a:rPr sz="2000" dirty="0">
                <a:highlight>
                  <a:srgbClr val="FFFF00"/>
                </a:highlight>
                <a:latin typeface="Calibri"/>
                <a:cs typeface="Calibri"/>
              </a:rPr>
              <a:t>WBS</a:t>
            </a:r>
            <a:r>
              <a:rPr sz="2000" spc="-45" dirty="0">
                <a:highlight>
                  <a:srgbClr val="FFFF00"/>
                </a:highlight>
                <a:latin typeface="Calibri"/>
                <a:cs typeface="Calibri"/>
              </a:rPr>
              <a:t> </a:t>
            </a:r>
            <a:r>
              <a:rPr sz="2000" dirty="0">
                <a:highlight>
                  <a:srgbClr val="FFFF00"/>
                </a:highlight>
                <a:latin typeface="Calibri"/>
                <a:cs typeface="Calibri"/>
              </a:rPr>
              <a:t>must</a:t>
            </a:r>
            <a:r>
              <a:rPr sz="2000" spc="-45" dirty="0">
                <a:highlight>
                  <a:srgbClr val="FFFF00"/>
                </a:highlight>
                <a:latin typeface="Calibri"/>
                <a:cs typeface="Calibri"/>
              </a:rPr>
              <a:t> </a:t>
            </a:r>
            <a:r>
              <a:rPr sz="2000" dirty="0">
                <a:highlight>
                  <a:srgbClr val="FFFF00"/>
                </a:highlight>
                <a:latin typeface="Calibri"/>
                <a:cs typeface="Calibri"/>
              </a:rPr>
              <a:t>capture</a:t>
            </a:r>
            <a:r>
              <a:rPr sz="2000" spc="-30" dirty="0">
                <a:highlight>
                  <a:srgbClr val="FFFF00"/>
                </a:highlight>
                <a:latin typeface="Calibri"/>
                <a:cs typeface="Calibri"/>
              </a:rPr>
              <a:t> </a:t>
            </a:r>
            <a:r>
              <a:rPr sz="2000" dirty="0">
                <a:highlight>
                  <a:srgbClr val="FFFF00"/>
                </a:highlight>
                <a:latin typeface="Calibri"/>
                <a:cs typeface="Calibri"/>
              </a:rPr>
              <a:t>the</a:t>
            </a:r>
            <a:r>
              <a:rPr sz="2000" spc="-40" dirty="0">
                <a:highlight>
                  <a:srgbClr val="FFFF00"/>
                </a:highlight>
                <a:latin typeface="Calibri"/>
                <a:cs typeface="Calibri"/>
              </a:rPr>
              <a:t> </a:t>
            </a:r>
            <a:r>
              <a:rPr sz="2000" dirty="0">
                <a:highlight>
                  <a:srgbClr val="FFFF00"/>
                </a:highlight>
                <a:latin typeface="Calibri"/>
                <a:cs typeface="Calibri"/>
              </a:rPr>
              <a:t>entire</a:t>
            </a:r>
            <a:r>
              <a:rPr sz="2000" spc="-30" dirty="0">
                <a:highlight>
                  <a:srgbClr val="FFFF00"/>
                </a:highlight>
                <a:latin typeface="Calibri"/>
                <a:cs typeface="Calibri"/>
              </a:rPr>
              <a:t> </a:t>
            </a:r>
            <a:r>
              <a:rPr sz="2000" dirty="0">
                <a:highlight>
                  <a:srgbClr val="FFFF00"/>
                </a:highlight>
                <a:latin typeface="Calibri"/>
                <a:cs typeface="Calibri"/>
              </a:rPr>
              <a:t>PM</a:t>
            </a:r>
            <a:r>
              <a:rPr sz="2000" spc="-35" dirty="0">
                <a:highlight>
                  <a:srgbClr val="FFFF00"/>
                </a:highlight>
                <a:latin typeface="Calibri"/>
                <a:cs typeface="Calibri"/>
              </a:rPr>
              <a:t> </a:t>
            </a:r>
            <a:r>
              <a:rPr sz="2000" dirty="0">
                <a:highlight>
                  <a:srgbClr val="FFFF00"/>
                </a:highlight>
                <a:latin typeface="Calibri"/>
                <a:cs typeface="Calibri"/>
              </a:rPr>
              <a:t>methodology</a:t>
            </a:r>
            <a:r>
              <a:rPr lang="en-NZ" sz="2000" dirty="0">
                <a:highlight>
                  <a:srgbClr val="FFFF00"/>
                </a:highlight>
                <a:latin typeface="Calibri"/>
                <a:cs typeface="Calibri"/>
              </a:rPr>
              <a:t>-</a:t>
            </a:r>
            <a:r>
              <a:rPr sz="2000" spc="-35" dirty="0">
                <a:highlight>
                  <a:srgbClr val="FFFF00"/>
                </a:highlight>
                <a:latin typeface="Calibri"/>
                <a:cs typeface="Calibri"/>
              </a:rPr>
              <a:t> </a:t>
            </a:r>
            <a:r>
              <a:rPr sz="2000" dirty="0">
                <a:highlight>
                  <a:srgbClr val="FFFF00"/>
                </a:highlight>
                <a:latin typeface="Calibri"/>
                <a:cs typeface="Calibri"/>
              </a:rPr>
              <a:t>(</a:t>
            </a:r>
            <a:r>
              <a:rPr lang="en-NZ" sz="2000" i="1" dirty="0">
                <a:highlight>
                  <a:srgbClr val="FFFF00"/>
                </a:highlight>
                <a:latin typeface="Calibri"/>
                <a:cs typeface="Calibri"/>
              </a:rPr>
              <a:t>PMI </a:t>
            </a:r>
            <a:r>
              <a:rPr lang="en-NZ" sz="2000" dirty="0">
                <a:highlight>
                  <a:srgbClr val="FFFF00"/>
                </a:highlight>
                <a:latin typeface="Calibri"/>
                <a:cs typeface="Calibri"/>
              </a:rPr>
              <a:t>provides the planning phase</a:t>
            </a:r>
            <a:r>
              <a:rPr sz="2000" spc="-50" dirty="0">
                <a:highlight>
                  <a:srgbClr val="FFFF00"/>
                </a:highlight>
                <a:latin typeface="Calibri"/>
                <a:cs typeface="Calibri"/>
              </a:rPr>
              <a:t> </a:t>
            </a:r>
            <a:r>
              <a:rPr sz="2000" dirty="0">
                <a:highlight>
                  <a:srgbClr val="FFFF00"/>
                </a:highlight>
                <a:latin typeface="Calibri"/>
                <a:cs typeface="Calibri"/>
              </a:rPr>
              <a:t>+</a:t>
            </a:r>
            <a:r>
              <a:rPr sz="2000" spc="-35" dirty="0">
                <a:highlight>
                  <a:srgbClr val="FFFF00"/>
                </a:highlight>
                <a:latin typeface="Calibri"/>
                <a:cs typeface="Calibri"/>
              </a:rPr>
              <a:t> </a:t>
            </a:r>
            <a:r>
              <a:rPr sz="2000" i="1" dirty="0">
                <a:highlight>
                  <a:srgbClr val="FFFF00"/>
                </a:highlight>
                <a:latin typeface="Calibri"/>
                <a:cs typeface="Calibri"/>
              </a:rPr>
              <a:t>development</a:t>
            </a:r>
            <a:r>
              <a:rPr sz="2000" i="1" spc="-35" dirty="0">
                <a:highlight>
                  <a:srgbClr val="FFFF00"/>
                </a:highlight>
                <a:latin typeface="Calibri"/>
                <a:cs typeface="Calibri"/>
              </a:rPr>
              <a:t> </a:t>
            </a:r>
            <a:r>
              <a:rPr sz="2000" i="1" dirty="0">
                <a:highlight>
                  <a:srgbClr val="FFFF00"/>
                </a:highlight>
                <a:latin typeface="Calibri"/>
                <a:cs typeface="Calibri"/>
              </a:rPr>
              <a:t>method</a:t>
            </a:r>
            <a:r>
              <a:rPr sz="2000" i="1" spc="-50" dirty="0">
                <a:highlight>
                  <a:srgbClr val="FFFF00"/>
                </a:highlight>
                <a:latin typeface="Calibri"/>
                <a:cs typeface="Calibri"/>
              </a:rPr>
              <a:t> </a:t>
            </a:r>
            <a:r>
              <a:rPr sz="2000" spc="-25" dirty="0">
                <a:highlight>
                  <a:srgbClr val="FFFF00"/>
                </a:highlight>
                <a:latin typeface="Calibri"/>
                <a:cs typeface="Calibri"/>
              </a:rPr>
              <a:t>to </a:t>
            </a:r>
            <a:r>
              <a:rPr sz="2000" dirty="0">
                <a:highlight>
                  <a:srgbClr val="FFFF00"/>
                </a:highlight>
                <a:latin typeface="Calibri"/>
                <a:cs typeface="Calibri"/>
              </a:rPr>
              <a:t>give</a:t>
            </a:r>
            <a:r>
              <a:rPr sz="2000" spc="-15" dirty="0">
                <a:highlight>
                  <a:srgbClr val="FFFF00"/>
                </a:highlight>
                <a:latin typeface="Calibri"/>
                <a:cs typeface="Calibri"/>
              </a:rPr>
              <a:t> </a:t>
            </a:r>
            <a:r>
              <a:rPr lang="en-NZ" sz="2000" spc="-15" dirty="0">
                <a:highlight>
                  <a:srgbClr val="FFFF00"/>
                </a:highlight>
                <a:latin typeface="Calibri"/>
                <a:cs typeface="Calibri"/>
              </a:rPr>
              <a:t>the other </a:t>
            </a:r>
            <a:r>
              <a:rPr sz="2000" dirty="0">
                <a:highlight>
                  <a:srgbClr val="FFFF00"/>
                </a:highlight>
                <a:latin typeface="Calibri"/>
                <a:cs typeface="Calibri"/>
              </a:rPr>
              <a:t>phases</a:t>
            </a:r>
            <a:r>
              <a:rPr sz="2000" spc="-15" dirty="0">
                <a:highlight>
                  <a:srgbClr val="FFFF00"/>
                </a:highlight>
                <a:latin typeface="Calibri"/>
                <a:cs typeface="Calibri"/>
              </a:rPr>
              <a:t> </a:t>
            </a:r>
            <a:r>
              <a:rPr sz="2000" dirty="0">
                <a:highlight>
                  <a:srgbClr val="FFFF00"/>
                </a:highlight>
                <a:latin typeface="Calibri"/>
                <a:cs typeface="Calibri"/>
              </a:rPr>
              <a:t>in</a:t>
            </a:r>
            <a:r>
              <a:rPr sz="2000" spc="-20" dirty="0">
                <a:highlight>
                  <a:srgbClr val="FFFF00"/>
                </a:highlight>
                <a:latin typeface="Calibri"/>
                <a:cs typeface="Calibri"/>
              </a:rPr>
              <a:t> </a:t>
            </a:r>
            <a:r>
              <a:rPr sz="2000" dirty="0">
                <a:highlight>
                  <a:srgbClr val="FFFF00"/>
                </a:highlight>
                <a:latin typeface="Calibri"/>
                <a:cs typeface="Calibri"/>
              </a:rPr>
              <a:t>the</a:t>
            </a:r>
            <a:r>
              <a:rPr sz="2000" spc="-10" dirty="0">
                <a:highlight>
                  <a:srgbClr val="FFFF00"/>
                </a:highlight>
                <a:latin typeface="Calibri"/>
                <a:cs typeface="Calibri"/>
              </a:rPr>
              <a:t> project)</a:t>
            </a:r>
            <a:endParaRPr sz="2000" dirty="0">
              <a:highlight>
                <a:srgbClr val="FFFF00"/>
              </a:highlight>
              <a:latin typeface="Calibri"/>
              <a:cs typeface="Calibri"/>
            </a:endParaRPr>
          </a:p>
          <a:p>
            <a:pPr marL="240665" indent="-227965">
              <a:lnSpc>
                <a:spcPct val="100000"/>
              </a:lnSpc>
              <a:spcBef>
                <a:spcPts val="675"/>
              </a:spcBef>
              <a:buClr>
                <a:srgbClr val="F5821F"/>
              </a:buClr>
              <a:buFont typeface="Arial"/>
              <a:buChar char="•"/>
              <a:tabLst>
                <a:tab pos="240665" algn="l"/>
              </a:tabLst>
            </a:pPr>
            <a:r>
              <a:rPr lang="en-NZ" sz="2000" b="1" u="sng" dirty="0">
                <a:uFill>
                  <a:solidFill>
                    <a:srgbClr val="000000"/>
                  </a:solidFill>
                </a:uFill>
                <a:latin typeface="Calibri"/>
                <a:cs typeface="Calibri"/>
              </a:rPr>
              <a:t>F</a:t>
            </a:r>
            <a:r>
              <a:rPr sz="2000" b="1" u="sng" dirty="0">
                <a:uFill>
                  <a:solidFill>
                    <a:srgbClr val="000000"/>
                  </a:solidFill>
                </a:uFill>
                <a:latin typeface="Calibri"/>
                <a:cs typeface="Calibri"/>
              </a:rPr>
              <a:t>or</a:t>
            </a:r>
            <a:r>
              <a:rPr sz="2000" b="1" u="sng" spc="-30" dirty="0">
                <a:uFill>
                  <a:solidFill>
                    <a:srgbClr val="000000"/>
                  </a:solidFill>
                </a:uFill>
                <a:latin typeface="Calibri"/>
                <a:cs typeface="Calibri"/>
              </a:rPr>
              <a:t> </a:t>
            </a:r>
            <a:r>
              <a:rPr sz="2000" b="1" u="sng" dirty="0">
                <a:uFill>
                  <a:solidFill>
                    <a:srgbClr val="000000"/>
                  </a:solidFill>
                </a:uFill>
                <a:latin typeface="Calibri"/>
                <a:cs typeface="Calibri"/>
              </a:rPr>
              <a:t>assignment</a:t>
            </a:r>
            <a:r>
              <a:rPr sz="2000" b="1" u="sng" spc="-20" dirty="0">
                <a:uFill>
                  <a:solidFill>
                    <a:srgbClr val="000000"/>
                  </a:solidFill>
                </a:uFill>
                <a:latin typeface="Calibri"/>
                <a:cs typeface="Calibri"/>
              </a:rPr>
              <a:t> </a:t>
            </a:r>
            <a:r>
              <a:rPr sz="2000" b="1" u="sng" dirty="0">
                <a:uFill>
                  <a:solidFill>
                    <a:srgbClr val="000000"/>
                  </a:solidFill>
                </a:uFill>
                <a:latin typeface="Calibri"/>
                <a:cs typeface="Calibri"/>
              </a:rPr>
              <a:t>1</a:t>
            </a:r>
            <a:r>
              <a:rPr sz="2000" b="1" u="sng" spc="-15" dirty="0">
                <a:uFill>
                  <a:solidFill>
                    <a:srgbClr val="000000"/>
                  </a:solidFill>
                </a:uFill>
                <a:latin typeface="Calibri"/>
                <a:cs typeface="Calibri"/>
              </a:rPr>
              <a:t> </a:t>
            </a:r>
            <a:r>
              <a:rPr sz="2000" b="1" u="sng" dirty="0">
                <a:uFill>
                  <a:solidFill>
                    <a:srgbClr val="000000"/>
                  </a:solidFill>
                </a:uFill>
                <a:latin typeface="Calibri"/>
                <a:cs typeface="Calibri"/>
              </a:rPr>
              <a:t>the</a:t>
            </a:r>
            <a:r>
              <a:rPr sz="2000" b="1" u="sng" spc="-15" dirty="0">
                <a:uFill>
                  <a:solidFill>
                    <a:srgbClr val="000000"/>
                  </a:solidFill>
                </a:uFill>
                <a:latin typeface="Calibri"/>
                <a:cs typeface="Calibri"/>
              </a:rPr>
              <a:t> </a:t>
            </a:r>
            <a:r>
              <a:rPr sz="2000" b="1" u="sng" dirty="0">
                <a:uFill>
                  <a:solidFill>
                    <a:srgbClr val="000000"/>
                  </a:solidFill>
                </a:uFill>
                <a:latin typeface="Calibri"/>
                <a:cs typeface="Calibri"/>
              </a:rPr>
              <a:t>WBS</a:t>
            </a:r>
            <a:r>
              <a:rPr sz="2000" b="1" u="sng" spc="-15" dirty="0">
                <a:uFill>
                  <a:solidFill>
                    <a:srgbClr val="000000"/>
                  </a:solidFill>
                </a:uFill>
                <a:latin typeface="Calibri"/>
                <a:cs typeface="Calibri"/>
              </a:rPr>
              <a:t> </a:t>
            </a:r>
            <a:r>
              <a:rPr sz="2000" b="1" u="sng" dirty="0">
                <a:uFill>
                  <a:solidFill>
                    <a:srgbClr val="000000"/>
                  </a:solidFill>
                </a:uFill>
                <a:latin typeface="Calibri"/>
                <a:cs typeface="Calibri"/>
              </a:rPr>
              <a:t>will</a:t>
            </a:r>
            <a:r>
              <a:rPr sz="2000" b="1" u="sng" spc="-20" dirty="0">
                <a:uFill>
                  <a:solidFill>
                    <a:srgbClr val="000000"/>
                  </a:solidFill>
                </a:uFill>
                <a:latin typeface="Calibri"/>
                <a:cs typeface="Calibri"/>
              </a:rPr>
              <a:t> </a:t>
            </a:r>
            <a:r>
              <a:rPr sz="2000" b="1" u="sng" dirty="0">
                <a:uFill>
                  <a:solidFill>
                    <a:srgbClr val="000000"/>
                  </a:solidFill>
                </a:uFill>
                <a:latin typeface="Calibri"/>
                <a:cs typeface="Calibri"/>
              </a:rPr>
              <a:t>come</a:t>
            </a:r>
            <a:r>
              <a:rPr sz="2000" b="1" u="sng" spc="-40" dirty="0">
                <a:uFill>
                  <a:solidFill>
                    <a:srgbClr val="000000"/>
                  </a:solidFill>
                </a:uFill>
                <a:latin typeface="Calibri"/>
                <a:cs typeface="Calibri"/>
              </a:rPr>
              <a:t> </a:t>
            </a:r>
            <a:r>
              <a:rPr sz="2000" b="1" u="sng" dirty="0">
                <a:uFill>
                  <a:solidFill>
                    <a:srgbClr val="000000"/>
                  </a:solidFill>
                </a:uFill>
                <a:latin typeface="Calibri"/>
                <a:cs typeface="Calibri"/>
              </a:rPr>
              <a:t>from</a:t>
            </a:r>
            <a:r>
              <a:rPr sz="2000" b="1" u="sng" spc="-40" dirty="0">
                <a:uFill>
                  <a:solidFill>
                    <a:srgbClr val="000000"/>
                  </a:solidFill>
                </a:uFill>
                <a:latin typeface="Calibri"/>
                <a:cs typeface="Calibri"/>
              </a:rPr>
              <a:t> </a:t>
            </a:r>
            <a:r>
              <a:rPr sz="2000" b="1" u="sng" dirty="0">
                <a:uFill>
                  <a:solidFill>
                    <a:srgbClr val="000000"/>
                  </a:solidFill>
                </a:uFill>
                <a:latin typeface="Calibri"/>
                <a:cs typeface="Calibri"/>
              </a:rPr>
              <a:t>PMI</a:t>
            </a:r>
            <a:r>
              <a:rPr sz="2000" b="1" u="sng" spc="-30" dirty="0">
                <a:uFill>
                  <a:solidFill>
                    <a:srgbClr val="000000"/>
                  </a:solidFill>
                </a:uFill>
                <a:latin typeface="Calibri"/>
                <a:cs typeface="Calibri"/>
              </a:rPr>
              <a:t> </a:t>
            </a:r>
            <a:r>
              <a:rPr lang="en-NZ" sz="2000" b="1" u="sng" spc="-30" dirty="0">
                <a:uFill>
                  <a:solidFill>
                    <a:srgbClr val="000000"/>
                  </a:solidFill>
                </a:uFill>
                <a:latin typeface="Calibri"/>
                <a:cs typeface="Calibri"/>
              </a:rPr>
              <a:t> (planning) </a:t>
            </a:r>
            <a:r>
              <a:rPr sz="2000" b="1" u="sng" dirty="0">
                <a:uFill>
                  <a:solidFill>
                    <a:srgbClr val="000000"/>
                  </a:solidFill>
                </a:uFill>
                <a:latin typeface="Calibri"/>
                <a:cs typeface="Calibri"/>
              </a:rPr>
              <a:t>+</a:t>
            </a:r>
            <a:r>
              <a:rPr sz="2000" b="1" u="sng" spc="-20" dirty="0">
                <a:uFill>
                  <a:solidFill>
                    <a:srgbClr val="000000"/>
                  </a:solidFill>
                </a:uFill>
                <a:latin typeface="Calibri"/>
                <a:cs typeface="Calibri"/>
              </a:rPr>
              <a:t> </a:t>
            </a:r>
            <a:r>
              <a:rPr sz="2000" b="1" u="sng" dirty="0">
                <a:uFill>
                  <a:solidFill>
                    <a:srgbClr val="000000"/>
                  </a:solidFill>
                </a:uFill>
                <a:latin typeface="Calibri"/>
                <a:cs typeface="Calibri"/>
              </a:rPr>
              <a:t>SDLC</a:t>
            </a:r>
            <a:r>
              <a:rPr sz="2000" b="1" u="sng" spc="-30" dirty="0">
                <a:uFill>
                  <a:solidFill>
                    <a:srgbClr val="000000"/>
                  </a:solidFill>
                </a:uFill>
                <a:latin typeface="Calibri"/>
                <a:cs typeface="Calibri"/>
              </a:rPr>
              <a:t> </a:t>
            </a:r>
            <a:r>
              <a:rPr sz="2000" b="1" u="sng" spc="-10" dirty="0">
                <a:uFill>
                  <a:solidFill>
                    <a:srgbClr val="000000"/>
                  </a:solidFill>
                </a:uFill>
                <a:latin typeface="Calibri"/>
                <a:cs typeface="Calibri"/>
              </a:rPr>
              <a:t>method</a:t>
            </a:r>
            <a:endParaRPr sz="20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7800" y="-7620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r>
              <a:rPr lang="en-NZ" sz="2400" spc="-10" dirty="0"/>
              <a:t> based on SDLC method</a:t>
            </a:r>
            <a:endParaRPr sz="2400" spc="-10" dirty="0"/>
          </a:p>
        </p:txBody>
      </p:sp>
      <p:sp>
        <p:nvSpPr>
          <p:cNvPr id="3" name="object 3"/>
          <p:cNvSpPr txBox="1"/>
          <p:nvPr/>
        </p:nvSpPr>
        <p:spPr>
          <a:xfrm>
            <a:off x="1371600" y="268199"/>
            <a:ext cx="10067290" cy="6670416"/>
          </a:xfrm>
          <a:prstGeom prst="rect">
            <a:avLst/>
          </a:prstGeom>
        </p:spPr>
        <p:txBody>
          <a:bodyPr vert="horz" wrap="square" lIns="0" tIns="103505" rIns="0" bIns="0" rtlCol="0">
            <a:spAutoFit/>
          </a:bodyPr>
          <a:lstStyle/>
          <a:p>
            <a:pPr marL="12700">
              <a:lnSpc>
                <a:spcPct val="100000"/>
              </a:lnSpc>
              <a:spcBef>
                <a:spcPts val="815"/>
              </a:spcBef>
              <a:buClr>
                <a:srgbClr val="F5821F"/>
              </a:buClr>
              <a:tabLst>
                <a:tab pos="240665" algn="l"/>
              </a:tabLst>
            </a:pPr>
            <a:r>
              <a:rPr lang="en-NZ" dirty="0">
                <a:latin typeface="Calibri"/>
                <a:cs typeface="Calibri"/>
              </a:rPr>
              <a:t> </a:t>
            </a:r>
            <a:r>
              <a:rPr lang="en-NZ" sz="1400" dirty="0">
                <a:latin typeface="Calibri"/>
                <a:cs typeface="Calibri"/>
              </a:rPr>
              <a:t>	</a:t>
            </a:r>
            <a:r>
              <a:rPr lang="en-NZ" sz="1600" b="1" dirty="0">
                <a:latin typeface="Calibri"/>
                <a:cs typeface="Calibri"/>
              </a:rPr>
              <a:t>WBS—SDLC (Systems Life Cycle Method) follows a systematic approach with the following phases: planning, analysis, design, implementation, and deployment (support and security).</a:t>
            </a:r>
          </a:p>
          <a:p>
            <a:pPr marL="12700">
              <a:spcBef>
                <a:spcPts val="815"/>
              </a:spcBef>
              <a:buClr>
                <a:srgbClr val="F5821F"/>
              </a:buClr>
              <a:tabLst>
                <a:tab pos="240665" algn="l"/>
              </a:tabLst>
            </a:pPr>
            <a:r>
              <a:rPr lang="en-NZ" sz="1400" dirty="0">
                <a:latin typeface="Calibri"/>
                <a:cs typeface="Calibri"/>
              </a:rPr>
              <a:t>1.  Planning phase- </a:t>
            </a:r>
            <a:r>
              <a:rPr lang="en-NZ" sz="1400" dirty="0">
                <a:highlight>
                  <a:srgbClr val="FFFF00"/>
                </a:highlight>
                <a:latin typeface="Calibri"/>
                <a:cs typeface="Calibri"/>
              </a:rPr>
              <a:t>(Initiating and planning based on PMI PM tasks)</a:t>
            </a:r>
          </a:p>
          <a:p>
            <a:pPr marL="298450" indent="-285750">
              <a:spcBef>
                <a:spcPts val="815"/>
              </a:spcBef>
              <a:buClr>
                <a:srgbClr val="F5821F"/>
              </a:buClr>
              <a:buFontTx/>
              <a:buChar char="-"/>
              <a:tabLst>
                <a:tab pos="240665" algn="l"/>
              </a:tabLst>
            </a:pPr>
            <a:r>
              <a:rPr lang="en-NZ" sz="1400" dirty="0">
                <a:latin typeface="Calibri"/>
                <a:cs typeface="Calibri"/>
              </a:rPr>
              <a:t>  Initiate the project (PMI)</a:t>
            </a:r>
          </a:p>
          <a:p>
            <a:pPr marL="298450" indent="-285750">
              <a:spcBef>
                <a:spcPts val="815"/>
              </a:spcBef>
              <a:buClr>
                <a:srgbClr val="F5821F"/>
              </a:buClr>
              <a:buFontTx/>
              <a:buChar char="-"/>
              <a:tabLst>
                <a:tab pos="240665" algn="l"/>
              </a:tabLst>
            </a:pPr>
            <a:r>
              <a:rPr lang="en-NZ" sz="1400" dirty="0">
                <a:latin typeface="Calibri"/>
                <a:cs typeface="Calibri"/>
              </a:rPr>
              <a:t> Evaluate the business case (preliminary investigation report) </a:t>
            </a:r>
          </a:p>
          <a:p>
            <a:pPr marL="298450" indent="-285750">
              <a:spcBef>
                <a:spcPts val="815"/>
              </a:spcBef>
              <a:buClr>
                <a:srgbClr val="F5821F"/>
              </a:buClr>
              <a:buFontTx/>
              <a:buChar char="-"/>
              <a:tabLst>
                <a:tab pos="240665" algn="l"/>
              </a:tabLst>
            </a:pPr>
            <a:r>
              <a:rPr lang="en-NZ" sz="1400" dirty="0">
                <a:latin typeface="Calibri"/>
                <a:cs typeface="Calibri"/>
              </a:rPr>
              <a:t> Develop all the needed plans (PMI based)</a:t>
            </a:r>
          </a:p>
          <a:p>
            <a:pPr marL="298450" indent="-285750">
              <a:spcBef>
                <a:spcPts val="815"/>
              </a:spcBef>
              <a:buClr>
                <a:srgbClr val="F5821F"/>
              </a:buClr>
              <a:buFontTx/>
              <a:buChar char="-"/>
              <a:tabLst>
                <a:tab pos="240665" algn="l"/>
              </a:tabLst>
            </a:pPr>
            <a:r>
              <a:rPr lang="en-NZ" sz="1400" dirty="0">
                <a:latin typeface="Calibri"/>
                <a:cs typeface="Calibri"/>
              </a:rPr>
              <a:t>Verify plans </a:t>
            </a:r>
            <a:r>
              <a:rPr lang="en-NZ" sz="1400" dirty="0">
                <a:highlight>
                  <a:srgbClr val="FFFF00"/>
                </a:highlight>
                <a:latin typeface="Calibri"/>
                <a:cs typeface="Calibri"/>
              </a:rPr>
              <a:t>(M/C PM task)</a:t>
            </a:r>
          </a:p>
          <a:p>
            <a:pPr marL="12700">
              <a:lnSpc>
                <a:spcPct val="100000"/>
              </a:lnSpc>
              <a:spcBef>
                <a:spcPts val="815"/>
              </a:spcBef>
              <a:buClr>
                <a:srgbClr val="F5821F"/>
              </a:buClr>
              <a:tabLst>
                <a:tab pos="240665" algn="l"/>
              </a:tabLst>
            </a:pPr>
            <a:r>
              <a:rPr lang="en-NZ" sz="1400" dirty="0">
                <a:highlight>
                  <a:srgbClr val="FFFF00"/>
                </a:highlight>
                <a:latin typeface="Calibri"/>
                <a:cs typeface="Calibri"/>
              </a:rPr>
              <a:t>Phase deliverable is the project proposal (list of plans)- closing PMI task </a:t>
            </a:r>
          </a:p>
          <a:p>
            <a:pPr marL="12700">
              <a:lnSpc>
                <a:spcPct val="100000"/>
              </a:lnSpc>
              <a:spcBef>
                <a:spcPts val="815"/>
              </a:spcBef>
              <a:buClr>
                <a:srgbClr val="F5821F"/>
              </a:buClr>
              <a:tabLst>
                <a:tab pos="240665" algn="l"/>
              </a:tabLst>
            </a:pPr>
            <a:r>
              <a:rPr lang="en-NZ" sz="1400" dirty="0">
                <a:latin typeface="Calibri"/>
                <a:cs typeface="Calibri"/>
              </a:rPr>
              <a:t>2. Analysis phase </a:t>
            </a:r>
            <a:r>
              <a:rPr lang="en-NZ" sz="1400" dirty="0">
                <a:highlight>
                  <a:srgbClr val="FFFF00"/>
                </a:highlight>
                <a:latin typeface="Calibri"/>
                <a:cs typeface="Calibri"/>
              </a:rPr>
              <a:t>(Executing, and Monitoring and Controlling based on PMI PM tasks) </a:t>
            </a:r>
          </a:p>
          <a:p>
            <a:pPr marL="298450" indent="-285750">
              <a:lnSpc>
                <a:spcPct val="100000"/>
              </a:lnSpc>
              <a:spcBef>
                <a:spcPts val="815"/>
              </a:spcBef>
              <a:buClr>
                <a:srgbClr val="F5821F"/>
              </a:buClr>
              <a:buFontTx/>
              <a:buChar char="-"/>
              <a:tabLst>
                <a:tab pos="240665" algn="l"/>
              </a:tabLst>
            </a:pPr>
            <a:r>
              <a:rPr lang="en-NZ" sz="1400" dirty="0">
                <a:latin typeface="Calibri"/>
                <a:cs typeface="Calibri"/>
              </a:rPr>
              <a:t>Gathering the requirements- interviews, document reviews, observation, surveys, research, brainstorming </a:t>
            </a:r>
          </a:p>
          <a:p>
            <a:pPr marL="298450" indent="-285750">
              <a:lnSpc>
                <a:spcPct val="100000"/>
              </a:lnSpc>
              <a:spcBef>
                <a:spcPts val="815"/>
              </a:spcBef>
              <a:buClr>
                <a:srgbClr val="F5821F"/>
              </a:buClr>
              <a:buFontTx/>
              <a:buChar char="-"/>
              <a:tabLst>
                <a:tab pos="240665" algn="l"/>
              </a:tabLst>
            </a:pPr>
            <a:r>
              <a:rPr lang="en-NZ" sz="1400" dirty="0">
                <a:latin typeface="Calibri"/>
                <a:cs typeface="Calibri"/>
              </a:rPr>
              <a:t>Verify requirements </a:t>
            </a:r>
            <a:r>
              <a:rPr lang="en-NZ" sz="1400" dirty="0">
                <a:highlight>
                  <a:srgbClr val="FFFF00"/>
                </a:highlight>
                <a:latin typeface="Calibri"/>
                <a:cs typeface="Calibri"/>
              </a:rPr>
              <a:t>(M/C PM task)</a:t>
            </a:r>
          </a:p>
          <a:p>
            <a:pPr marL="298450" indent="-285750">
              <a:spcBef>
                <a:spcPts val="815"/>
              </a:spcBef>
              <a:buClr>
                <a:srgbClr val="F5821F"/>
              </a:buClr>
              <a:buFontTx/>
              <a:buChar char="-"/>
              <a:tabLst>
                <a:tab pos="240665" algn="l"/>
              </a:tabLst>
            </a:pPr>
            <a:r>
              <a:rPr lang="en-NZ" sz="1400" dirty="0">
                <a:latin typeface="Calibri"/>
                <a:cs typeface="Calibri"/>
              </a:rPr>
              <a:t>Create analysis models- data flow diagrams (DFD), context diagram,  Lower-level DFDs</a:t>
            </a:r>
          </a:p>
          <a:p>
            <a:pPr marL="298450" indent="-285750">
              <a:spcBef>
                <a:spcPts val="815"/>
              </a:spcBef>
              <a:buClr>
                <a:srgbClr val="F5821F"/>
              </a:buClr>
              <a:buFontTx/>
              <a:buChar char="-"/>
              <a:tabLst>
                <a:tab pos="240665" algn="l"/>
              </a:tabLst>
            </a:pPr>
            <a:r>
              <a:rPr lang="en-NZ" sz="1400" dirty="0">
                <a:latin typeface="Calibri"/>
                <a:cs typeface="Calibri"/>
              </a:rPr>
              <a:t>Verify analysis models </a:t>
            </a:r>
            <a:r>
              <a:rPr lang="en-NZ" sz="1400" dirty="0">
                <a:highlight>
                  <a:srgbClr val="FFFF00"/>
                </a:highlight>
                <a:latin typeface="Calibri"/>
                <a:cs typeface="Calibri"/>
              </a:rPr>
              <a:t>(M/C PM task)</a:t>
            </a:r>
            <a:endParaRPr lang="en-NZ" sz="1400" dirty="0">
              <a:latin typeface="Calibri"/>
              <a:cs typeface="Calibri"/>
            </a:endParaRPr>
          </a:p>
          <a:p>
            <a:pPr marL="12700">
              <a:spcBef>
                <a:spcPts val="815"/>
              </a:spcBef>
              <a:buClr>
                <a:srgbClr val="F5821F"/>
              </a:buClr>
              <a:tabLst>
                <a:tab pos="240665" algn="l"/>
              </a:tabLst>
            </a:pPr>
            <a:r>
              <a:rPr lang="en-NZ" sz="1400" dirty="0">
                <a:highlight>
                  <a:srgbClr val="FFFF00"/>
                </a:highlight>
                <a:latin typeface="Calibri"/>
                <a:cs typeface="Calibri"/>
              </a:rPr>
              <a:t>Phase deliverables are the  analysis models with the requirements document- Closing PMI PM task  </a:t>
            </a:r>
          </a:p>
          <a:p>
            <a:pPr>
              <a:spcBef>
                <a:spcPts val="815"/>
              </a:spcBef>
              <a:buClr>
                <a:srgbClr val="F5821F"/>
              </a:buClr>
              <a:tabLst>
                <a:tab pos="240665" algn="l"/>
              </a:tabLst>
            </a:pPr>
            <a:r>
              <a:rPr lang="en-NZ" sz="1400" dirty="0">
                <a:latin typeface="Calibri"/>
                <a:cs typeface="Calibri"/>
              </a:rPr>
              <a:t>3. Design Phase </a:t>
            </a:r>
            <a:r>
              <a:rPr lang="en-NZ" sz="1400" dirty="0">
                <a:highlight>
                  <a:srgbClr val="FFFF00"/>
                </a:highlight>
                <a:latin typeface="Calibri"/>
                <a:cs typeface="Calibri"/>
              </a:rPr>
              <a:t>(Executing, and Monitoring and Control based on PMI PM tasks) </a:t>
            </a:r>
          </a:p>
          <a:p>
            <a:pPr marL="285750" indent="-285750">
              <a:spcBef>
                <a:spcPts val="815"/>
              </a:spcBef>
              <a:buClr>
                <a:srgbClr val="F5821F"/>
              </a:buClr>
              <a:buFontTx/>
              <a:buChar char="-"/>
              <a:tabLst>
                <a:tab pos="240665" algn="l"/>
              </a:tabLst>
            </a:pPr>
            <a:r>
              <a:rPr lang="en-NZ" sz="1400" dirty="0">
                <a:latin typeface="Calibri"/>
                <a:cs typeface="Calibri"/>
              </a:rPr>
              <a:t>Interface design</a:t>
            </a:r>
          </a:p>
          <a:p>
            <a:pPr marL="285750" indent="-285750">
              <a:spcBef>
                <a:spcPts val="815"/>
              </a:spcBef>
              <a:buClr>
                <a:srgbClr val="F5821F"/>
              </a:buClr>
              <a:buFontTx/>
              <a:buChar char="-"/>
              <a:tabLst>
                <a:tab pos="240665" algn="l"/>
              </a:tabLst>
            </a:pPr>
            <a:r>
              <a:rPr lang="en-NZ" sz="1400" dirty="0">
                <a:latin typeface="Calibri"/>
                <a:cs typeface="Calibri"/>
              </a:rPr>
              <a:t>Design models </a:t>
            </a:r>
          </a:p>
          <a:p>
            <a:pPr marL="285750" indent="-285750">
              <a:spcBef>
                <a:spcPts val="815"/>
              </a:spcBef>
              <a:buClr>
                <a:srgbClr val="F5821F"/>
              </a:buClr>
              <a:buFontTx/>
              <a:buChar char="-"/>
              <a:tabLst>
                <a:tab pos="240665" algn="l"/>
              </a:tabLst>
            </a:pPr>
            <a:r>
              <a:rPr lang="en-NZ" sz="1400" dirty="0">
                <a:latin typeface="Calibri"/>
                <a:cs typeface="Calibri"/>
              </a:rPr>
              <a:t>Data design</a:t>
            </a:r>
          </a:p>
          <a:p>
            <a:pPr marL="285750" indent="-285750">
              <a:spcBef>
                <a:spcPts val="815"/>
              </a:spcBef>
              <a:buClr>
                <a:srgbClr val="F5821F"/>
              </a:buClr>
              <a:buFontTx/>
              <a:buChar char="-"/>
              <a:tabLst>
                <a:tab pos="240665" algn="l"/>
              </a:tabLst>
            </a:pPr>
            <a:r>
              <a:rPr lang="en-NZ" sz="1400" dirty="0">
                <a:latin typeface="Calibri"/>
                <a:cs typeface="Calibri"/>
              </a:rPr>
              <a:t>Systems architecture design</a:t>
            </a:r>
          </a:p>
          <a:p>
            <a:pPr marL="285750" indent="-285750">
              <a:spcBef>
                <a:spcPts val="815"/>
              </a:spcBef>
              <a:buClr>
                <a:srgbClr val="F5821F"/>
              </a:buClr>
              <a:buFontTx/>
              <a:buChar char="-"/>
              <a:tabLst>
                <a:tab pos="240665" algn="l"/>
              </a:tabLst>
            </a:pPr>
            <a:r>
              <a:rPr lang="en-NZ" sz="1400" dirty="0">
                <a:latin typeface="Calibri"/>
                <a:cs typeface="Calibri"/>
              </a:rPr>
              <a:t>Verify all design models </a:t>
            </a:r>
            <a:r>
              <a:rPr lang="en-NZ" sz="1400" dirty="0">
                <a:highlight>
                  <a:srgbClr val="FFFF00"/>
                </a:highlight>
                <a:latin typeface="Calibri"/>
                <a:cs typeface="Calibri"/>
              </a:rPr>
              <a:t>(M/C PM task)</a:t>
            </a:r>
            <a:endParaRPr lang="en-NZ" sz="1400" dirty="0">
              <a:latin typeface="Calibri"/>
              <a:cs typeface="Calibri"/>
            </a:endParaRPr>
          </a:p>
          <a:p>
            <a:pPr marL="12700">
              <a:spcBef>
                <a:spcPts val="815"/>
              </a:spcBef>
              <a:buClr>
                <a:srgbClr val="F5821F"/>
              </a:buClr>
              <a:tabLst>
                <a:tab pos="240665" algn="l"/>
              </a:tabLst>
            </a:pPr>
            <a:r>
              <a:rPr lang="en-NZ" sz="1400" dirty="0">
                <a:latin typeface="Calibri"/>
                <a:cs typeface="Calibri"/>
              </a:rPr>
              <a:t>  </a:t>
            </a:r>
            <a:r>
              <a:rPr lang="en-NZ" sz="1400" dirty="0">
                <a:highlight>
                  <a:srgbClr val="FFFF00"/>
                </a:highlight>
                <a:latin typeface="Calibri"/>
                <a:cs typeface="Calibri"/>
              </a:rPr>
              <a:t>Phase deliverables are the  interface design, design models with the analysis models &amp; requirements document- Closing PMI PM task           </a:t>
            </a:r>
          </a:p>
        </p:txBody>
      </p:sp>
    </p:spTree>
    <p:extLst>
      <p:ext uri="{BB962C8B-B14F-4D97-AF65-F5344CB8AC3E}">
        <p14:creationId xmlns:p14="http://schemas.microsoft.com/office/powerpoint/2010/main" val="1804527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2860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r>
              <a:rPr lang="en-NZ" sz="2400" spc="-10" dirty="0"/>
              <a:t> based on SDLC method</a:t>
            </a:r>
            <a:endParaRPr sz="2400" spc="-10" dirty="0"/>
          </a:p>
        </p:txBody>
      </p:sp>
      <p:sp>
        <p:nvSpPr>
          <p:cNvPr id="3" name="object 3"/>
          <p:cNvSpPr txBox="1"/>
          <p:nvPr/>
        </p:nvSpPr>
        <p:spPr>
          <a:xfrm>
            <a:off x="1447800" y="676425"/>
            <a:ext cx="10067290" cy="2864246"/>
          </a:xfrm>
          <a:prstGeom prst="rect">
            <a:avLst/>
          </a:prstGeom>
        </p:spPr>
        <p:txBody>
          <a:bodyPr vert="horz" wrap="square" lIns="0" tIns="103505" rIns="0" bIns="0" rtlCol="0">
            <a:spAutoFit/>
          </a:bodyPr>
          <a:lstStyle/>
          <a:p>
            <a:pPr marL="12700">
              <a:spcBef>
                <a:spcPts val="815"/>
              </a:spcBef>
              <a:buClr>
                <a:srgbClr val="F5821F"/>
              </a:buClr>
              <a:tabLst>
                <a:tab pos="240665" algn="l"/>
              </a:tabLst>
            </a:pPr>
            <a:r>
              <a:rPr lang="en-NZ" sz="1400" dirty="0">
                <a:latin typeface="Calibri"/>
                <a:cs typeface="Calibri"/>
              </a:rPr>
              <a:t>4.  Implementation (development and testing)- Execute and Monitor and Control based on PMI PM task</a:t>
            </a:r>
          </a:p>
          <a:p>
            <a:pPr marL="298450" indent="-285750">
              <a:spcBef>
                <a:spcPts val="815"/>
              </a:spcBef>
              <a:buClr>
                <a:srgbClr val="F5821F"/>
              </a:buClr>
              <a:buFontTx/>
              <a:buChar char="-"/>
              <a:tabLst>
                <a:tab pos="240665" algn="l"/>
              </a:tabLst>
            </a:pPr>
            <a:r>
              <a:rPr lang="en-NZ" sz="1400" dirty="0">
                <a:latin typeface="Calibri"/>
                <a:cs typeface="Calibri"/>
              </a:rPr>
              <a:t>Code/develop</a:t>
            </a:r>
          </a:p>
          <a:p>
            <a:pPr marL="298450" indent="-285750">
              <a:spcBef>
                <a:spcPts val="815"/>
              </a:spcBef>
              <a:buClr>
                <a:srgbClr val="F5821F"/>
              </a:buClr>
              <a:buFontTx/>
              <a:buChar char="-"/>
              <a:tabLst>
                <a:tab pos="240665" algn="l"/>
              </a:tabLst>
            </a:pPr>
            <a:r>
              <a:rPr lang="en-NZ" sz="1400" dirty="0">
                <a:latin typeface="Calibri"/>
                <a:cs typeface="Calibri"/>
              </a:rPr>
              <a:t>Testing (validation) </a:t>
            </a:r>
            <a:r>
              <a:rPr lang="en-NZ" sz="1400" dirty="0">
                <a:highlight>
                  <a:srgbClr val="FFFF00"/>
                </a:highlight>
                <a:latin typeface="Calibri"/>
                <a:cs typeface="Calibri"/>
              </a:rPr>
              <a:t>(M/C PM task)</a:t>
            </a:r>
          </a:p>
          <a:p>
            <a:pPr marL="298450" indent="-285750">
              <a:spcBef>
                <a:spcPts val="815"/>
              </a:spcBef>
              <a:buClr>
                <a:srgbClr val="F5821F"/>
              </a:buClr>
              <a:buFontTx/>
              <a:buChar char="-"/>
              <a:tabLst>
                <a:tab pos="240665" algn="l"/>
              </a:tabLst>
            </a:pPr>
            <a:r>
              <a:rPr lang="en-NZ" sz="1400" dirty="0">
                <a:latin typeface="Calibri"/>
                <a:cs typeface="Calibri"/>
              </a:rPr>
              <a:t>Documentation </a:t>
            </a:r>
          </a:p>
          <a:p>
            <a:pPr marL="12700">
              <a:lnSpc>
                <a:spcPct val="100000"/>
              </a:lnSpc>
              <a:spcBef>
                <a:spcPts val="815"/>
              </a:spcBef>
              <a:buClr>
                <a:srgbClr val="F5821F"/>
              </a:buClr>
              <a:tabLst>
                <a:tab pos="240665" algn="l"/>
              </a:tabLst>
            </a:pPr>
            <a:r>
              <a:rPr lang="en-NZ" sz="1400" dirty="0">
                <a:highlight>
                  <a:srgbClr val="FFFF00"/>
                </a:highlight>
                <a:latin typeface="Calibri"/>
                <a:cs typeface="Calibri"/>
              </a:rPr>
              <a:t>Phase deliverable is implemented system with documentation)- closing PMI PM task </a:t>
            </a:r>
          </a:p>
          <a:p>
            <a:pPr marL="12700">
              <a:lnSpc>
                <a:spcPct val="100000"/>
              </a:lnSpc>
              <a:spcBef>
                <a:spcPts val="815"/>
              </a:spcBef>
              <a:buClr>
                <a:srgbClr val="F5821F"/>
              </a:buClr>
              <a:tabLst>
                <a:tab pos="240665" algn="l"/>
              </a:tabLst>
            </a:pPr>
            <a:r>
              <a:rPr lang="en-NZ" sz="1400" dirty="0">
                <a:latin typeface="Calibri"/>
                <a:cs typeface="Calibri"/>
              </a:rPr>
              <a:t>5. Deployment phase (Executing, and Monitoring and Control based on PMI) </a:t>
            </a:r>
          </a:p>
          <a:p>
            <a:pPr marL="298450" indent="-285750">
              <a:lnSpc>
                <a:spcPct val="100000"/>
              </a:lnSpc>
              <a:spcBef>
                <a:spcPts val="815"/>
              </a:spcBef>
              <a:buClr>
                <a:srgbClr val="F5821F"/>
              </a:buClr>
              <a:buFontTx/>
              <a:buChar char="-"/>
              <a:tabLst>
                <a:tab pos="240665" algn="l"/>
              </a:tabLst>
            </a:pPr>
            <a:r>
              <a:rPr lang="en-NZ" sz="1400" dirty="0">
                <a:latin typeface="Calibri"/>
                <a:cs typeface="Calibri"/>
              </a:rPr>
              <a:t>Installation</a:t>
            </a:r>
          </a:p>
          <a:p>
            <a:pPr marL="298450" indent="-285750">
              <a:lnSpc>
                <a:spcPct val="100000"/>
              </a:lnSpc>
              <a:spcBef>
                <a:spcPts val="815"/>
              </a:spcBef>
              <a:buClr>
                <a:srgbClr val="F5821F"/>
              </a:buClr>
              <a:buFontTx/>
              <a:buChar char="-"/>
              <a:tabLst>
                <a:tab pos="240665" algn="l"/>
              </a:tabLst>
            </a:pPr>
            <a:r>
              <a:rPr lang="en-NZ" sz="1400" dirty="0">
                <a:latin typeface="Calibri"/>
                <a:cs typeface="Calibri"/>
              </a:rPr>
              <a:t>Systems changeover and sign-off </a:t>
            </a:r>
            <a:r>
              <a:rPr lang="en-NZ" sz="1400" dirty="0">
                <a:highlight>
                  <a:srgbClr val="FFFF00"/>
                </a:highlight>
                <a:latin typeface="Calibri"/>
                <a:cs typeface="Calibri"/>
              </a:rPr>
              <a:t>(M/C PM task)</a:t>
            </a:r>
          </a:p>
          <a:p>
            <a:pPr marL="12700">
              <a:lnSpc>
                <a:spcPct val="100000"/>
              </a:lnSpc>
              <a:spcBef>
                <a:spcPts val="815"/>
              </a:spcBef>
              <a:buClr>
                <a:srgbClr val="F5821F"/>
              </a:buClr>
              <a:tabLst>
                <a:tab pos="240665" algn="l"/>
              </a:tabLst>
            </a:pPr>
            <a:r>
              <a:rPr lang="en-NZ" sz="1400" dirty="0">
                <a:highlight>
                  <a:srgbClr val="FFFF00"/>
                </a:highlight>
                <a:latin typeface="Calibri"/>
                <a:cs typeface="Calibri"/>
              </a:rPr>
              <a:t>Phase deliverable is a fully functional system in an operational environment- closing PMI PM task </a:t>
            </a:r>
          </a:p>
        </p:txBody>
      </p:sp>
    </p:spTree>
    <p:extLst>
      <p:ext uri="{BB962C8B-B14F-4D97-AF65-F5344CB8AC3E}">
        <p14:creationId xmlns:p14="http://schemas.microsoft.com/office/powerpoint/2010/main" val="2301888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2860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p>
        </p:txBody>
      </p:sp>
      <p:sp>
        <p:nvSpPr>
          <p:cNvPr id="3" name="object 3"/>
          <p:cNvSpPr txBox="1"/>
          <p:nvPr/>
        </p:nvSpPr>
        <p:spPr>
          <a:xfrm>
            <a:off x="1447800" y="611397"/>
            <a:ext cx="10067290" cy="6085640"/>
          </a:xfrm>
          <a:prstGeom prst="rect">
            <a:avLst/>
          </a:prstGeom>
        </p:spPr>
        <p:txBody>
          <a:bodyPr vert="horz" wrap="square" lIns="0" tIns="103505" rIns="0" bIns="0" rtlCol="0">
            <a:spAutoFit/>
          </a:bodyPr>
          <a:lstStyle/>
          <a:p>
            <a:pPr marL="12700">
              <a:lnSpc>
                <a:spcPct val="100000"/>
              </a:lnSpc>
              <a:spcBef>
                <a:spcPts val="815"/>
              </a:spcBef>
              <a:buClr>
                <a:srgbClr val="F5821F"/>
              </a:buClr>
              <a:tabLst>
                <a:tab pos="240665" algn="l"/>
              </a:tabLst>
            </a:pPr>
            <a:r>
              <a:rPr lang="en-NZ" dirty="0">
                <a:latin typeface="Calibri"/>
                <a:cs typeface="Calibri"/>
              </a:rPr>
              <a:t>Use the WBS based on SDLC as a model to create the project phases and tasks (PM methodology) for assignment 1. This will be used to plan the schedule, develop a budget plan, create a quality assurance plan, milestone report, etc.</a:t>
            </a:r>
          </a:p>
          <a:p>
            <a:pPr marL="12700">
              <a:lnSpc>
                <a:spcPct val="100000"/>
              </a:lnSpc>
              <a:spcBef>
                <a:spcPts val="815"/>
              </a:spcBef>
              <a:buClr>
                <a:srgbClr val="F5821F"/>
              </a:buClr>
              <a:tabLst>
                <a:tab pos="240665" algn="l"/>
              </a:tabLst>
            </a:pPr>
            <a:r>
              <a:rPr lang="en-NZ" dirty="0">
                <a:latin typeface="Calibri"/>
                <a:cs typeface="Calibri"/>
              </a:rPr>
              <a:t> Adapted for the wiki assignment based on the SDLC method   </a:t>
            </a:r>
          </a:p>
          <a:p>
            <a:pPr marL="355600" indent="-342900">
              <a:lnSpc>
                <a:spcPct val="100000"/>
              </a:lnSpc>
              <a:spcBef>
                <a:spcPts val="815"/>
              </a:spcBef>
              <a:buClr>
                <a:srgbClr val="F5821F"/>
              </a:buClr>
              <a:buAutoNum type="arabicPeriod"/>
              <a:tabLst>
                <a:tab pos="240665" algn="l"/>
              </a:tabLst>
            </a:pPr>
            <a:r>
              <a:rPr lang="en-NZ" sz="1400" dirty="0">
                <a:latin typeface="Calibri"/>
                <a:cs typeface="Calibri"/>
              </a:rPr>
              <a:t>Planning phase</a:t>
            </a:r>
          </a:p>
          <a:p>
            <a:pPr marL="12700">
              <a:lnSpc>
                <a:spcPct val="100000"/>
              </a:lnSpc>
              <a:spcBef>
                <a:spcPts val="815"/>
              </a:spcBef>
              <a:buClr>
                <a:srgbClr val="F5821F"/>
              </a:buClr>
              <a:tabLst>
                <a:tab pos="240665" algn="l"/>
              </a:tabLst>
            </a:pPr>
            <a:r>
              <a:rPr lang="en-NZ" sz="1400" dirty="0">
                <a:latin typeface="Calibri"/>
                <a:cs typeface="Calibri"/>
              </a:rPr>
              <a:t>      1.1 Project initiation</a:t>
            </a:r>
          </a:p>
          <a:p>
            <a:pPr marL="12700">
              <a:lnSpc>
                <a:spcPct val="100000"/>
              </a:lnSpc>
              <a:spcBef>
                <a:spcPts val="815"/>
              </a:spcBef>
              <a:buClr>
                <a:srgbClr val="F5821F"/>
              </a:buClr>
              <a:tabLst>
                <a:tab pos="240665" algn="l"/>
              </a:tabLst>
            </a:pPr>
            <a:r>
              <a:rPr lang="en-NZ" sz="1400" dirty="0">
                <a:latin typeface="Calibri"/>
                <a:cs typeface="Calibri"/>
              </a:rPr>
              <a:t>	   1.1.1 Stakeholder register </a:t>
            </a:r>
          </a:p>
          <a:p>
            <a:pPr marL="12700">
              <a:lnSpc>
                <a:spcPct val="100000"/>
              </a:lnSpc>
              <a:spcBef>
                <a:spcPts val="815"/>
              </a:spcBef>
              <a:buClr>
                <a:srgbClr val="F5821F"/>
              </a:buClr>
              <a:tabLst>
                <a:tab pos="240665" algn="l"/>
              </a:tabLst>
            </a:pPr>
            <a:r>
              <a:rPr lang="en-NZ" sz="1400" dirty="0">
                <a:latin typeface="Calibri"/>
                <a:cs typeface="Calibri"/>
              </a:rPr>
              <a:t>  	   1.1.2 Project charter </a:t>
            </a:r>
          </a:p>
          <a:p>
            <a:pPr marL="12700">
              <a:lnSpc>
                <a:spcPct val="100000"/>
              </a:lnSpc>
              <a:spcBef>
                <a:spcPts val="815"/>
              </a:spcBef>
              <a:buClr>
                <a:srgbClr val="F5821F"/>
              </a:buClr>
              <a:tabLst>
                <a:tab pos="240665" algn="l"/>
              </a:tabLst>
            </a:pPr>
            <a:r>
              <a:rPr lang="en-NZ" sz="1400" dirty="0">
                <a:latin typeface="Calibri"/>
                <a:cs typeface="Calibri"/>
              </a:rPr>
              <a:t>         1.1.3 Business case 	</a:t>
            </a:r>
          </a:p>
          <a:p>
            <a:pPr marL="12700" lvl="3">
              <a:spcBef>
                <a:spcPts val="815"/>
              </a:spcBef>
              <a:buClr>
                <a:srgbClr val="F5821F"/>
              </a:buClr>
              <a:tabLst>
                <a:tab pos="240665" algn="l"/>
              </a:tabLst>
            </a:pPr>
            <a:r>
              <a:rPr lang="en-NZ" sz="1400" dirty="0">
                <a:latin typeface="Calibri"/>
                <a:cs typeface="Calibri"/>
              </a:rPr>
              <a:t>    1.2 Develop project plans </a:t>
            </a:r>
          </a:p>
          <a:p>
            <a:pPr marL="12700" lvl="3">
              <a:spcBef>
                <a:spcPts val="815"/>
              </a:spcBef>
              <a:buClr>
                <a:srgbClr val="F5821F"/>
              </a:buClr>
              <a:tabLst>
                <a:tab pos="240665" algn="l"/>
              </a:tabLst>
            </a:pPr>
            <a:r>
              <a:rPr lang="en-NZ" sz="1400" dirty="0">
                <a:latin typeface="Calibri"/>
                <a:cs typeface="Calibri"/>
              </a:rPr>
              <a:t>	   1.2.1 Stakeholder management strategy document </a:t>
            </a:r>
          </a:p>
          <a:p>
            <a:pPr marL="12700" lvl="3">
              <a:spcBef>
                <a:spcPts val="815"/>
              </a:spcBef>
              <a:buClr>
                <a:srgbClr val="F5821F"/>
              </a:buClr>
              <a:tabLst>
                <a:tab pos="240665" algn="l"/>
              </a:tabLst>
            </a:pPr>
            <a:r>
              <a:rPr lang="en-NZ" sz="1400" dirty="0">
                <a:latin typeface="Calibri"/>
                <a:cs typeface="Calibri"/>
              </a:rPr>
              <a:t>         1.2.2 Risk register </a:t>
            </a:r>
          </a:p>
          <a:p>
            <a:pPr marL="12700" lvl="3">
              <a:spcBef>
                <a:spcPts val="815"/>
              </a:spcBef>
              <a:buClr>
                <a:srgbClr val="F5821F"/>
              </a:buClr>
              <a:tabLst>
                <a:tab pos="240665" algn="l"/>
              </a:tabLst>
            </a:pPr>
            <a:r>
              <a:rPr lang="en-NZ" sz="1400" dirty="0">
                <a:latin typeface="Calibri"/>
                <a:cs typeface="Calibri"/>
              </a:rPr>
              <a:t>         1.2.3 issue register </a:t>
            </a:r>
          </a:p>
          <a:p>
            <a:pPr marL="12700" lvl="3">
              <a:spcBef>
                <a:spcPts val="815"/>
              </a:spcBef>
              <a:buClr>
                <a:srgbClr val="F5821F"/>
              </a:buClr>
              <a:tabLst>
                <a:tab pos="240665" algn="l"/>
              </a:tabLst>
            </a:pPr>
            <a:r>
              <a:rPr lang="en-NZ" sz="1400" dirty="0">
                <a:highlight>
                  <a:srgbClr val="FFFF00"/>
                </a:highlight>
                <a:latin typeface="Calibri"/>
                <a:cs typeface="Calibri"/>
              </a:rPr>
              <a:t>Part 1 milestone </a:t>
            </a:r>
          </a:p>
          <a:p>
            <a:pPr marL="12700" lvl="3">
              <a:spcBef>
                <a:spcPts val="815"/>
              </a:spcBef>
              <a:buClr>
                <a:srgbClr val="F5821F"/>
              </a:buClr>
              <a:tabLst>
                <a:tab pos="240665" algn="l"/>
              </a:tabLst>
            </a:pPr>
            <a:r>
              <a:rPr lang="en-NZ" sz="1400" dirty="0">
                <a:latin typeface="Calibri"/>
                <a:cs typeface="Calibri"/>
              </a:rPr>
              <a:t>         1.2. 6 Communications management plan &amp; communication stakeholder register</a:t>
            </a:r>
          </a:p>
          <a:p>
            <a:pPr marL="12700" lvl="3">
              <a:spcBef>
                <a:spcPts val="815"/>
              </a:spcBef>
              <a:buClr>
                <a:srgbClr val="F5821F"/>
              </a:buClr>
              <a:tabLst>
                <a:tab pos="240665" algn="l"/>
              </a:tabLst>
            </a:pPr>
            <a:r>
              <a:rPr lang="en-NZ" sz="1400" dirty="0">
                <a:latin typeface="Calibri"/>
                <a:cs typeface="Calibri"/>
              </a:rPr>
              <a:t>         1.2.7 Change management plan</a:t>
            </a:r>
          </a:p>
          <a:p>
            <a:pPr marL="12700" lvl="3">
              <a:spcBef>
                <a:spcPts val="815"/>
              </a:spcBef>
              <a:buClr>
                <a:srgbClr val="F5821F"/>
              </a:buClr>
              <a:tabLst>
                <a:tab pos="240665" algn="l"/>
              </a:tabLst>
            </a:pPr>
            <a:r>
              <a:rPr lang="en-NZ" sz="1400" dirty="0">
                <a:latin typeface="Calibri"/>
                <a:cs typeface="Calibri"/>
              </a:rPr>
              <a:t>	   1.2.8 Scope statement </a:t>
            </a:r>
          </a:p>
          <a:p>
            <a:pPr marL="12700" lvl="3">
              <a:spcBef>
                <a:spcPts val="815"/>
              </a:spcBef>
              <a:buClr>
                <a:srgbClr val="F5821F"/>
              </a:buClr>
              <a:tabLst>
                <a:tab pos="240665" algn="l"/>
              </a:tabLst>
            </a:pPr>
            <a:r>
              <a:rPr lang="en-NZ" sz="1400" dirty="0">
                <a:latin typeface="Calibri"/>
                <a:cs typeface="Calibri"/>
              </a:rPr>
              <a:t>	   1.2.9 Work Breakdown Structure (WBS) </a:t>
            </a:r>
          </a:p>
          <a:p>
            <a:pPr marL="12700" lvl="3">
              <a:spcBef>
                <a:spcPts val="815"/>
              </a:spcBef>
              <a:buClr>
                <a:srgbClr val="F5821F"/>
              </a:buClr>
              <a:tabLst>
                <a:tab pos="240665" algn="l"/>
              </a:tabLst>
            </a:pPr>
            <a:r>
              <a:rPr lang="en-NZ" sz="1400" dirty="0">
                <a:latin typeface="Calibri"/>
                <a:cs typeface="Calibri"/>
              </a:rPr>
              <a:t>	</a:t>
            </a:r>
          </a:p>
        </p:txBody>
      </p:sp>
    </p:spTree>
    <p:extLst>
      <p:ext uri="{BB962C8B-B14F-4D97-AF65-F5344CB8AC3E}">
        <p14:creationId xmlns:p14="http://schemas.microsoft.com/office/powerpoint/2010/main" val="2628374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2860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p>
        </p:txBody>
      </p:sp>
      <p:sp>
        <p:nvSpPr>
          <p:cNvPr id="3" name="object 3"/>
          <p:cNvSpPr txBox="1"/>
          <p:nvPr/>
        </p:nvSpPr>
        <p:spPr>
          <a:xfrm>
            <a:off x="1447800" y="676425"/>
            <a:ext cx="10067290" cy="6454972"/>
          </a:xfrm>
          <a:prstGeom prst="rect">
            <a:avLst/>
          </a:prstGeom>
        </p:spPr>
        <p:txBody>
          <a:bodyPr vert="horz" wrap="square" lIns="0" tIns="103505" rIns="0" bIns="0" rtlCol="0">
            <a:spAutoFit/>
          </a:bodyPr>
          <a:lstStyle/>
          <a:p>
            <a:pPr marL="12700">
              <a:lnSpc>
                <a:spcPct val="100000"/>
              </a:lnSpc>
              <a:spcBef>
                <a:spcPts val="815"/>
              </a:spcBef>
              <a:buClr>
                <a:srgbClr val="F5821F"/>
              </a:buClr>
              <a:tabLst>
                <a:tab pos="240665" algn="l"/>
              </a:tabLst>
            </a:pPr>
            <a:r>
              <a:rPr lang="en-NZ" dirty="0">
                <a:latin typeface="Calibri"/>
                <a:cs typeface="Calibri"/>
              </a:rPr>
              <a:t> </a:t>
            </a:r>
            <a:r>
              <a:rPr lang="en-NZ" sz="1400" dirty="0">
                <a:latin typeface="Calibri"/>
                <a:cs typeface="Calibri"/>
              </a:rPr>
              <a:t>	   1.2.10 Project Schedule</a:t>
            </a:r>
          </a:p>
          <a:p>
            <a:pPr marL="12700" lvl="3">
              <a:spcBef>
                <a:spcPts val="815"/>
              </a:spcBef>
              <a:buClr>
                <a:srgbClr val="F5821F"/>
              </a:buClr>
              <a:tabLst>
                <a:tab pos="240665" algn="l"/>
              </a:tabLst>
            </a:pPr>
            <a:r>
              <a:rPr lang="en-NZ" sz="1400" dirty="0">
                <a:latin typeface="Calibri"/>
                <a:cs typeface="Calibri"/>
              </a:rPr>
              <a:t>         1.2.11 Risk Register (version 2) </a:t>
            </a:r>
          </a:p>
          <a:p>
            <a:pPr marL="12700" lvl="3">
              <a:spcBef>
                <a:spcPts val="815"/>
              </a:spcBef>
              <a:buClr>
                <a:srgbClr val="F5821F"/>
              </a:buClr>
              <a:tabLst>
                <a:tab pos="240665" algn="l"/>
              </a:tabLst>
            </a:pPr>
            <a:r>
              <a:rPr lang="en-NZ" sz="1400" dirty="0">
                <a:latin typeface="Calibri"/>
                <a:cs typeface="Calibri"/>
              </a:rPr>
              <a:t>         1.2.12 Issue register (version 2) </a:t>
            </a:r>
          </a:p>
          <a:p>
            <a:pPr marL="12700" lvl="3">
              <a:spcBef>
                <a:spcPts val="815"/>
              </a:spcBef>
              <a:buClr>
                <a:srgbClr val="F5821F"/>
              </a:buClr>
              <a:tabLst>
                <a:tab pos="240665" algn="l"/>
              </a:tabLst>
            </a:pPr>
            <a:r>
              <a:rPr lang="en-NZ" sz="1400" dirty="0">
                <a:latin typeface="Calibri"/>
                <a:cs typeface="Calibri"/>
              </a:rPr>
              <a:t>         1.2. 13 Milestone report (version 2) </a:t>
            </a:r>
          </a:p>
          <a:p>
            <a:pPr marL="12700" lvl="3">
              <a:spcBef>
                <a:spcPts val="815"/>
              </a:spcBef>
              <a:buClr>
                <a:srgbClr val="F5821F"/>
              </a:buClr>
              <a:tabLst>
                <a:tab pos="240665" algn="l"/>
              </a:tabLst>
            </a:pPr>
            <a:r>
              <a:rPr lang="en-NZ" sz="1400" dirty="0">
                <a:latin typeface="Calibri"/>
                <a:cs typeface="Calibri"/>
              </a:rPr>
              <a:t>         1.2. 14 Quality assurance plan</a:t>
            </a:r>
          </a:p>
          <a:p>
            <a:pPr marL="12700" lvl="3">
              <a:spcBef>
                <a:spcPts val="815"/>
              </a:spcBef>
              <a:buClr>
                <a:srgbClr val="F5821F"/>
              </a:buClr>
              <a:tabLst>
                <a:tab pos="240665" algn="l"/>
              </a:tabLst>
            </a:pPr>
            <a:r>
              <a:rPr lang="en-NZ" sz="1400" dirty="0">
                <a:highlight>
                  <a:srgbClr val="FFFF00"/>
                </a:highlight>
                <a:latin typeface="Calibri"/>
                <a:cs typeface="Calibri"/>
              </a:rPr>
              <a:t>Part 2 milestone</a:t>
            </a:r>
            <a:r>
              <a:rPr lang="en-NZ" sz="1400" dirty="0">
                <a:latin typeface="Calibri"/>
                <a:cs typeface="Calibri"/>
              </a:rPr>
              <a:t>     </a:t>
            </a:r>
          </a:p>
          <a:p>
            <a:pPr marL="12700" lvl="3">
              <a:spcBef>
                <a:spcPts val="815"/>
              </a:spcBef>
              <a:buClr>
                <a:srgbClr val="F5821F"/>
              </a:buClr>
              <a:tabLst>
                <a:tab pos="240665" algn="l"/>
              </a:tabLst>
            </a:pPr>
            <a:r>
              <a:rPr lang="en-NZ" sz="1400" dirty="0">
                <a:highlight>
                  <a:srgbClr val="FFFF00"/>
                </a:highlight>
                <a:latin typeface="Calibri"/>
                <a:cs typeface="Calibri"/>
              </a:rPr>
              <a:t>Planning phase deliverable- (Part 1 and Part 2 plans). These plans must be approved and then only the next phase can begin  </a:t>
            </a:r>
          </a:p>
          <a:p>
            <a:pPr marL="12700">
              <a:lnSpc>
                <a:spcPct val="100000"/>
              </a:lnSpc>
              <a:spcBef>
                <a:spcPts val="815"/>
              </a:spcBef>
              <a:buClr>
                <a:srgbClr val="F5821F"/>
              </a:buClr>
              <a:tabLst>
                <a:tab pos="240665" algn="l"/>
              </a:tabLst>
            </a:pPr>
            <a:r>
              <a:rPr lang="en-NZ" sz="1600" dirty="0">
                <a:latin typeface="Calibri"/>
                <a:cs typeface="Calibri"/>
              </a:rPr>
              <a:t>2. Analysis phases </a:t>
            </a:r>
            <a:r>
              <a:rPr lang="en-NZ" sz="1400" dirty="0">
                <a:highlight>
                  <a:srgbClr val="00FF00"/>
                </a:highlight>
                <a:latin typeface="Calibri"/>
                <a:cs typeface="Calibri"/>
              </a:rPr>
              <a:t>(the work that will be done based on the execution of the  scope statement document &amp; schedule etc.)</a:t>
            </a:r>
          </a:p>
          <a:p>
            <a:pPr marL="12700">
              <a:lnSpc>
                <a:spcPct val="100000"/>
              </a:lnSpc>
              <a:spcBef>
                <a:spcPts val="815"/>
              </a:spcBef>
              <a:buClr>
                <a:srgbClr val="F5821F"/>
              </a:buClr>
              <a:tabLst>
                <a:tab pos="240665" algn="l"/>
              </a:tabLst>
            </a:pPr>
            <a:r>
              <a:rPr lang="en-NZ" sz="1400" dirty="0">
                <a:latin typeface="Calibri"/>
                <a:cs typeface="Calibri"/>
              </a:rPr>
              <a:t>	2.1 Requirements gathering </a:t>
            </a:r>
          </a:p>
          <a:p>
            <a:pPr marL="12700">
              <a:lnSpc>
                <a:spcPct val="100000"/>
              </a:lnSpc>
              <a:spcBef>
                <a:spcPts val="815"/>
              </a:spcBef>
              <a:buClr>
                <a:srgbClr val="F5821F"/>
              </a:buClr>
              <a:tabLst>
                <a:tab pos="240665" algn="l"/>
              </a:tabLst>
            </a:pPr>
            <a:r>
              <a:rPr lang="en-NZ" sz="1400" dirty="0">
                <a:latin typeface="Calibri"/>
                <a:cs typeface="Calibri"/>
              </a:rPr>
              <a:t>        </a:t>
            </a:r>
            <a:r>
              <a:rPr lang="en-NZ" sz="1400" dirty="0">
                <a:highlight>
                  <a:srgbClr val="FFFF00"/>
                </a:highlight>
                <a:latin typeface="Calibri"/>
                <a:cs typeface="Calibri"/>
              </a:rPr>
              <a:t>2.1.2 Research on PM Software Selection Criteria</a:t>
            </a:r>
          </a:p>
          <a:p>
            <a:pPr marL="12700">
              <a:lnSpc>
                <a:spcPct val="100000"/>
              </a:lnSpc>
              <a:spcBef>
                <a:spcPts val="815"/>
              </a:spcBef>
              <a:buClr>
                <a:srgbClr val="F5821F"/>
              </a:buClr>
              <a:tabLst>
                <a:tab pos="240665" algn="l"/>
              </a:tabLst>
            </a:pPr>
            <a:r>
              <a:rPr lang="en-NZ" sz="1400" dirty="0">
                <a:latin typeface="Calibri"/>
                <a:cs typeface="Calibri"/>
              </a:rPr>
              <a:t>                2.1.2.1 Library research on PM software selection criteria</a:t>
            </a:r>
          </a:p>
          <a:p>
            <a:pPr marL="12700">
              <a:lnSpc>
                <a:spcPct val="100000"/>
              </a:lnSpc>
              <a:spcBef>
                <a:spcPts val="815"/>
              </a:spcBef>
              <a:buClr>
                <a:srgbClr val="F5821F"/>
              </a:buClr>
              <a:tabLst>
                <a:tab pos="240665" algn="l"/>
              </a:tabLst>
            </a:pPr>
            <a:r>
              <a:rPr lang="en-NZ" sz="1400" dirty="0">
                <a:latin typeface="Calibri"/>
                <a:cs typeface="Calibri"/>
              </a:rPr>
              <a:t>                2.1.2.2 Web research on PM Software selection criteria</a:t>
            </a:r>
          </a:p>
          <a:p>
            <a:pPr marL="12700">
              <a:lnSpc>
                <a:spcPct val="100000"/>
              </a:lnSpc>
              <a:spcBef>
                <a:spcPts val="815"/>
              </a:spcBef>
              <a:buClr>
                <a:srgbClr val="F5821F"/>
              </a:buClr>
              <a:tabLst>
                <a:tab pos="240665" algn="l"/>
              </a:tabLst>
            </a:pPr>
            <a:r>
              <a:rPr lang="en-NZ" sz="1400" dirty="0">
                <a:latin typeface="Calibri"/>
                <a:cs typeface="Calibri"/>
              </a:rPr>
              <a:t>                2.1.2.3 Compile the selection criteria </a:t>
            </a:r>
          </a:p>
          <a:p>
            <a:pPr marL="12700">
              <a:lnSpc>
                <a:spcPct val="100000"/>
              </a:lnSpc>
              <a:spcBef>
                <a:spcPts val="815"/>
              </a:spcBef>
              <a:buClr>
                <a:srgbClr val="F5821F"/>
              </a:buClr>
              <a:tabLst>
                <a:tab pos="240665" algn="l"/>
              </a:tabLst>
            </a:pPr>
            <a:r>
              <a:rPr lang="en-NZ" sz="1400" dirty="0">
                <a:latin typeface="Calibri"/>
                <a:cs typeface="Calibri"/>
              </a:rPr>
              <a:t>                </a:t>
            </a:r>
            <a:r>
              <a:rPr lang="en-NZ" sz="1400" dirty="0">
                <a:highlight>
                  <a:srgbClr val="00FFFF"/>
                </a:highlight>
                <a:latin typeface="Calibri"/>
                <a:cs typeface="Calibri"/>
              </a:rPr>
              <a:t>2.1.2.4 Product manager &amp; product owner feedback on the selection criteria (M/C  task)</a:t>
            </a:r>
          </a:p>
          <a:p>
            <a:pPr marL="12700">
              <a:lnSpc>
                <a:spcPct val="100000"/>
              </a:lnSpc>
              <a:spcBef>
                <a:spcPts val="815"/>
              </a:spcBef>
              <a:buClr>
                <a:srgbClr val="F5821F"/>
              </a:buClr>
              <a:tabLst>
                <a:tab pos="240665" algn="l"/>
              </a:tabLst>
            </a:pPr>
            <a:r>
              <a:rPr lang="en-NZ" sz="1400" dirty="0">
                <a:latin typeface="Calibri"/>
                <a:cs typeface="Calibri"/>
              </a:rPr>
              <a:t>              </a:t>
            </a:r>
            <a:r>
              <a:rPr lang="en-NZ" sz="1400" dirty="0">
                <a:highlight>
                  <a:srgbClr val="00FFFF"/>
                </a:highlight>
                <a:latin typeface="Calibri"/>
                <a:cs typeface="Calibri"/>
              </a:rPr>
              <a:t>  2.1.2.5 Improvement based on the feedback on the selection criteria (M/C task)</a:t>
            </a:r>
          </a:p>
          <a:p>
            <a:pPr marL="12700">
              <a:lnSpc>
                <a:spcPct val="100000"/>
              </a:lnSpc>
              <a:spcBef>
                <a:spcPts val="815"/>
              </a:spcBef>
              <a:buClr>
                <a:srgbClr val="F5821F"/>
              </a:buClr>
              <a:tabLst>
                <a:tab pos="240665" algn="l"/>
              </a:tabLst>
            </a:pPr>
            <a:r>
              <a:rPr lang="en-NZ" sz="1400" dirty="0">
                <a:latin typeface="Calibri"/>
                <a:cs typeface="Calibri"/>
              </a:rPr>
              <a:t>        2.1.3 Investigate Microsoft (MS) Project 2019</a:t>
            </a:r>
          </a:p>
          <a:p>
            <a:pPr marL="12700">
              <a:spcBef>
                <a:spcPts val="815"/>
              </a:spcBef>
              <a:buClr>
                <a:srgbClr val="F5821F"/>
              </a:buClr>
              <a:tabLst>
                <a:tab pos="240665" algn="l"/>
              </a:tabLst>
            </a:pPr>
            <a:r>
              <a:rPr lang="en-NZ" sz="1400" dirty="0">
                <a:latin typeface="Calibri"/>
                <a:cs typeface="Calibri"/>
              </a:rPr>
              <a:t>               2.1.3.1 investigate MS project features (initiating &amp; planning) in the lab relating to five process groups (</a:t>
            </a:r>
            <a:r>
              <a:rPr lang="en-NZ" sz="1400" dirty="0">
                <a:highlight>
                  <a:srgbClr val="00FFFF"/>
                </a:highlight>
                <a:latin typeface="Calibri"/>
                <a:cs typeface="Calibri"/>
              </a:rPr>
              <a:t>two sub-tasks) </a:t>
            </a:r>
          </a:p>
          <a:p>
            <a:pPr marL="12700">
              <a:spcBef>
                <a:spcPts val="815"/>
              </a:spcBef>
              <a:buClr>
                <a:srgbClr val="F5821F"/>
              </a:buClr>
              <a:tabLst>
                <a:tab pos="240665" algn="l"/>
              </a:tabLst>
            </a:pPr>
            <a:r>
              <a:rPr lang="en-NZ" sz="1400" dirty="0">
                <a:latin typeface="Calibri"/>
                <a:cs typeface="Calibri"/>
              </a:rPr>
              <a:t>               2.1.3.2 investigate MS project features (executing, M/C, and closing) to five process groups (</a:t>
            </a:r>
            <a:r>
              <a:rPr lang="en-NZ" sz="1400" dirty="0">
                <a:highlight>
                  <a:srgbClr val="00FFFF"/>
                </a:highlight>
                <a:latin typeface="Calibri"/>
                <a:cs typeface="Calibri"/>
              </a:rPr>
              <a:t>two sub-tasks)</a:t>
            </a:r>
          </a:p>
          <a:p>
            <a:pPr marL="12700">
              <a:spcBef>
                <a:spcPts val="815"/>
              </a:spcBef>
              <a:buClr>
                <a:srgbClr val="F5821F"/>
              </a:buClr>
              <a:tabLst>
                <a:tab pos="240665" algn="l"/>
              </a:tabLst>
            </a:pPr>
            <a:endParaRPr lang="en-NZ" sz="1400" dirty="0">
              <a:highlight>
                <a:srgbClr val="00FFFF"/>
              </a:highlight>
              <a:latin typeface="Calibri"/>
              <a:cs typeface="Calibri"/>
            </a:endParaRPr>
          </a:p>
          <a:p>
            <a:pPr marL="12700">
              <a:spcBef>
                <a:spcPts val="815"/>
              </a:spcBef>
              <a:buClr>
                <a:srgbClr val="F5821F"/>
              </a:buClr>
              <a:tabLst>
                <a:tab pos="240665" algn="l"/>
              </a:tabLst>
            </a:pPr>
            <a:r>
              <a:rPr lang="en-NZ" sz="1400" dirty="0">
                <a:latin typeface="Calibri"/>
                <a:cs typeface="Calibri"/>
              </a:rPr>
              <a:t>              </a:t>
            </a:r>
          </a:p>
        </p:txBody>
      </p:sp>
    </p:spTree>
    <p:extLst>
      <p:ext uri="{BB962C8B-B14F-4D97-AF65-F5344CB8AC3E}">
        <p14:creationId xmlns:p14="http://schemas.microsoft.com/office/powerpoint/2010/main" val="1324950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22860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p>
        </p:txBody>
      </p:sp>
      <p:sp>
        <p:nvSpPr>
          <p:cNvPr id="3" name="object 3"/>
          <p:cNvSpPr txBox="1"/>
          <p:nvPr/>
        </p:nvSpPr>
        <p:spPr>
          <a:xfrm>
            <a:off x="1447800" y="676425"/>
            <a:ext cx="10067290" cy="6044603"/>
          </a:xfrm>
          <a:prstGeom prst="rect">
            <a:avLst/>
          </a:prstGeom>
        </p:spPr>
        <p:txBody>
          <a:bodyPr vert="horz" wrap="square" lIns="0" tIns="103505" rIns="0" bIns="0" rtlCol="0">
            <a:spAutoFit/>
          </a:bodyPr>
          <a:lstStyle/>
          <a:p>
            <a:pPr marL="12700">
              <a:spcBef>
                <a:spcPts val="815"/>
              </a:spcBef>
              <a:buClr>
                <a:srgbClr val="F5821F"/>
              </a:buClr>
              <a:tabLst>
                <a:tab pos="240665" algn="l"/>
              </a:tabLst>
            </a:pPr>
            <a:r>
              <a:rPr lang="en-NZ" sz="1400" dirty="0">
                <a:latin typeface="Calibri"/>
                <a:cs typeface="Calibri"/>
              </a:rPr>
              <a:t>              2.1.3.3 Compile the MS project features in relation to five process group</a:t>
            </a:r>
          </a:p>
          <a:p>
            <a:pPr marL="12700">
              <a:lnSpc>
                <a:spcPct val="100000"/>
              </a:lnSpc>
              <a:spcBef>
                <a:spcPts val="815"/>
              </a:spcBef>
              <a:buClr>
                <a:srgbClr val="F5821F"/>
              </a:buClr>
              <a:tabLst>
                <a:tab pos="240665" algn="l"/>
              </a:tabLst>
            </a:pPr>
            <a:r>
              <a:rPr lang="en-NZ" sz="1400" dirty="0">
                <a:latin typeface="Calibri"/>
                <a:cs typeface="Calibri"/>
              </a:rPr>
              <a:t>              2.1.3.4 Product manager &amp; product owner feedback on the MS project features</a:t>
            </a:r>
          </a:p>
          <a:p>
            <a:pPr marL="12700">
              <a:lnSpc>
                <a:spcPct val="100000"/>
              </a:lnSpc>
              <a:spcBef>
                <a:spcPts val="815"/>
              </a:spcBef>
              <a:buClr>
                <a:srgbClr val="F5821F"/>
              </a:buClr>
              <a:tabLst>
                <a:tab pos="240665" algn="l"/>
              </a:tabLst>
            </a:pPr>
            <a:r>
              <a:rPr lang="en-NZ" sz="1400" dirty="0">
                <a:latin typeface="Calibri"/>
                <a:cs typeface="Calibri"/>
              </a:rPr>
              <a:t>              2.1.3.5 Improvement based on the feedback on the MS project features</a:t>
            </a:r>
            <a:endParaRPr lang="en-NZ" sz="1400" dirty="0">
              <a:highlight>
                <a:srgbClr val="FFFF00"/>
              </a:highlight>
              <a:latin typeface="Calibri"/>
              <a:cs typeface="Calibri"/>
            </a:endParaRPr>
          </a:p>
          <a:p>
            <a:pPr marL="12700">
              <a:lnSpc>
                <a:spcPct val="100000"/>
              </a:lnSpc>
              <a:spcBef>
                <a:spcPts val="815"/>
              </a:spcBef>
              <a:buClr>
                <a:srgbClr val="F5821F"/>
              </a:buClr>
              <a:tabLst>
                <a:tab pos="240665" algn="l"/>
              </a:tabLst>
            </a:pPr>
            <a:r>
              <a:rPr lang="en-NZ" sz="1400" dirty="0">
                <a:latin typeface="Calibri"/>
                <a:cs typeface="Calibri"/>
              </a:rPr>
              <a:t>        2.1.4  PM Software selection</a:t>
            </a:r>
          </a:p>
          <a:p>
            <a:pPr marL="12700">
              <a:lnSpc>
                <a:spcPct val="100000"/>
              </a:lnSpc>
              <a:spcBef>
                <a:spcPts val="815"/>
              </a:spcBef>
              <a:buClr>
                <a:srgbClr val="F5821F"/>
              </a:buClr>
              <a:tabLst>
                <a:tab pos="240665" algn="l"/>
              </a:tabLst>
            </a:pPr>
            <a:r>
              <a:rPr lang="en-NZ" sz="1400" dirty="0">
                <a:latin typeface="Calibri"/>
                <a:cs typeface="Calibri"/>
              </a:rPr>
              <a:t>	        2.1.4.1 Google PM Software Products to Identify the 4 major ones </a:t>
            </a:r>
            <a:r>
              <a:rPr lang="en-NZ" sz="1400" dirty="0">
                <a:highlight>
                  <a:srgbClr val="FFFF00"/>
                </a:highlight>
                <a:latin typeface="Calibri"/>
                <a:cs typeface="Calibri"/>
              </a:rPr>
              <a:t>(pick 4 from the top of your search)</a:t>
            </a:r>
          </a:p>
          <a:p>
            <a:pPr marL="12700">
              <a:lnSpc>
                <a:spcPct val="100000"/>
              </a:lnSpc>
              <a:spcBef>
                <a:spcPts val="815"/>
              </a:spcBef>
              <a:buClr>
                <a:srgbClr val="F5821F"/>
              </a:buClr>
              <a:tabLst>
                <a:tab pos="240665" algn="l"/>
              </a:tabLst>
            </a:pPr>
            <a:r>
              <a:rPr lang="en-NZ" sz="1400" dirty="0">
                <a:latin typeface="Calibri"/>
                <a:cs typeface="Calibri"/>
              </a:rPr>
              <a:t>              2.1.4.2 Product manager &amp; product owner feedback on the selected 4 </a:t>
            </a:r>
          </a:p>
          <a:p>
            <a:pPr marL="12700">
              <a:lnSpc>
                <a:spcPct val="100000"/>
              </a:lnSpc>
              <a:spcBef>
                <a:spcPts val="815"/>
              </a:spcBef>
              <a:buClr>
                <a:srgbClr val="F5821F"/>
              </a:buClr>
              <a:tabLst>
                <a:tab pos="240665" algn="l"/>
              </a:tabLst>
            </a:pPr>
            <a:r>
              <a:rPr lang="en-NZ" sz="1400" dirty="0">
                <a:latin typeface="Calibri"/>
                <a:cs typeface="Calibri"/>
              </a:rPr>
              <a:t>	        2.1.4.3 Improvement based on the feedback on the 4 PM software </a:t>
            </a:r>
          </a:p>
          <a:p>
            <a:pPr marL="12700">
              <a:lnSpc>
                <a:spcPct val="100000"/>
              </a:lnSpc>
              <a:spcBef>
                <a:spcPts val="815"/>
              </a:spcBef>
              <a:buClr>
                <a:srgbClr val="F5821F"/>
              </a:buClr>
              <a:tabLst>
                <a:tab pos="240665" algn="l"/>
              </a:tabLst>
            </a:pPr>
            <a:r>
              <a:rPr lang="en-NZ" sz="1400" dirty="0">
                <a:latin typeface="Calibri"/>
                <a:cs typeface="Calibri"/>
              </a:rPr>
              <a:t>	 2.1.5 investigation of the 4 PMS based on the selection criteria</a:t>
            </a:r>
          </a:p>
          <a:p>
            <a:pPr marL="12700">
              <a:spcBef>
                <a:spcPts val="815"/>
              </a:spcBef>
              <a:buClr>
                <a:srgbClr val="F5821F"/>
              </a:buClr>
              <a:tabLst>
                <a:tab pos="240665" algn="l"/>
              </a:tabLst>
            </a:pPr>
            <a:r>
              <a:rPr lang="en-NZ" sz="1400" dirty="0">
                <a:latin typeface="Calibri"/>
                <a:cs typeface="Calibri"/>
              </a:rPr>
              <a:t>	       2.1.5.1 </a:t>
            </a:r>
            <a:r>
              <a:rPr lang="en-NZ" sz="1400" dirty="0">
                <a:highlight>
                  <a:srgbClr val="FFFF00"/>
                </a:highlight>
                <a:latin typeface="Calibri"/>
                <a:cs typeface="Calibri"/>
              </a:rPr>
              <a:t>Apply and compile information on the 4 PM software based on the selection criteria (you can break this into sub-tasks)</a:t>
            </a:r>
          </a:p>
          <a:p>
            <a:pPr marL="12700">
              <a:spcBef>
                <a:spcPts val="815"/>
              </a:spcBef>
              <a:buClr>
                <a:srgbClr val="F5821F"/>
              </a:buClr>
              <a:tabLst>
                <a:tab pos="240665" algn="l"/>
              </a:tabLst>
            </a:pPr>
            <a:r>
              <a:rPr lang="en-NZ" sz="1400" dirty="0">
                <a:latin typeface="Calibri"/>
                <a:cs typeface="Calibri"/>
              </a:rPr>
              <a:t>            2.1.5.2 Product manager &amp; product owner feedback on 4 PM software based on gathered information on each</a:t>
            </a:r>
          </a:p>
          <a:p>
            <a:pPr marL="12700">
              <a:spcBef>
                <a:spcPts val="815"/>
              </a:spcBef>
              <a:buClr>
                <a:srgbClr val="F5821F"/>
              </a:buClr>
              <a:tabLst>
                <a:tab pos="240665" algn="l"/>
              </a:tabLst>
            </a:pPr>
            <a:r>
              <a:rPr lang="en-NZ" sz="1400" dirty="0">
                <a:latin typeface="Calibri"/>
                <a:cs typeface="Calibri"/>
              </a:rPr>
              <a:t>            2.1.5.3 Improvement based on the feedback on the 4 PM software (M/C task)</a:t>
            </a:r>
          </a:p>
          <a:p>
            <a:pPr marL="12700">
              <a:spcBef>
                <a:spcPts val="815"/>
              </a:spcBef>
              <a:buClr>
                <a:srgbClr val="F5821F"/>
              </a:buClr>
              <a:tabLst>
                <a:tab pos="240665" algn="l"/>
              </a:tabLst>
            </a:pPr>
            <a:r>
              <a:rPr lang="en-NZ" sz="1400" dirty="0">
                <a:latin typeface="Calibri"/>
                <a:cs typeface="Calibri"/>
              </a:rPr>
              <a:t>            2.1.5.4 </a:t>
            </a:r>
            <a:r>
              <a:rPr lang="en-NZ" sz="1400" dirty="0">
                <a:highlight>
                  <a:srgbClr val="FFFF00"/>
                </a:highlight>
                <a:latin typeface="Calibri"/>
                <a:cs typeface="Calibri"/>
              </a:rPr>
              <a:t>Product manager &amp; product owner to choose the two PM software</a:t>
            </a:r>
          </a:p>
          <a:p>
            <a:pPr marL="12700">
              <a:spcBef>
                <a:spcPts val="815"/>
              </a:spcBef>
              <a:buClr>
                <a:srgbClr val="F5821F"/>
              </a:buClr>
              <a:tabLst>
                <a:tab pos="240665" algn="l"/>
              </a:tabLst>
            </a:pPr>
            <a:r>
              <a:rPr lang="en-NZ" sz="1400" dirty="0">
                <a:latin typeface="Calibri"/>
                <a:cs typeface="Calibri"/>
              </a:rPr>
              <a:t>      2.1.6 Compile information on two selected PM software based on MS Project features</a:t>
            </a:r>
          </a:p>
          <a:p>
            <a:pPr marL="12700">
              <a:spcBef>
                <a:spcPts val="815"/>
              </a:spcBef>
              <a:buClr>
                <a:srgbClr val="F5821F"/>
              </a:buClr>
              <a:tabLst>
                <a:tab pos="240665" algn="l"/>
              </a:tabLst>
            </a:pPr>
            <a:r>
              <a:rPr lang="en-NZ" sz="1400" dirty="0">
                <a:latin typeface="Calibri"/>
                <a:cs typeface="Calibri"/>
              </a:rPr>
              <a:t> 	      2.1.6.1 Apply MS project features to compile information on selected PM software 1</a:t>
            </a:r>
          </a:p>
          <a:p>
            <a:pPr marL="12700">
              <a:spcBef>
                <a:spcPts val="815"/>
              </a:spcBef>
              <a:buClr>
                <a:srgbClr val="F5821F"/>
              </a:buClr>
              <a:tabLst>
                <a:tab pos="240665" algn="l"/>
              </a:tabLst>
            </a:pPr>
            <a:r>
              <a:rPr lang="en-NZ" sz="1400" dirty="0">
                <a:latin typeface="Calibri"/>
                <a:cs typeface="Calibri"/>
              </a:rPr>
              <a:t>            2.1.6.2 Apply MS project features to compile information on selected PM software 2</a:t>
            </a:r>
          </a:p>
          <a:p>
            <a:pPr marL="12700">
              <a:spcBef>
                <a:spcPts val="815"/>
              </a:spcBef>
              <a:buClr>
                <a:srgbClr val="F5821F"/>
              </a:buClr>
              <a:tabLst>
                <a:tab pos="240665" algn="l"/>
              </a:tabLst>
            </a:pPr>
            <a:r>
              <a:rPr lang="en-NZ" sz="1400" dirty="0">
                <a:latin typeface="Calibri"/>
                <a:cs typeface="Calibri"/>
              </a:rPr>
              <a:t>            2.1.6.3 Product manager &amp; product owner feedback on the information complied on 2 PM software</a:t>
            </a:r>
          </a:p>
          <a:p>
            <a:pPr marL="12700">
              <a:spcBef>
                <a:spcPts val="815"/>
              </a:spcBef>
              <a:buClr>
                <a:srgbClr val="F5821F"/>
              </a:buClr>
              <a:tabLst>
                <a:tab pos="240665" algn="l"/>
              </a:tabLst>
            </a:pPr>
            <a:r>
              <a:rPr lang="en-NZ" sz="1400" dirty="0">
                <a:latin typeface="Calibri"/>
                <a:cs typeface="Calibri"/>
              </a:rPr>
              <a:t>            2.1.5.4 Improvement based on the product manager and product feedback on the 2 PM software</a:t>
            </a:r>
          </a:p>
          <a:p>
            <a:pPr marL="12700">
              <a:lnSpc>
                <a:spcPct val="100000"/>
              </a:lnSpc>
              <a:spcBef>
                <a:spcPts val="815"/>
              </a:spcBef>
              <a:buClr>
                <a:srgbClr val="F5821F"/>
              </a:buClr>
              <a:tabLst>
                <a:tab pos="240665" algn="l"/>
              </a:tabLst>
            </a:pPr>
            <a:endParaRPr lang="en-NZ" sz="1400" dirty="0">
              <a:latin typeface="Calibri"/>
              <a:cs typeface="Calibri"/>
            </a:endParaRPr>
          </a:p>
          <a:p>
            <a:pPr marL="12700">
              <a:lnSpc>
                <a:spcPct val="100000"/>
              </a:lnSpc>
              <a:spcBef>
                <a:spcPts val="815"/>
              </a:spcBef>
              <a:buClr>
                <a:srgbClr val="F5821F"/>
              </a:buClr>
              <a:tabLst>
                <a:tab pos="240665" algn="l"/>
              </a:tabLst>
            </a:pPr>
            <a:r>
              <a:rPr lang="en-NZ" sz="1400" dirty="0">
                <a:latin typeface="Calibri"/>
                <a:cs typeface="Calibri"/>
              </a:rPr>
              <a:t>        </a:t>
            </a:r>
          </a:p>
        </p:txBody>
      </p:sp>
    </p:spTree>
    <p:extLst>
      <p:ext uri="{BB962C8B-B14F-4D97-AF65-F5344CB8AC3E}">
        <p14:creationId xmlns:p14="http://schemas.microsoft.com/office/powerpoint/2010/main" val="39366570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84664" y="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p>
        </p:txBody>
      </p:sp>
      <p:sp>
        <p:nvSpPr>
          <p:cNvPr id="3" name="object 3"/>
          <p:cNvSpPr txBox="1"/>
          <p:nvPr/>
        </p:nvSpPr>
        <p:spPr>
          <a:xfrm>
            <a:off x="1595761" y="218771"/>
            <a:ext cx="10067290" cy="8917185"/>
          </a:xfrm>
          <a:prstGeom prst="rect">
            <a:avLst/>
          </a:prstGeom>
        </p:spPr>
        <p:txBody>
          <a:bodyPr vert="horz" wrap="square" lIns="0" tIns="103505" rIns="0" bIns="0" rtlCol="0">
            <a:spAutoFit/>
          </a:bodyPr>
          <a:lstStyle/>
          <a:p>
            <a:pPr marL="12700" marR="0" lvl="0" indent="0" defTabSz="914400" eaLnBrk="1" fontAlgn="auto" latinLnBrk="0" hangingPunct="1">
              <a:lnSpc>
                <a:spcPct val="100000"/>
              </a:lnSpc>
              <a:spcBef>
                <a:spcPts val="815"/>
              </a:spcBef>
              <a:spcAft>
                <a:spcPts val="0"/>
              </a:spcAft>
              <a:buClr>
                <a:srgbClr val="F5821F"/>
              </a:buClr>
              <a:buSzTx/>
              <a:buFontTx/>
              <a:buNone/>
              <a:tabLst>
                <a:tab pos="240665" algn="l"/>
              </a:tabLst>
              <a:defRPr/>
            </a:pPr>
            <a:r>
              <a:rPr kumimoji="0" lang="en-NZ" sz="1400" b="0" i="0" u="none" strike="noStrike" kern="0" cap="none" spc="0" normalizeH="0" baseline="0" noProof="0" dirty="0">
                <a:ln>
                  <a:noFill/>
                </a:ln>
                <a:solidFill>
                  <a:sysClr val="windowText" lastClr="000000"/>
                </a:solidFill>
                <a:effectLst/>
                <a:uLnTx/>
                <a:uFillTx/>
                <a:latin typeface="Calibri"/>
                <a:cs typeface="Calibri"/>
              </a:rPr>
              <a:t>        2.1.7 Research on wiki design</a:t>
            </a:r>
          </a:p>
          <a:p>
            <a:pPr marL="12700" marR="0" lvl="0" indent="0" defTabSz="914400" eaLnBrk="1" fontAlgn="auto" latinLnBrk="0" hangingPunct="1">
              <a:lnSpc>
                <a:spcPct val="100000"/>
              </a:lnSpc>
              <a:spcBef>
                <a:spcPts val="815"/>
              </a:spcBef>
              <a:spcAft>
                <a:spcPts val="0"/>
              </a:spcAft>
              <a:buClr>
                <a:srgbClr val="F5821F"/>
              </a:buClr>
              <a:buSzTx/>
              <a:buFontTx/>
              <a:buNone/>
              <a:tabLst>
                <a:tab pos="240665" algn="l"/>
              </a:tabLst>
              <a:defRPr/>
            </a:pPr>
            <a:r>
              <a:rPr kumimoji="0" lang="en-NZ" sz="1400" b="0" i="0" u="none" strike="noStrike" kern="0" cap="none" spc="0" normalizeH="0" baseline="0" noProof="0" dirty="0">
                <a:ln>
                  <a:noFill/>
                </a:ln>
                <a:solidFill>
                  <a:sysClr val="windowText" lastClr="000000"/>
                </a:solidFill>
                <a:effectLst/>
                <a:uLnTx/>
                <a:uFillTx/>
                <a:latin typeface="Calibri"/>
                <a:cs typeface="Calibri"/>
              </a:rPr>
              <a:t>                  2.1.7.1 Research to identify 3 wiki design</a:t>
            </a:r>
          </a:p>
          <a:p>
            <a:pPr marL="12700" marR="0" lvl="0" indent="0" defTabSz="914400" eaLnBrk="1" fontAlgn="auto" latinLnBrk="0" hangingPunct="1">
              <a:lnSpc>
                <a:spcPct val="100000"/>
              </a:lnSpc>
              <a:spcBef>
                <a:spcPts val="815"/>
              </a:spcBef>
              <a:spcAft>
                <a:spcPts val="0"/>
              </a:spcAft>
              <a:buClr>
                <a:srgbClr val="F5821F"/>
              </a:buClr>
              <a:buSzTx/>
              <a:buFontTx/>
              <a:buNone/>
              <a:tabLst>
                <a:tab pos="240665" algn="l"/>
              </a:tabLst>
              <a:defRPr/>
            </a:pPr>
            <a:r>
              <a:rPr kumimoji="0" lang="en-NZ" sz="1400" b="0" i="0" u="none" strike="noStrike" kern="0" cap="none" spc="0" normalizeH="0" baseline="0" noProof="0" dirty="0">
                <a:ln>
                  <a:noFill/>
                </a:ln>
                <a:solidFill>
                  <a:sysClr val="windowText" lastClr="000000"/>
                </a:solidFill>
                <a:effectLst/>
                <a:uLnTx/>
                <a:uFillTx/>
                <a:latin typeface="Calibri"/>
                <a:cs typeface="Calibri"/>
              </a:rPr>
              <a:t>                  2.1.7.2 Feedback on 3 wiki design by the product manager and product owner </a:t>
            </a:r>
          </a:p>
          <a:p>
            <a:pPr marL="12700" marR="0" lvl="0" indent="0" defTabSz="914400" eaLnBrk="1" fontAlgn="auto" latinLnBrk="0" hangingPunct="1">
              <a:lnSpc>
                <a:spcPct val="100000"/>
              </a:lnSpc>
              <a:spcBef>
                <a:spcPts val="815"/>
              </a:spcBef>
              <a:spcAft>
                <a:spcPts val="0"/>
              </a:spcAft>
              <a:buClr>
                <a:srgbClr val="F5821F"/>
              </a:buClr>
              <a:buSzTx/>
              <a:buFontTx/>
              <a:buNone/>
              <a:tabLst>
                <a:tab pos="240665" algn="l"/>
              </a:tabLst>
              <a:defRPr/>
            </a:pPr>
            <a:r>
              <a:rPr kumimoji="0" lang="en-NZ" sz="1400" b="0" i="0" u="none" strike="noStrike" kern="0" cap="none" spc="0" normalizeH="0" baseline="0" noProof="0" dirty="0">
                <a:ln>
                  <a:noFill/>
                </a:ln>
                <a:solidFill>
                  <a:sysClr val="windowText" lastClr="000000"/>
                </a:solidFill>
                <a:effectLst/>
                <a:uLnTx/>
                <a:uFillTx/>
                <a:latin typeface="Calibri"/>
                <a:cs typeface="Calibri"/>
              </a:rPr>
              <a:t>                  2.1.7.3  Improvement (pick another decision) based on the feedback</a:t>
            </a:r>
          </a:p>
          <a:p>
            <a:pPr marL="12700" marR="0" lvl="0" indent="0" defTabSz="914400" eaLnBrk="1" fontAlgn="auto" latinLnBrk="0" hangingPunct="1">
              <a:lnSpc>
                <a:spcPct val="100000"/>
              </a:lnSpc>
              <a:spcBef>
                <a:spcPts val="815"/>
              </a:spcBef>
              <a:spcAft>
                <a:spcPts val="0"/>
              </a:spcAft>
              <a:buClr>
                <a:srgbClr val="F5821F"/>
              </a:buClr>
              <a:buSzTx/>
              <a:buFontTx/>
              <a:buNone/>
              <a:tabLst>
                <a:tab pos="240665" algn="l"/>
              </a:tabLst>
              <a:defRPr/>
            </a:pPr>
            <a:r>
              <a:rPr lang="en-NZ" sz="1400" dirty="0">
                <a:latin typeface="Calibri"/>
                <a:cs typeface="Calibri"/>
              </a:rPr>
              <a:t>                  2.1.7.4 Product manager and product owner to choose 2 wiki design</a:t>
            </a:r>
            <a:endParaRPr kumimoji="0" lang="en-NZ" sz="1400" b="0" i="0" u="none" strike="noStrike" kern="0" cap="none" spc="0" normalizeH="0" baseline="0" noProof="0" dirty="0">
              <a:ln>
                <a:noFill/>
              </a:ln>
              <a:solidFill>
                <a:sysClr val="windowText" lastClr="000000"/>
              </a:solidFill>
              <a:effectLst/>
              <a:uLnTx/>
              <a:uFillTx/>
              <a:latin typeface="Calibri"/>
              <a:cs typeface="Calibri"/>
            </a:endParaRPr>
          </a:p>
          <a:p>
            <a:pPr marL="12700" marR="0" lvl="0" indent="0" defTabSz="914400" eaLnBrk="1" fontAlgn="auto" latinLnBrk="0" hangingPunct="1">
              <a:lnSpc>
                <a:spcPct val="100000"/>
              </a:lnSpc>
              <a:spcBef>
                <a:spcPts val="815"/>
              </a:spcBef>
              <a:spcAft>
                <a:spcPts val="0"/>
              </a:spcAft>
              <a:buClr>
                <a:srgbClr val="F5821F"/>
              </a:buClr>
              <a:buSzTx/>
              <a:buFontTx/>
              <a:buNone/>
              <a:tabLst>
                <a:tab pos="240665" algn="l"/>
              </a:tabLst>
              <a:defRPr/>
            </a:pPr>
            <a:r>
              <a:rPr kumimoji="0" lang="en-NZ" sz="1400" b="0" i="0" u="none" strike="noStrike" kern="0" cap="none" spc="0" normalizeH="0" baseline="0" noProof="0" dirty="0">
                <a:ln>
                  <a:noFill/>
                </a:ln>
                <a:solidFill>
                  <a:sysClr val="windowText" lastClr="000000"/>
                </a:solidFill>
                <a:effectLst/>
                <a:highlight>
                  <a:srgbClr val="FFFF00"/>
                </a:highlight>
                <a:uLnTx/>
                <a:uFillTx/>
                <a:latin typeface="Calibri"/>
                <a:cs typeface="Calibri"/>
              </a:rPr>
              <a:t>Analysis phase deliverables- requirements document (outputs or deliverables of each major task in the analysis phase)(M/C)</a:t>
            </a:r>
            <a:endParaRPr lang="en-NZ" dirty="0">
              <a:latin typeface="Calibri"/>
              <a:cs typeface="Calibri"/>
            </a:endParaRPr>
          </a:p>
          <a:p>
            <a:pPr marL="12700">
              <a:lnSpc>
                <a:spcPct val="100000"/>
              </a:lnSpc>
              <a:spcBef>
                <a:spcPts val="815"/>
              </a:spcBef>
              <a:buClr>
                <a:srgbClr val="F5821F"/>
              </a:buClr>
              <a:tabLst>
                <a:tab pos="240665" algn="l"/>
              </a:tabLst>
            </a:pPr>
            <a:r>
              <a:rPr lang="en-NZ" dirty="0">
                <a:latin typeface="Calibri"/>
                <a:cs typeface="Calibri"/>
              </a:rPr>
              <a:t>3. Design phase  </a:t>
            </a:r>
          </a:p>
          <a:p>
            <a:pPr marL="12700">
              <a:spcBef>
                <a:spcPts val="815"/>
              </a:spcBef>
              <a:buClr>
                <a:srgbClr val="F5821F"/>
              </a:buClr>
              <a:tabLst>
                <a:tab pos="240665" algn="l"/>
              </a:tabLst>
            </a:pPr>
            <a:r>
              <a:rPr lang="en-NZ" dirty="0">
                <a:latin typeface="Calibri"/>
                <a:cs typeface="Calibri"/>
              </a:rPr>
              <a:t>      </a:t>
            </a:r>
            <a:r>
              <a:rPr lang="en-NZ" sz="1400" dirty="0">
                <a:latin typeface="Calibri"/>
                <a:cs typeface="Calibri"/>
              </a:rPr>
              <a:t>3.1 Create a prototype based on Wiki design 1 and information compiled  in the analysis phase</a:t>
            </a:r>
          </a:p>
          <a:p>
            <a:pPr marL="12700">
              <a:spcBef>
                <a:spcPts val="815"/>
              </a:spcBef>
              <a:buClr>
                <a:srgbClr val="F5821F"/>
              </a:buClr>
              <a:tabLst>
                <a:tab pos="240665" algn="l"/>
              </a:tabLst>
            </a:pPr>
            <a:r>
              <a:rPr lang="en-NZ" sz="1400" dirty="0">
                <a:latin typeface="Calibri"/>
                <a:cs typeface="Calibri"/>
              </a:rPr>
              <a:t>        3.2 Create a prototype based on Wiki design 2 and information compiled  in the analysis phase </a:t>
            </a:r>
          </a:p>
          <a:p>
            <a:pPr marL="12700">
              <a:spcBef>
                <a:spcPts val="815"/>
              </a:spcBef>
              <a:buClr>
                <a:srgbClr val="F5821F"/>
              </a:buClr>
              <a:tabLst>
                <a:tab pos="240665" algn="l"/>
              </a:tabLst>
            </a:pPr>
            <a:r>
              <a:rPr lang="en-NZ" sz="1400" dirty="0">
                <a:latin typeface="Calibri"/>
                <a:cs typeface="Calibri"/>
              </a:rPr>
              <a:t>        3.3 Product manager and product owner feedback on prototypes</a:t>
            </a:r>
          </a:p>
          <a:p>
            <a:pPr marL="12700">
              <a:lnSpc>
                <a:spcPct val="100000"/>
              </a:lnSpc>
              <a:spcBef>
                <a:spcPts val="815"/>
              </a:spcBef>
              <a:buClr>
                <a:srgbClr val="F5821F"/>
              </a:buClr>
              <a:tabLst>
                <a:tab pos="240665" algn="l"/>
              </a:tabLst>
            </a:pPr>
            <a:r>
              <a:rPr lang="en-NZ" sz="1400" dirty="0">
                <a:latin typeface="Calibri"/>
                <a:cs typeface="Calibri"/>
              </a:rPr>
              <a:t>        3.4 Prototype improvements based on the feedback</a:t>
            </a:r>
          </a:p>
          <a:p>
            <a:pPr marL="12700">
              <a:lnSpc>
                <a:spcPct val="100000"/>
              </a:lnSpc>
              <a:spcBef>
                <a:spcPts val="815"/>
              </a:spcBef>
              <a:buClr>
                <a:srgbClr val="F5821F"/>
              </a:buClr>
              <a:tabLst>
                <a:tab pos="240665" algn="l"/>
              </a:tabLst>
            </a:pPr>
            <a:r>
              <a:rPr lang="en-NZ" sz="1400" dirty="0">
                <a:latin typeface="Calibri"/>
                <a:cs typeface="Calibri"/>
              </a:rPr>
              <a:t>        3.5  Prototype selection by the product manager and product manager for wiki implementation   </a:t>
            </a:r>
          </a:p>
          <a:p>
            <a:pPr marL="12700">
              <a:lnSpc>
                <a:spcPct val="100000"/>
              </a:lnSpc>
              <a:spcBef>
                <a:spcPts val="815"/>
              </a:spcBef>
              <a:buClr>
                <a:srgbClr val="F5821F"/>
              </a:buClr>
              <a:tabLst>
                <a:tab pos="240665" algn="l"/>
              </a:tabLst>
            </a:pPr>
            <a:r>
              <a:rPr lang="en-NZ" sz="1400" dirty="0">
                <a:highlight>
                  <a:srgbClr val="FFFF00"/>
                </a:highlight>
                <a:latin typeface="Calibri"/>
                <a:cs typeface="Calibri"/>
              </a:rPr>
              <a:t>Deliverable- requirements documents and wiki design for implementation (M/C) </a:t>
            </a:r>
          </a:p>
          <a:p>
            <a:pPr marL="12700">
              <a:lnSpc>
                <a:spcPct val="100000"/>
              </a:lnSpc>
              <a:spcBef>
                <a:spcPts val="815"/>
              </a:spcBef>
              <a:buClr>
                <a:srgbClr val="F5821F"/>
              </a:buClr>
              <a:tabLst>
                <a:tab pos="240665" algn="l"/>
              </a:tabLst>
            </a:pPr>
            <a:r>
              <a:rPr lang="en-NZ" dirty="0">
                <a:latin typeface="Calibri"/>
                <a:cs typeface="Calibri"/>
              </a:rPr>
              <a:t>4. Development (Implementation) phase</a:t>
            </a:r>
          </a:p>
          <a:p>
            <a:pPr marL="12700">
              <a:lnSpc>
                <a:spcPct val="100000"/>
              </a:lnSpc>
              <a:spcBef>
                <a:spcPts val="815"/>
              </a:spcBef>
              <a:buClr>
                <a:srgbClr val="F5821F"/>
              </a:buClr>
              <a:tabLst>
                <a:tab pos="240665" algn="l"/>
              </a:tabLst>
            </a:pPr>
            <a:r>
              <a:rPr lang="en-NZ" dirty="0">
                <a:latin typeface="Calibri"/>
                <a:cs typeface="Calibri"/>
              </a:rPr>
              <a:t>     </a:t>
            </a:r>
            <a:r>
              <a:rPr lang="en-NZ" sz="1400" dirty="0">
                <a:latin typeface="Calibri"/>
                <a:cs typeface="Calibri"/>
              </a:rPr>
              <a:t>4.1 Cut and paste the selection criteria on the wiki (with the selected wiki design)</a:t>
            </a:r>
          </a:p>
          <a:p>
            <a:pPr marL="12700">
              <a:lnSpc>
                <a:spcPct val="100000"/>
              </a:lnSpc>
              <a:spcBef>
                <a:spcPts val="815"/>
              </a:spcBef>
              <a:buClr>
                <a:srgbClr val="F5821F"/>
              </a:buClr>
              <a:tabLst>
                <a:tab pos="240665" algn="l"/>
              </a:tabLst>
            </a:pPr>
            <a:r>
              <a:rPr lang="en-NZ" sz="1400" dirty="0">
                <a:latin typeface="Calibri"/>
                <a:cs typeface="Calibri"/>
              </a:rPr>
              <a:t>       4.2 Cut and paste the chosen prototype and any other related information on 2 PM software on the wiki</a:t>
            </a:r>
          </a:p>
          <a:p>
            <a:pPr marL="12700">
              <a:lnSpc>
                <a:spcPct val="100000"/>
              </a:lnSpc>
              <a:spcBef>
                <a:spcPts val="815"/>
              </a:spcBef>
              <a:buClr>
                <a:srgbClr val="F5821F"/>
              </a:buClr>
              <a:tabLst>
                <a:tab pos="240665" algn="l"/>
              </a:tabLst>
            </a:pPr>
            <a:r>
              <a:rPr lang="en-NZ" sz="1400" dirty="0">
                <a:latin typeface="Calibri"/>
                <a:cs typeface="Calibri"/>
              </a:rPr>
              <a:t>       4.3 Identify references and provide links to references on the wiki</a:t>
            </a:r>
          </a:p>
          <a:p>
            <a:pPr marL="12700">
              <a:lnSpc>
                <a:spcPct val="100000"/>
              </a:lnSpc>
              <a:spcBef>
                <a:spcPts val="815"/>
              </a:spcBef>
              <a:buClr>
                <a:srgbClr val="F5821F"/>
              </a:buClr>
              <a:tabLst>
                <a:tab pos="240665" algn="l"/>
              </a:tabLst>
            </a:pPr>
            <a:r>
              <a:rPr lang="en-NZ" sz="1400" dirty="0">
                <a:latin typeface="Calibri"/>
                <a:cs typeface="Calibri"/>
              </a:rPr>
              <a:t>       4. 4 Do a word count (maximum 4500)</a:t>
            </a:r>
          </a:p>
          <a:p>
            <a:pPr marL="12700">
              <a:lnSpc>
                <a:spcPct val="100000"/>
              </a:lnSpc>
              <a:spcBef>
                <a:spcPts val="815"/>
              </a:spcBef>
              <a:buClr>
                <a:srgbClr val="F5821F"/>
              </a:buClr>
              <a:tabLst>
                <a:tab pos="240665" algn="l"/>
              </a:tabLst>
            </a:pPr>
            <a:r>
              <a:rPr lang="en-NZ" sz="1400" dirty="0">
                <a:latin typeface="Calibri"/>
                <a:cs typeface="Calibri"/>
              </a:rPr>
              <a:t>       4.5  Feedback on the wiki by the product manager and product owner </a:t>
            </a:r>
          </a:p>
          <a:p>
            <a:pPr marL="12700">
              <a:lnSpc>
                <a:spcPct val="100000"/>
              </a:lnSpc>
              <a:spcBef>
                <a:spcPts val="815"/>
              </a:spcBef>
              <a:buClr>
                <a:srgbClr val="F5821F"/>
              </a:buClr>
              <a:tabLst>
                <a:tab pos="240665" algn="l"/>
              </a:tabLst>
            </a:pPr>
            <a:r>
              <a:rPr lang="en-NZ" sz="1400" dirty="0">
                <a:latin typeface="Calibri"/>
                <a:cs typeface="Calibri"/>
              </a:rPr>
              <a:t>      4. 6 Improvements based on the feedback</a:t>
            </a:r>
          </a:p>
          <a:p>
            <a:pPr marL="12700">
              <a:lnSpc>
                <a:spcPct val="100000"/>
              </a:lnSpc>
              <a:spcBef>
                <a:spcPts val="815"/>
              </a:spcBef>
              <a:buClr>
                <a:srgbClr val="F5821F"/>
              </a:buClr>
              <a:tabLst>
                <a:tab pos="240665" algn="l"/>
              </a:tabLst>
            </a:pPr>
            <a:endParaRPr lang="en-NZ" sz="1400" dirty="0">
              <a:latin typeface="Calibri"/>
              <a:cs typeface="Calibri"/>
            </a:endParaRPr>
          </a:p>
          <a:p>
            <a:pPr marL="12700">
              <a:lnSpc>
                <a:spcPct val="100000"/>
              </a:lnSpc>
              <a:spcBef>
                <a:spcPts val="815"/>
              </a:spcBef>
              <a:buClr>
                <a:srgbClr val="F5821F"/>
              </a:buClr>
              <a:tabLst>
                <a:tab pos="240665" algn="l"/>
              </a:tabLst>
            </a:pPr>
            <a:endParaRPr lang="en-NZ" sz="1400" dirty="0">
              <a:latin typeface="Calibri"/>
              <a:cs typeface="Calibri"/>
            </a:endParaRPr>
          </a:p>
          <a:p>
            <a:pPr marL="12700">
              <a:lnSpc>
                <a:spcPct val="100000"/>
              </a:lnSpc>
              <a:spcBef>
                <a:spcPts val="815"/>
              </a:spcBef>
              <a:buClr>
                <a:srgbClr val="F5821F"/>
              </a:buClr>
              <a:tabLst>
                <a:tab pos="240665" algn="l"/>
              </a:tabLst>
            </a:pPr>
            <a:r>
              <a:rPr lang="en-NZ" sz="1400" dirty="0">
                <a:latin typeface="Calibri"/>
                <a:cs typeface="Calibri"/>
              </a:rPr>
              <a:t>   </a:t>
            </a:r>
          </a:p>
          <a:p>
            <a:pPr marL="12700">
              <a:lnSpc>
                <a:spcPct val="100000"/>
              </a:lnSpc>
              <a:spcBef>
                <a:spcPts val="815"/>
              </a:spcBef>
              <a:buClr>
                <a:srgbClr val="F5821F"/>
              </a:buClr>
              <a:tabLst>
                <a:tab pos="240665" algn="l"/>
              </a:tabLst>
            </a:pPr>
            <a:r>
              <a:rPr lang="en-NZ" dirty="0">
                <a:latin typeface="Calibri"/>
                <a:cs typeface="Calibri"/>
              </a:rPr>
              <a:t>      </a:t>
            </a:r>
          </a:p>
          <a:p>
            <a:pPr marL="12700">
              <a:lnSpc>
                <a:spcPct val="100000"/>
              </a:lnSpc>
              <a:spcBef>
                <a:spcPts val="815"/>
              </a:spcBef>
              <a:buClr>
                <a:srgbClr val="F5821F"/>
              </a:buClr>
              <a:tabLst>
                <a:tab pos="240665" algn="l"/>
              </a:tabLst>
            </a:pPr>
            <a:r>
              <a:rPr lang="en-NZ" dirty="0">
                <a:latin typeface="Calibri"/>
                <a:cs typeface="Calibri"/>
              </a:rPr>
              <a:t>5. Testing phase</a:t>
            </a:r>
          </a:p>
          <a:p>
            <a:pPr marL="12700">
              <a:lnSpc>
                <a:spcPct val="100000"/>
              </a:lnSpc>
              <a:spcBef>
                <a:spcPts val="815"/>
              </a:spcBef>
              <a:buClr>
                <a:srgbClr val="F5821F"/>
              </a:buClr>
              <a:tabLst>
                <a:tab pos="240665" algn="l"/>
              </a:tabLst>
            </a:pPr>
            <a:r>
              <a:rPr lang="en-NZ" dirty="0">
                <a:latin typeface="Calibri"/>
                <a:cs typeface="Calibri"/>
              </a:rPr>
              <a:t>6. Deployment phase </a:t>
            </a:r>
            <a:endParaRPr dirty="0">
              <a:latin typeface="Calibri"/>
              <a:cs typeface="Calibri"/>
            </a:endParaRPr>
          </a:p>
        </p:txBody>
      </p:sp>
    </p:spTree>
    <p:extLst>
      <p:ext uri="{BB962C8B-B14F-4D97-AF65-F5344CB8AC3E}">
        <p14:creationId xmlns:p14="http://schemas.microsoft.com/office/powerpoint/2010/main" val="4939879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1611" y="152400"/>
            <a:ext cx="7880350" cy="382797"/>
          </a:xfrm>
          <a:prstGeom prst="rect">
            <a:avLst/>
          </a:prstGeom>
        </p:spPr>
        <p:txBody>
          <a:bodyPr vert="horz" wrap="square" lIns="0" tIns="13335" rIns="0" bIns="0" rtlCol="0">
            <a:spAutoFit/>
          </a:bodyPr>
          <a:lstStyle/>
          <a:p>
            <a:pPr marL="12700">
              <a:lnSpc>
                <a:spcPct val="100000"/>
              </a:lnSpc>
              <a:spcBef>
                <a:spcPts val="105"/>
              </a:spcBef>
            </a:pPr>
            <a:r>
              <a:rPr sz="2400" dirty="0"/>
              <a:t>Work</a:t>
            </a:r>
            <a:r>
              <a:rPr sz="2400" spc="-175" dirty="0"/>
              <a:t> </a:t>
            </a:r>
            <a:r>
              <a:rPr sz="2400" dirty="0"/>
              <a:t>Breakdown</a:t>
            </a:r>
            <a:r>
              <a:rPr sz="2400" spc="-165" dirty="0"/>
              <a:t> </a:t>
            </a:r>
            <a:r>
              <a:rPr sz="2400" dirty="0"/>
              <a:t>Structure</a:t>
            </a:r>
            <a:r>
              <a:rPr sz="2400" spc="-155" dirty="0"/>
              <a:t> </a:t>
            </a:r>
            <a:r>
              <a:rPr sz="2400" spc="-10" dirty="0"/>
              <a:t>(WBS)</a:t>
            </a:r>
          </a:p>
        </p:txBody>
      </p:sp>
      <p:sp>
        <p:nvSpPr>
          <p:cNvPr id="3" name="object 3"/>
          <p:cNvSpPr txBox="1"/>
          <p:nvPr/>
        </p:nvSpPr>
        <p:spPr>
          <a:xfrm>
            <a:off x="1600200" y="685800"/>
            <a:ext cx="10067290" cy="3490058"/>
          </a:xfrm>
          <a:prstGeom prst="rect">
            <a:avLst/>
          </a:prstGeom>
        </p:spPr>
        <p:txBody>
          <a:bodyPr vert="horz" wrap="square" lIns="0" tIns="103505" rIns="0" bIns="0" rtlCol="0">
            <a:spAutoFit/>
          </a:bodyPr>
          <a:lstStyle/>
          <a:p>
            <a:pPr marL="12700">
              <a:lnSpc>
                <a:spcPct val="100000"/>
              </a:lnSpc>
              <a:spcBef>
                <a:spcPts val="815"/>
              </a:spcBef>
              <a:buClr>
                <a:srgbClr val="F5821F"/>
              </a:buClr>
              <a:tabLst>
                <a:tab pos="240665" algn="l"/>
              </a:tabLst>
            </a:pPr>
            <a:r>
              <a:rPr lang="en-NZ" dirty="0">
                <a:latin typeface="Calibri"/>
                <a:cs typeface="Calibri"/>
              </a:rPr>
              <a:t> 5. Testing (implementation) phase</a:t>
            </a:r>
          </a:p>
          <a:p>
            <a:pPr marL="12700">
              <a:spcBef>
                <a:spcPts val="815"/>
              </a:spcBef>
              <a:buClr>
                <a:srgbClr val="F5821F"/>
              </a:buClr>
              <a:tabLst>
                <a:tab pos="240665" algn="l"/>
              </a:tabLst>
            </a:pPr>
            <a:r>
              <a:rPr lang="en-NZ" dirty="0">
                <a:latin typeface="Calibri"/>
                <a:cs typeface="Calibri"/>
              </a:rPr>
              <a:t>	</a:t>
            </a:r>
            <a:r>
              <a:rPr lang="en-NZ" sz="1400" dirty="0">
                <a:latin typeface="Calibri"/>
                <a:cs typeface="Calibri"/>
              </a:rPr>
              <a:t>5.1 Usability testing with R&amp;D students</a:t>
            </a:r>
          </a:p>
          <a:p>
            <a:pPr marL="12700">
              <a:spcBef>
                <a:spcPts val="815"/>
              </a:spcBef>
              <a:buClr>
                <a:srgbClr val="F5821F"/>
              </a:buClr>
              <a:tabLst>
                <a:tab pos="240665" algn="l"/>
              </a:tabLst>
            </a:pPr>
            <a:r>
              <a:rPr lang="en-NZ" dirty="0">
                <a:latin typeface="Calibri"/>
                <a:cs typeface="Calibri"/>
              </a:rPr>
              <a:t>    </a:t>
            </a:r>
            <a:r>
              <a:rPr lang="en-NZ" sz="1400" dirty="0">
                <a:latin typeface="Calibri"/>
                <a:cs typeface="Calibri"/>
              </a:rPr>
              <a:t>5.2 Improvements based on the usability testing </a:t>
            </a:r>
          </a:p>
          <a:p>
            <a:pPr marL="12700">
              <a:spcBef>
                <a:spcPts val="815"/>
              </a:spcBef>
              <a:buClr>
                <a:srgbClr val="F5821F"/>
              </a:buClr>
              <a:tabLst>
                <a:tab pos="240665" algn="l"/>
              </a:tabLst>
            </a:pPr>
            <a:r>
              <a:rPr lang="en-NZ" sz="1400" dirty="0">
                <a:latin typeface="Calibri"/>
                <a:cs typeface="Calibri"/>
              </a:rPr>
              <a:t>     5.3 Write documentation</a:t>
            </a:r>
          </a:p>
          <a:p>
            <a:pPr marL="12700">
              <a:spcBef>
                <a:spcPts val="815"/>
              </a:spcBef>
              <a:buClr>
                <a:srgbClr val="F5821F"/>
              </a:buClr>
              <a:tabLst>
                <a:tab pos="240665" algn="l"/>
              </a:tabLst>
            </a:pPr>
            <a:r>
              <a:rPr lang="en-NZ" sz="1400" dirty="0">
                <a:latin typeface="Calibri"/>
                <a:cs typeface="Calibri"/>
              </a:rPr>
              <a:t>     5.4 Write a lesson learnt report</a:t>
            </a:r>
          </a:p>
          <a:p>
            <a:pPr marL="12700">
              <a:spcBef>
                <a:spcPts val="815"/>
              </a:spcBef>
              <a:buClr>
                <a:srgbClr val="F5821F"/>
              </a:buClr>
              <a:tabLst>
                <a:tab pos="240665" algn="l"/>
              </a:tabLst>
            </a:pPr>
            <a:r>
              <a:rPr lang="en-NZ" sz="1400" dirty="0">
                <a:highlight>
                  <a:srgbClr val="FFFF00"/>
                </a:highlight>
                <a:latin typeface="Calibri"/>
                <a:cs typeface="Calibri"/>
              </a:rPr>
              <a:t>Deliverable- wiki, plans &amp; documents and lesson learnt report(M/C) </a:t>
            </a:r>
          </a:p>
          <a:p>
            <a:pPr marL="12700">
              <a:spcBef>
                <a:spcPts val="815"/>
              </a:spcBef>
              <a:buClr>
                <a:srgbClr val="F5821F"/>
              </a:buClr>
              <a:tabLst>
                <a:tab pos="240665" algn="l"/>
              </a:tabLst>
            </a:pPr>
            <a:r>
              <a:rPr lang="en-NZ" sz="1400" dirty="0">
                <a:latin typeface="Calibri"/>
                <a:cs typeface="Calibri"/>
              </a:rPr>
              <a:t>  </a:t>
            </a:r>
            <a:r>
              <a:rPr lang="en-NZ" dirty="0">
                <a:latin typeface="Calibri"/>
                <a:cs typeface="Calibri"/>
              </a:rPr>
              <a:t>6. Deployment phase </a:t>
            </a:r>
          </a:p>
          <a:p>
            <a:pPr marL="12700">
              <a:lnSpc>
                <a:spcPct val="100000"/>
              </a:lnSpc>
              <a:spcBef>
                <a:spcPts val="815"/>
              </a:spcBef>
              <a:buClr>
                <a:srgbClr val="F5821F"/>
              </a:buClr>
              <a:tabLst>
                <a:tab pos="240665" algn="l"/>
              </a:tabLst>
            </a:pPr>
            <a:r>
              <a:rPr lang="en-NZ" sz="1400" dirty="0">
                <a:latin typeface="Calibri"/>
                <a:cs typeface="Calibri"/>
              </a:rPr>
              <a:t>      6.1  Deploy the wiki</a:t>
            </a:r>
          </a:p>
          <a:p>
            <a:pPr marL="12700">
              <a:lnSpc>
                <a:spcPct val="100000"/>
              </a:lnSpc>
              <a:spcBef>
                <a:spcPts val="815"/>
              </a:spcBef>
              <a:buClr>
                <a:srgbClr val="F5821F"/>
              </a:buClr>
              <a:tabLst>
                <a:tab pos="240665" algn="l"/>
              </a:tabLst>
            </a:pPr>
            <a:r>
              <a:rPr lang="en-NZ" sz="1400" dirty="0">
                <a:latin typeface="Calibri"/>
                <a:cs typeface="Calibri"/>
              </a:rPr>
              <a:t>      6.2 Handover/sign off.</a:t>
            </a:r>
          </a:p>
          <a:p>
            <a:pPr marL="12700">
              <a:lnSpc>
                <a:spcPct val="100000"/>
              </a:lnSpc>
              <a:spcBef>
                <a:spcPts val="815"/>
              </a:spcBef>
              <a:buClr>
                <a:srgbClr val="F5821F"/>
              </a:buClr>
              <a:tabLst>
                <a:tab pos="240665" algn="l"/>
              </a:tabLst>
            </a:pPr>
            <a:r>
              <a:rPr kumimoji="0" lang="en-NZ" sz="1400" b="0" i="0" u="none" strike="noStrike" kern="0" cap="none" spc="0" normalizeH="0" baseline="0" noProof="0" dirty="0">
                <a:ln>
                  <a:noFill/>
                </a:ln>
                <a:solidFill>
                  <a:sysClr val="windowText" lastClr="000000"/>
                </a:solidFill>
                <a:effectLst/>
                <a:highlight>
                  <a:srgbClr val="FFFF00"/>
                </a:highlight>
                <a:uLnTx/>
                <a:uFillTx/>
                <a:latin typeface="Calibri"/>
                <a:cs typeface="Calibri"/>
              </a:rPr>
              <a:t>Deliverable- </a:t>
            </a:r>
            <a:r>
              <a:rPr kumimoji="0" lang="en-NZ" sz="1400" b="0" i="0" u="none" strike="noStrike" kern="0" cap="none" spc="0" normalizeH="0" baseline="0" noProof="0">
                <a:ln>
                  <a:noFill/>
                </a:ln>
                <a:solidFill>
                  <a:sysClr val="windowText" lastClr="000000"/>
                </a:solidFill>
                <a:effectLst/>
                <a:highlight>
                  <a:srgbClr val="FFFF00"/>
                </a:highlight>
                <a:uLnTx/>
                <a:uFillTx/>
                <a:latin typeface="Calibri"/>
                <a:cs typeface="Calibri"/>
              </a:rPr>
              <a:t>wiki up and </a:t>
            </a:r>
            <a:r>
              <a:rPr kumimoji="0" lang="en-NZ" sz="1400" b="0" i="0" u="none" strike="noStrike" kern="0" cap="none" spc="0" normalizeH="0" baseline="0" noProof="0" dirty="0">
                <a:ln>
                  <a:noFill/>
                </a:ln>
                <a:solidFill>
                  <a:sysClr val="windowText" lastClr="000000"/>
                </a:solidFill>
                <a:effectLst/>
                <a:highlight>
                  <a:srgbClr val="FFFF00"/>
                </a:highlight>
                <a:uLnTx/>
                <a:uFillTx/>
                <a:latin typeface="Calibri"/>
                <a:cs typeface="Calibri"/>
              </a:rPr>
              <a:t>running</a:t>
            </a:r>
            <a:endParaRPr dirty="0">
              <a:latin typeface="Calibri"/>
              <a:cs typeface="Calibri"/>
            </a:endParaRPr>
          </a:p>
        </p:txBody>
      </p:sp>
      <p:sp>
        <p:nvSpPr>
          <p:cNvPr id="5" name="TextBox 4">
            <a:extLst>
              <a:ext uri="{FF2B5EF4-FFF2-40B4-BE49-F238E27FC236}">
                <a16:creationId xmlns:a16="http://schemas.microsoft.com/office/drawing/2014/main" id="{91C3C8AB-34A1-36FE-0327-1DFB2B3F61ED}"/>
              </a:ext>
            </a:extLst>
          </p:cNvPr>
          <p:cNvSpPr txBox="1"/>
          <p:nvPr/>
        </p:nvSpPr>
        <p:spPr>
          <a:xfrm>
            <a:off x="2630170" y="4419600"/>
            <a:ext cx="9067800" cy="369332"/>
          </a:xfrm>
          <a:prstGeom prst="rect">
            <a:avLst/>
          </a:prstGeom>
          <a:noFill/>
        </p:spPr>
        <p:txBody>
          <a:bodyPr wrap="square">
            <a:spAutoFit/>
          </a:bodyPr>
          <a:lstStyle/>
          <a:p>
            <a:pPr algn="just"/>
            <a:r>
              <a:rPr lang="en-NZ" sz="1800" dirty="0">
                <a:solidFill>
                  <a:srgbClr val="000000"/>
                </a:solidFill>
                <a:effectLst/>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Copy and paste the above Work Breakdown Structure in your WBS document</a:t>
            </a:r>
            <a:endParaRPr lang="en-NZ" sz="1800" dirty="0">
              <a:effectLst/>
              <a:highlight>
                <a:srgbClr val="FFFF00"/>
              </a:highligh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3402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411861"/>
            <a:ext cx="6048375" cy="696595"/>
          </a:xfrm>
          <a:prstGeom prst="rect">
            <a:avLst/>
          </a:prstGeom>
        </p:spPr>
        <p:txBody>
          <a:bodyPr vert="horz" wrap="square" lIns="0" tIns="13335" rIns="0" bIns="0" rtlCol="0">
            <a:spAutoFit/>
          </a:bodyPr>
          <a:lstStyle/>
          <a:p>
            <a:pPr marL="12700">
              <a:lnSpc>
                <a:spcPct val="100000"/>
              </a:lnSpc>
              <a:spcBef>
                <a:spcPts val="105"/>
              </a:spcBef>
            </a:pPr>
            <a:r>
              <a:rPr dirty="0"/>
              <a:t>Advice</a:t>
            </a:r>
            <a:r>
              <a:rPr spc="-85" dirty="0"/>
              <a:t> </a:t>
            </a:r>
            <a:r>
              <a:rPr dirty="0"/>
              <a:t>for</a:t>
            </a:r>
            <a:r>
              <a:rPr spc="-60" dirty="0"/>
              <a:t> </a:t>
            </a:r>
            <a:r>
              <a:rPr dirty="0"/>
              <a:t>Creating</a:t>
            </a:r>
            <a:r>
              <a:rPr spc="-75" dirty="0"/>
              <a:t> </a:t>
            </a:r>
            <a:r>
              <a:rPr dirty="0"/>
              <a:t>a</a:t>
            </a:r>
            <a:r>
              <a:rPr spc="-50" dirty="0"/>
              <a:t> </a:t>
            </a:r>
            <a:r>
              <a:rPr spc="-25" dirty="0"/>
              <a:t>WBS</a:t>
            </a:r>
          </a:p>
        </p:txBody>
      </p:sp>
      <p:sp>
        <p:nvSpPr>
          <p:cNvPr id="3" name="object 3"/>
          <p:cNvSpPr txBox="1"/>
          <p:nvPr/>
        </p:nvSpPr>
        <p:spPr>
          <a:xfrm>
            <a:off x="1462277" y="1327150"/>
            <a:ext cx="10273030" cy="2581910"/>
          </a:xfrm>
          <a:prstGeom prst="rect">
            <a:avLst/>
          </a:prstGeom>
        </p:spPr>
        <p:txBody>
          <a:bodyPr vert="horz" wrap="square" lIns="0" tIns="66040" rIns="0" bIns="0" rtlCol="0">
            <a:spAutoFit/>
          </a:bodyPr>
          <a:lstStyle/>
          <a:p>
            <a:pPr marL="240665" indent="-227965">
              <a:lnSpc>
                <a:spcPct val="100000"/>
              </a:lnSpc>
              <a:spcBef>
                <a:spcPts val="520"/>
              </a:spcBef>
              <a:buClr>
                <a:srgbClr val="F5821F"/>
              </a:buClr>
              <a:buFont typeface="Arial"/>
              <a:buChar char="•"/>
              <a:tabLst>
                <a:tab pos="240665" algn="l"/>
              </a:tabLst>
            </a:pPr>
            <a:r>
              <a:rPr sz="2400" dirty="0">
                <a:latin typeface="Calibri"/>
                <a:cs typeface="Calibri"/>
              </a:rPr>
              <a:t>A</a:t>
            </a:r>
            <a:r>
              <a:rPr sz="2400" spc="-25" dirty="0">
                <a:latin typeface="Calibri"/>
                <a:cs typeface="Calibri"/>
              </a:rPr>
              <a:t> </a:t>
            </a:r>
            <a:r>
              <a:rPr sz="2400" dirty="0">
                <a:latin typeface="Calibri"/>
                <a:cs typeface="Calibri"/>
              </a:rPr>
              <a:t>unit</a:t>
            </a:r>
            <a:r>
              <a:rPr sz="2400" spc="-15" dirty="0">
                <a:latin typeface="Calibri"/>
                <a:cs typeface="Calibri"/>
              </a:rPr>
              <a:t> </a:t>
            </a:r>
            <a:r>
              <a:rPr sz="2400" dirty="0">
                <a:latin typeface="Calibri"/>
                <a:cs typeface="Calibri"/>
              </a:rPr>
              <a:t>of</a:t>
            </a:r>
            <a:r>
              <a:rPr sz="2400" spc="-5" dirty="0">
                <a:latin typeface="Calibri"/>
                <a:cs typeface="Calibri"/>
              </a:rPr>
              <a:t> </a:t>
            </a:r>
            <a:r>
              <a:rPr sz="2400" dirty="0">
                <a:latin typeface="Calibri"/>
                <a:cs typeface="Calibri"/>
              </a:rPr>
              <a:t>work</a:t>
            </a:r>
            <a:r>
              <a:rPr sz="2400" spc="-25" dirty="0">
                <a:latin typeface="Calibri"/>
                <a:cs typeface="Calibri"/>
              </a:rPr>
              <a:t> </a:t>
            </a:r>
            <a:r>
              <a:rPr lang="en-NZ" sz="2400" spc="-25" dirty="0">
                <a:latin typeface="Calibri"/>
                <a:cs typeface="Calibri"/>
              </a:rPr>
              <a:t>or work package </a:t>
            </a:r>
            <a:r>
              <a:rPr sz="2400" dirty="0">
                <a:latin typeface="Calibri"/>
                <a:cs typeface="Calibri"/>
              </a:rPr>
              <a:t>should</a:t>
            </a:r>
            <a:r>
              <a:rPr sz="2400" spc="-15" dirty="0">
                <a:latin typeface="Calibri"/>
                <a:cs typeface="Calibri"/>
              </a:rPr>
              <a:t> </a:t>
            </a:r>
            <a:r>
              <a:rPr sz="2400" dirty="0">
                <a:latin typeface="Calibri"/>
                <a:cs typeface="Calibri"/>
              </a:rPr>
              <a:t>appear</a:t>
            </a:r>
            <a:r>
              <a:rPr sz="2400" spc="-10" dirty="0">
                <a:latin typeface="Calibri"/>
                <a:cs typeface="Calibri"/>
              </a:rPr>
              <a:t> </a:t>
            </a:r>
            <a:r>
              <a:rPr sz="2400" dirty="0">
                <a:latin typeface="Calibri"/>
                <a:cs typeface="Calibri"/>
              </a:rPr>
              <a:t>at</a:t>
            </a:r>
            <a:r>
              <a:rPr sz="2400" spc="-15" dirty="0">
                <a:latin typeface="Calibri"/>
                <a:cs typeface="Calibri"/>
              </a:rPr>
              <a:t> </a:t>
            </a:r>
            <a:r>
              <a:rPr sz="2400" dirty="0">
                <a:latin typeface="Calibri"/>
                <a:cs typeface="Calibri"/>
              </a:rPr>
              <a:t>only</a:t>
            </a:r>
            <a:r>
              <a:rPr sz="2400" spc="-15" dirty="0">
                <a:latin typeface="Calibri"/>
                <a:cs typeface="Calibri"/>
              </a:rPr>
              <a:t> </a:t>
            </a:r>
            <a:r>
              <a:rPr sz="2400" dirty="0">
                <a:latin typeface="Calibri"/>
                <a:cs typeface="Calibri"/>
              </a:rPr>
              <a:t>one</a:t>
            </a:r>
            <a:r>
              <a:rPr sz="2400" spc="-10" dirty="0">
                <a:latin typeface="Calibri"/>
                <a:cs typeface="Calibri"/>
              </a:rPr>
              <a:t> </a:t>
            </a:r>
            <a:r>
              <a:rPr sz="2400" dirty="0">
                <a:latin typeface="Calibri"/>
                <a:cs typeface="Calibri"/>
              </a:rPr>
              <a:t>place</a:t>
            </a:r>
            <a:r>
              <a:rPr sz="2400" spc="-20" dirty="0">
                <a:latin typeface="Calibri"/>
                <a:cs typeface="Calibri"/>
              </a:rPr>
              <a:t> </a:t>
            </a:r>
            <a:r>
              <a:rPr sz="2400" dirty="0">
                <a:latin typeface="Calibri"/>
                <a:cs typeface="Calibri"/>
              </a:rPr>
              <a:t>in</a:t>
            </a:r>
            <a:r>
              <a:rPr sz="2400" spc="-15" dirty="0">
                <a:latin typeface="Calibri"/>
                <a:cs typeface="Calibri"/>
              </a:rPr>
              <a:t> </a:t>
            </a:r>
            <a:r>
              <a:rPr sz="2400" dirty="0">
                <a:latin typeface="Calibri"/>
                <a:cs typeface="Calibri"/>
              </a:rPr>
              <a:t>the</a:t>
            </a:r>
            <a:r>
              <a:rPr sz="2400" spc="-5" dirty="0">
                <a:latin typeface="Calibri"/>
                <a:cs typeface="Calibri"/>
              </a:rPr>
              <a:t> </a:t>
            </a:r>
            <a:r>
              <a:rPr sz="2400" spc="-20" dirty="0">
                <a:latin typeface="Calibri"/>
                <a:cs typeface="Calibri"/>
              </a:rPr>
              <a:t>WBS.</a:t>
            </a:r>
            <a:endParaRPr sz="2400" dirty="0">
              <a:latin typeface="Calibri"/>
              <a:cs typeface="Calibri"/>
            </a:endParaRPr>
          </a:p>
          <a:p>
            <a:pPr marL="240665" indent="-227965">
              <a:lnSpc>
                <a:spcPct val="100000"/>
              </a:lnSpc>
              <a:spcBef>
                <a:spcPts val="420"/>
              </a:spcBef>
              <a:buClr>
                <a:srgbClr val="F5821F"/>
              </a:buClr>
              <a:buFont typeface="Arial"/>
              <a:buChar char="•"/>
              <a:tabLst>
                <a:tab pos="240665" algn="l"/>
              </a:tabLst>
            </a:pPr>
            <a:r>
              <a:rPr sz="2400" dirty="0">
                <a:latin typeface="Calibri"/>
                <a:cs typeface="Calibri"/>
              </a:rPr>
              <a:t>The</a:t>
            </a:r>
            <a:r>
              <a:rPr sz="2400" spc="-15" dirty="0">
                <a:latin typeface="Calibri"/>
                <a:cs typeface="Calibri"/>
              </a:rPr>
              <a:t> </a:t>
            </a:r>
            <a:r>
              <a:rPr sz="2400" dirty="0">
                <a:latin typeface="Calibri"/>
                <a:cs typeface="Calibri"/>
              </a:rPr>
              <a:t>work</a:t>
            </a:r>
            <a:r>
              <a:rPr sz="2400" spc="-40" dirty="0">
                <a:latin typeface="Calibri"/>
                <a:cs typeface="Calibri"/>
              </a:rPr>
              <a:t> </a:t>
            </a:r>
            <a:r>
              <a:rPr sz="2400" dirty="0">
                <a:latin typeface="Calibri"/>
                <a:cs typeface="Calibri"/>
              </a:rPr>
              <a:t>content</a:t>
            </a:r>
            <a:r>
              <a:rPr sz="2400" spc="-20" dirty="0">
                <a:latin typeface="Calibri"/>
                <a:cs typeface="Calibri"/>
              </a:rPr>
              <a:t> </a:t>
            </a:r>
            <a:r>
              <a:rPr sz="2400" dirty="0">
                <a:latin typeface="Calibri"/>
                <a:cs typeface="Calibri"/>
              </a:rPr>
              <a:t>of</a:t>
            </a:r>
            <a:r>
              <a:rPr sz="2400" spc="-25" dirty="0">
                <a:latin typeface="Calibri"/>
                <a:cs typeface="Calibri"/>
              </a:rPr>
              <a:t> </a:t>
            </a:r>
            <a:r>
              <a:rPr sz="2400" dirty="0">
                <a:latin typeface="Calibri"/>
                <a:cs typeface="Calibri"/>
              </a:rPr>
              <a:t>a</a:t>
            </a:r>
            <a:r>
              <a:rPr sz="2400" spc="-20" dirty="0">
                <a:latin typeface="Calibri"/>
                <a:cs typeface="Calibri"/>
              </a:rPr>
              <a:t> </a:t>
            </a:r>
            <a:r>
              <a:rPr sz="2400" dirty="0">
                <a:latin typeface="Calibri"/>
                <a:cs typeface="Calibri"/>
              </a:rPr>
              <a:t>WBS</a:t>
            </a:r>
            <a:r>
              <a:rPr sz="2400" spc="-35" dirty="0">
                <a:latin typeface="Calibri"/>
                <a:cs typeface="Calibri"/>
              </a:rPr>
              <a:t> </a:t>
            </a:r>
            <a:r>
              <a:rPr sz="2400" dirty="0">
                <a:latin typeface="Calibri"/>
                <a:cs typeface="Calibri"/>
              </a:rPr>
              <a:t>item</a:t>
            </a:r>
            <a:r>
              <a:rPr sz="2400" spc="-35" dirty="0">
                <a:latin typeface="Calibri"/>
                <a:cs typeface="Calibri"/>
              </a:rPr>
              <a:t> </a:t>
            </a:r>
            <a:r>
              <a:rPr sz="2400" dirty="0">
                <a:latin typeface="Calibri"/>
                <a:cs typeface="Calibri"/>
              </a:rPr>
              <a:t>is</a:t>
            </a:r>
            <a:r>
              <a:rPr sz="2400" spc="-25"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sum</a:t>
            </a:r>
            <a:r>
              <a:rPr sz="2400" spc="-40" dirty="0">
                <a:latin typeface="Calibri"/>
                <a:cs typeface="Calibri"/>
              </a:rPr>
              <a:t> </a:t>
            </a:r>
            <a:r>
              <a:rPr sz="2400" dirty="0">
                <a:latin typeface="Calibri"/>
                <a:cs typeface="Calibri"/>
              </a:rPr>
              <a:t>of</a:t>
            </a:r>
            <a:r>
              <a:rPr sz="2400" spc="-20" dirty="0">
                <a:latin typeface="Calibri"/>
                <a:cs typeface="Calibri"/>
              </a:rPr>
              <a:t> </a:t>
            </a:r>
            <a:r>
              <a:rPr sz="2400" dirty="0">
                <a:latin typeface="Calibri"/>
                <a:cs typeface="Calibri"/>
              </a:rPr>
              <a:t>the</a:t>
            </a:r>
            <a:r>
              <a:rPr sz="2400" spc="-30" dirty="0">
                <a:latin typeface="Calibri"/>
                <a:cs typeface="Calibri"/>
              </a:rPr>
              <a:t> </a:t>
            </a:r>
            <a:r>
              <a:rPr sz="2400" dirty="0">
                <a:latin typeface="Calibri"/>
                <a:cs typeface="Calibri"/>
              </a:rPr>
              <a:t>WBS</a:t>
            </a:r>
            <a:r>
              <a:rPr sz="2400" spc="-30" dirty="0">
                <a:latin typeface="Calibri"/>
                <a:cs typeface="Calibri"/>
              </a:rPr>
              <a:t> </a:t>
            </a:r>
            <a:r>
              <a:rPr sz="2400" dirty="0">
                <a:latin typeface="Calibri"/>
                <a:cs typeface="Calibri"/>
              </a:rPr>
              <a:t>items</a:t>
            </a:r>
            <a:r>
              <a:rPr sz="2400" spc="-35" dirty="0">
                <a:latin typeface="Calibri"/>
                <a:cs typeface="Calibri"/>
              </a:rPr>
              <a:t> </a:t>
            </a:r>
            <a:r>
              <a:rPr sz="2400" dirty="0">
                <a:latin typeface="Calibri"/>
                <a:cs typeface="Calibri"/>
              </a:rPr>
              <a:t>below</a:t>
            </a:r>
            <a:r>
              <a:rPr sz="2400" spc="-15" dirty="0">
                <a:latin typeface="Calibri"/>
                <a:cs typeface="Calibri"/>
              </a:rPr>
              <a:t> </a:t>
            </a:r>
            <a:r>
              <a:rPr sz="2400" spc="-25" dirty="0">
                <a:latin typeface="Calibri"/>
                <a:cs typeface="Calibri"/>
              </a:rPr>
              <a:t>it</a:t>
            </a:r>
            <a:endParaRPr sz="2400" dirty="0">
              <a:latin typeface="Calibri"/>
              <a:cs typeface="Calibri"/>
            </a:endParaRPr>
          </a:p>
          <a:p>
            <a:pPr marL="240665" indent="-227965">
              <a:lnSpc>
                <a:spcPts val="2595"/>
              </a:lnSpc>
              <a:spcBef>
                <a:spcPts val="430"/>
              </a:spcBef>
              <a:buClr>
                <a:srgbClr val="F5821F"/>
              </a:buClr>
              <a:buFont typeface="Arial"/>
              <a:buChar char="•"/>
              <a:tabLst>
                <a:tab pos="240665" algn="l"/>
              </a:tabLst>
            </a:pPr>
            <a:r>
              <a:rPr sz="2400" dirty="0">
                <a:latin typeface="Calibri"/>
                <a:cs typeface="Calibri"/>
              </a:rPr>
              <a:t>A</a:t>
            </a:r>
            <a:r>
              <a:rPr sz="2400" spc="-50" dirty="0">
                <a:latin typeface="Calibri"/>
                <a:cs typeface="Calibri"/>
              </a:rPr>
              <a:t> </a:t>
            </a:r>
            <a:r>
              <a:rPr sz="2400" dirty="0">
                <a:latin typeface="Calibri"/>
                <a:cs typeface="Calibri"/>
              </a:rPr>
              <a:t>WBS</a:t>
            </a:r>
            <a:r>
              <a:rPr sz="2400" spc="-45" dirty="0">
                <a:latin typeface="Calibri"/>
                <a:cs typeface="Calibri"/>
              </a:rPr>
              <a:t> </a:t>
            </a:r>
            <a:r>
              <a:rPr sz="2400" dirty="0">
                <a:latin typeface="Calibri"/>
                <a:cs typeface="Calibri"/>
              </a:rPr>
              <a:t>item</a:t>
            </a:r>
            <a:r>
              <a:rPr sz="2400" spc="-40" dirty="0">
                <a:latin typeface="Calibri"/>
                <a:cs typeface="Calibri"/>
              </a:rPr>
              <a:t> </a:t>
            </a:r>
            <a:r>
              <a:rPr sz="2400" dirty="0">
                <a:latin typeface="Calibri"/>
                <a:cs typeface="Calibri"/>
              </a:rPr>
              <a:t>is</a:t>
            </a:r>
            <a:r>
              <a:rPr sz="2400" spc="-20"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responsibility</a:t>
            </a:r>
            <a:r>
              <a:rPr sz="2400" spc="-25" dirty="0">
                <a:latin typeface="Calibri"/>
                <a:cs typeface="Calibri"/>
              </a:rPr>
              <a:t> </a:t>
            </a:r>
            <a:r>
              <a:rPr sz="2400" dirty="0">
                <a:latin typeface="Calibri"/>
                <a:cs typeface="Calibri"/>
              </a:rPr>
              <a:t>of</a:t>
            </a:r>
            <a:r>
              <a:rPr sz="2400" spc="-35" dirty="0">
                <a:latin typeface="Calibri"/>
                <a:cs typeface="Calibri"/>
              </a:rPr>
              <a:t> </a:t>
            </a:r>
            <a:r>
              <a:rPr sz="2400" dirty="0">
                <a:latin typeface="Calibri"/>
                <a:cs typeface="Calibri"/>
              </a:rPr>
              <a:t>only</a:t>
            </a:r>
            <a:r>
              <a:rPr sz="2400" spc="-20" dirty="0">
                <a:latin typeface="Calibri"/>
                <a:cs typeface="Calibri"/>
              </a:rPr>
              <a:t> </a:t>
            </a:r>
            <a:r>
              <a:rPr sz="2400" dirty="0">
                <a:latin typeface="Calibri"/>
                <a:cs typeface="Calibri"/>
              </a:rPr>
              <a:t>one</a:t>
            </a:r>
            <a:r>
              <a:rPr sz="2400" spc="-25" dirty="0">
                <a:latin typeface="Calibri"/>
                <a:cs typeface="Calibri"/>
              </a:rPr>
              <a:t> </a:t>
            </a:r>
            <a:r>
              <a:rPr sz="2400" dirty="0">
                <a:latin typeface="Calibri"/>
                <a:cs typeface="Calibri"/>
              </a:rPr>
              <a:t>individual,</a:t>
            </a:r>
            <a:r>
              <a:rPr sz="2400" spc="-25" dirty="0">
                <a:latin typeface="Calibri"/>
                <a:cs typeface="Calibri"/>
              </a:rPr>
              <a:t> </a:t>
            </a:r>
            <a:r>
              <a:rPr sz="2400" dirty="0">
                <a:latin typeface="Calibri"/>
                <a:cs typeface="Calibri"/>
              </a:rPr>
              <a:t>even</a:t>
            </a:r>
            <a:r>
              <a:rPr sz="2400" spc="-30" dirty="0">
                <a:latin typeface="Calibri"/>
                <a:cs typeface="Calibri"/>
              </a:rPr>
              <a:t> </a:t>
            </a:r>
            <a:r>
              <a:rPr sz="2400" dirty="0">
                <a:latin typeface="Calibri"/>
                <a:cs typeface="Calibri"/>
              </a:rPr>
              <a:t>though</a:t>
            </a:r>
            <a:r>
              <a:rPr sz="2400" spc="-40" dirty="0">
                <a:latin typeface="Calibri"/>
                <a:cs typeface="Calibri"/>
              </a:rPr>
              <a:t> </a:t>
            </a:r>
            <a:r>
              <a:rPr sz="2400" dirty="0">
                <a:latin typeface="Calibri"/>
                <a:cs typeface="Calibri"/>
              </a:rPr>
              <a:t>many</a:t>
            </a:r>
            <a:r>
              <a:rPr sz="2400" spc="-20" dirty="0">
                <a:latin typeface="Calibri"/>
                <a:cs typeface="Calibri"/>
              </a:rPr>
              <a:t> </a:t>
            </a:r>
            <a:r>
              <a:rPr sz="2400" spc="-10" dirty="0">
                <a:latin typeface="Calibri"/>
                <a:cs typeface="Calibri"/>
              </a:rPr>
              <a:t>people</a:t>
            </a:r>
            <a:endParaRPr sz="2400" dirty="0">
              <a:latin typeface="Calibri"/>
              <a:cs typeface="Calibri"/>
            </a:endParaRPr>
          </a:p>
          <a:p>
            <a:pPr marL="240665">
              <a:lnSpc>
                <a:spcPts val="2595"/>
              </a:lnSpc>
            </a:pPr>
            <a:r>
              <a:rPr lang="en-NZ" sz="2400" dirty="0">
                <a:latin typeface="Calibri"/>
                <a:cs typeface="Calibri"/>
              </a:rPr>
              <a:t>maybe</a:t>
            </a:r>
            <a:r>
              <a:rPr sz="2400" spc="-20" dirty="0">
                <a:latin typeface="Calibri"/>
                <a:cs typeface="Calibri"/>
              </a:rPr>
              <a:t> </a:t>
            </a:r>
            <a:r>
              <a:rPr sz="2400" dirty="0">
                <a:latin typeface="Calibri"/>
                <a:cs typeface="Calibri"/>
              </a:rPr>
              <a:t>working</a:t>
            </a:r>
            <a:r>
              <a:rPr sz="2400" spc="-40" dirty="0">
                <a:latin typeface="Calibri"/>
                <a:cs typeface="Calibri"/>
              </a:rPr>
              <a:t> </a:t>
            </a:r>
            <a:r>
              <a:rPr sz="2400" dirty="0">
                <a:latin typeface="Calibri"/>
                <a:cs typeface="Calibri"/>
              </a:rPr>
              <a:t>on</a:t>
            </a:r>
            <a:r>
              <a:rPr sz="2400" spc="-25" dirty="0">
                <a:latin typeface="Calibri"/>
                <a:cs typeface="Calibri"/>
              </a:rPr>
              <a:t> it</a:t>
            </a:r>
            <a:endParaRPr sz="2400" dirty="0">
              <a:latin typeface="Calibri"/>
              <a:cs typeface="Calibri"/>
            </a:endParaRPr>
          </a:p>
          <a:p>
            <a:pPr marL="240665" marR="327660" indent="-228600">
              <a:lnSpc>
                <a:spcPct val="80000"/>
              </a:lnSpc>
              <a:spcBef>
                <a:spcPts val="994"/>
              </a:spcBef>
              <a:buClr>
                <a:srgbClr val="F5821F"/>
              </a:buClr>
              <a:buFont typeface="Arial"/>
              <a:buChar char="•"/>
              <a:tabLst>
                <a:tab pos="240665" algn="l"/>
              </a:tabLst>
            </a:pPr>
            <a:r>
              <a:rPr sz="2400" dirty="0">
                <a:latin typeface="Calibri"/>
                <a:cs typeface="Calibri"/>
              </a:rPr>
              <a:t>The</a:t>
            </a:r>
            <a:r>
              <a:rPr sz="2400" spc="-15" dirty="0">
                <a:latin typeface="Calibri"/>
                <a:cs typeface="Calibri"/>
              </a:rPr>
              <a:t> </a:t>
            </a:r>
            <a:r>
              <a:rPr sz="2400" dirty="0">
                <a:latin typeface="Calibri"/>
                <a:cs typeface="Calibri"/>
              </a:rPr>
              <a:t>WBS</a:t>
            </a:r>
            <a:r>
              <a:rPr sz="2400" spc="-30" dirty="0">
                <a:latin typeface="Calibri"/>
                <a:cs typeface="Calibri"/>
              </a:rPr>
              <a:t> </a:t>
            </a:r>
            <a:r>
              <a:rPr sz="2400" dirty="0">
                <a:latin typeface="Calibri"/>
                <a:cs typeface="Calibri"/>
              </a:rPr>
              <a:t>must</a:t>
            </a:r>
            <a:r>
              <a:rPr sz="2400" spc="-35" dirty="0">
                <a:latin typeface="Calibri"/>
                <a:cs typeface="Calibri"/>
              </a:rPr>
              <a:t> </a:t>
            </a:r>
            <a:r>
              <a:rPr sz="2400" dirty="0">
                <a:latin typeface="Calibri"/>
                <a:cs typeface="Calibri"/>
              </a:rPr>
              <a:t>be</a:t>
            </a:r>
            <a:r>
              <a:rPr sz="2400" spc="-15" dirty="0">
                <a:latin typeface="Calibri"/>
                <a:cs typeface="Calibri"/>
              </a:rPr>
              <a:t> </a:t>
            </a:r>
            <a:r>
              <a:rPr sz="2400" spc="-10" dirty="0">
                <a:latin typeface="Calibri"/>
                <a:cs typeface="Calibri"/>
              </a:rPr>
              <a:t>consistent</a:t>
            </a:r>
            <a:r>
              <a:rPr sz="2400" spc="-35" dirty="0">
                <a:latin typeface="Calibri"/>
                <a:cs typeface="Calibri"/>
              </a:rPr>
              <a:t> </a:t>
            </a:r>
            <a:r>
              <a:rPr sz="2400" dirty="0">
                <a:latin typeface="Calibri"/>
                <a:cs typeface="Calibri"/>
              </a:rPr>
              <a:t>with</a:t>
            </a:r>
            <a:r>
              <a:rPr sz="2400" spc="-35" dirty="0">
                <a:latin typeface="Calibri"/>
                <a:cs typeface="Calibri"/>
              </a:rPr>
              <a:t> </a:t>
            </a:r>
            <a:r>
              <a:rPr sz="2400" dirty="0">
                <a:latin typeface="Calibri"/>
                <a:cs typeface="Calibri"/>
              </a:rPr>
              <a:t>the</a:t>
            </a:r>
            <a:r>
              <a:rPr sz="2400" spc="-20" dirty="0">
                <a:latin typeface="Calibri"/>
                <a:cs typeface="Calibri"/>
              </a:rPr>
              <a:t> </a:t>
            </a:r>
            <a:r>
              <a:rPr sz="2400" dirty="0">
                <a:latin typeface="Calibri"/>
                <a:cs typeface="Calibri"/>
              </a:rPr>
              <a:t>way</a:t>
            </a:r>
            <a:r>
              <a:rPr sz="2400" spc="-25" dirty="0">
                <a:latin typeface="Calibri"/>
                <a:cs typeface="Calibri"/>
              </a:rPr>
              <a:t> </a:t>
            </a:r>
            <a:r>
              <a:rPr sz="2400" dirty="0">
                <a:latin typeface="Calibri"/>
                <a:cs typeface="Calibri"/>
              </a:rPr>
              <a:t>in</a:t>
            </a:r>
            <a:r>
              <a:rPr sz="2400" spc="-25" dirty="0">
                <a:latin typeface="Calibri"/>
                <a:cs typeface="Calibri"/>
              </a:rPr>
              <a:t> </a:t>
            </a:r>
            <a:r>
              <a:rPr sz="2400" dirty="0">
                <a:latin typeface="Calibri"/>
                <a:cs typeface="Calibri"/>
              </a:rPr>
              <a:t>which</a:t>
            </a:r>
            <a:r>
              <a:rPr sz="2400" spc="-30" dirty="0">
                <a:latin typeface="Calibri"/>
                <a:cs typeface="Calibri"/>
              </a:rPr>
              <a:t> </a:t>
            </a:r>
            <a:r>
              <a:rPr sz="2400" dirty="0">
                <a:latin typeface="Calibri"/>
                <a:cs typeface="Calibri"/>
              </a:rPr>
              <a:t>work</a:t>
            </a:r>
            <a:r>
              <a:rPr sz="2400" spc="-40" dirty="0">
                <a:latin typeface="Calibri"/>
                <a:cs typeface="Calibri"/>
              </a:rPr>
              <a:t> </a:t>
            </a:r>
            <a:r>
              <a:rPr sz="2400" dirty="0">
                <a:latin typeface="Calibri"/>
                <a:cs typeface="Calibri"/>
              </a:rPr>
              <a:t>is</a:t>
            </a:r>
            <a:r>
              <a:rPr sz="2400" spc="-5" dirty="0">
                <a:latin typeface="Calibri"/>
                <a:cs typeface="Calibri"/>
              </a:rPr>
              <a:t> </a:t>
            </a:r>
            <a:r>
              <a:rPr sz="2400" dirty="0">
                <a:latin typeface="Calibri"/>
                <a:cs typeface="Calibri"/>
              </a:rPr>
              <a:t>actually</a:t>
            </a:r>
            <a:r>
              <a:rPr sz="2400" spc="-45" dirty="0">
                <a:latin typeface="Calibri"/>
                <a:cs typeface="Calibri"/>
              </a:rPr>
              <a:t> </a:t>
            </a:r>
            <a:r>
              <a:rPr sz="2400" dirty="0">
                <a:latin typeface="Calibri"/>
                <a:cs typeface="Calibri"/>
              </a:rPr>
              <a:t>going</a:t>
            </a:r>
            <a:r>
              <a:rPr sz="2400" spc="-40" dirty="0">
                <a:latin typeface="Calibri"/>
                <a:cs typeface="Calibri"/>
              </a:rPr>
              <a:t> </a:t>
            </a:r>
            <a:r>
              <a:rPr sz="2400" dirty="0">
                <a:latin typeface="Calibri"/>
                <a:cs typeface="Calibri"/>
              </a:rPr>
              <a:t>to</a:t>
            </a:r>
            <a:r>
              <a:rPr sz="2400" spc="-20" dirty="0">
                <a:latin typeface="Calibri"/>
                <a:cs typeface="Calibri"/>
              </a:rPr>
              <a:t> </a:t>
            </a:r>
            <a:r>
              <a:rPr sz="2400" spc="-25" dirty="0">
                <a:latin typeface="Calibri"/>
                <a:cs typeface="Calibri"/>
              </a:rPr>
              <a:t>be </a:t>
            </a:r>
            <a:r>
              <a:rPr sz="2400" dirty="0">
                <a:latin typeface="Calibri"/>
                <a:cs typeface="Calibri"/>
              </a:rPr>
              <a:t>performed;</a:t>
            </a:r>
            <a:r>
              <a:rPr sz="2400" spc="-35" dirty="0">
                <a:latin typeface="Calibri"/>
                <a:cs typeface="Calibri"/>
              </a:rPr>
              <a:t> </a:t>
            </a:r>
            <a:r>
              <a:rPr sz="2400" dirty="0">
                <a:latin typeface="Calibri"/>
                <a:cs typeface="Calibri"/>
              </a:rPr>
              <a:t>it</a:t>
            </a:r>
            <a:r>
              <a:rPr sz="2400" spc="-35" dirty="0">
                <a:latin typeface="Calibri"/>
                <a:cs typeface="Calibri"/>
              </a:rPr>
              <a:t> </a:t>
            </a:r>
            <a:r>
              <a:rPr sz="2400" dirty="0">
                <a:latin typeface="Calibri"/>
                <a:cs typeface="Calibri"/>
              </a:rPr>
              <a:t>should</a:t>
            </a:r>
            <a:r>
              <a:rPr sz="2400" spc="-20" dirty="0">
                <a:latin typeface="Calibri"/>
                <a:cs typeface="Calibri"/>
              </a:rPr>
              <a:t> </a:t>
            </a:r>
            <a:r>
              <a:rPr sz="2400" dirty="0">
                <a:latin typeface="Calibri"/>
                <a:cs typeface="Calibri"/>
              </a:rPr>
              <a:t>serve</a:t>
            </a:r>
            <a:r>
              <a:rPr sz="2400" spc="-25" dirty="0">
                <a:latin typeface="Calibri"/>
                <a:cs typeface="Calibri"/>
              </a:rPr>
              <a:t> </a:t>
            </a:r>
            <a:r>
              <a:rPr sz="2400" dirty="0">
                <a:latin typeface="Calibri"/>
                <a:cs typeface="Calibri"/>
              </a:rPr>
              <a:t>the</a:t>
            </a:r>
            <a:r>
              <a:rPr sz="2400" spc="-15" dirty="0">
                <a:latin typeface="Calibri"/>
                <a:cs typeface="Calibri"/>
              </a:rPr>
              <a:t> </a:t>
            </a:r>
            <a:r>
              <a:rPr sz="2400" dirty="0">
                <a:latin typeface="Calibri"/>
                <a:cs typeface="Calibri"/>
              </a:rPr>
              <a:t>project</a:t>
            </a:r>
            <a:r>
              <a:rPr sz="2400" spc="-45" dirty="0">
                <a:latin typeface="Calibri"/>
                <a:cs typeface="Calibri"/>
              </a:rPr>
              <a:t> </a:t>
            </a:r>
            <a:r>
              <a:rPr sz="2400" dirty="0">
                <a:latin typeface="Calibri"/>
                <a:cs typeface="Calibri"/>
              </a:rPr>
              <a:t>team</a:t>
            </a:r>
            <a:r>
              <a:rPr sz="2400" spc="-35" dirty="0">
                <a:latin typeface="Calibri"/>
                <a:cs typeface="Calibri"/>
              </a:rPr>
              <a:t> </a:t>
            </a:r>
            <a:r>
              <a:rPr sz="2400" dirty="0">
                <a:latin typeface="Calibri"/>
                <a:cs typeface="Calibri"/>
              </a:rPr>
              <a:t>first,</a:t>
            </a:r>
            <a:r>
              <a:rPr sz="2400" spc="-35" dirty="0">
                <a:latin typeface="Calibri"/>
                <a:cs typeface="Calibri"/>
              </a:rPr>
              <a:t> </a:t>
            </a:r>
            <a:r>
              <a:rPr sz="2400" dirty="0">
                <a:latin typeface="Calibri"/>
                <a:cs typeface="Calibri"/>
              </a:rPr>
              <a:t>and</a:t>
            </a:r>
            <a:r>
              <a:rPr sz="2400" spc="-30" dirty="0">
                <a:latin typeface="Calibri"/>
                <a:cs typeface="Calibri"/>
              </a:rPr>
              <a:t> </a:t>
            </a:r>
            <a:r>
              <a:rPr sz="2400" dirty="0">
                <a:latin typeface="Calibri"/>
                <a:cs typeface="Calibri"/>
              </a:rPr>
              <a:t>other</a:t>
            </a:r>
            <a:r>
              <a:rPr sz="2400" spc="-20" dirty="0">
                <a:latin typeface="Calibri"/>
                <a:cs typeface="Calibri"/>
              </a:rPr>
              <a:t> </a:t>
            </a:r>
            <a:r>
              <a:rPr sz="2400" dirty="0">
                <a:latin typeface="Calibri"/>
                <a:cs typeface="Calibri"/>
              </a:rPr>
              <a:t>purposes</a:t>
            </a:r>
            <a:r>
              <a:rPr sz="2400" spc="-30" dirty="0">
                <a:latin typeface="Calibri"/>
                <a:cs typeface="Calibri"/>
              </a:rPr>
              <a:t> </a:t>
            </a:r>
            <a:r>
              <a:rPr sz="2400" dirty="0">
                <a:latin typeface="Calibri"/>
                <a:cs typeface="Calibri"/>
              </a:rPr>
              <a:t>only</a:t>
            </a:r>
            <a:r>
              <a:rPr sz="2400" spc="-20" dirty="0">
                <a:latin typeface="Calibri"/>
                <a:cs typeface="Calibri"/>
              </a:rPr>
              <a:t> </a:t>
            </a:r>
            <a:r>
              <a:rPr sz="2400" spc="-25" dirty="0">
                <a:latin typeface="Calibri"/>
                <a:cs typeface="Calibri"/>
              </a:rPr>
              <a:t>if </a:t>
            </a:r>
            <a:r>
              <a:rPr sz="2400" spc="-10" dirty="0">
                <a:latin typeface="Calibri"/>
                <a:cs typeface="Calibri"/>
              </a:rPr>
              <a:t>practical</a:t>
            </a:r>
            <a:endParaRPr sz="2400" dirty="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9366" y="308228"/>
            <a:ext cx="6477635" cy="1300480"/>
          </a:xfrm>
          <a:prstGeom prst="rect">
            <a:avLst/>
          </a:prstGeom>
        </p:spPr>
        <p:txBody>
          <a:bodyPr vert="horz" wrap="square" lIns="0" tIns="88900" rIns="0" bIns="0" rtlCol="0">
            <a:spAutoFit/>
          </a:bodyPr>
          <a:lstStyle/>
          <a:p>
            <a:pPr marL="12700" marR="5080">
              <a:lnSpc>
                <a:spcPts val="4750"/>
              </a:lnSpc>
              <a:spcBef>
                <a:spcPts val="700"/>
              </a:spcBef>
            </a:pPr>
            <a:r>
              <a:rPr dirty="0"/>
              <a:t>Monitoring</a:t>
            </a:r>
            <a:r>
              <a:rPr spc="-60" dirty="0"/>
              <a:t> </a:t>
            </a:r>
            <a:r>
              <a:rPr dirty="0"/>
              <a:t>and</a:t>
            </a:r>
            <a:r>
              <a:rPr spc="-50" dirty="0"/>
              <a:t> </a:t>
            </a:r>
            <a:r>
              <a:rPr spc="-10" dirty="0"/>
              <a:t>Controlling: </a:t>
            </a:r>
            <a:r>
              <a:rPr spc="-20" dirty="0"/>
              <a:t>Validating</a:t>
            </a:r>
            <a:r>
              <a:rPr spc="-155" dirty="0"/>
              <a:t> </a:t>
            </a:r>
            <a:r>
              <a:rPr spc="-10" dirty="0"/>
              <a:t>Scope</a:t>
            </a:r>
          </a:p>
        </p:txBody>
      </p:sp>
      <p:sp>
        <p:nvSpPr>
          <p:cNvPr id="3" name="object 3"/>
          <p:cNvSpPr txBox="1">
            <a:spLocks noGrp="1"/>
          </p:cNvSpPr>
          <p:nvPr>
            <p:ph type="body" idx="1"/>
          </p:nvPr>
        </p:nvSpPr>
        <p:spPr>
          <a:prstGeom prst="rect">
            <a:avLst/>
          </a:prstGeom>
        </p:spPr>
        <p:txBody>
          <a:bodyPr vert="horz" wrap="square" lIns="0" tIns="60325" rIns="0" bIns="0" rtlCol="0">
            <a:spAutoFit/>
          </a:bodyPr>
          <a:lstStyle/>
          <a:p>
            <a:pPr marL="241300" marR="667385" indent="-228600">
              <a:lnSpc>
                <a:spcPts val="3030"/>
              </a:lnSpc>
              <a:spcBef>
                <a:spcPts val="475"/>
              </a:spcBef>
              <a:buClr>
                <a:srgbClr val="F5821F"/>
              </a:buClr>
              <a:buFont typeface="Arial"/>
              <a:buChar char="•"/>
              <a:tabLst>
                <a:tab pos="241300" algn="l"/>
              </a:tabLst>
            </a:pPr>
            <a:r>
              <a:rPr dirty="0"/>
              <a:t>It</a:t>
            </a:r>
            <a:r>
              <a:rPr spc="-80" dirty="0"/>
              <a:t> </a:t>
            </a:r>
            <a:r>
              <a:rPr dirty="0"/>
              <a:t>is</a:t>
            </a:r>
            <a:r>
              <a:rPr spc="-80" dirty="0"/>
              <a:t> </a:t>
            </a:r>
            <a:r>
              <a:rPr dirty="0"/>
              <a:t>very</a:t>
            </a:r>
            <a:r>
              <a:rPr spc="-65" dirty="0"/>
              <a:t> </a:t>
            </a:r>
            <a:r>
              <a:rPr dirty="0"/>
              <a:t>difficult</a:t>
            </a:r>
            <a:r>
              <a:rPr spc="-60" dirty="0"/>
              <a:t> </a:t>
            </a:r>
            <a:r>
              <a:rPr dirty="0"/>
              <a:t>to</a:t>
            </a:r>
            <a:r>
              <a:rPr spc="-75" dirty="0"/>
              <a:t> </a:t>
            </a:r>
            <a:r>
              <a:rPr spc="-10" dirty="0"/>
              <a:t>create</a:t>
            </a:r>
            <a:r>
              <a:rPr spc="-90" dirty="0"/>
              <a:t> </a:t>
            </a:r>
            <a:r>
              <a:rPr dirty="0"/>
              <a:t>a</a:t>
            </a:r>
            <a:r>
              <a:rPr spc="-80" dirty="0"/>
              <a:t> </a:t>
            </a:r>
            <a:r>
              <a:rPr dirty="0"/>
              <a:t>good</a:t>
            </a:r>
            <a:r>
              <a:rPr spc="-70" dirty="0"/>
              <a:t> </a:t>
            </a:r>
            <a:r>
              <a:rPr dirty="0"/>
              <a:t>scope</a:t>
            </a:r>
            <a:r>
              <a:rPr spc="-70" dirty="0"/>
              <a:t> </a:t>
            </a:r>
            <a:r>
              <a:rPr spc="-20" dirty="0"/>
              <a:t>statement</a:t>
            </a:r>
            <a:r>
              <a:rPr spc="-65" dirty="0"/>
              <a:t> </a:t>
            </a:r>
            <a:r>
              <a:rPr dirty="0"/>
              <a:t>and</a:t>
            </a:r>
            <a:r>
              <a:rPr spc="-60" dirty="0"/>
              <a:t> </a:t>
            </a:r>
            <a:r>
              <a:rPr dirty="0"/>
              <a:t>WBS</a:t>
            </a:r>
            <a:r>
              <a:rPr spc="-70" dirty="0"/>
              <a:t> </a:t>
            </a:r>
            <a:r>
              <a:rPr dirty="0"/>
              <a:t>for</a:t>
            </a:r>
            <a:r>
              <a:rPr spc="-75" dirty="0"/>
              <a:t> </a:t>
            </a:r>
            <a:r>
              <a:rPr spc="-50" dirty="0"/>
              <a:t>a </a:t>
            </a:r>
            <a:r>
              <a:rPr spc="-10" dirty="0"/>
              <a:t>project</a:t>
            </a:r>
          </a:p>
          <a:p>
            <a:pPr marL="241300" marR="535940" indent="-228600">
              <a:lnSpc>
                <a:spcPts val="3020"/>
              </a:lnSpc>
              <a:spcBef>
                <a:spcPts val="1005"/>
              </a:spcBef>
              <a:buClr>
                <a:srgbClr val="F5821F"/>
              </a:buClr>
              <a:buFont typeface="Arial"/>
              <a:buChar char="•"/>
              <a:tabLst>
                <a:tab pos="241300" algn="l"/>
              </a:tabLst>
            </a:pPr>
            <a:r>
              <a:rPr dirty="0"/>
              <a:t>It</a:t>
            </a:r>
            <a:r>
              <a:rPr spc="-90" dirty="0"/>
              <a:t> </a:t>
            </a:r>
            <a:r>
              <a:rPr dirty="0"/>
              <a:t>is</a:t>
            </a:r>
            <a:r>
              <a:rPr spc="-90" dirty="0"/>
              <a:t> </a:t>
            </a:r>
            <a:r>
              <a:rPr dirty="0"/>
              <a:t>even</a:t>
            </a:r>
            <a:r>
              <a:rPr spc="-80" dirty="0"/>
              <a:t> </a:t>
            </a:r>
            <a:r>
              <a:rPr dirty="0"/>
              <a:t>more</a:t>
            </a:r>
            <a:r>
              <a:rPr spc="-80" dirty="0"/>
              <a:t> </a:t>
            </a:r>
            <a:r>
              <a:rPr dirty="0"/>
              <a:t>difficult</a:t>
            </a:r>
            <a:r>
              <a:rPr spc="-70" dirty="0"/>
              <a:t> </a:t>
            </a:r>
            <a:r>
              <a:rPr dirty="0"/>
              <a:t>to</a:t>
            </a:r>
            <a:r>
              <a:rPr spc="-85" dirty="0"/>
              <a:t> </a:t>
            </a:r>
            <a:r>
              <a:rPr dirty="0"/>
              <a:t>verify</a:t>
            </a:r>
            <a:r>
              <a:rPr spc="-90" dirty="0"/>
              <a:t> </a:t>
            </a:r>
            <a:r>
              <a:rPr dirty="0"/>
              <a:t>project</a:t>
            </a:r>
            <a:r>
              <a:rPr spc="-75" dirty="0"/>
              <a:t> </a:t>
            </a:r>
            <a:r>
              <a:rPr dirty="0"/>
              <a:t>scope</a:t>
            </a:r>
            <a:r>
              <a:rPr spc="-75" dirty="0"/>
              <a:t> </a:t>
            </a:r>
            <a:r>
              <a:rPr dirty="0"/>
              <a:t>and</a:t>
            </a:r>
            <a:r>
              <a:rPr spc="-65" dirty="0"/>
              <a:t> </a:t>
            </a:r>
            <a:r>
              <a:rPr spc="-10" dirty="0"/>
              <a:t>minimize</a:t>
            </a:r>
            <a:r>
              <a:rPr spc="-75" dirty="0"/>
              <a:t> </a:t>
            </a:r>
            <a:r>
              <a:rPr spc="-10" dirty="0"/>
              <a:t>scope changes</a:t>
            </a:r>
          </a:p>
          <a:p>
            <a:pPr marL="241300" marR="5080" indent="-228600">
              <a:lnSpc>
                <a:spcPts val="3020"/>
              </a:lnSpc>
              <a:spcBef>
                <a:spcPts val="1005"/>
              </a:spcBef>
              <a:buClr>
                <a:srgbClr val="F5821F"/>
              </a:buClr>
              <a:buFont typeface="Arial"/>
              <a:buChar char="•"/>
              <a:tabLst>
                <a:tab pos="241300" algn="l"/>
              </a:tabLst>
            </a:pPr>
            <a:r>
              <a:rPr b="1" dirty="0">
                <a:latin typeface="Calibri"/>
                <a:cs typeface="Calibri"/>
              </a:rPr>
              <a:t>Scope</a:t>
            </a:r>
            <a:r>
              <a:rPr b="1" spc="-90" dirty="0">
                <a:latin typeface="Calibri"/>
                <a:cs typeface="Calibri"/>
              </a:rPr>
              <a:t> </a:t>
            </a:r>
            <a:r>
              <a:rPr b="1" spc="-10" dirty="0">
                <a:latin typeface="Calibri"/>
                <a:cs typeface="Calibri"/>
              </a:rPr>
              <a:t>validation</a:t>
            </a:r>
            <a:r>
              <a:rPr b="1" spc="-70" dirty="0">
                <a:latin typeface="Calibri"/>
                <a:cs typeface="Calibri"/>
              </a:rPr>
              <a:t> </a:t>
            </a:r>
            <a:r>
              <a:rPr spc="-10" dirty="0"/>
              <a:t>involves</a:t>
            </a:r>
            <a:r>
              <a:rPr spc="-70" dirty="0"/>
              <a:t> </a:t>
            </a:r>
            <a:r>
              <a:rPr dirty="0"/>
              <a:t>formal</a:t>
            </a:r>
            <a:r>
              <a:rPr spc="-95" dirty="0"/>
              <a:t> </a:t>
            </a:r>
            <a:r>
              <a:rPr spc="-10" dirty="0"/>
              <a:t>acceptance</a:t>
            </a:r>
            <a:r>
              <a:rPr spc="-85" dirty="0"/>
              <a:t> </a:t>
            </a:r>
            <a:r>
              <a:rPr dirty="0"/>
              <a:t>of</a:t>
            </a:r>
            <a:r>
              <a:rPr spc="-95" dirty="0"/>
              <a:t> </a:t>
            </a:r>
            <a:r>
              <a:rPr dirty="0"/>
              <a:t>the</a:t>
            </a:r>
            <a:r>
              <a:rPr spc="-80" dirty="0"/>
              <a:t> </a:t>
            </a:r>
            <a:r>
              <a:rPr spc="-10" dirty="0"/>
              <a:t>completed</a:t>
            </a:r>
            <a:r>
              <a:rPr spc="-90" dirty="0"/>
              <a:t> </a:t>
            </a:r>
            <a:r>
              <a:rPr spc="-10" dirty="0"/>
              <a:t>project deliverables</a:t>
            </a:r>
          </a:p>
          <a:p>
            <a:pPr marL="241300" marR="50165" indent="-228600">
              <a:lnSpc>
                <a:spcPts val="3030"/>
              </a:lnSpc>
              <a:spcBef>
                <a:spcPts val="994"/>
              </a:spcBef>
              <a:buClr>
                <a:srgbClr val="F5821F"/>
              </a:buClr>
              <a:buFont typeface="Arial"/>
              <a:buChar char="•"/>
              <a:tabLst>
                <a:tab pos="241300" algn="l"/>
              </a:tabLst>
            </a:pPr>
            <a:r>
              <a:rPr spc="-10" dirty="0"/>
              <a:t>Acceptance</a:t>
            </a:r>
            <a:r>
              <a:rPr spc="-70" dirty="0"/>
              <a:t> </a:t>
            </a:r>
            <a:r>
              <a:rPr dirty="0"/>
              <a:t>is</a:t>
            </a:r>
            <a:r>
              <a:rPr spc="-75" dirty="0"/>
              <a:t> </a:t>
            </a:r>
            <a:r>
              <a:rPr dirty="0"/>
              <a:t>often</a:t>
            </a:r>
            <a:r>
              <a:rPr spc="-80" dirty="0"/>
              <a:t> </a:t>
            </a:r>
            <a:r>
              <a:rPr spc="-10" dirty="0"/>
              <a:t>achieved</a:t>
            </a:r>
            <a:r>
              <a:rPr spc="-80" dirty="0"/>
              <a:t> </a:t>
            </a:r>
            <a:r>
              <a:rPr dirty="0"/>
              <a:t>by</a:t>
            </a:r>
            <a:r>
              <a:rPr spc="-75" dirty="0"/>
              <a:t> </a:t>
            </a:r>
            <a:r>
              <a:rPr dirty="0"/>
              <a:t>a</a:t>
            </a:r>
            <a:r>
              <a:rPr spc="-80" dirty="0"/>
              <a:t> </a:t>
            </a:r>
            <a:r>
              <a:rPr spc="-10" dirty="0"/>
              <a:t>customer</a:t>
            </a:r>
            <a:r>
              <a:rPr spc="-55" dirty="0"/>
              <a:t> </a:t>
            </a:r>
            <a:r>
              <a:rPr dirty="0"/>
              <a:t>inspection</a:t>
            </a:r>
            <a:r>
              <a:rPr spc="-55" dirty="0"/>
              <a:t> </a:t>
            </a:r>
            <a:r>
              <a:rPr dirty="0"/>
              <a:t>and</a:t>
            </a:r>
            <a:r>
              <a:rPr spc="-75" dirty="0"/>
              <a:t> </a:t>
            </a:r>
            <a:r>
              <a:rPr dirty="0"/>
              <a:t>then</a:t>
            </a:r>
            <a:r>
              <a:rPr spc="-70" dirty="0"/>
              <a:t> </a:t>
            </a:r>
            <a:r>
              <a:rPr spc="-10" dirty="0"/>
              <a:t>sign- </a:t>
            </a:r>
            <a:r>
              <a:rPr dirty="0"/>
              <a:t>off</a:t>
            </a:r>
            <a:r>
              <a:rPr spc="-90" dirty="0"/>
              <a:t> </a:t>
            </a:r>
            <a:r>
              <a:rPr dirty="0"/>
              <a:t>on</a:t>
            </a:r>
            <a:r>
              <a:rPr spc="-70" dirty="0"/>
              <a:t> </a:t>
            </a:r>
            <a:r>
              <a:rPr dirty="0"/>
              <a:t>key</a:t>
            </a:r>
            <a:r>
              <a:rPr spc="-85" dirty="0"/>
              <a:t> </a:t>
            </a:r>
            <a:r>
              <a:rPr spc="-10" dirty="0"/>
              <a:t>deliverables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9458" rIns="0" bIns="0" rtlCol="0">
            <a:spAutoFit/>
          </a:bodyPr>
          <a:lstStyle/>
          <a:p>
            <a:pPr marL="12700">
              <a:lnSpc>
                <a:spcPct val="100000"/>
              </a:lnSpc>
              <a:spcBef>
                <a:spcPts val="105"/>
              </a:spcBef>
            </a:pPr>
            <a:r>
              <a:rPr dirty="0"/>
              <a:t>Monitoring</a:t>
            </a:r>
            <a:r>
              <a:rPr spc="-90" dirty="0"/>
              <a:t> </a:t>
            </a:r>
            <a:r>
              <a:rPr dirty="0"/>
              <a:t>and</a:t>
            </a:r>
            <a:r>
              <a:rPr spc="-80" dirty="0"/>
              <a:t> </a:t>
            </a:r>
            <a:r>
              <a:rPr dirty="0"/>
              <a:t>Controlling</a:t>
            </a:r>
            <a:r>
              <a:rPr spc="-110" dirty="0"/>
              <a:t> </a:t>
            </a:r>
            <a:r>
              <a:rPr spc="-10" dirty="0"/>
              <a:t>Scope</a:t>
            </a:r>
          </a:p>
        </p:txBody>
      </p:sp>
      <p:sp>
        <p:nvSpPr>
          <p:cNvPr id="3" name="object 3"/>
          <p:cNvSpPr txBox="1"/>
          <p:nvPr/>
        </p:nvSpPr>
        <p:spPr>
          <a:xfrm>
            <a:off x="1539366" y="1821560"/>
            <a:ext cx="10044430" cy="4589077"/>
          </a:xfrm>
          <a:prstGeom prst="rect">
            <a:avLst/>
          </a:prstGeom>
        </p:spPr>
        <p:txBody>
          <a:bodyPr vert="horz" wrap="square" lIns="0" tIns="53975" rIns="0" bIns="0" rtlCol="0">
            <a:spAutoFit/>
          </a:bodyPr>
          <a:lstStyle/>
          <a:p>
            <a:pPr marL="241300" marR="682625" indent="-228600">
              <a:lnSpc>
                <a:spcPts val="2590"/>
              </a:lnSpc>
              <a:spcBef>
                <a:spcPts val="425"/>
              </a:spcBef>
              <a:buClr>
                <a:srgbClr val="F5821F"/>
              </a:buClr>
              <a:buFont typeface="Arial"/>
              <a:buChar char="•"/>
              <a:tabLst>
                <a:tab pos="241300" algn="l"/>
              </a:tabLst>
            </a:pPr>
            <a:r>
              <a:rPr sz="2400" dirty="0">
                <a:latin typeface="Calibri"/>
                <a:cs typeface="Calibri"/>
              </a:rPr>
              <a:t>Scope</a:t>
            </a:r>
            <a:r>
              <a:rPr sz="2400" spc="-50" dirty="0">
                <a:latin typeface="Calibri"/>
                <a:cs typeface="Calibri"/>
              </a:rPr>
              <a:t> </a:t>
            </a:r>
            <a:r>
              <a:rPr sz="2400" dirty="0">
                <a:latin typeface="Calibri"/>
                <a:cs typeface="Calibri"/>
              </a:rPr>
              <a:t>control</a:t>
            </a:r>
            <a:r>
              <a:rPr sz="2400" spc="-65" dirty="0">
                <a:latin typeface="Calibri"/>
                <a:cs typeface="Calibri"/>
              </a:rPr>
              <a:t> </a:t>
            </a:r>
            <a:r>
              <a:rPr sz="2400" dirty="0">
                <a:latin typeface="Calibri"/>
                <a:cs typeface="Calibri"/>
              </a:rPr>
              <a:t>involves</a:t>
            </a:r>
            <a:r>
              <a:rPr sz="2400" spc="-40" dirty="0">
                <a:latin typeface="Calibri"/>
                <a:cs typeface="Calibri"/>
              </a:rPr>
              <a:t> </a:t>
            </a:r>
            <a:r>
              <a:rPr sz="2400" u="sng" dirty="0">
                <a:uFill>
                  <a:solidFill>
                    <a:srgbClr val="000000"/>
                  </a:solidFill>
                </a:uFill>
                <a:latin typeface="Calibri"/>
                <a:cs typeface="Calibri"/>
              </a:rPr>
              <a:t>testing</a:t>
            </a:r>
            <a:r>
              <a:rPr sz="2400" spc="-65" dirty="0">
                <a:latin typeface="Calibri"/>
                <a:cs typeface="Calibri"/>
              </a:rPr>
              <a:t> </a:t>
            </a:r>
            <a:r>
              <a:rPr sz="2400" dirty="0">
                <a:latin typeface="Calibri"/>
                <a:cs typeface="Calibri"/>
              </a:rPr>
              <a:t>(</a:t>
            </a:r>
            <a:r>
              <a:rPr lang="en-NZ" sz="2400" dirty="0">
                <a:latin typeface="Calibri"/>
                <a:cs typeface="Calibri"/>
              </a:rPr>
              <a:t>producing</a:t>
            </a:r>
            <a:r>
              <a:rPr sz="2400" spc="-60" dirty="0">
                <a:latin typeface="Calibri"/>
                <a:cs typeface="Calibri"/>
              </a:rPr>
              <a:t> </a:t>
            </a:r>
            <a:r>
              <a:rPr sz="2400" dirty="0">
                <a:latin typeface="Calibri"/>
                <a:cs typeface="Calibri"/>
              </a:rPr>
              <a:t>various</a:t>
            </a:r>
            <a:r>
              <a:rPr sz="2400" spc="-50" dirty="0">
                <a:latin typeface="Calibri"/>
                <a:cs typeface="Calibri"/>
              </a:rPr>
              <a:t> </a:t>
            </a:r>
            <a:r>
              <a:rPr sz="2400" dirty="0">
                <a:latin typeface="Calibri"/>
                <a:cs typeface="Calibri"/>
              </a:rPr>
              <a:t>m</a:t>
            </a:r>
            <a:r>
              <a:rPr lang="en-NZ" sz="2400" dirty="0">
                <a:latin typeface="Calibri"/>
                <a:cs typeface="Calibri"/>
              </a:rPr>
              <a:t>e</a:t>
            </a:r>
            <a:r>
              <a:rPr sz="2400" dirty="0" err="1">
                <a:latin typeface="Calibri"/>
                <a:cs typeface="Calibri"/>
              </a:rPr>
              <a:t>trics</a:t>
            </a:r>
            <a:r>
              <a:rPr sz="2400" spc="-75" dirty="0">
                <a:latin typeface="Calibri"/>
                <a:cs typeface="Calibri"/>
              </a:rPr>
              <a:t> </a:t>
            </a:r>
            <a:r>
              <a:rPr sz="2400" dirty="0">
                <a:latin typeface="Calibri"/>
                <a:cs typeface="Calibri"/>
              </a:rPr>
              <a:t>-</a:t>
            </a:r>
            <a:r>
              <a:rPr sz="2400" spc="-55" dirty="0">
                <a:latin typeface="Calibri"/>
                <a:cs typeface="Calibri"/>
              </a:rPr>
              <a:t> </a:t>
            </a:r>
            <a:r>
              <a:rPr sz="2400" dirty="0">
                <a:latin typeface="Calibri"/>
                <a:cs typeface="Calibri"/>
              </a:rPr>
              <a:t>bug</a:t>
            </a:r>
            <a:r>
              <a:rPr sz="2400" spc="-50" dirty="0">
                <a:latin typeface="Calibri"/>
                <a:cs typeface="Calibri"/>
              </a:rPr>
              <a:t> </a:t>
            </a:r>
            <a:r>
              <a:rPr lang="en-NZ" sz="2400" dirty="0">
                <a:latin typeface="Calibri"/>
                <a:cs typeface="Calibri"/>
              </a:rPr>
              <a:t>reports</a:t>
            </a:r>
            <a:r>
              <a:rPr sz="2400" dirty="0">
                <a:latin typeface="Calibri"/>
                <a:cs typeface="Calibri"/>
              </a:rPr>
              <a:t>)</a:t>
            </a:r>
            <a:r>
              <a:rPr sz="2400" spc="-45" dirty="0">
                <a:latin typeface="Calibri"/>
                <a:cs typeface="Calibri"/>
              </a:rPr>
              <a:t> </a:t>
            </a:r>
            <a:r>
              <a:rPr sz="2400" spc="-25" dirty="0">
                <a:latin typeface="Calibri"/>
                <a:cs typeface="Calibri"/>
              </a:rPr>
              <a:t>and </a:t>
            </a:r>
            <a:r>
              <a:rPr sz="2400" u="sng" dirty="0">
                <a:uFill>
                  <a:solidFill>
                    <a:srgbClr val="000000"/>
                  </a:solidFill>
                </a:uFill>
                <a:latin typeface="Calibri"/>
                <a:cs typeface="Calibri"/>
              </a:rPr>
              <a:t>controlling</a:t>
            </a:r>
            <a:r>
              <a:rPr sz="2400" u="sng" spc="-75" dirty="0">
                <a:uFill>
                  <a:solidFill>
                    <a:srgbClr val="000000"/>
                  </a:solidFill>
                </a:uFill>
                <a:latin typeface="Calibri"/>
                <a:cs typeface="Calibri"/>
              </a:rPr>
              <a:t> </a:t>
            </a:r>
            <a:r>
              <a:rPr sz="2400" u="sng" dirty="0">
                <a:uFill>
                  <a:solidFill>
                    <a:srgbClr val="000000"/>
                  </a:solidFill>
                </a:uFill>
                <a:latin typeface="Calibri"/>
                <a:cs typeface="Calibri"/>
              </a:rPr>
              <a:t>changes</a:t>
            </a:r>
            <a:r>
              <a:rPr sz="2400" spc="-50" dirty="0">
                <a:latin typeface="Calibri"/>
                <a:cs typeface="Calibri"/>
              </a:rPr>
              <a:t> </a:t>
            </a:r>
            <a:r>
              <a:rPr sz="2400" dirty="0">
                <a:latin typeface="Calibri"/>
                <a:cs typeface="Calibri"/>
              </a:rPr>
              <a:t>to</a:t>
            </a:r>
            <a:r>
              <a:rPr sz="2400" spc="-65" dirty="0">
                <a:latin typeface="Calibri"/>
                <a:cs typeface="Calibri"/>
              </a:rPr>
              <a:t> </a:t>
            </a:r>
            <a:r>
              <a:rPr sz="2400" dirty="0">
                <a:latin typeface="Calibri"/>
                <a:cs typeface="Calibri"/>
              </a:rPr>
              <a:t>the</a:t>
            </a:r>
            <a:r>
              <a:rPr sz="2400" spc="-40" dirty="0">
                <a:latin typeface="Calibri"/>
                <a:cs typeface="Calibri"/>
              </a:rPr>
              <a:t> </a:t>
            </a:r>
            <a:r>
              <a:rPr sz="2400" dirty="0">
                <a:latin typeface="Calibri"/>
                <a:cs typeface="Calibri"/>
              </a:rPr>
              <a:t>project</a:t>
            </a:r>
            <a:r>
              <a:rPr sz="2400" spc="-55" dirty="0">
                <a:latin typeface="Calibri"/>
                <a:cs typeface="Calibri"/>
              </a:rPr>
              <a:t> </a:t>
            </a:r>
            <a:r>
              <a:rPr sz="2400" spc="-10" dirty="0">
                <a:latin typeface="Calibri"/>
                <a:cs typeface="Calibri"/>
              </a:rPr>
              <a:t>scope</a:t>
            </a:r>
            <a:endParaRPr sz="2400" dirty="0">
              <a:latin typeface="Calibri"/>
              <a:cs typeface="Calibri"/>
            </a:endParaRPr>
          </a:p>
          <a:p>
            <a:pPr marL="241300" marR="559435" indent="-228600">
              <a:lnSpc>
                <a:spcPts val="2590"/>
              </a:lnSpc>
              <a:spcBef>
                <a:spcPts val="1015"/>
              </a:spcBef>
              <a:buClr>
                <a:srgbClr val="F5821F"/>
              </a:buClr>
              <a:buFont typeface="Arial"/>
              <a:buChar char="•"/>
              <a:tabLst>
                <a:tab pos="241300" algn="l"/>
              </a:tabLst>
            </a:pPr>
            <a:r>
              <a:rPr sz="2400" dirty="0">
                <a:latin typeface="Calibri"/>
                <a:cs typeface="Calibri"/>
              </a:rPr>
              <a:t>Formal</a:t>
            </a:r>
            <a:r>
              <a:rPr sz="2400" spc="-60" dirty="0">
                <a:latin typeface="Calibri"/>
                <a:cs typeface="Calibri"/>
              </a:rPr>
              <a:t> </a:t>
            </a:r>
            <a:r>
              <a:rPr sz="2400" dirty="0">
                <a:latin typeface="Calibri"/>
                <a:cs typeface="Calibri"/>
              </a:rPr>
              <a:t>testing</a:t>
            </a:r>
            <a:r>
              <a:rPr sz="2400" spc="-60" dirty="0">
                <a:latin typeface="Calibri"/>
                <a:cs typeface="Calibri"/>
              </a:rPr>
              <a:t> </a:t>
            </a:r>
            <a:r>
              <a:rPr sz="2400" dirty="0">
                <a:latin typeface="Calibri"/>
                <a:cs typeface="Calibri"/>
              </a:rPr>
              <a:t>(unit,</a:t>
            </a:r>
            <a:r>
              <a:rPr sz="2400" spc="-35" dirty="0">
                <a:latin typeface="Calibri"/>
                <a:cs typeface="Calibri"/>
              </a:rPr>
              <a:t> </a:t>
            </a:r>
            <a:r>
              <a:rPr sz="2400" spc="-10" dirty="0">
                <a:latin typeface="Calibri"/>
                <a:cs typeface="Calibri"/>
              </a:rPr>
              <a:t>integration,</a:t>
            </a:r>
            <a:r>
              <a:rPr sz="2400" spc="-65" dirty="0">
                <a:latin typeface="Calibri"/>
                <a:cs typeface="Calibri"/>
              </a:rPr>
              <a:t> </a:t>
            </a:r>
            <a:r>
              <a:rPr sz="2400" spc="-10" dirty="0">
                <a:latin typeface="Calibri"/>
                <a:cs typeface="Calibri"/>
              </a:rPr>
              <a:t>systems</a:t>
            </a:r>
            <a:r>
              <a:rPr sz="2400" spc="-45" dirty="0">
                <a:latin typeface="Calibri"/>
                <a:cs typeface="Calibri"/>
              </a:rPr>
              <a:t> </a:t>
            </a:r>
            <a:r>
              <a:rPr sz="2400" dirty="0">
                <a:latin typeface="Calibri"/>
                <a:cs typeface="Calibri"/>
              </a:rPr>
              <a:t>&amp;</a:t>
            </a:r>
            <a:r>
              <a:rPr sz="2400" spc="-40" dirty="0">
                <a:latin typeface="Calibri"/>
                <a:cs typeface="Calibri"/>
              </a:rPr>
              <a:t> </a:t>
            </a:r>
            <a:r>
              <a:rPr sz="2400" dirty="0">
                <a:latin typeface="Calibri"/>
                <a:cs typeface="Calibri"/>
              </a:rPr>
              <a:t>usability</a:t>
            </a:r>
            <a:r>
              <a:rPr sz="2400" spc="-40" dirty="0">
                <a:latin typeface="Calibri"/>
                <a:cs typeface="Calibri"/>
              </a:rPr>
              <a:t> </a:t>
            </a:r>
            <a:r>
              <a:rPr sz="2400" dirty="0">
                <a:latin typeface="Calibri"/>
                <a:cs typeface="Calibri"/>
              </a:rPr>
              <a:t>testing)</a:t>
            </a:r>
            <a:r>
              <a:rPr sz="2400" spc="-60" dirty="0">
                <a:latin typeface="Calibri"/>
                <a:cs typeface="Calibri"/>
              </a:rPr>
              <a:t> </a:t>
            </a:r>
            <a:r>
              <a:rPr sz="2400" dirty="0">
                <a:latin typeface="Calibri"/>
                <a:cs typeface="Calibri"/>
              </a:rPr>
              <a:t>and</a:t>
            </a:r>
            <a:r>
              <a:rPr sz="2400" spc="-25" dirty="0">
                <a:latin typeface="Calibri"/>
                <a:cs typeface="Calibri"/>
              </a:rPr>
              <a:t> </a:t>
            </a:r>
            <a:r>
              <a:rPr sz="2400" dirty="0">
                <a:latin typeface="Calibri"/>
                <a:cs typeface="Calibri"/>
              </a:rPr>
              <a:t>testing</a:t>
            </a:r>
            <a:r>
              <a:rPr sz="2400" spc="-60" dirty="0">
                <a:latin typeface="Calibri"/>
                <a:cs typeface="Calibri"/>
              </a:rPr>
              <a:t> </a:t>
            </a:r>
            <a:r>
              <a:rPr sz="2400" spc="-25" dirty="0">
                <a:latin typeface="Calibri"/>
                <a:cs typeface="Calibri"/>
              </a:rPr>
              <a:t>by </a:t>
            </a:r>
            <a:r>
              <a:rPr sz="2400" dirty="0">
                <a:latin typeface="Calibri"/>
                <a:cs typeface="Calibri"/>
              </a:rPr>
              <a:t>customer</a:t>
            </a:r>
            <a:r>
              <a:rPr sz="2400" spc="-75" dirty="0">
                <a:latin typeface="Calibri"/>
                <a:cs typeface="Calibri"/>
              </a:rPr>
              <a:t> </a:t>
            </a:r>
            <a:r>
              <a:rPr sz="2400" dirty="0">
                <a:latin typeface="Calibri"/>
                <a:cs typeface="Calibri"/>
              </a:rPr>
              <a:t>(acceptance</a:t>
            </a:r>
            <a:r>
              <a:rPr sz="2400" spc="-85" dirty="0">
                <a:latin typeface="Calibri"/>
                <a:cs typeface="Calibri"/>
              </a:rPr>
              <a:t> </a:t>
            </a:r>
            <a:r>
              <a:rPr sz="2400" dirty="0">
                <a:latin typeface="Calibri"/>
                <a:cs typeface="Calibri"/>
              </a:rPr>
              <a:t>testing)</a:t>
            </a:r>
            <a:r>
              <a:rPr sz="2400" spc="-70" dirty="0">
                <a:latin typeface="Calibri"/>
                <a:cs typeface="Calibri"/>
              </a:rPr>
              <a:t> </a:t>
            </a:r>
            <a:r>
              <a:rPr lang="en-NZ" sz="2400" dirty="0">
                <a:latin typeface="Calibri"/>
                <a:cs typeface="Calibri"/>
              </a:rPr>
              <a:t>validate</a:t>
            </a:r>
            <a:r>
              <a:rPr sz="2400" spc="-55" dirty="0">
                <a:latin typeface="Calibri"/>
                <a:cs typeface="Calibri"/>
              </a:rPr>
              <a:t> </a:t>
            </a:r>
            <a:r>
              <a:rPr sz="2400" dirty="0">
                <a:latin typeface="Calibri"/>
                <a:cs typeface="Calibri"/>
              </a:rPr>
              <a:t>the</a:t>
            </a:r>
            <a:r>
              <a:rPr sz="2400" spc="-50" dirty="0">
                <a:latin typeface="Calibri"/>
                <a:cs typeface="Calibri"/>
              </a:rPr>
              <a:t> </a:t>
            </a:r>
            <a:r>
              <a:rPr sz="2400" spc="-10" dirty="0">
                <a:latin typeface="Calibri"/>
                <a:cs typeface="Calibri"/>
              </a:rPr>
              <a:t>scope</a:t>
            </a:r>
            <a:endParaRPr lang="en-NZ" sz="2400" spc="-10" dirty="0">
              <a:latin typeface="Calibri"/>
              <a:cs typeface="Calibri"/>
            </a:endParaRPr>
          </a:p>
          <a:p>
            <a:pPr marL="241300" marR="559435" indent="-228600">
              <a:lnSpc>
                <a:spcPts val="2590"/>
              </a:lnSpc>
              <a:spcBef>
                <a:spcPts val="1015"/>
              </a:spcBef>
              <a:buClr>
                <a:srgbClr val="F5821F"/>
              </a:buClr>
              <a:buFont typeface="Arial"/>
              <a:buChar char="•"/>
              <a:tabLst>
                <a:tab pos="241300" algn="l"/>
              </a:tabLst>
            </a:pPr>
            <a:r>
              <a:rPr lang="en-NZ" sz="2400" spc="-10" dirty="0">
                <a:highlight>
                  <a:srgbClr val="FFFF00"/>
                </a:highlight>
                <a:latin typeface="Calibri"/>
                <a:cs typeface="Calibri"/>
              </a:rPr>
              <a:t>In assignment one, testing is done throughout- feedback by Product manager/product owner and  usability testing </a:t>
            </a:r>
            <a:endParaRPr sz="2400" dirty="0">
              <a:highlight>
                <a:srgbClr val="FFFF00"/>
              </a:highlight>
              <a:latin typeface="Calibri"/>
              <a:cs typeface="Calibri"/>
            </a:endParaRPr>
          </a:p>
          <a:p>
            <a:pPr marL="240665" indent="-227965">
              <a:lnSpc>
                <a:spcPct val="100000"/>
              </a:lnSpc>
              <a:spcBef>
                <a:spcPts val="675"/>
              </a:spcBef>
              <a:buClr>
                <a:srgbClr val="F5821F"/>
              </a:buClr>
              <a:buFont typeface="Arial"/>
              <a:buChar char="•"/>
              <a:tabLst>
                <a:tab pos="240665" algn="l"/>
              </a:tabLst>
            </a:pPr>
            <a:r>
              <a:rPr sz="2400" dirty="0">
                <a:latin typeface="Calibri"/>
                <a:cs typeface="Calibri"/>
              </a:rPr>
              <a:t>Goals</a:t>
            </a:r>
            <a:r>
              <a:rPr sz="2400" spc="-5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scope</a:t>
            </a:r>
            <a:r>
              <a:rPr sz="2400" spc="-45" dirty="0">
                <a:latin typeface="Calibri"/>
                <a:cs typeface="Calibri"/>
              </a:rPr>
              <a:t> </a:t>
            </a:r>
            <a:r>
              <a:rPr sz="2400" dirty="0">
                <a:latin typeface="Calibri"/>
                <a:cs typeface="Calibri"/>
              </a:rPr>
              <a:t>control</a:t>
            </a:r>
            <a:r>
              <a:rPr sz="2400" spc="-55" dirty="0">
                <a:latin typeface="Calibri"/>
                <a:cs typeface="Calibri"/>
              </a:rPr>
              <a:t> </a:t>
            </a:r>
            <a:r>
              <a:rPr sz="2400" dirty="0">
                <a:latin typeface="Calibri"/>
                <a:cs typeface="Calibri"/>
              </a:rPr>
              <a:t>are</a:t>
            </a:r>
            <a:r>
              <a:rPr sz="2400" spc="-55" dirty="0">
                <a:latin typeface="Calibri"/>
                <a:cs typeface="Calibri"/>
              </a:rPr>
              <a:t> </a:t>
            </a:r>
            <a:r>
              <a:rPr sz="2400" spc="-25" dirty="0">
                <a:latin typeface="Calibri"/>
                <a:cs typeface="Calibri"/>
              </a:rPr>
              <a:t>to:</a:t>
            </a:r>
            <a:endParaRPr sz="2400" dirty="0">
              <a:latin typeface="Calibri"/>
              <a:cs typeface="Calibri"/>
            </a:endParaRPr>
          </a:p>
          <a:p>
            <a:pPr marL="698500" marR="5080" lvl="1" indent="-228600">
              <a:lnSpc>
                <a:spcPts val="2590"/>
              </a:lnSpc>
              <a:spcBef>
                <a:spcPts val="545"/>
              </a:spcBef>
              <a:buClr>
                <a:srgbClr val="F5821F"/>
              </a:buClr>
              <a:buFont typeface="Arial"/>
              <a:buChar char="•"/>
              <a:tabLst>
                <a:tab pos="698500" algn="l"/>
              </a:tabLst>
            </a:pPr>
            <a:r>
              <a:rPr sz="2400" dirty="0">
                <a:latin typeface="Calibri"/>
                <a:cs typeface="Calibri"/>
              </a:rPr>
              <a:t>assure</a:t>
            </a:r>
            <a:r>
              <a:rPr sz="2400" spc="-40" dirty="0">
                <a:latin typeface="Calibri"/>
                <a:cs typeface="Calibri"/>
              </a:rPr>
              <a:t> </a:t>
            </a:r>
            <a:r>
              <a:rPr sz="2400" dirty="0">
                <a:latin typeface="Calibri"/>
                <a:cs typeface="Calibri"/>
              </a:rPr>
              <a:t>changes</a:t>
            </a:r>
            <a:r>
              <a:rPr sz="2400" spc="-45" dirty="0">
                <a:latin typeface="Calibri"/>
                <a:cs typeface="Calibri"/>
              </a:rPr>
              <a:t> </a:t>
            </a:r>
            <a:r>
              <a:rPr sz="2400" dirty="0">
                <a:latin typeface="Calibri"/>
                <a:cs typeface="Calibri"/>
              </a:rPr>
              <a:t>are</a:t>
            </a:r>
            <a:r>
              <a:rPr sz="2400" spc="-40" dirty="0">
                <a:latin typeface="Calibri"/>
                <a:cs typeface="Calibri"/>
              </a:rPr>
              <a:t> </a:t>
            </a:r>
            <a:r>
              <a:rPr sz="2400" dirty="0">
                <a:latin typeface="Calibri"/>
                <a:cs typeface="Calibri"/>
              </a:rPr>
              <a:t>processed</a:t>
            </a:r>
            <a:r>
              <a:rPr sz="2400" spc="-50" dirty="0">
                <a:latin typeface="Calibri"/>
                <a:cs typeface="Calibri"/>
              </a:rPr>
              <a:t> </a:t>
            </a:r>
            <a:r>
              <a:rPr sz="2400" dirty="0">
                <a:latin typeface="Calibri"/>
                <a:cs typeface="Calibri"/>
              </a:rPr>
              <a:t>according</a:t>
            </a:r>
            <a:r>
              <a:rPr sz="2400" spc="-60"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procedures</a:t>
            </a:r>
            <a:r>
              <a:rPr sz="2400" spc="-40" dirty="0">
                <a:latin typeface="Calibri"/>
                <a:cs typeface="Calibri"/>
              </a:rPr>
              <a:t> </a:t>
            </a:r>
            <a:r>
              <a:rPr sz="2400" dirty="0">
                <a:latin typeface="Calibri"/>
                <a:cs typeface="Calibri"/>
              </a:rPr>
              <a:t>developed</a:t>
            </a:r>
            <a:r>
              <a:rPr sz="2400" spc="-30" dirty="0">
                <a:latin typeface="Calibri"/>
                <a:cs typeface="Calibri"/>
              </a:rPr>
              <a:t> </a:t>
            </a:r>
            <a:r>
              <a:rPr sz="2400" dirty="0">
                <a:latin typeface="Calibri"/>
                <a:cs typeface="Calibri"/>
              </a:rPr>
              <a:t>as</a:t>
            </a:r>
            <a:r>
              <a:rPr sz="2400" spc="-45" dirty="0">
                <a:latin typeface="Calibri"/>
                <a:cs typeface="Calibri"/>
              </a:rPr>
              <a:t> </a:t>
            </a:r>
            <a:r>
              <a:rPr sz="2400" dirty="0">
                <a:latin typeface="Calibri"/>
                <a:cs typeface="Calibri"/>
              </a:rPr>
              <a:t>part</a:t>
            </a:r>
            <a:r>
              <a:rPr sz="2400" spc="-50" dirty="0">
                <a:latin typeface="Calibri"/>
                <a:cs typeface="Calibri"/>
              </a:rPr>
              <a:t> </a:t>
            </a:r>
            <a:r>
              <a:rPr sz="2400" spc="-25" dirty="0">
                <a:latin typeface="Calibri"/>
                <a:cs typeface="Calibri"/>
              </a:rPr>
              <a:t>of </a:t>
            </a:r>
            <a:r>
              <a:rPr sz="2400" spc="-10" dirty="0">
                <a:latin typeface="Calibri"/>
                <a:cs typeface="Calibri"/>
              </a:rPr>
              <a:t>integrated</a:t>
            </a:r>
            <a:r>
              <a:rPr sz="2400" spc="-75" dirty="0">
                <a:latin typeface="Calibri"/>
                <a:cs typeface="Calibri"/>
              </a:rPr>
              <a:t> </a:t>
            </a:r>
            <a:r>
              <a:rPr sz="2400" dirty="0">
                <a:latin typeface="Calibri"/>
                <a:cs typeface="Calibri"/>
              </a:rPr>
              <a:t>change</a:t>
            </a:r>
            <a:r>
              <a:rPr sz="2400" spc="-70" dirty="0">
                <a:latin typeface="Calibri"/>
                <a:cs typeface="Calibri"/>
              </a:rPr>
              <a:t> </a:t>
            </a:r>
            <a:r>
              <a:rPr sz="2400" dirty="0">
                <a:latin typeface="Calibri"/>
                <a:cs typeface="Calibri"/>
              </a:rPr>
              <a:t>control,</a:t>
            </a:r>
            <a:r>
              <a:rPr sz="2400" spc="-75" dirty="0">
                <a:latin typeface="Calibri"/>
                <a:cs typeface="Calibri"/>
              </a:rPr>
              <a:t> </a:t>
            </a:r>
            <a:r>
              <a:rPr sz="2400" spc="-25" dirty="0">
                <a:latin typeface="Calibri"/>
                <a:cs typeface="Calibri"/>
              </a:rPr>
              <a:t>and</a:t>
            </a:r>
            <a:endParaRPr sz="2400" dirty="0">
              <a:latin typeface="Calibri"/>
              <a:cs typeface="Calibri"/>
            </a:endParaRPr>
          </a:p>
          <a:p>
            <a:pPr marL="697865" lvl="1" indent="-227965">
              <a:lnSpc>
                <a:spcPct val="100000"/>
              </a:lnSpc>
              <a:spcBef>
                <a:spcPts val="170"/>
              </a:spcBef>
              <a:buClr>
                <a:srgbClr val="F5821F"/>
              </a:buClr>
              <a:buFont typeface="Arial"/>
              <a:buChar char="•"/>
              <a:tabLst>
                <a:tab pos="697865" algn="l"/>
              </a:tabLst>
            </a:pPr>
            <a:r>
              <a:rPr sz="2400" dirty="0">
                <a:latin typeface="Calibri"/>
                <a:cs typeface="Calibri"/>
              </a:rPr>
              <a:t>manage</a:t>
            </a:r>
            <a:r>
              <a:rPr sz="2400" spc="-30" dirty="0">
                <a:latin typeface="Calibri"/>
                <a:cs typeface="Calibri"/>
              </a:rPr>
              <a:t> </a:t>
            </a:r>
            <a:r>
              <a:rPr sz="2400" dirty="0">
                <a:latin typeface="Calibri"/>
                <a:cs typeface="Calibri"/>
              </a:rPr>
              <a:t>changes</a:t>
            </a:r>
            <a:r>
              <a:rPr sz="2400" spc="-25" dirty="0">
                <a:latin typeface="Calibri"/>
                <a:cs typeface="Calibri"/>
              </a:rPr>
              <a:t> </a:t>
            </a:r>
            <a:r>
              <a:rPr sz="2400" dirty="0">
                <a:latin typeface="Calibri"/>
                <a:cs typeface="Calibri"/>
              </a:rPr>
              <a:t>when</a:t>
            </a:r>
            <a:r>
              <a:rPr sz="2400" spc="-20" dirty="0">
                <a:latin typeface="Calibri"/>
                <a:cs typeface="Calibri"/>
              </a:rPr>
              <a:t> </a:t>
            </a:r>
            <a:r>
              <a:rPr sz="2400" dirty="0">
                <a:latin typeface="Calibri"/>
                <a:cs typeface="Calibri"/>
              </a:rPr>
              <a:t>they</a:t>
            </a:r>
            <a:r>
              <a:rPr sz="2400" spc="-35" dirty="0">
                <a:latin typeface="Calibri"/>
                <a:cs typeface="Calibri"/>
              </a:rPr>
              <a:t> </a:t>
            </a:r>
            <a:r>
              <a:rPr sz="2400" dirty="0">
                <a:latin typeface="Calibri"/>
                <a:cs typeface="Calibri"/>
              </a:rPr>
              <a:t>occur;</a:t>
            </a:r>
            <a:r>
              <a:rPr sz="2400" spc="-35" dirty="0">
                <a:latin typeface="Calibri"/>
                <a:cs typeface="Calibri"/>
              </a:rPr>
              <a:t> </a:t>
            </a:r>
            <a:r>
              <a:rPr sz="2400" dirty="0">
                <a:latin typeface="Calibri"/>
                <a:cs typeface="Calibri"/>
              </a:rPr>
              <a:t>need</a:t>
            </a:r>
            <a:r>
              <a:rPr sz="2400" spc="-25" dirty="0">
                <a:latin typeface="Calibri"/>
                <a:cs typeface="Calibri"/>
              </a:rPr>
              <a:t> </a:t>
            </a:r>
            <a:r>
              <a:rPr sz="2400" dirty="0">
                <a:latin typeface="Calibri"/>
                <a:cs typeface="Calibri"/>
              </a:rPr>
              <a:t>to</a:t>
            </a:r>
            <a:r>
              <a:rPr sz="2400" spc="-25" dirty="0">
                <a:latin typeface="Calibri"/>
                <a:cs typeface="Calibri"/>
              </a:rPr>
              <a:t> </a:t>
            </a:r>
            <a:r>
              <a:rPr sz="2400" dirty="0">
                <a:latin typeface="Calibri"/>
                <a:cs typeface="Calibri"/>
              </a:rPr>
              <a:t>have</a:t>
            </a:r>
            <a:r>
              <a:rPr sz="2400" spc="-20" dirty="0">
                <a:latin typeface="Calibri"/>
                <a:cs typeface="Calibri"/>
              </a:rPr>
              <a:t> </a:t>
            </a:r>
            <a:r>
              <a:rPr sz="2400" dirty="0">
                <a:latin typeface="Calibri"/>
                <a:cs typeface="Calibri"/>
              </a:rPr>
              <a:t>the</a:t>
            </a:r>
            <a:r>
              <a:rPr sz="2400" spc="-25" dirty="0">
                <a:latin typeface="Calibri"/>
                <a:cs typeface="Calibri"/>
              </a:rPr>
              <a:t> </a:t>
            </a:r>
            <a:r>
              <a:rPr sz="2400" spc="-10" dirty="0">
                <a:latin typeface="Calibri"/>
                <a:cs typeface="Calibri"/>
              </a:rPr>
              <a:t>following</a:t>
            </a:r>
            <a:endParaRPr sz="2400" dirty="0">
              <a:latin typeface="Calibri"/>
              <a:cs typeface="Calibri"/>
            </a:endParaRPr>
          </a:p>
          <a:p>
            <a:pPr marL="1155700" lvl="2" indent="-228600">
              <a:lnSpc>
                <a:spcPct val="100000"/>
              </a:lnSpc>
              <a:spcBef>
                <a:spcPts val="290"/>
              </a:spcBef>
              <a:buClr>
                <a:srgbClr val="F5821F"/>
              </a:buClr>
              <a:buFont typeface="Arial"/>
              <a:buChar char="•"/>
              <a:tabLst>
                <a:tab pos="1155700" algn="l"/>
              </a:tabLst>
            </a:pPr>
            <a:r>
              <a:rPr sz="2000" b="1" dirty="0">
                <a:latin typeface="Calibri"/>
                <a:cs typeface="Calibri"/>
              </a:rPr>
              <a:t>Change</a:t>
            </a:r>
            <a:r>
              <a:rPr sz="2000" b="1" spc="-40" dirty="0">
                <a:latin typeface="Calibri"/>
                <a:cs typeface="Calibri"/>
              </a:rPr>
              <a:t> </a:t>
            </a:r>
            <a:r>
              <a:rPr sz="2000" b="1" dirty="0">
                <a:latin typeface="Calibri"/>
                <a:cs typeface="Calibri"/>
              </a:rPr>
              <a:t>Management</a:t>
            </a:r>
            <a:r>
              <a:rPr sz="2000" b="1" spc="-30" dirty="0">
                <a:latin typeface="Calibri"/>
                <a:cs typeface="Calibri"/>
              </a:rPr>
              <a:t> </a:t>
            </a:r>
            <a:r>
              <a:rPr sz="2000" b="1" dirty="0">
                <a:latin typeface="Calibri"/>
                <a:cs typeface="Calibri"/>
              </a:rPr>
              <a:t>Plan</a:t>
            </a:r>
            <a:r>
              <a:rPr sz="2000" b="1" spc="-55" dirty="0">
                <a:latin typeface="Calibri"/>
                <a:cs typeface="Calibri"/>
              </a:rPr>
              <a:t> </a:t>
            </a:r>
            <a:r>
              <a:rPr sz="2000" b="1" dirty="0">
                <a:latin typeface="Calibri"/>
                <a:cs typeface="Calibri"/>
              </a:rPr>
              <a:t>(see</a:t>
            </a:r>
            <a:r>
              <a:rPr sz="2000" b="1" spc="-30" dirty="0">
                <a:latin typeface="Calibri"/>
                <a:cs typeface="Calibri"/>
              </a:rPr>
              <a:t> </a:t>
            </a:r>
            <a:r>
              <a:rPr sz="2000" b="1" dirty="0">
                <a:latin typeface="Calibri"/>
                <a:cs typeface="Calibri"/>
              </a:rPr>
              <a:t>the</a:t>
            </a:r>
            <a:r>
              <a:rPr sz="2000" b="1" spc="-35" dirty="0">
                <a:latin typeface="Calibri"/>
                <a:cs typeface="Calibri"/>
              </a:rPr>
              <a:t> </a:t>
            </a:r>
            <a:r>
              <a:rPr sz="2000" b="1" spc="-10" dirty="0">
                <a:latin typeface="Calibri"/>
                <a:cs typeface="Calibri"/>
              </a:rPr>
              <a:t>template)</a:t>
            </a:r>
            <a:endParaRPr sz="2000" dirty="0">
              <a:latin typeface="Calibri"/>
              <a:cs typeface="Calibri"/>
            </a:endParaRPr>
          </a:p>
          <a:p>
            <a:pPr marL="1155700" lvl="2" indent="-228600">
              <a:lnSpc>
                <a:spcPct val="100000"/>
              </a:lnSpc>
              <a:spcBef>
                <a:spcPts val="254"/>
              </a:spcBef>
              <a:buClr>
                <a:srgbClr val="F5821F"/>
              </a:buClr>
              <a:buFont typeface="Arial"/>
              <a:buChar char="•"/>
              <a:tabLst>
                <a:tab pos="1155700" algn="l"/>
              </a:tabLst>
            </a:pPr>
            <a:r>
              <a:rPr sz="2000" b="1" dirty="0">
                <a:latin typeface="Calibri"/>
                <a:cs typeface="Calibri"/>
              </a:rPr>
              <a:t>Change</a:t>
            </a:r>
            <a:r>
              <a:rPr sz="2000" b="1" spc="-45" dirty="0">
                <a:latin typeface="Calibri"/>
                <a:cs typeface="Calibri"/>
              </a:rPr>
              <a:t> </a:t>
            </a:r>
            <a:r>
              <a:rPr sz="2000" b="1" dirty="0">
                <a:latin typeface="Calibri"/>
                <a:cs typeface="Calibri"/>
              </a:rPr>
              <a:t>Request</a:t>
            </a:r>
            <a:r>
              <a:rPr sz="2000" b="1" spc="-45" dirty="0">
                <a:latin typeface="Calibri"/>
                <a:cs typeface="Calibri"/>
              </a:rPr>
              <a:t> </a:t>
            </a:r>
            <a:r>
              <a:rPr sz="2000" b="1" dirty="0">
                <a:latin typeface="Calibri"/>
                <a:cs typeface="Calibri"/>
              </a:rPr>
              <a:t>Form</a:t>
            </a:r>
            <a:r>
              <a:rPr sz="2000" b="1" spc="-50" dirty="0">
                <a:latin typeface="Calibri"/>
                <a:cs typeface="Calibri"/>
              </a:rPr>
              <a:t> </a:t>
            </a:r>
            <a:r>
              <a:rPr sz="2000" b="1" dirty="0">
                <a:latin typeface="Calibri"/>
                <a:cs typeface="Calibri"/>
              </a:rPr>
              <a:t>(see</a:t>
            </a:r>
            <a:r>
              <a:rPr sz="2000" b="1" spc="-30" dirty="0">
                <a:latin typeface="Calibri"/>
                <a:cs typeface="Calibri"/>
              </a:rPr>
              <a:t> </a:t>
            </a:r>
            <a:r>
              <a:rPr sz="2000" b="1" dirty="0">
                <a:latin typeface="Calibri"/>
                <a:cs typeface="Calibri"/>
              </a:rPr>
              <a:t>the</a:t>
            </a:r>
            <a:r>
              <a:rPr sz="2000" b="1" spc="-30" dirty="0">
                <a:latin typeface="Calibri"/>
                <a:cs typeface="Calibri"/>
              </a:rPr>
              <a:t> </a:t>
            </a:r>
            <a:r>
              <a:rPr sz="2000" b="1" spc="-10" dirty="0">
                <a:latin typeface="Calibri"/>
                <a:cs typeface="Calibri"/>
              </a:rPr>
              <a:t>template)</a:t>
            </a:r>
            <a:endParaRPr sz="2000" dirty="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9458" rIns="0" bIns="0" rtlCol="0">
            <a:spAutoFit/>
          </a:bodyPr>
          <a:lstStyle/>
          <a:p>
            <a:pPr marL="12700">
              <a:lnSpc>
                <a:spcPct val="100000"/>
              </a:lnSpc>
              <a:spcBef>
                <a:spcPts val="105"/>
              </a:spcBef>
            </a:pPr>
            <a:r>
              <a:rPr spc="-10" dirty="0"/>
              <a:t>Summary</a:t>
            </a:r>
          </a:p>
        </p:txBody>
      </p:sp>
      <p:sp>
        <p:nvSpPr>
          <p:cNvPr id="3" name="object 3"/>
          <p:cNvSpPr txBox="1"/>
          <p:nvPr/>
        </p:nvSpPr>
        <p:spPr>
          <a:xfrm>
            <a:off x="1539366" y="1658188"/>
            <a:ext cx="10281285" cy="4093210"/>
          </a:xfrm>
          <a:prstGeom prst="rect">
            <a:avLst/>
          </a:prstGeom>
        </p:spPr>
        <p:txBody>
          <a:bodyPr vert="horz" wrap="square" lIns="0" tIns="55244" rIns="0" bIns="0" rtlCol="0">
            <a:spAutoFit/>
          </a:bodyPr>
          <a:lstStyle/>
          <a:p>
            <a:pPr marL="241300" marR="5080" indent="-228600">
              <a:lnSpc>
                <a:spcPct val="90000"/>
              </a:lnSpc>
              <a:spcBef>
                <a:spcPts val="434"/>
              </a:spcBef>
              <a:buClr>
                <a:srgbClr val="F5821F"/>
              </a:buClr>
              <a:buFont typeface="Arial"/>
              <a:buChar char="•"/>
              <a:tabLst>
                <a:tab pos="241300" algn="l"/>
              </a:tabLst>
            </a:pPr>
            <a:r>
              <a:rPr sz="2800" dirty="0">
                <a:latin typeface="Calibri"/>
                <a:cs typeface="Calibri"/>
              </a:rPr>
              <a:t>Project</a:t>
            </a:r>
            <a:r>
              <a:rPr sz="2800" spc="-95" dirty="0">
                <a:latin typeface="Calibri"/>
                <a:cs typeface="Calibri"/>
              </a:rPr>
              <a:t> </a:t>
            </a:r>
            <a:r>
              <a:rPr sz="2800" dirty="0">
                <a:latin typeface="Calibri"/>
                <a:cs typeface="Calibri"/>
              </a:rPr>
              <a:t>scope</a:t>
            </a:r>
            <a:r>
              <a:rPr sz="2800" spc="-85" dirty="0">
                <a:latin typeface="Calibri"/>
                <a:cs typeface="Calibri"/>
              </a:rPr>
              <a:t> </a:t>
            </a:r>
            <a:r>
              <a:rPr sz="2800" spc="-10" dirty="0">
                <a:latin typeface="Calibri"/>
                <a:cs typeface="Calibri"/>
              </a:rPr>
              <a:t>management</a:t>
            </a:r>
            <a:r>
              <a:rPr sz="2800" spc="-105" dirty="0">
                <a:latin typeface="Calibri"/>
                <a:cs typeface="Calibri"/>
              </a:rPr>
              <a:t> </a:t>
            </a:r>
            <a:r>
              <a:rPr sz="2800" dirty="0">
                <a:latin typeface="Calibri"/>
                <a:cs typeface="Calibri"/>
              </a:rPr>
              <a:t>includes</a:t>
            </a:r>
            <a:r>
              <a:rPr sz="2800" spc="-85" dirty="0">
                <a:latin typeface="Calibri"/>
                <a:cs typeface="Calibri"/>
              </a:rPr>
              <a:t> </a:t>
            </a:r>
            <a:r>
              <a:rPr sz="2800" dirty="0">
                <a:latin typeface="Calibri"/>
                <a:cs typeface="Calibri"/>
              </a:rPr>
              <a:t>the</a:t>
            </a:r>
            <a:r>
              <a:rPr sz="2800" spc="-105" dirty="0">
                <a:latin typeface="Calibri"/>
                <a:cs typeface="Calibri"/>
              </a:rPr>
              <a:t> </a:t>
            </a:r>
            <a:r>
              <a:rPr sz="2800" spc="-10" dirty="0">
                <a:latin typeface="Calibri"/>
                <a:cs typeface="Calibri"/>
              </a:rPr>
              <a:t>processes</a:t>
            </a:r>
            <a:r>
              <a:rPr sz="2800" spc="-75" dirty="0">
                <a:latin typeface="Calibri"/>
                <a:cs typeface="Calibri"/>
              </a:rPr>
              <a:t> </a:t>
            </a:r>
            <a:r>
              <a:rPr sz="2800" spc="-10" dirty="0">
                <a:latin typeface="Calibri"/>
                <a:cs typeface="Calibri"/>
              </a:rPr>
              <a:t>required</a:t>
            </a:r>
            <a:r>
              <a:rPr sz="2800" spc="-85" dirty="0">
                <a:latin typeface="Calibri"/>
                <a:cs typeface="Calibri"/>
              </a:rPr>
              <a:t> </a:t>
            </a:r>
            <a:r>
              <a:rPr sz="2800" dirty="0">
                <a:latin typeface="Calibri"/>
                <a:cs typeface="Calibri"/>
              </a:rPr>
              <a:t>to</a:t>
            </a:r>
            <a:r>
              <a:rPr sz="2800" spc="-105" dirty="0">
                <a:latin typeface="Calibri"/>
                <a:cs typeface="Calibri"/>
              </a:rPr>
              <a:t> </a:t>
            </a:r>
            <a:r>
              <a:rPr sz="2800" spc="-10" dirty="0">
                <a:latin typeface="Calibri"/>
                <a:cs typeface="Calibri"/>
              </a:rPr>
              <a:t>ensure </a:t>
            </a:r>
            <a:r>
              <a:rPr sz="2800" dirty="0">
                <a:latin typeface="Calibri"/>
                <a:cs typeface="Calibri"/>
              </a:rPr>
              <a:t>that</a:t>
            </a:r>
            <a:r>
              <a:rPr sz="2800" spc="-70" dirty="0">
                <a:latin typeface="Calibri"/>
                <a:cs typeface="Calibri"/>
              </a:rPr>
              <a:t> </a:t>
            </a:r>
            <a:r>
              <a:rPr sz="2800" dirty="0">
                <a:latin typeface="Calibri"/>
                <a:cs typeface="Calibri"/>
              </a:rPr>
              <a:t>the</a:t>
            </a:r>
            <a:r>
              <a:rPr sz="2800" spc="-75" dirty="0">
                <a:latin typeface="Calibri"/>
                <a:cs typeface="Calibri"/>
              </a:rPr>
              <a:t> </a:t>
            </a:r>
            <a:r>
              <a:rPr sz="2800" dirty="0">
                <a:latin typeface="Calibri"/>
                <a:cs typeface="Calibri"/>
              </a:rPr>
              <a:t>project</a:t>
            </a:r>
            <a:r>
              <a:rPr sz="2800" spc="-55" dirty="0">
                <a:latin typeface="Calibri"/>
                <a:cs typeface="Calibri"/>
              </a:rPr>
              <a:t> </a:t>
            </a:r>
            <a:r>
              <a:rPr sz="2800" dirty="0">
                <a:latin typeface="Calibri"/>
                <a:cs typeface="Calibri"/>
              </a:rPr>
              <a:t>addresses</a:t>
            </a:r>
            <a:r>
              <a:rPr sz="2800" spc="-50" dirty="0">
                <a:latin typeface="Calibri"/>
                <a:cs typeface="Calibri"/>
              </a:rPr>
              <a:t> </a:t>
            </a:r>
            <a:r>
              <a:rPr sz="2800" dirty="0">
                <a:latin typeface="Calibri"/>
                <a:cs typeface="Calibri"/>
              </a:rPr>
              <a:t>all</a:t>
            </a:r>
            <a:r>
              <a:rPr sz="2800" spc="-80" dirty="0">
                <a:latin typeface="Calibri"/>
                <a:cs typeface="Calibri"/>
              </a:rPr>
              <a:t> </a:t>
            </a:r>
            <a:r>
              <a:rPr sz="2800" dirty="0">
                <a:latin typeface="Calibri"/>
                <a:cs typeface="Calibri"/>
              </a:rPr>
              <a:t>the</a:t>
            </a:r>
            <a:r>
              <a:rPr sz="2800" spc="-70" dirty="0">
                <a:latin typeface="Calibri"/>
                <a:cs typeface="Calibri"/>
              </a:rPr>
              <a:t> </a:t>
            </a:r>
            <a:r>
              <a:rPr sz="2800" dirty="0">
                <a:latin typeface="Calibri"/>
                <a:cs typeface="Calibri"/>
              </a:rPr>
              <a:t>work</a:t>
            </a:r>
            <a:r>
              <a:rPr sz="2800" spc="-75" dirty="0">
                <a:latin typeface="Calibri"/>
                <a:cs typeface="Calibri"/>
              </a:rPr>
              <a:t> </a:t>
            </a:r>
            <a:r>
              <a:rPr sz="2800" spc="-10" dirty="0">
                <a:latin typeface="Calibri"/>
                <a:cs typeface="Calibri"/>
              </a:rPr>
              <a:t>required,</a:t>
            </a:r>
            <a:r>
              <a:rPr sz="2800" spc="-50" dirty="0">
                <a:latin typeface="Calibri"/>
                <a:cs typeface="Calibri"/>
              </a:rPr>
              <a:t> </a:t>
            </a:r>
            <a:r>
              <a:rPr sz="2800" dirty="0">
                <a:latin typeface="Calibri"/>
                <a:cs typeface="Calibri"/>
              </a:rPr>
              <a:t>and</a:t>
            </a:r>
            <a:r>
              <a:rPr sz="2800" spc="-55" dirty="0">
                <a:latin typeface="Calibri"/>
                <a:cs typeface="Calibri"/>
              </a:rPr>
              <a:t> </a:t>
            </a:r>
            <a:r>
              <a:rPr sz="2800" dirty="0">
                <a:latin typeface="Calibri"/>
                <a:cs typeface="Calibri"/>
              </a:rPr>
              <a:t>only</a:t>
            </a:r>
            <a:r>
              <a:rPr sz="2800" spc="-70" dirty="0">
                <a:latin typeface="Calibri"/>
                <a:cs typeface="Calibri"/>
              </a:rPr>
              <a:t> </a:t>
            </a:r>
            <a:r>
              <a:rPr sz="2800" dirty="0">
                <a:latin typeface="Calibri"/>
                <a:cs typeface="Calibri"/>
              </a:rPr>
              <a:t>the</a:t>
            </a:r>
            <a:r>
              <a:rPr sz="2800" spc="-75" dirty="0">
                <a:latin typeface="Calibri"/>
                <a:cs typeface="Calibri"/>
              </a:rPr>
              <a:t> </a:t>
            </a:r>
            <a:r>
              <a:rPr sz="2800" spc="-20" dirty="0">
                <a:latin typeface="Calibri"/>
                <a:cs typeface="Calibri"/>
              </a:rPr>
              <a:t>work </a:t>
            </a:r>
            <a:r>
              <a:rPr sz="2800" spc="-10" dirty="0">
                <a:latin typeface="Calibri"/>
                <a:cs typeface="Calibri"/>
              </a:rPr>
              <a:t>required,</a:t>
            </a:r>
            <a:r>
              <a:rPr sz="2800" spc="-60" dirty="0">
                <a:latin typeface="Calibri"/>
                <a:cs typeface="Calibri"/>
              </a:rPr>
              <a:t> </a:t>
            </a:r>
            <a:r>
              <a:rPr sz="2800" dirty="0">
                <a:latin typeface="Calibri"/>
                <a:cs typeface="Calibri"/>
              </a:rPr>
              <a:t>to</a:t>
            </a:r>
            <a:r>
              <a:rPr sz="2800" spc="-90" dirty="0">
                <a:latin typeface="Calibri"/>
                <a:cs typeface="Calibri"/>
              </a:rPr>
              <a:t> </a:t>
            </a:r>
            <a:r>
              <a:rPr sz="2800" spc="-10" dirty="0">
                <a:latin typeface="Calibri"/>
                <a:cs typeface="Calibri"/>
              </a:rPr>
              <a:t>complete</a:t>
            </a:r>
            <a:r>
              <a:rPr sz="2800" spc="-85" dirty="0">
                <a:latin typeface="Calibri"/>
                <a:cs typeface="Calibri"/>
              </a:rPr>
              <a:t> </a:t>
            </a:r>
            <a:r>
              <a:rPr sz="2800" dirty="0">
                <a:latin typeface="Calibri"/>
                <a:cs typeface="Calibri"/>
              </a:rPr>
              <a:t>the</a:t>
            </a:r>
            <a:r>
              <a:rPr sz="2800" spc="-75" dirty="0">
                <a:latin typeface="Calibri"/>
                <a:cs typeface="Calibri"/>
              </a:rPr>
              <a:t> </a:t>
            </a:r>
            <a:r>
              <a:rPr sz="2800" dirty="0">
                <a:latin typeface="Calibri"/>
                <a:cs typeface="Calibri"/>
              </a:rPr>
              <a:t>project</a:t>
            </a:r>
            <a:r>
              <a:rPr sz="2800" spc="-75" dirty="0">
                <a:latin typeface="Calibri"/>
                <a:cs typeface="Calibri"/>
              </a:rPr>
              <a:t> </a:t>
            </a:r>
            <a:r>
              <a:rPr sz="2800" spc="-10" dirty="0">
                <a:latin typeface="Calibri"/>
                <a:cs typeface="Calibri"/>
              </a:rPr>
              <a:t>successfully</a:t>
            </a:r>
            <a:endParaRPr sz="2800">
              <a:latin typeface="Calibri"/>
              <a:cs typeface="Calibri"/>
            </a:endParaRPr>
          </a:p>
          <a:p>
            <a:pPr marL="240665" indent="-227965">
              <a:lnSpc>
                <a:spcPct val="100000"/>
              </a:lnSpc>
              <a:spcBef>
                <a:spcPts val="670"/>
              </a:spcBef>
              <a:buClr>
                <a:srgbClr val="F5821F"/>
              </a:buClr>
              <a:buFont typeface="Arial"/>
              <a:buChar char="•"/>
              <a:tabLst>
                <a:tab pos="240665" algn="l"/>
              </a:tabLst>
            </a:pPr>
            <a:r>
              <a:rPr sz="2800" dirty="0">
                <a:latin typeface="Calibri"/>
                <a:cs typeface="Calibri"/>
              </a:rPr>
              <a:t>Main</a:t>
            </a:r>
            <a:r>
              <a:rPr sz="2800" spc="-80" dirty="0">
                <a:latin typeface="Calibri"/>
                <a:cs typeface="Calibri"/>
              </a:rPr>
              <a:t> </a:t>
            </a:r>
            <a:r>
              <a:rPr sz="2800" spc="-10" dirty="0">
                <a:latin typeface="Calibri"/>
                <a:cs typeface="Calibri"/>
              </a:rPr>
              <a:t>processes</a:t>
            </a:r>
            <a:r>
              <a:rPr sz="2800" spc="-75" dirty="0">
                <a:latin typeface="Calibri"/>
                <a:cs typeface="Calibri"/>
              </a:rPr>
              <a:t> </a:t>
            </a:r>
            <a:r>
              <a:rPr sz="2800" spc="-10" dirty="0">
                <a:latin typeface="Calibri"/>
                <a:cs typeface="Calibri"/>
              </a:rPr>
              <a:t>include</a:t>
            </a:r>
            <a:endParaRPr sz="2800">
              <a:latin typeface="Calibri"/>
              <a:cs typeface="Calibri"/>
            </a:endParaRPr>
          </a:p>
          <a:p>
            <a:pPr marL="697865" lvl="1" indent="-227965">
              <a:lnSpc>
                <a:spcPct val="100000"/>
              </a:lnSpc>
              <a:spcBef>
                <a:spcPts val="235"/>
              </a:spcBef>
              <a:buClr>
                <a:srgbClr val="F5821F"/>
              </a:buClr>
              <a:buFont typeface="Arial"/>
              <a:buChar char="•"/>
              <a:tabLst>
                <a:tab pos="697865" algn="l"/>
              </a:tabLst>
            </a:pPr>
            <a:r>
              <a:rPr sz="2400" dirty="0">
                <a:latin typeface="Calibri"/>
                <a:cs typeface="Calibri"/>
              </a:rPr>
              <a:t>Define</a:t>
            </a:r>
            <a:r>
              <a:rPr sz="2400" spc="-20" dirty="0">
                <a:latin typeface="Calibri"/>
                <a:cs typeface="Calibri"/>
              </a:rPr>
              <a:t> </a:t>
            </a:r>
            <a:r>
              <a:rPr sz="2400" dirty="0">
                <a:latin typeface="Calibri"/>
                <a:cs typeface="Calibri"/>
              </a:rPr>
              <a:t>scope</a:t>
            </a:r>
            <a:r>
              <a:rPr sz="2400" spc="-15" dirty="0">
                <a:latin typeface="Calibri"/>
                <a:cs typeface="Calibri"/>
              </a:rPr>
              <a:t> </a:t>
            </a:r>
            <a:r>
              <a:rPr sz="2400" spc="-10" dirty="0">
                <a:latin typeface="Calibri"/>
                <a:cs typeface="Calibri"/>
              </a:rPr>
              <a:t>management</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Collect</a:t>
            </a:r>
            <a:r>
              <a:rPr sz="2400" spc="-25" dirty="0">
                <a:latin typeface="Calibri"/>
                <a:cs typeface="Calibri"/>
              </a:rPr>
              <a:t> </a:t>
            </a:r>
            <a:r>
              <a:rPr sz="2400" spc="-10" dirty="0">
                <a:latin typeface="Calibri"/>
                <a:cs typeface="Calibri"/>
              </a:rPr>
              <a:t>requirements</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Define</a:t>
            </a:r>
            <a:r>
              <a:rPr sz="2400" spc="-30" dirty="0">
                <a:latin typeface="Calibri"/>
                <a:cs typeface="Calibri"/>
              </a:rPr>
              <a:t> </a:t>
            </a:r>
            <a:r>
              <a:rPr sz="2400" spc="-20" dirty="0">
                <a:latin typeface="Calibri"/>
                <a:cs typeface="Calibri"/>
              </a:rPr>
              <a:t>scope</a:t>
            </a:r>
            <a:endParaRPr sz="2400">
              <a:latin typeface="Calibri"/>
              <a:cs typeface="Calibri"/>
            </a:endParaRPr>
          </a:p>
          <a:p>
            <a:pPr marL="697865" lvl="1" indent="-227965">
              <a:lnSpc>
                <a:spcPct val="100000"/>
              </a:lnSpc>
              <a:spcBef>
                <a:spcPts val="204"/>
              </a:spcBef>
              <a:buClr>
                <a:srgbClr val="F5821F"/>
              </a:buClr>
              <a:buFont typeface="Arial"/>
              <a:buChar char="•"/>
              <a:tabLst>
                <a:tab pos="697865" algn="l"/>
              </a:tabLst>
            </a:pPr>
            <a:r>
              <a:rPr sz="2400" dirty="0">
                <a:latin typeface="Calibri"/>
                <a:cs typeface="Calibri"/>
              </a:rPr>
              <a:t>Creating</a:t>
            </a:r>
            <a:r>
              <a:rPr sz="2400" spc="-8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Work</a:t>
            </a:r>
            <a:r>
              <a:rPr sz="2400" spc="-65" dirty="0">
                <a:latin typeface="Calibri"/>
                <a:cs typeface="Calibri"/>
              </a:rPr>
              <a:t> </a:t>
            </a:r>
            <a:r>
              <a:rPr sz="2400" spc="-10" dirty="0">
                <a:latin typeface="Calibri"/>
                <a:cs typeface="Calibri"/>
              </a:rPr>
              <a:t>Breakdown</a:t>
            </a:r>
            <a:r>
              <a:rPr sz="2400" spc="-65" dirty="0">
                <a:latin typeface="Calibri"/>
                <a:cs typeface="Calibri"/>
              </a:rPr>
              <a:t> </a:t>
            </a:r>
            <a:r>
              <a:rPr sz="2400" spc="-10" dirty="0">
                <a:latin typeface="Calibri"/>
                <a:cs typeface="Calibri"/>
              </a:rPr>
              <a:t>Structure</a:t>
            </a:r>
            <a:endParaRPr sz="2400">
              <a:latin typeface="Calibri"/>
              <a:cs typeface="Calibri"/>
            </a:endParaRPr>
          </a:p>
          <a:p>
            <a:pPr marL="697865" lvl="1" indent="-227965">
              <a:lnSpc>
                <a:spcPct val="100000"/>
              </a:lnSpc>
              <a:spcBef>
                <a:spcPts val="219"/>
              </a:spcBef>
              <a:buClr>
                <a:srgbClr val="F5821F"/>
              </a:buClr>
              <a:buFont typeface="Arial"/>
              <a:buChar char="•"/>
              <a:tabLst>
                <a:tab pos="697865" algn="l"/>
              </a:tabLst>
            </a:pPr>
            <a:r>
              <a:rPr sz="2400" spc="-10" dirty="0">
                <a:latin typeface="Calibri"/>
                <a:cs typeface="Calibri"/>
              </a:rPr>
              <a:t>Validate</a:t>
            </a:r>
            <a:r>
              <a:rPr sz="2400" spc="-114" dirty="0">
                <a:latin typeface="Calibri"/>
                <a:cs typeface="Calibri"/>
              </a:rPr>
              <a:t> </a:t>
            </a:r>
            <a:r>
              <a:rPr sz="2400" spc="-10" dirty="0">
                <a:latin typeface="Calibri"/>
                <a:cs typeface="Calibri"/>
              </a:rPr>
              <a:t>scope</a:t>
            </a:r>
            <a:endParaRPr sz="2400">
              <a:latin typeface="Calibri"/>
              <a:cs typeface="Calibri"/>
            </a:endParaRPr>
          </a:p>
          <a:p>
            <a:pPr marL="697865" lvl="1" indent="-227965">
              <a:lnSpc>
                <a:spcPct val="100000"/>
              </a:lnSpc>
              <a:spcBef>
                <a:spcPts val="215"/>
              </a:spcBef>
              <a:buClr>
                <a:srgbClr val="F5821F"/>
              </a:buClr>
              <a:buFont typeface="Arial"/>
              <a:buChar char="•"/>
              <a:tabLst>
                <a:tab pos="697865" algn="l"/>
              </a:tabLst>
            </a:pPr>
            <a:r>
              <a:rPr sz="2400" dirty="0">
                <a:latin typeface="Calibri"/>
                <a:cs typeface="Calibri"/>
              </a:rPr>
              <a:t>Control</a:t>
            </a:r>
            <a:r>
              <a:rPr sz="2400" spc="-90" dirty="0">
                <a:latin typeface="Calibri"/>
                <a:cs typeface="Calibri"/>
              </a:rPr>
              <a:t> </a:t>
            </a:r>
            <a:r>
              <a:rPr sz="2400" spc="-10" dirty="0">
                <a:latin typeface="Calibri"/>
                <a:cs typeface="Calibri"/>
              </a:rPr>
              <a:t>scope</a:t>
            </a:r>
            <a:endParaRPr sz="24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89458" rIns="0" bIns="0" rtlCol="0">
            <a:spAutoFit/>
          </a:bodyPr>
          <a:lstStyle/>
          <a:p>
            <a:pPr marL="12700">
              <a:lnSpc>
                <a:spcPct val="100000"/>
              </a:lnSpc>
              <a:spcBef>
                <a:spcPts val="105"/>
              </a:spcBef>
            </a:pPr>
            <a:r>
              <a:rPr spc="-10" dirty="0"/>
              <a:t>Homework</a:t>
            </a:r>
          </a:p>
        </p:txBody>
      </p:sp>
      <p:sp>
        <p:nvSpPr>
          <p:cNvPr id="3" name="object 3"/>
          <p:cNvSpPr txBox="1"/>
          <p:nvPr/>
        </p:nvSpPr>
        <p:spPr>
          <a:xfrm>
            <a:off x="1539366" y="1812112"/>
            <a:ext cx="9901555" cy="1728037"/>
          </a:xfrm>
          <a:prstGeom prst="rect">
            <a:avLst/>
          </a:prstGeom>
        </p:spPr>
        <p:txBody>
          <a:bodyPr vert="horz" wrap="square" lIns="0" tIns="60325" rIns="0" bIns="0" rtlCol="0">
            <a:spAutoFit/>
          </a:bodyPr>
          <a:lstStyle/>
          <a:p>
            <a:pPr marL="241300" marR="5080" indent="-228600">
              <a:lnSpc>
                <a:spcPts val="3030"/>
              </a:lnSpc>
              <a:spcBef>
                <a:spcPts val="475"/>
              </a:spcBef>
              <a:buClr>
                <a:srgbClr val="F5821F"/>
              </a:buClr>
              <a:buFont typeface="Arial"/>
              <a:buChar char="•"/>
              <a:tabLst>
                <a:tab pos="241300" algn="l"/>
              </a:tabLst>
            </a:pPr>
            <a:r>
              <a:rPr lang="en-NZ" sz="2800" dirty="0">
                <a:highlight>
                  <a:srgbClr val="FFFF00"/>
                </a:highlight>
                <a:latin typeface="Calibri"/>
                <a:cs typeface="Calibri"/>
              </a:rPr>
              <a:t>Continue</a:t>
            </a:r>
            <a:r>
              <a:rPr lang="en-NZ" sz="2800" spc="-90" dirty="0">
                <a:highlight>
                  <a:srgbClr val="FFFF00"/>
                </a:highlight>
                <a:latin typeface="Calibri"/>
                <a:cs typeface="Calibri"/>
              </a:rPr>
              <a:t> </a:t>
            </a:r>
            <a:r>
              <a:rPr lang="en-NZ" sz="2800" dirty="0">
                <a:highlight>
                  <a:srgbClr val="FFFF00"/>
                </a:highlight>
                <a:latin typeface="Calibri"/>
                <a:cs typeface="Calibri"/>
              </a:rPr>
              <a:t>to</a:t>
            </a:r>
            <a:r>
              <a:rPr lang="en-NZ" sz="2800" spc="-105" dirty="0">
                <a:highlight>
                  <a:srgbClr val="FFFF00"/>
                </a:highlight>
                <a:latin typeface="Calibri"/>
                <a:cs typeface="Calibri"/>
              </a:rPr>
              <a:t> </a:t>
            </a:r>
            <a:r>
              <a:rPr lang="en-NZ" sz="2800" dirty="0">
                <a:highlight>
                  <a:srgbClr val="FFFF00"/>
                </a:highlight>
                <a:latin typeface="Calibri"/>
                <a:cs typeface="Calibri"/>
              </a:rPr>
              <a:t>work</a:t>
            </a:r>
            <a:r>
              <a:rPr lang="en-NZ" sz="2800" spc="-105" dirty="0">
                <a:highlight>
                  <a:srgbClr val="FFFF00"/>
                </a:highlight>
                <a:latin typeface="Calibri"/>
                <a:cs typeface="Calibri"/>
              </a:rPr>
              <a:t> </a:t>
            </a:r>
            <a:r>
              <a:rPr lang="en-NZ" sz="2800" dirty="0">
                <a:highlight>
                  <a:srgbClr val="FFFF00"/>
                </a:highlight>
                <a:latin typeface="Calibri"/>
                <a:cs typeface="Calibri"/>
              </a:rPr>
              <a:t>on</a:t>
            </a:r>
            <a:r>
              <a:rPr lang="en-NZ" sz="2800" spc="-95" dirty="0">
                <a:highlight>
                  <a:srgbClr val="FFFF00"/>
                </a:highlight>
                <a:latin typeface="Calibri"/>
                <a:cs typeface="Calibri"/>
              </a:rPr>
              <a:t> </a:t>
            </a:r>
            <a:r>
              <a:rPr lang="en-NZ" sz="2800" dirty="0">
                <a:highlight>
                  <a:srgbClr val="FFFF00"/>
                </a:highlight>
                <a:latin typeface="Calibri"/>
                <a:cs typeface="Calibri"/>
              </a:rPr>
              <a:t>Assignment</a:t>
            </a:r>
            <a:r>
              <a:rPr lang="en-NZ" sz="2800" spc="-65" dirty="0">
                <a:highlight>
                  <a:srgbClr val="FFFF00"/>
                </a:highlight>
                <a:latin typeface="Calibri"/>
                <a:cs typeface="Calibri"/>
              </a:rPr>
              <a:t> </a:t>
            </a:r>
            <a:r>
              <a:rPr lang="en-NZ" sz="2800" spc="-50" dirty="0">
                <a:highlight>
                  <a:srgbClr val="FFFF00"/>
                </a:highlight>
                <a:latin typeface="Calibri"/>
                <a:cs typeface="Calibri"/>
              </a:rPr>
              <a:t>1</a:t>
            </a:r>
            <a:endParaRPr lang="en-NZ" sz="2800" dirty="0">
              <a:highlight>
                <a:srgbClr val="FFFF00"/>
              </a:highlight>
              <a:latin typeface="Calibri"/>
              <a:cs typeface="Calibri"/>
            </a:endParaRPr>
          </a:p>
          <a:p>
            <a:pPr marL="241300" marR="5080" indent="-228600">
              <a:lnSpc>
                <a:spcPts val="3030"/>
              </a:lnSpc>
              <a:spcBef>
                <a:spcPts val="475"/>
              </a:spcBef>
              <a:buClr>
                <a:srgbClr val="F5821F"/>
              </a:buClr>
              <a:buFont typeface="Arial"/>
              <a:buChar char="•"/>
              <a:tabLst>
                <a:tab pos="241300" algn="l"/>
              </a:tabLst>
            </a:pPr>
            <a:r>
              <a:rPr sz="2800" dirty="0">
                <a:latin typeface="Calibri"/>
                <a:cs typeface="Calibri"/>
              </a:rPr>
              <a:t>This</a:t>
            </a:r>
            <a:r>
              <a:rPr sz="2800" spc="-100" dirty="0">
                <a:latin typeface="Calibri"/>
                <a:cs typeface="Calibri"/>
              </a:rPr>
              <a:t> </a:t>
            </a:r>
            <a:r>
              <a:rPr sz="2800" spc="-30" dirty="0">
                <a:latin typeface="Calibri"/>
                <a:cs typeface="Calibri"/>
              </a:rPr>
              <a:t>week’s</a:t>
            </a:r>
            <a:r>
              <a:rPr sz="2800" spc="-100" dirty="0">
                <a:latin typeface="Calibri"/>
                <a:cs typeface="Calibri"/>
              </a:rPr>
              <a:t> </a:t>
            </a:r>
            <a:r>
              <a:rPr sz="2800" dirty="0">
                <a:latin typeface="Calibri"/>
                <a:cs typeface="Calibri"/>
              </a:rPr>
              <a:t>reading</a:t>
            </a:r>
            <a:r>
              <a:rPr sz="2800" spc="-95" dirty="0">
                <a:latin typeface="Calibri"/>
                <a:cs typeface="Calibri"/>
              </a:rPr>
              <a:t> </a:t>
            </a:r>
            <a:r>
              <a:rPr lang="en-NZ" sz="2800" spc="-95" dirty="0">
                <a:latin typeface="Calibri"/>
                <a:cs typeface="Calibri"/>
              </a:rPr>
              <a:t>is </a:t>
            </a:r>
            <a:r>
              <a:rPr sz="2800" dirty="0">
                <a:latin typeface="Calibri"/>
                <a:cs typeface="Calibri"/>
              </a:rPr>
              <a:t>Chapter</a:t>
            </a:r>
            <a:r>
              <a:rPr sz="2800" spc="-90" dirty="0">
                <a:latin typeface="Calibri"/>
                <a:cs typeface="Calibri"/>
              </a:rPr>
              <a:t> </a:t>
            </a:r>
            <a:r>
              <a:rPr sz="2800" dirty="0">
                <a:latin typeface="Calibri"/>
                <a:cs typeface="Calibri"/>
              </a:rPr>
              <a:t>5</a:t>
            </a:r>
            <a:r>
              <a:rPr sz="2800" spc="-90" dirty="0">
                <a:latin typeface="Calibri"/>
                <a:cs typeface="Calibri"/>
              </a:rPr>
              <a:t> </a:t>
            </a:r>
            <a:r>
              <a:rPr sz="2800" dirty="0">
                <a:latin typeface="Calibri"/>
                <a:cs typeface="Calibri"/>
              </a:rPr>
              <a:t>from</a:t>
            </a:r>
            <a:r>
              <a:rPr sz="2800" spc="-85" dirty="0">
                <a:latin typeface="Calibri"/>
                <a:cs typeface="Calibri"/>
              </a:rPr>
              <a:t> </a:t>
            </a:r>
            <a:r>
              <a:rPr sz="2800" i="1" spc="-10" dirty="0">
                <a:latin typeface="Calibri"/>
                <a:cs typeface="Calibri"/>
              </a:rPr>
              <a:t>Information</a:t>
            </a:r>
            <a:r>
              <a:rPr sz="2800" i="1" spc="-100" dirty="0">
                <a:latin typeface="Calibri"/>
                <a:cs typeface="Calibri"/>
              </a:rPr>
              <a:t> </a:t>
            </a:r>
            <a:r>
              <a:rPr sz="2800" i="1" spc="-30" dirty="0">
                <a:latin typeface="Calibri"/>
                <a:cs typeface="Calibri"/>
              </a:rPr>
              <a:t>Technology</a:t>
            </a:r>
            <a:r>
              <a:rPr sz="2800" i="1" spc="-105" dirty="0">
                <a:latin typeface="Calibri"/>
                <a:cs typeface="Calibri"/>
              </a:rPr>
              <a:t> </a:t>
            </a:r>
            <a:r>
              <a:rPr sz="2800" i="1" spc="-10" dirty="0">
                <a:latin typeface="Calibri"/>
                <a:cs typeface="Calibri"/>
              </a:rPr>
              <a:t>Project Management</a:t>
            </a:r>
            <a:r>
              <a:rPr sz="2800" i="1" spc="-80" dirty="0">
                <a:latin typeface="Calibri"/>
                <a:cs typeface="Calibri"/>
              </a:rPr>
              <a:t> </a:t>
            </a:r>
            <a:r>
              <a:rPr sz="2800" dirty="0">
                <a:latin typeface="Calibri"/>
                <a:cs typeface="Calibri"/>
              </a:rPr>
              <a:t>(2019)</a:t>
            </a:r>
            <a:r>
              <a:rPr sz="2800" spc="-50" dirty="0">
                <a:latin typeface="Calibri"/>
                <a:cs typeface="Calibri"/>
              </a:rPr>
              <a:t> </a:t>
            </a:r>
            <a:r>
              <a:rPr sz="2800" dirty="0">
                <a:latin typeface="Calibri"/>
                <a:cs typeface="Calibri"/>
              </a:rPr>
              <a:t>by</a:t>
            </a:r>
            <a:r>
              <a:rPr sz="2800" spc="-85" dirty="0">
                <a:latin typeface="Calibri"/>
                <a:cs typeface="Calibri"/>
              </a:rPr>
              <a:t> </a:t>
            </a:r>
            <a:r>
              <a:rPr sz="2800" spc="-20" dirty="0">
                <a:latin typeface="Calibri"/>
                <a:cs typeface="Calibri"/>
              </a:rPr>
              <a:t>Kathy</a:t>
            </a:r>
            <a:r>
              <a:rPr sz="2800" spc="-85" dirty="0">
                <a:latin typeface="Calibri"/>
                <a:cs typeface="Calibri"/>
              </a:rPr>
              <a:t> </a:t>
            </a:r>
            <a:r>
              <a:rPr sz="2800" spc="-10" dirty="0">
                <a:latin typeface="Calibri"/>
                <a:cs typeface="Calibri"/>
              </a:rPr>
              <a:t>Schwalbe</a:t>
            </a:r>
            <a:endParaRPr lang="en-NZ" sz="2800" spc="-10" dirty="0">
              <a:latin typeface="Calibri"/>
              <a:cs typeface="Calibri"/>
            </a:endParaRPr>
          </a:p>
          <a:p>
            <a:pPr marL="241300" marR="5080" indent="-228600">
              <a:lnSpc>
                <a:spcPts val="3030"/>
              </a:lnSpc>
              <a:spcBef>
                <a:spcPts val="475"/>
              </a:spcBef>
              <a:buClr>
                <a:srgbClr val="F5821F"/>
              </a:buClr>
              <a:buFont typeface="Arial"/>
              <a:buChar char="•"/>
              <a:tabLst>
                <a:tab pos="241300" algn="l"/>
              </a:tabLst>
            </a:pPr>
            <a:r>
              <a:rPr lang="en-NZ" sz="2800" spc="-10" dirty="0">
                <a:latin typeface="Calibri"/>
                <a:cs typeface="Calibri"/>
              </a:rPr>
              <a:t>Next week- Schedule Management </a:t>
            </a:r>
            <a:endParaRPr sz="28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20456</TotalTime>
  <Words>4305</Words>
  <Application>Microsoft Office PowerPoint</Application>
  <PresentationFormat>Widescreen</PresentationFormat>
  <Paragraphs>369</Paragraphs>
  <Slides>32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Calibri</vt:lpstr>
      <vt:lpstr>Times New Roman</vt:lpstr>
      <vt:lpstr>Verdana</vt:lpstr>
      <vt:lpstr>Office Theme</vt:lpstr>
      <vt:lpstr>COMP507 IT Project Management Project Scope Management</vt:lpstr>
      <vt:lpstr>PowerPoint Presentation</vt:lpstr>
      <vt:lpstr>What is Project Scope Management?</vt:lpstr>
      <vt:lpstr>What is Scope?</vt:lpstr>
      <vt:lpstr>What is Project Scope Management?</vt:lpstr>
      <vt:lpstr>Scope Management Processes (PM Tasks)</vt:lpstr>
      <vt:lpstr>Scope Management Processes</vt:lpstr>
      <vt:lpstr>Scope Management Processes</vt:lpstr>
      <vt:lpstr>Scope Statement document- a high-level plan (planning process group)</vt:lpstr>
      <vt:lpstr>Scope Statement Document</vt:lpstr>
      <vt:lpstr>PowerPoint Presentation</vt:lpstr>
      <vt:lpstr>Assignment 1- Project Scope </vt:lpstr>
      <vt:lpstr>Assignment 1- Project Scope </vt:lpstr>
      <vt:lpstr>Assignment 1- Project Scope </vt:lpstr>
      <vt:lpstr>Assignment 1- Project Scope (high-level requirements) </vt:lpstr>
      <vt:lpstr>Assignment 1- high-level requirements </vt:lpstr>
      <vt:lpstr>Examples of high-level requirements</vt:lpstr>
      <vt:lpstr>Non-functional requirements</vt:lpstr>
      <vt:lpstr>Non-functional requirements</vt:lpstr>
      <vt:lpstr>Work Breakdown Structure (WBS)</vt:lpstr>
      <vt:lpstr>Work Breakdown Structure (WBS) based on SDLC method</vt:lpstr>
      <vt:lpstr>Work Breakdown Structure (WBS) based on SDLC method</vt:lpstr>
      <vt:lpstr>Work Breakdown Structure (WBS)</vt:lpstr>
      <vt:lpstr>Work Breakdown Structure (WBS)</vt:lpstr>
      <vt:lpstr>Work Breakdown Structure (WBS)</vt:lpstr>
      <vt:lpstr>Work Breakdown Structure (WBS)</vt:lpstr>
      <vt:lpstr>Work Breakdown Structure (WBS)</vt:lpstr>
      <vt:lpstr>Advice for Creating a WBS</vt:lpstr>
      <vt:lpstr>Monitoring and Controlling: Validating Scope</vt:lpstr>
      <vt:lpstr>Monitoring and Controlling Scope</vt:lpstr>
      <vt:lpstr>Summary</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stephen.thorpe@aut.ac.nz</dc:creator>
  <cp:lastModifiedBy>Daniel Vaipulu</cp:lastModifiedBy>
  <cp:revision>50</cp:revision>
  <dcterms:created xsi:type="dcterms:W3CDTF">2023-08-09T23:50:46Z</dcterms:created>
  <dcterms:modified xsi:type="dcterms:W3CDTF">2026-04-01T22:22:56Z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2022-07-14T00:00:00Z</vt:filetime>
  </property>
  <property fmtid="{D5CDD505-2E9C-101B-9397-08002B2CF9AE}" pid="3" name="Creator">
    <vt:lpwstr>Microsoft® PowerPoint® for Microsoft 365</vt:lpwstr>
  </property>
  <property fmtid="{D5CDD505-2E9C-101B-9397-08002B2CF9AE}" pid="4" name="LastSaved">
    <vt:filetime>2023-08-09T00:00:00Z</vt:filetime>
  </property>
  <property fmtid="{D5CDD505-2E9C-101B-9397-08002B2CF9AE}" pid="5" name="Producer">
    <vt:lpwstr>Microsoft® PowerPoint® for Microsoft 365</vt:lpwstr>
  </property>
</Properties>
</file>