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67" r:id="rId4"/>
    <p:sldId id="268" r:id="rId5"/>
    <p:sldId id="287" r:id="rId6"/>
    <p:sldId id="270" r:id="rId7"/>
    <p:sldId id="271" r:id="rId8"/>
    <p:sldId id="272" r:id="rId9"/>
    <p:sldId id="273" r:id="rId10"/>
    <p:sldId id="294" r:id="rId11"/>
    <p:sldId id="274" r:id="rId12"/>
    <p:sldId id="275" r:id="rId13"/>
    <p:sldId id="276" r:id="rId14"/>
    <p:sldId id="277" r:id="rId15"/>
    <p:sldId id="278" r:id="rId16"/>
    <p:sldId id="279" r:id="rId17"/>
    <p:sldId id="280" r:id="rId18"/>
    <p:sldId id="290" r:id="rId19"/>
    <p:sldId id="288" r:id="rId20"/>
    <p:sldId id="284" r:id="rId21"/>
    <p:sldId id="300" r:id="rId22"/>
    <p:sldId id="291" r:id="rId23"/>
    <p:sldId id="283" r:id="rId24"/>
    <p:sldId id="292" r:id="rId25"/>
    <p:sldId id="303" r:id="rId26"/>
    <p:sldId id="305" r:id="rId27"/>
    <p:sldId id="285" r:id="rId28"/>
    <p:sldId id="286" r:id="rId2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79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79C7823-DB54-4FFD-B010-705CA49DDC64}" type="datetimeFigureOut">
              <a:rPr lang="en-NZ" smtClean="0"/>
              <a:t>27/04/2026</a:t>
            </a:fld>
            <a:endParaRPr lang="en-NZ"/>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1FB025E-D442-4CB8-A8F9-1416F4D2CEB2}" type="slidenum">
              <a:rPr lang="en-NZ" smtClean="0"/>
              <a:t>‹#›</a:t>
            </a:fld>
            <a:endParaRPr lang="en-NZ"/>
          </a:p>
        </p:txBody>
      </p:sp>
    </p:spTree>
    <p:extLst>
      <p:ext uri="{BB962C8B-B14F-4D97-AF65-F5344CB8AC3E}">
        <p14:creationId xmlns:p14="http://schemas.microsoft.com/office/powerpoint/2010/main" val="1411347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61FB025E-D442-4CB8-A8F9-1416F4D2CEB2}" type="slidenum">
              <a:rPr lang="en-NZ" smtClean="0"/>
              <a:t>6</a:t>
            </a:fld>
            <a:endParaRPr lang="en-NZ"/>
          </a:p>
        </p:txBody>
      </p:sp>
    </p:spTree>
    <p:extLst>
      <p:ext uri="{BB962C8B-B14F-4D97-AF65-F5344CB8AC3E}">
        <p14:creationId xmlns:p14="http://schemas.microsoft.com/office/powerpoint/2010/main" val="4130284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61FB025E-D442-4CB8-A8F9-1416F4D2CEB2}" type="slidenum">
              <a:rPr kumimoji="0" lang="en-NZ"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10</a:t>
            </a:fld>
            <a:endParaRPr kumimoji="0" lang="en-NZ"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748288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 cy="6857997"/>
          </a:xfrm>
          <a:prstGeom prst="rect">
            <a:avLst/>
          </a:prstGeom>
        </p:spPr>
      </p:pic>
      <p:sp>
        <p:nvSpPr>
          <p:cNvPr id="2" name="Holder 2"/>
          <p:cNvSpPr>
            <a:spLocks noGrp="1"/>
          </p:cNvSpPr>
          <p:nvPr>
            <p:ph type="title"/>
          </p:nvPr>
        </p:nvSpPr>
        <p:spPr>
          <a:xfrm>
            <a:off x="1459483" y="239649"/>
            <a:ext cx="9858883" cy="1369059"/>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a:xfrm>
            <a:off x="1539366" y="1812112"/>
            <a:ext cx="9728200" cy="173291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1999" cy="6857997"/>
            </a:xfrm>
            <a:prstGeom prst="rect">
              <a:avLst/>
            </a:prstGeom>
          </p:spPr>
        </p:pic>
        <p:sp>
          <p:nvSpPr>
            <p:cNvPr id="4" name="object 4"/>
            <p:cNvSpPr/>
            <p:nvPr/>
          </p:nvSpPr>
          <p:spPr>
            <a:xfrm>
              <a:off x="0" y="3340608"/>
              <a:ext cx="9182100" cy="2146300"/>
            </a:xfrm>
            <a:custGeom>
              <a:avLst/>
              <a:gdLst/>
              <a:ahLst/>
              <a:cxnLst/>
              <a:rect l="l" t="t" r="r" b="b"/>
              <a:pathLst>
                <a:path w="9182100" h="2146300">
                  <a:moveTo>
                    <a:pt x="9182100" y="0"/>
                  </a:moveTo>
                  <a:lnTo>
                    <a:pt x="0" y="0"/>
                  </a:lnTo>
                  <a:lnTo>
                    <a:pt x="0" y="2145792"/>
                  </a:lnTo>
                  <a:lnTo>
                    <a:pt x="9182100" y="2145792"/>
                  </a:lnTo>
                  <a:lnTo>
                    <a:pt x="9182100" y="0"/>
                  </a:lnTo>
                  <a:close/>
                </a:path>
              </a:pathLst>
            </a:custGeom>
            <a:solidFill>
              <a:srgbClr val="F16421">
                <a:alpha val="79998"/>
              </a:srgbClr>
            </a:solidFill>
          </p:spPr>
          <p:txBody>
            <a:bodyPr wrap="square" lIns="0" tIns="0" rIns="0" bIns="0" rtlCol="0"/>
            <a:lstStyle/>
            <a:p>
              <a:endParaRPr/>
            </a:p>
          </p:txBody>
        </p:sp>
        <p:pic>
          <p:nvPicPr>
            <p:cNvPr id="5" name="object 5"/>
            <p:cNvPicPr/>
            <p:nvPr/>
          </p:nvPicPr>
          <p:blipFill>
            <a:blip r:embed="rId3" cstate="print"/>
            <a:stretch>
              <a:fillRect/>
            </a:stretch>
          </p:blipFill>
          <p:spPr>
            <a:xfrm>
              <a:off x="9777983" y="0"/>
              <a:ext cx="2008631" cy="1994915"/>
            </a:xfrm>
            <a:prstGeom prst="rect">
              <a:avLst/>
            </a:prstGeom>
          </p:spPr>
        </p:pic>
      </p:grpSp>
      <p:sp>
        <p:nvSpPr>
          <p:cNvPr id="6" name="object 6"/>
          <p:cNvSpPr txBox="1">
            <a:spLocks noGrp="1"/>
          </p:cNvSpPr>
          <p:nvPr>
            <p:ph type="title"/>
          </p:nvPr>
        </p:nvSpPr>
        <p:spPr>
          <a:xfrm>
            <a:off x="828243" y="3495878"/>
            <a:ext cx="7700009" cy="1894749"/>
          </a:xfrm>
          <a:prstGeom prst="rect">
            <a:avLst/>
          </a:prstGeom>
        </p:spPr>
        <p:txBody>
          <a:bodyPr vert="horz" wrap="square" lIns="0" tIns="85725" rIns="0" bIns="0" rtlCol="0">
            <a:spAutoFit/>
          </a:bodyPr>
          <a:lstStyle/>
          <a:p>
            <a:pPr marL="12700" marR="5080">
              <a:lnSpc>
                <a:spcPts val="4650"/>
              </a:lnSpc>
              <a:spcBef>
                <a:spcPts val="675"/>
              </a:spcBef>
            </a:pPr>
            <a:r>
              <a:rPr sz="4300" dirty="0">
                <a:solidFill>
                  <a:srgbClr val="FFFFFF"/>
                </a:solidFill>
              </a:rPr>
              <a:t>COMP507</a:t>
            </a:r>
            <a:r>
              <a:rPr sz="4300" spc="-145" dirty="0">
                <a:solidFill>
                  <a:srgbClr val="FFFFFF"/>
                </a:solidFill>
              </a:rPr>
              <a:t> </a:t>
            </a:r>
            <a:r>
              <a:rPr sz="4300" dirty="0">
                <a:solidFill>
                  <a:srgbClr val="FFFFFF"/>
                </a:solidFill>
              </a:rPr>
              <a:t>IT</a:t>
            </a:r>
            <a:r>
              <a:rPr sz="4300" spc="-155" dirty="0">
                <a:solidFill>
                  <a:srgbClr val="FFFFFF"/>
                </a:solidFill>
              </a:rPr>
              <a:t> </a:t>
            </a:r>
            <a:r>
              <a:rPr sz="4300" dirty="0">
                <a:solidFill>
                  <a:srgbClr val="FFFFFF"/>
                </a:solidFill>
              </a:rPr>
              <a:t>Project</a:t>
            </a:r>
            <a:r>
              <a:rPr sz="4300" spc="-155" dirty="0">
                <a:solidFill>
                  <a:srgbClr val="FFFFFF"/>
                </a:solidFill>
              </a:rPr>
              <a:t> </a:t>
            </a:r>
            <a:r>
              <a:rPr sz="4300" spc="-10" dirty="0">
                <a:solidFill>
                  <a:srgbClr val="FFFFFF"/>
                </a:solidFill>
              </a:rPr>
              <a:t>Management </a:t>
            </a:r>
            <a:r>
              <a:rPr sz="4300" spc="-20" dirty="0">
                <a:solidFill>
                  <a:srgbClr val="FFFFFF"/>
                </a:solidFill>
              </a:rPr>
              <a:t>Stakeholder</a:t>
            </a:r>
            <a:r>
              <a:rPr sz="4300" spc="-160" dirty="0">
                <a:solidFill>
                  <a:srgbClr val="FFFFFF"/>
                </a:solidFill>
              </a:rPr>
              <a:t> </a:t>
            </a:r>
            <a:r>
              <a:rPr sz="4300" spc="-10" dirty="0">
                <a:solidFill>
                  <a:srgbClr val="FFFFFF"/>
                </a:solidFill>
              </a:rPr>
              <a:t>Management</a:t>
            </a:r>
            <a:br>
              <a:rPr lang="en-NZ" sz="4300" spc="-10" dirty="0">
                <a:solidFill>
                  <a:srgbClr val="FFFFFF"/>
                </a:solidFill>
              </a:rPr>
            </a:br>
            <a:r>
              <a:rPr lang="en-NZ" sz="2400" spc="-10" dirty="0">
                <a:solidFill>
                  <a:srgbClr val="FFFFFF"/>
                </a:solidFill>
              </a:rPr>
              <a:t>Daniel Vaipulu</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483870"/>
            <a:ext cx="7210425" cy="696595"/>
          </a:xfrm>
          <a:prstGeom prst="rect">
            <a:avLst/>
          </a:prstGeom>
        </p:spPr>
        <p:txBody>
          <a:bodyPr vert="horz" wrap="square" lIns="0" tIns="13335" rIns="0" bIns="0" rtlCol="0">
            <a:spAutoFit/>
          </a:bodyPr>
          <a:lstStyle/>
          <a:p>
            <a:pPr marL="12700">
              <a:lnSpc>
                <a:spcPct val="100000"/>
              </a:lnSpc>
              <a:spcBef>
                <a:spcPts val="105"/>
              </a:spcBef>
            </a:pPr>
            <a:r>
              <a:rPr dirty="0"/>
              <a:t>Assignment</a:t>
            </a:r>
            <a:r>
              <a:rPr spc="-85" dirty="0"/>
              <a:t> </a:t>
            </a:r>
            <a:r>
              <a:rPr dirty="0"/>
              <a:t>1</a:t>
            </a:r>
            <a:r>
              <a:rPr spc="-45" dirty="0"/>
              <a:t> </a:t>
            </a:r>
            <a:r>
              <a:rPr dirty="0"/>
              <a:t>–</a:t>
            </a:r>
            <a:r>
              <a:rPr lang="en-NZ" dirty="0"/>
              <a:t> </a:t>
            </a:r>
            <a:r>
              <a:rPr dirty="0"/>
              <a:t>Part</a:t>
            </a:r>
            <a:r>
              <a:rPr spc="-45" dirty="0"/>
              <a:t> </a:t>
            </a:r>
            <a:r>
              <a:rPr spc="-50" dirty="0"/>
              <a:t>1</a:t>
            </a:r>
          </a:p>
        </p:txBody>
      </p:sp>
      <p:sp>
        <p:nvSpPr>
          <p:cNvPr id="3" name="object 3"/>
          <p:cNvSpPr txBox="1"/>
          <p:nvPr/>
        </p:nvSpPr>
        <p:spPr>
          <a:xfrm>
            <a:off x="1344294" y="1406143"/>
            <a:ext cx="10294620" cy="4549964"/>
          </a:xfrm>
          <a:prstGeom prst="rect">
            <a:avLst/>
          </a:prstGeom>
        </p:spPr>
        <p:txBody>
          <a:bodyPr vert="horz" wrap="square" lIns="0" tIns="60960" rIns="0" bIns="0" rtlCol="0">
            <a:spAutoFit/>
          </a:bodyPr>
          <a:lstStyle/>
          <a:p>
            <a:pPr marL="12700" marR="5080">
              <a:lnSpc>
                <a:spcPts val="3020"/>
              </a:lnSpc>
              <a:spcBef>
                <a:spcPts val="480"/>
              </a:spcBef>
              <a:buClr>
                <a:srgbClr val="F5821F"/>
              </a:buClr>
              <a:tabLst>
                <a:tab pos="241300" algn="l"/>
              </a:tabLst>
            </a:pPr>
            <a:r>
              <a:rPr lang="en-NZ" sz="2800" dirty="0">
                <a:latin typeface="Calibri"/>
                <a:cs typeface="Calibri"/>
              </a:rPr>
              <a:t>Use the following information</a:t>
            </a:r>
          </a:p>
          <a:p>
            <a:pPr marL="241300" marR="5080" lvl="4" indent="-228600">
              <a:lnSpc>
                <a:spcPts val="3020"/>
              </a:lnSpc>
              <a:spcBef>
                <a:spcPts val="480"/>
              </a:spcBef>
              <a:buClr>
                <a:srgbClr val="F5821F"/>
              </a:buClr>
              <a:buFont typeface="Arial"/>
              <a:buChar char="•"/>
              <a:tabLst>
                <a:tab pos="241300" algn="l"/>
              </a:tabLst>
            </a:pPr>
            <a:r>
              <a:rPr lang="en-NZ" sz="2800" dirty="0">
                <a:latin typeface="Calibri"/>
                <a:cs typeface="Calibri"/>
              </a:rPr>
              <a:t>Discount Rate– 8%</a:t>
            </a:r>
          </a:p>
          <a:p>
            <a:pPr marL="241300" marR="5080" indent="-228600">
              <a:lnSpc>
                <a:spcPts val="3020"/>
              </a:lnSpc>
              <a:spcBef>
                <a:spcPts val="480"/>
              </a:spcBef>
              <a:buClr>
                <a:srgbClr val="F5821F"/>
              </a:buClr>
              <a:buFont typeface="Arial"/>
              <a:buChar char="•"/>
              <a:tabLst>
                <a:tab pos="241300" algn="l"/>
              </a:tabLst>
            </a:pPr>
            <a:r>
              <a:rPr lang="en-NZ" sz="2800" dirty="0">
                <a:latin typeface="Calibri"/>
                <a:cs typeface="Calibri"/>
              </a:rPr>
              <a:t>Background information- talk about BCIS qualification as a strategic offering by ECMS- the largest number of students. R&amp;D paper-final two-semester paper, part of all BCIS majors, students do industry-based projects. Students gain valuable industry experience which enables them to get an IT role.</a:t>
            </a:r>
          </a:p>
          <a:p>
            <a:pPr marL="241300" marR="5080" indent="-228600">
              <a:lnSpc>
                <a:spcPts val="3020"/>
              </a:lnSpc>
              <a:spcBef>
                <a:spcPts val="480"/>
              </a:spcBef>
              <a:buClr>
                <a:srgbClr val="F5821F"/>
              </a:buClr>
              <a:buFont typeface="Arial"/>
              <a:buChar char="•"/>
              <a:tabLst>
                <a:tab pos="241300" algn="l"/>
              </a:tabLst>
            </a:pPr>
            <a:r>
              <a:rPr lang="en-NZ" sz="2800" dirty="0">
                <a:latin typeface="Calibri"/>
                <a:cs typeface="Calibri"/>
              </a:rPr>
              <a:t>School’s business objective is to achieve a growth of 3 to 5% growth in BCIS intake. Provide industry-based teaching (quality education)- choice for a PMS for BCIS students rather than just MS Project.  </a:t>
            </a:r>
          </a:p>
          <a:p>
            <a:pPr marL="241300" marR="5080" indent="-228600">
              <a:lnSpc>
                <a:spcPts val="3020"/>
              </a:lnSpc>
              <a:spcBef>
                <a:spcPts val="480"/>
              </a:spcBef>
              <a:buClr>
                <a:srgbClr val="F5821F"/>
              </a:buClr>
              <a:buFont typeface="Arial"/>
              <a:buChar char="•"/>
              <a:tabLst>
                <a:tab pos="241300" algn="l"/>
              </a:tabLst>
            </a:pPr>
            <a:endParaRPr sz="28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3362" rIns="0" bIns="0" rtlCol="0">
            <a:spAutoFit/>
          </a:bodyPr>
          <a:lstStyle/>
          <a:p>
            <a:pPr marL="92075">
              <a:lnSpc>
                <a:spcPct val="100000"/>
              </a:lnSpc>
              <a:spcBef>
                <a:spcPts val="105"/>
              </a:spcBef>
            </a:pPr>
            <a:r>
              <a:rPr dirty="0"/>
              <a:t>Learning</a:t>
            </a:r>
            <a:r>
              <a:rPr spc="-35" dirty="0"/>
              <a:t> </a:t>
            </a:r>
            <a:r>
              <a:rPr spc="-10" dirty="0"/>
              <a:t>Objectives</a:t>
            </a:r>
          </a:p>
        </p:txBody>
      </p:sp>
      <p:sp>
        <p:nvSpPr>
          <p:cNvPr id="3" name="object 3"/>
          <p:cNvSpPr txBox="1"/>
          <p:nvPr/>
        </p:nvSpPr>
        <p:spPr>
          <a:xfrm>
            <a:off x="1539366" y="1725765"/>
            <a:ext cx="9502775" cy="3646511"/>
          </a:xfrm>
          <a:prstGeom prst="rect">
            <a:avLst/>
          </a:prstGeom>
        </p:spPr>
        <p:txBody>
          <a:bodyPr vert="horz" wrap="square" lIns="0" tIns="98425" rIns="0" bIns="0" rtlCol="0">
            <a:spAutoFit/>
          </a:bodyPr>
          <a:lstStyle/>
          <a:p>
            <a:pPr marL="240665" indent="-227965" algn="just">
              <a:lnSpc>
                <a:spcPct val="100000"/>
              </a:lnSpc>
              <a:spcBef>
                <a:spcPts val="775"/>
              </a:spcBef>
              <a:buClr>
                <a:srgbClr val="F5821F"/>
              </a:buClr>
              <a:buFont typeface="Arial"/>
              <a:buChar char="•"/>
              <a:tabLst>
                <a:tab pos="240665" algn="l"/>
              </a:tabLst>
            </a:pPr>
            <a:r>
              <a:rPr sz="2800" spc="-20" dirty="0">
                <a:latin typeface="Calibri"/>
                <a:cs typeface="Calibri"/>
              </a:rPr>
              <a:t>Understand</a:t>
            </a:r>
            <a:r>
              <a:rPr sz="2800" spc="-45" dirty="0">
                <a:latin typeface="Calibri"/>
                <a:cs typeface="Calibri"/>
              </a:rPr>
              <a:t> </a:t>
            </a:r>
            <a:r>
              <a:rPr sz="2800" dirty="0">
                <a:latin typeface="Calibri"/>
                <a:cs typeface="Calibri"/>
              </a:rPr>
              <a:t>the</a:t>
            </a:r>
            <a:r>
              <a:rPr sz="2800" spc="-75" dirty="0">
                <a:latin typeface="Calibri"/>
                <a:cs typeface="Calibri"/>
              </a:rPr>
              <a:t> </a:t>
            </a:r>
            <a:r>
              <a:rPr sz="2800" spc="-10" dirty="0">
                <a:latin typeface="Calibri"/>
                <a:cs typeface="Calibri"/>
              </a:rPr>
              <a:t>importance</a:t>
            </a:r>
            <a:r>
              <a:rPr sz="2800" spc="-60" dirty="0">
                <a:latin typeface="Calibri"/>
                <a:cs typeface="Calibri"/>
              </a:rPr>
              <a:t> </a:t>
            </a:r>
            <a:r>
              <a:rPr sz="2800" dirty="0">
                <a:latin typeface="Calibri"/>
                <a:cs typeface="Calibri"/>
              </a:rPr>
              <a:t>of</a:t>
            </a:r>
            <a:r>
              <a:rPr sz="2800" spc="-80" dirty="0">
                <a:latin typeface="Calibri"/>
                <a:cs typeface="Calibri"/>
              </a:rPr>
              <a:t> </a:t>
            </a:r>
            <a:r>
              <a:rPr sz="2800" dirty="0">
                <a:latin typeface="Calibri"/>
                <a:cs typeface="Calibri"/>
              </a:rPr>
              <a:t>project</a:t>
            </a:r>
            <a:r>
              <a:rPr sz="2800" spc="-50" dirty="0">
                <a:latin typeface="Calibri"/>
                <a:cs typeface="Calibri"/>
              </a:rPr>
              <a:t> </a:t>
            </a:r>
            <a:r>
              <a:rPr sz="2800" spc="-20" dirty="0">
                <a:latin typeface="Calibri"/>
                <a:cs typeface="Calibri"/>
              </a:rPr>
              <a:t>stakeholder</a:t>
            </a:r>
            <a:r>
              <a:rPr sz="2800" spc="-70" dirty="0">
                <a:latin typeface="Calibri"/>
                <a:cs typeface="Calibri"/>
              </a:rPr>
              <a:t> </a:t>
            </a:r>
            <a:r>
              <a:rPr sz="2800" spc="-10" dirty="0">
                <a:latin typeface="Calibri"/>
                <a:cs typeface="Calibri"/>
              </a:rPr>
              <a:t>management</a:t>
            </a:r>
            <a:endParaRPr sz="2800" dirty="0">
              <a:latin typeface="Calibri"/>
              <a:cs typeface="Calibri"/>
            </a:endParaRPr>
          </a:p>
          <a:p>
            <a:pPr marL="241300" marR="117475" indent="-229235" algn="just">
              <a:lnSpc>
                <a:spcPts val="3020"/>
              </a:lnSpc>
              <a:spcBef>
                <a:spcPts val="1060"/>
              </a:spcBef>
              <a:buClr>
                <a:srgbClr val="F5821F"/>
              </a:buClr>
              <a:buFont typeface="Arial"/>
              <a:buChar char="•"/>
              <a:tabLst>
                <a:tab pos="241300" algn="l"/>
              </a:tabLst>
            </a:pPr>
            <a:r>
              <a:rPr sz="2800" dirty="0">
                <a:latin typeface="Calibri"/>
                <a:cs typeface="Calibri"/>
              </a:rPr>
              <a:t>Discuss</a:t>
            </a:r>
            <a:r>
              <a:rPr sz="2800" spc="-45"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process</a:t>
            </a:r>
            <a:r>
              <a:rPr sz="2800" spc="-60" dirty="0">
                <a:latin typeface="Calibri"/>
                <a:cs typeface="Calibri"/>
              </a:rPr>
              <a:t> </a:t>
            </a:r>
            <a:r>
              <a:rPr sz="2800" dirty="0">
                <a:latin typeface="Calibri"/>
                <a:cs typeface="Calibri"/>
              </a:rPr>
              <a:t>of</a:t>
            </a:r>
            <a:r>
              <a:rPr sz="2800" spc="-85" dirty="0">
                <a:latin typeface="Calibri"/>
                <a:cs typeface="Calibri"/>
              </a:rPr>
              <a:t> </a:t>
            </a:r>
            <a:r>
              <a:rPr sz="2800" spc="-10" dirty="0">
                <a:latin typeface="Calibri"/>
                <a:cs typeface="Calibri"/>
              </a:rPr>
              <a:t>identifying</a:t>
            </a:r>
            <a:r>
              <a:rPr sz="2800" spc="-65" dirty="0">
                <a:latin typeface="Calibri"/>
                <a:cs typeface="Calibri"/>
              </a:rPr>
              <a:t> </a:t>
            </a:r>
            <a:r>
              <a:rPr sz="2800" spc="-20" dirty="0">
                <a:latin typeface="Calibri"/>
                <a:cs typeface="Calibri"/>
              </a:rPr>
              <a:t>stakeholders-</a:t>
            </a:r>
            <a:r>
              <a:rPr sz="2800" spc="-45" dirty="0">
                <a:latin typeface="Calibri"/>
                <a:cs typeface="Calibri"/>
              </a:rPr>
              <a:t> </a:t>
            </a:r>
            <a:r>
              <a:rPr sz="2800" dirty="0">
                <a:latin typeface="Calibri"/>
                <a:cs typeface="Calibri"/>
              </a:rPr>
              <a:t>how</a:t>
            </a:r>
            <a:r>
              <a:rPr sz="2800" spc="-70" dirty="0">
                <a:latin typeface="Calibri"/>
                <a:cs typeface="Calibri"/>
              </a:rPr>
              <a:t> </a:t>
            </a:r>
            <a:r>
              <a:rPr sz="2800" dirty="0">
                <a:latin typeface="Calibri"/>
                <a:cs typeface="Calibri"/>
              </a:rPr>
              <a:t>to</a:t>
            </a:r>
            <a:r>
              <a:rPr sz="2800" spc="-85" dirty="0">
                <a:latin typeface="Calibri"/>
                <a:cs typeface="Calibri"/>
              </a:rPr>
              <a:t> </a:t>
            </a:r>
            <a:r>
              <a:rPr sz="2800" spc="-10" dirty="0">
                <a:latin typeface="Calibri"/>
                <a:cs typeface="Calibri"/>
              </a:rPr>
              <a:t>create</a:t>
            </a:r>
            <a:r>
              <a:rPr sz="2800" spc="-85" dirty="0">
                <a:latin typeface="Calibri"/>
                <a:cs typeface="Calibri"/>
              </a:rPr>
              <a:t> </a:t>
            </a:r>
            <a:r>
              <a:rPr sz="2800" spc="-50" dirty="0">
                <a:latin typeface="Calibri"/>
                <a:cs typeface="Calibri"/>
              </a:rPr>
              <a:t>a </a:t>
            </a:r>
            <a:r>
              <a:rPr sz="2800" spc="-20" dirty="0">
                <a:latin typeface="Calibri"/>
                <a:cs typeface="Calibri"/>
              </a:rPr>
              <a:t>stakeholder</a:t>
            </a:r>
            <a:r>
              <a:rPr sz="2800" spc="-70" dirty="0">
                <a:latin typeface="Calibri"/>
                <a:cs typeface="Calibri"/>
              </a:rPr>
              <a:t> </a:t>
            </a:r>
            <a:r>
              <a:rPr sz="2800" spc="-40" dirty="0">
                <a:latin typeface="Calibri"/>
                <a:cs typeface="Calibri"/>
              </a:rPr>
              <a:t>register,</a:t>
            </a:r>
            <a:r>
              <a:rPr sz="2800" spc="-80" dirty="0">
                <a:latin typeface="Calibri"/>
                <a:cs typeface="Calibri"/>
              </a:rPr>
              <a:t> </a:t>
            </a:r>
            <a:r>
              <a:rPr sz="2800" dirty="0">
                <a:latin typeface="Calibri"/>
                <a:cs typeface="Calibri"/>
              </a:rPr>
              <a:t>how</a:t>
            </a:r>
            <a:r>
              <a:rPr sz="2800" spc="-65" dirty="0">
                <a:latin typeface="Calibri"/>
                <a:cs typeface="Calibri"/>
              </a:rPr>
              <a:t> </a:t>
            </a:r>
            <a:r>
              <a:rPr sz="2800" dirty="0">
                <a:latin typeface="Calibri"/>
                <a:cs typeface="Calibri"/>
              </a:rPr>
              <a:t>to</a:t>
            </a:r>
            <a:r>
              <a:rPr sz="2800" spc="-85" dirty="0">
                <a:latin typeface="Calibri"/>
                <a:cs typeface="Calibri"/>
              </a:rPr>
              <a:t> </a:t>
            </a:r>
            <a:r>
              <a:rPr sz="2800" spc="-10" dirty="0">
                <a:latin typeface="Calibri"/>
                <a:cs typeface="Calibri"/>
              </a:rPr>
              <a:t>perform</a:t>
            </a:r>
            <a:r>
              <a:rPr sz="2800" spc="-70" dirty="0">
                <a:latin typeface="Calibri"/>
                <a:cs typeface="Calibri"/>
              </a:rPr>
              <a:t> </a:t>
            </a:r>
            <a:r>
              <a:rPr sz="2800" dirty="0">
                <a:latin typeface="Calibri"/>
                <a:cs typeface="Calibri"/>
              </a:rPr>
              <a:t>a</a:t>
            </a:r>
            <a:r>
              <a:rPr sz="2800" spc="-80" dirty="0">
                <a:latin typeface="Calibri"/>
                <a:cs typeface="Calibri"/>
              </a:rPr>
              <a:t> </a:t>
            </a:r>
            <a:r>
              <a:rPr sz="2800" spc="-20" dirty="0">
                <a:latin typeface="Calibri"/>
                <a:cs typeface="Calibri"/>
              </a:rPr>
              <a:t>stakeholder</a:t>
            </a:r>
            <a:r>
              <a:rPr sz="2800" spc="-70" dirty="0">
                <a:latin typeface="Calibri"/>
                <a:cs typeface="Calibri"/>
              </a:rPr>
              <a:t> </a:t>
            </a:r>
            <a:r>
              <a:rPr sz="2800" dirty="0">
                <a:latin typeface="Calibri"/>
                <a:cs typeface="Calibri"/>
              </a:rPr>
              <a:t>analysis</a:t>
            </a:r>
            <a:r>
              <a:rPr sz="2800" spc="-65" dirty="0">
                <a:latin typeface="Calibri"/>
                <a:cs typeface="Calibri"/>
              </a:rPr>
              <a:t> </a:t>
            </a:r>
            <a:r>
              <a:rPr sz="2800" spc="-25" dirty="0">
                <a:latin typeface="Calibri"/>
                <a:cs typeface="Calibri"/>
              </a:rPr>
              <a:t>and </a:t>
            </a:r>
            <a:r>
              <a:rPr sz="2800" dirty="0">
                <a:latin typeface="Calibri"/>
                <a:cs typeface="Calibri"/>
              </a:rPr>
              <a:t>create</a:t>
            </a:r>
            <a:r>
              <a:rPr sz="2800" spc="440" dirty="0">
                <a:latin typeface="Calibri"/>
                <a:cs typeface="Calibri"/>
              </a:rPr>
              <a:t> </a:t>
            </a:r>
            <a:r>
              <a:rPr lang="en-NZ" sz="2800" spc="440" dirty="0">
                <a:latin typeface="Calibri"/>
                <a:cs typeface="Calibri"/>
              </a:rPr>
              <a:t>a </a:t>
            </a:r>
            <a:r>
              <a:rPr sz="2800" spc="-20" dirty="0">
                <a:latin typeface="Calibri"/>
                <a:cs typeface="Calibri"/>
              </a:rPr>
              <a:t>stakeholder</a:t>
            </a:r>
            <a:r>
              <a:rPr sz="2800" spc="-80" dirty="0">
                <a:latin typeface="Calibri"/>
                <a:cs typeface="Calibri"/>
              </a:rPr>
              <a:t> </a:t>
            </a:r>
            <a:r>
              <a:rPr sz="2800" spc="-20" dirty="0">
                <a:latin typeface="Calibri"/>
                <a:cs typeface="Calibri"/>
              </a:rPr>
              <a:t>strategy</a:t>
            </a:r>
            <a:r>
              <a:rPr sz="2800" spc="-100" dirty="0">
                <a:latin typeface="Calibri"/>
                <a:cs typeface="Calibri"/>
              </a:rPr>
              <a:t> </a:t>
            </a:r>
            <a:r>
              <a:rPr sz="2800" spc="-10" dirty="0">
                <a:latin typeface="Calibri"/>
                <a:cs typeface="Calibri"/>
              </a:rPr>
              <a:t>management</a:t>
            </a:r>
            <a:r>
              <a:rPr sz="2800" spc="-85" dirty="0">
                <a:latin typeface="Calibri"/>
                <a:cs typeface="Calibri"/>
              </a:rPr>
              <a:t> </a:t>
            </a:r>
            <a:r>
              <a:rPr sz="2800" spc="-10" dirty="0">
                <a:latin typeface="Calibri"/>
                <a:cs typeface="Calibri"/>
              </a:rPr>
              <a:t>document</a:t>
            </a:r>
            <a:endParaRPr lang="en-NZ" sz="2800" spc="-10" dirty="0">
              <a:latin typeface="Calibri"/>
              <a:cs typeface="Calibri"/>
            </a:endParaRPr>
          </a:p>
          <a:p>
            <a:pPr marL="241300" marR="117475" indent="-229235" algn="just">
              <a:lnSpc>
                <a:spcPts val="3020"/>
              </a:lnSpc>
              <a:spcBef>
                <a:spcPts val="1060"/>
              </a:spcBef>
              <a:buClr>
                <a:srgbClr val="F5821F"/>
              </a:buClr>
              <a:buFont typeface="Arial"/>
              <a:buChar char="•"/>
              <a:tabLst>
                <a:tab pos="241300" algn="l"/>
              </a:tabLst>
            </a:pPr>
            <a:r>
              <a:rPr lang="en-US" sz="2800" dirty="0">
                <a:highlight>
                  <a:srgbClr val="00FF00"/>
                </a:highlight>
                <a:latin typeface="Calibri"/>
                <a:cs typeface="Calibri"/>
              </a:rPr>
              <a:t>Understand how to develop a Stakeholder register, Stakeholder management strategy, risk register, Issue management, and financial analysis.</a:t>
            </a:r>
          </a:p>
          <a:p>
            <a:pPr marL="241300" marR="117475" indent="-229235" algn="just">
              <a:lnSpc>
                <a:spcPts val="3020"/>
              </a:lnSpc>
              <a:spcBef>
                <a:spcPts val="1060"/>
              </a:spcBef>
              <a:buClr>
                <a:srgbClr val="F5821F"/>
              </a:buClr>
              <a:buFont typeface="Arial"/>
              <a:buChar char="•"/>
              <a:tabLst>
                <a:tab pos="241300" algn="l"/>
              </a:tabLst>
            </a:pPr>
            <a:endParaRPr sz="2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7479" rIns="0" bIns="0" rtlCol="0">
            <a:spAutoFit/>
          </a:bodyPr>
          <a:lstStyle/>
          <a:p>
            <a:pPr marL="92075" marR="5080">
              <a:lnSpc>
                <a:spcPts val="4750"/>
              </a:lnSpc>
              <a:spcBef>
                <a:spcPts val="700"/>
              </a:spcBef>
            </a:pPr>
            <a:r>
              <a:rPr dirty="0"/>
              <a:t>Importance</a:t>
            </a:r>
            <a:r>
              <a:rPr spc="-60" dirty="0"/>
              <a:t> </a:t>
            </a:r>
            <a:r>
              <a:rPr dirty="0"/>
              <a:t>of</a:t>
            </a:r>
            <a:r>
              <a:rPr spc="-55" dirty="0"/>
              <a:t> </a:t>
            </a:r>
            <a:r>
              <a:rPr dirty="0"/>
              <a:t>Project</a:t>
            </a:r>
            <a:r>
              <a:rPr spc="-65" dirty="0"/>
              <a:t> </a:t>
            </a:r>
            <a:r>
              <a:rPr spc="-20" dirty="0"/>
              <a:t>Stakeholder </a:t>
            </a:r>
            <a:r>
              <a:rPr spc="-10" dirty="0"/>
              <a:t>Management</a:t>
            </a:r>
          </a:p>
        </p:txBody>
      </p:sp>
      <p:sp>
        <p:nvSpPr>
          <p:cNvPr id="3" name="object 3"/>
          <p:cNvSpPr txBox="1"/>
          <p:nvPr/>
        </p:nvSpPr>
        <p:spPr>
          <a:xfrm>
            <a:off x="1539366" y="1821560"/>
            <a:ext cx="10193020" cy="2523490"/>
          </a:xfrm>
          <a:prstGeom prst="rect">
            <a:avLst/>
          </a:prstGeom>
        </p:spPr>
        <p:txBody>
          <a:bodyPr vert="horz" wrap="square" lIns="0" tIns="48895" rIns="0" bIns="0" rtlCol="0">
            <a:spAutoFit/>
          </a:bodyPr>
          <a:lstStyle/>
          <a:p>
            <a:pPr marL="241300" marR="5080" indent="-229235" algn="just">
              <a:lnSpc>
                <a:spcPct val="90100"/>
              </a:lnSpc>
              <a:spcBef>
                <a:spcPts val="385"/>
              </a:spcBef>
              <a:buClr>
                <a:srgbClr val="F5821F"/>
              </a:buClr>
              <a:buFont typeface="Arial"/>
              <a:buChar char="•"/>
              <a:tabLst>
                <a:tab pos="241300" algn="l"/>
              </a:tabLst>
            </a:pPr>
            <a:r>
              <a:rPr sz="2400" dirty="0">
                <a:latin typeface="Calibri"/>
                <a:cs typeface="Calibri"/>
              </a:rPr>
              <a:t>Because</a:t>
            </a:r>
            <a:r>
              <a:rPr sz="2400" spc="-40" dirty="0">
                <a:latin typeface="Calibri"/>
                <a:cs typeface="Calibri"/>
              </a:rPr>
              <a:t> </a:t>
            </a:r>
            <a:r>
              <a:rPr sz="2400" spc="-10" dirty="0">
                <a:latin typeface="Calibri"/>
                <a:cs typeface="Calibri"/>
              </a:rPr>
              <a:t>stakeholder</a:t>
            </a:r>
            <a:r>
              <a:rPr sz="2400" spc="-45" dirty="0">
                <a:latin typeface="Calibri"/>
                <a:cs typeface="Calibri"/>
              </a:rPr>
              <a:t> </a:t>
            </a:r>
            <a:r>
              <a:rPr sz="2400" dirty="0">
                <a:latin typeface="Calibri"/>
                <a:cs typeface="Calibri"/>
              </a:rPr>
              <a:t>management</a:t>
            </a:r>
            <a:r>
              <a:rPr sz="2400" spc="-30" dirty="0">
                <a:latin typeface="Calibri"/>
                <a:cs typeface="Calibri"/>
              </a:rPr>
              <a:t> </a:t>
            </a:r>
            <a:r>
              <a:rPr sz="2400" dirty="0">
                <a:latin typeface="Calibri"/>
                <a:cs typeface="Calibri"/>
              </a:rPr>
              <a:t>is</a:t>
            </a:r>
            <a:r>
              <a:rPr sz="2400" spc="-40" dirty="0">
                <a:latin typeface="Calibri"/>
                <a:cs typeface="Calibri"/>
              </a:rPr>
              <a:t> </a:t>
            </a:r>
            <a:r>
              <a:rPr sz="2400" dirty="0">
                <a:latin typeface="Calibri"/>
                <a:cs typeface="Calibri"/>
              </a:rPr>
              <a:t>so</a:t>
            </a:r>
            <a:r>
              <a:rPr sz="2400" spc="-25" dirty="0">
                <a:latin typeface="Calibri"/>
                <a:cs typeface="Calibri"/>
              </a:rPr>
              <a:t> </a:t>
            </a:r>
            <a:r>
              <a:rPr sz="2400" dirty="0">
                <a:latin typeface="Calibri"/>
                <a:cs typeface="Calibri"/>
              </a:rPr>
              <a:t>important</a:t>
            </a:r>
            <a:r>
              <a:rPr sz="2400" spc="-45" dirty="0">
                <a:latin typeface="Calibri"/>
                <a:cs typeface="Calibri"/>
              </a:rPr>
              <a:t> </a:t>
            </a:r>
            <a:r>
              <a:rPr sz="2400" dirty="0">
                <a:latin typeface="Calibri"/>
                <a:cs typeface="Calibri"/>
              </a:rPr>
              <a:t>to</a:t>
            </a:r>
            <a:r>
              <a:rPr sz="2400" spc="-45" dirty="0">
                <a:latin typeface="Calibri"/>
                <a:cs typeface="Calibri"/>
              </a:rPr>
              <a:t> </a:t>
            </a:r>
            <a:r>
              <a:rPr sz="2400" dirty="0">
                <a:latin typeface="Calibri"/>
                <a:cs typeface="Calibri"/>
              </a:rPr>
              <a:t>project</a:t>
            </a:r>
            <a:r>
              <a:rPr sz="2400" spc="-25" dirty="0">
                <a:latin typeface="Calibri"/>
                <a:cs typeface="Calibri"/>
              </a:rPr>
              <a:t> </a:t>
            </a:r>
            <a:r>
              <a:rPr sz="2400" dirty="0">
                <a:latin typeface="Calibri"/>
                <a:cs typeface="Calibri"/>
              </a:rPr>
              <a:t>success,</a:t>
            </a:r>
            <a:r>
              <a:rPr sz="2400" spc="-40" dirty="0">
                <a:latin typeface="Calibri"/>
                <a:cs typeface="Calibri"/>
              </a:rPr>
              <a:t> </a:t>
            </a:r>
            <a:r>
              <a:rPr sz="2400" dirty="0">
                <a:latin typeface="Calibri"/>
                <a:cs typeface="Calibri"/>
              </a:rPr>
              <a:t>the</a:t>
            </a:r>
            <a:r>
              <a:rPr sz="2400" spc="-15" dirty="0">
                <a:latin typeface="Calibri"/>
                <a:cs typeface="Calibri"/>
              </a:rPr>
              <a:t> </a:t>
            </a:r>
            <a:r>
              <a:rPr sz="2400" spc="-10" dirty="0">
                <a:latin typeface="Calibri"/>
                <a:cs typeface="Calibri"/>
              </a:rPr>
              <a:t>Project </a:t>
            </a:r>
            <a:r>
              <a:rPr sz="2400" dirty="0">
                <a:latin typeface="Calibri"/>
                <a:cs typeface="Calibri"/>
              </a:rPr>
              <a:t>Management</a:t>
            </a:r>
            <a:r>
              <a:rPr sz="2400" spc="-70" dirty="0">
                <a:latin typeface="Calibri"/>
                <a:cs typeface="Calibri"/>
              </a:rPr>
              <a:t> </a:t>
            </a:r>
            <a:r>
              <a:rPr sz="2400" dirty="0">
                <a:latin typeface="Calibri"/>
                <a:cs typeface="Calibri"/>
              </a:rPr>
              <a:t>Institute</a:t>
            </a:r>
            <a:r>
              <a:rPr sz="2400" spc="-60" dirty="0">
                <a:latin typeface="Calibri"/>
                <a:cs typeface="Calibri"/>
              </a:rPr>
              <a:t> </a:t>
            </a:r>
            <a:r>
              <a:rPr sz="2400" dirty="0">
                <a:latin typeface="Calibri"/>
                <a:cs typeface="Calibri"/>
              </a:rPr>
              <a:t>decided</a:t>
            </a:r>
            <a:r>
              <a:rPr sz="2400" spc="-6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create</a:t>
            </a:r>
            <a:r>
              <a:rPr sz="2400" spc="-60" dirty="0">
                <a:latin typeface="Calibri"/>
                <a:cs typeface="Calibri"/>
              </a:rPr>
              <a:t> </a:t>
            </a:r>
            <a:r>
              <a:rPr sz="2400" dirty="0">
                <a:latin typeface="Calibri"/>
                <a:cs typeface="Calibri"/>
              </a:rPr>
              <a:t>an</a:t>
            </a:r>
            <a:r>
              <a:rPr sz="2400" spc="-50" dirty="0">
                <a:latin typeface="Calibri"/>
                <a:cs typeface="Calibri"/>
              </a:rPr>
              <a:t> </a:t>
            </a:r>
            <a:r>
              <a:rPr sz="2400" dirty="0">
                <a:latin typeface="Calibri"/>
                <a:cs typeface="Calibri"/>
              </a:rPr>
              <a:t>entire</a:t>
            </a:r>
            <a:r>
              <a:rPr sz="2400" spc="-60" dirty="0">
                <a:latin typeface="Calibri"/>
                <a:cs typeface="Calibri"/>
              </a:rPr>
              <a:t> </a:t>
            </a:r>
            <a:r>
              <a:rPr sz="2400" dirty="0">
                <a:latin typeface="Calibri"/>
                <a:cs typeface="Calibri"/>
              </a:rPr>
              <a:t>knowledge</a:t>
            </a:r>
            <a:r>
              <a:rPr sz="2400" spc="-50" dirty="0">
                <a:latin typeface="Calibri"/>
                <a:cs typeface="Calibri"/>
              </a:rPr>
              <a:t> </a:t>
            </a:r>
            <a:r>
              <a:rPr sz="2400" dirty="0">
                <a:latin typeface="Calibri"/>
                <a:cs typeface="Calibri"/>
              </a:rPr>
              <a:t>area</a:t>
            </a:r>
            <a:r>
              <a:rPr sz="2400" spc="-45" dirty="0">
                <a:latin typeface="Calibri"/>
                <a:cs typeface="Calibri"/>
              </a:rPr>
              <a:t> </a:t>
            </a:r>
            <a:r>
              <a:rPr sz="2400" dirty="0">
                <a:latin typeface="Calibri"/>
                <a:cs typeface="Calibri"/>
              </a:rPr>
              <a:t>devoted</a:t>
            </a:r>
            <a:r>
              <a:rPr sz="2400" spc="-45" dirty="0">
                <a:latin typeface="Calibri"/>
                <a:cs typeface="Calibri"/>
              </a:rPr>
              <a:t> </a:t>
            </a:r>
            <a:r>
              <a:rPr sz="2400" dirty="0">
                <a:latin typeface="Calibri"/>
                <a:cs typeface="Calibri"/>
              </a:rPr>
              <a:t>to</a:t>
            </a:r>
            <a:r>
              <a:rPr sz="2400" spc="-65" dirty="0">
                <a:latin typeface="Calibri"/>
                <a:cs typeface="Calibri"/>
              </a:rPr>
              <a:t> </a:t>
            </a:r>
            <a:r>
              <a:rPr sz="2400" spc="-25" dirty="0">
                <a:latin typeface="Calibri"/>
                <a:cs typeface="Calibri"/>
              </a:rPr>
              <a:t>it </a:t>
            </a:r>
            <a:r>
              <a:rPr sz="2400" dirty="0">
                <a:latin typeface="Calibri"/>
                <a:cs typeface="Calibri"/>
              </a:rPr>
              <a:t>as</a:t>
            </a:r>
            <a:r>
              <a:rPr sz="2400" spc="-15" dirty="0">
                <a:latin typeface="Calibri"/>
                <a:cs typeface="Calibri"/>
              </a:rPr>
              <a:t> </a:t>
            </a:r>
            <a:r>
              <a:rPr sz="2400" dirty="0">
                <a:latin typeface="Calibri"/>
                <a:cs typeface="Calibri"/>
              </a:rPr>
              <a:t>part</a:t>
            </a:r>
            <a:r>
              <a:rPr sz="2400" spc="-25" dirty="0">
                <a:latin typeface="Calibri"/>
                <a:cs typeface="Calibri"/>
              </a:rPr>
              <a:t> </a:t>
            </a:r>
            <a:r>
              <a:rPr sz="2400" dirty="0">
                <a:latin typeface="Calibri"/>
                <a:cs typeface="Calibri"/>
              </a:rPr>
              <a:t>of</a:t>
            </a:r>
            <a:r>
              <a:rPr sz="2400" spc="-20"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Fifth</a:t>
            </a:r>
            <a:r>
              <a:rPr sz="2400" spc="-15" dirty="0">
                <a:latin typeface="Calibri"/>
                <a:cs typeface="Calibri"/>
              </a:rPr>
              <a:t> </a:t>
            </a:r>
            <a:r>
              <a:rPr sz="2400" dirty="0">
                <a:latin typeface="Calibri"/>
                <a:cs typeface="Calibri"/>
              </a:rPr>
              <a:t>Edition</a:t>
            </a:r>
            <a:r>
              <a:rPr sz="2400" spc="-20" dirty="0">
                <a:latin typeface="Calibri"/>
                <a:cs typeface="Calibri"/>
              </a:rPr>
              <a:t> </a:t>
            </a:r>
            <a:r>
              <a:rPr sz="2400" dirty="0">
                <a:latin typeface="Calibri"/>
                <a:cs typeface="Calibri"/>
              </a:rPr>
              <a:t>of</a:t>
            </a:r>
            <a:r>
              <a:rPr sz="2400" spc="-20"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PMBOK®</a:t>
            </a:r>
            <a:r>
              <a:rPr sz="2400" spc="-35" dirty="0">
                <a:latin typeface="Calibri"/>
                <a:cs typeface="Calibri"/>
              </a:rPr>
              <a:t> </a:t>
            </a:r>
            <a:r>
              <a:rPr sz="2400" dirty="0">
                <a:latin typeface="Calibri"/>
                <a:cs typeface="Calibri"/>
              </a:rPr>
              <a:t>Guide</a:t>
            </a:r>
            <a:r>
              <a:rPr sz="2400" spc="-10" dirty="0">
                <a:latin typeface="Calibri"/>
                <a:cs typeface="Calibri"/>
              </a:rPr>
              <a:t> </a:t>
            </a:r>
            <a:r>
              <a:rPr sz="2400" dirty="0">
                <a:latin typeface="Calibri"/>
                <a:cs typeface="Calibri"/>
              </a:rPr>
              <a:t>in</a:t>
            </a:r>
            <a:r>
              <a:rPr sz="2400" spc="-10" dirty="0">
                <a:latin typeface="Calibri"/>
                <a:cs typeface="Calibri"/>
              </a:rPr>
              <a:t> </a:t>
            </a:r>
            <a:r>
              <a:rPr sz="2400" spc="-20" dirty="0">
                <a:latin typeface="Calibri"/>
                <a:cs typeface="Calibri"/>
              </a:rPr>
              <a:t>2012</a:t>
            </a:r>
            <a:endParaRPr sz="2400">
              <a:latin typeface="Calibri"/>
              <a:cs typeface="Calibri"/>
            </a:endParaRPr>
          </a:p>
          <a:p>
            <a:pPr marL="241300" indent="-228600" algn="just">
              <a:lnSpc>
                <a:spcPct val="100000"/>
              </a:lnSpc>
              <a:spcBef>
                <a:spcPts val="720"/>
              </a:spcBef>
              <a:buClr>
                <a:srgbClr val="F5821F"/>
              </a:buClr>
              <a:buFont typeface="Arial"/>
              <a:buChar char="•"/>
              <a:tabLst>
                <a:tab pos="241300" algn="l"/>
              </a:tabLst>
            </a:pPr>
            <a:r>
              <a:rPr sz="2400" dirty="0">
                <a:latin typeface="Calibri"/>
                <a:cs typeface="Calibri"/>
              </a:rPr>
              <a:t>The</a:t>
            </a:r>
            <a:r>
              <a:rPr sz="2400" spc="-20" dirty="0">
                <a:latin typeface="Calibri"/>
                <a:cs typeface="Calibri"/>
              </a:rPr>
              <a:t> </a:t>
            </a:r>
            <a:r>
              <a:rPr sz="2400" dirty="0">
                <a:latin typeface="Calibri"/>
                <a:cs typeface="Calibri"/>
              </a:rPr>
              <a:t>purpose</a:t>
            </a:r>
            <a:r>
              <a:rPr sz="2400" spc="-10" dirty="0">
                <a:latin typeface="Calibri"/>
                <a:cs typeface="Calibri"/>
              </a:rPr>
              <a:t> </a:t>
            </a:r>
            <a:r>
              <a:rPr sz="2400" dirty="0">
                <a:latin typeface="Calibri"/>
                <a:cs typeface="Calibri"/>
              </a:rPr>
              <a:t>of</a:t>
            </a:r>
            <a:r>
              <a:rPr sz="2400" spc="-10" dirty="0">
                <a:latin typeface="Calibri"/>
                <a:cs typeface="Calibri"/>
              </a:rPr>
              <a:t> </a:t>
            </a:r>
            <a:r>
              <a:rPr sz="2400" dirty="0">
                <a:latin typeface="Calibri"/>
                <a:cs typeface="Calibri"/>
              </a:rPr>
              <a:t>project</a:t>
            </a:r>
            <a:r>
              <a:rPr sz="2400" spc="-20" dirty="0">
                <a:latin typeface="Calibri"/>
                <a:cs typeface="Calibri"/>
              </a:rPr>
              <a:t> </a:t>
            </a:r>
            <a:r>
              <a:rPr sz="2400" spc="-10" dirty="0">
                <a:latin typeface="Calibri"/>
                <a:cs typeface="Calibri"/>
              </a:rPr>
              <a:t>stakeholder</a:t>
            </a:r>
            <a:r>
              <a:rPr sz="2400" spc="-35" dirty="0">
                <a:latin typeface="Calibri"/>
                <a:cs typeface="Calibri"/>
              </a:rPr>
              <a:t> </a:t>
            </a:r>
            <a:r>
              <a:rPr sz="2400" spc="-10" dirty="0">
                <a:latin typeface="Calibri"/>
                <a:cs typeface="Calibri"/>
              </a:rPr>
              <a:t>management</a:t>
            </a:r>
            <a:endParaRPr sz="2400">
              <a:latin typeface="Calibri"/>
              <a:cs typeface="Calibri"/>
            </a:endParaRPr>
          </a:p>
          <a:p>
            <a:pPr marL="698500" lvl="1" indent="-228600">
              <a:lnSpc>
                <a:spcPct val="100000"/>
              </a:lnSpc>
              <a:spcBef>
                <a:spcPts val="280"/>
              </a:spcBef>
              <a:buClr>
                <a:srgbClr val="F5821F"/>
              </a:buClr>
              <a:buFont typeface="Arial"/>
              <a:buChar char="•"/>
              <a:tabLst>
                <a:tab pos="698500" algn="l"/>
              </a:tabLst>
            </a:pPr>
            <a:r>
              <a:rPr sz="2000" dirty="0">
                <a:latin typeface="Calibri"/>
                <a:cs typeface="Calibri"/>
              </a:rPr>
              <a:t>is</a:t>
            </a:r>
            <a:r>
              <a:rPr sz="2000" spc="-35" dirty="0">
                <a:latin typeface="Calibri"/>
                <a:cs typeface="Calibri"/>
              </a:rPr>
              <a:t> </a:t>
            </a:r>
            <a:r>
              <a:rPr sz="2000" dirty="0">
                <a:latin typeface="Calibri"/>
                <a:cs typeface="Calibri"/>
              </a:rPr>
              <a:t>to</a:t>
            </a:r>
            <a:r>
              <a:rPr sz="2000" spc="-35" dirty="0">
                <a:latin typeface="Calibri"/>
                <a:cs typeface="Calibri"/>
              </a:rPr>
              <a:t> </a:t>
            </a:r>
            <a:r>
              <a:rPr sz="2000" dirty="0">
                <a:latin typeface="Calibri"/>
                <a:cs typeface="Calibri"/>
              </a:rPr>
              <a:t>identify</a:t>
            </a:r>
            <a:r>
              <a:rPr sz="2000" spc="-25" dirty="0">
                <a:latin typeface="Calibri"/>
                <a:cs typeface="Calibri"/>
              </a:rPr>
              <a:t> </a:t>
            </a:r>
            <a:r>
              <a:rPr sz="2000" dirty="0">
                <a:latin typeface="Calibri"/>
                <a:cs typeface="Calibri"/>
              </a:rPr>
              <a:t>all</a:t>
            </a:r>
            <a:r>
              <a:rPr sz="2000" spc="-20" dirty="0">
                <a:latin typeface="Calibri"/>
                <a:cs typeface="Calibri"/>
              </a:rPr>
              <a:t> </a:t>
            </a:r>
            <a:r>
              <a:rPr sz="2000" spc="-10" dirty="0">
                <a:latin typeface="Calibri"/>
                <a:cs typeface="Calibri"/>
              </a:rPr>
              <a:t>stakeholders</a:t>
            </a:r>
            <a:r>
              <a:rPr sz="2000" spc="-20" dirty="0">
                <a:latin typeface="Calibri"/>
                <a:cs typeface="Calibri"/>
              </a:rPr>
              <a:t> </a:t>
            </a:r>
            <a:r>
              <a:rPr sz="2000" spc="-10" dirty="0">
                <a:latin typeface="Calibri"/>
                <a:cs typeface="Calibri"/>
              </a:rPr>
              <a:t>(people/organizations),</a:t>
            </a:r>
            <a:endParaRPr sz="2000">
              <a:latin typeface="Calibri"/>
              <a:cs typeface="Calibri"/>
            </a:endParaRPr>
          </a:p>
          <a:p>
            <a:pPr marL="698500" lvl="1" indent="-228600">
              <a:lnSpc>
                <a:spcPct val="100000"/>
              </a:lnSpc>
              <a:spcBef>
                <a:spcPts val="265"/>
              </a:spcBef>
              <a:buClr>
                <a:srgbClr val="F5821F"/>
              </a:buClr>
              <a:buFont typeface="Arial"/>
              <a:buChar char="•"/>
              <a:tabLst>
                <a:tab pos="698500" algn="l"/>
              </a:tabLst>
            </a:pPr>
            <a:r>
              <a:rPr sz="2000" dirty="0">
                <a:latin typeface="Calibri"/>
                <a:cs typeface="Calibri"/>
              </a:rPr>
              <a:t>learn</a:t>
            </a:r>
            <a:r>
              <a:rPr sz="2000" spc="-15" dirty="0">
                <a:latin typeface="Calibri"/>
                <a:cs typeface="Calibri"/>
              </a:rPr>
              <a:t> </a:t>
            </a:r>
            <a:r>
              <a:rPr sz="2000" dirty="0">
                <a:latin typeface="Calibri"/>
                <a:cs typeface="Calibri"/>
              </a:rPr>
              <a:t>their </a:t>
            </a:r>
            <a:r>
              <a:rPr sz="2000" spc="-10" dirty="0">
                <a:latin typeface="Calibri"/>
                <a:cs typeface="Calibri"/>
              </a:rPr>
              <a:t>expectations,</a:t>
            </a:r>
            <a:endParaRPr sz="2000">
              <a:latin typeface="Calibri"/>
              <a:cs typeface="Calibri"/>
            </a:endParaRPr>
          </a:p>
          <a:p>
            <a:pPr marL="698500" lvl="1" indent="-228600">
              <a:lnSpc>
                <a:spcPct val="100000"/>
              </a:lnSpc>
              <a:spcBef>
                <a:spcPts val="250"/>
              </a:spcBef>
              <a:buClr>
                <a:srgbClr val="F5821F"/>
              </a:buClr>
              <a:buFont typeface="Arial"/>
              <a:buChar char="•"/>
              <a:tabLst>
                <a:tab pos="698500" algn="l"/>
              </a:tabLst>
            </a:pPr>
            <a:r>
              <a:rPr sz="2000" dirty="0">
                <a:latin typeface="Calibri"/>
                <a:cs typeface="Calibri"/>
              </a:rPr>
              <a:t>identify</a:t>
            </a:r>
            <a:r>
              <a:rPr sz="2000" spc="-35" dirty="0">
                <a:latin typeface="Calibri"/>
                <a:cs typeface="Calibri"/>
              </a:rPr>
              <a:t> </a:t>
            </a:r>
            <a:r>
              <a:rPr sz="2000" dirty="0">
                <a:latin typeface="Calibri"/>
                <a:cs typeface="Calibri"/>
              </a:rPr>
              <a:t>the</a:t>
            </a:r>
            <a:r>
              <a:rPr sz="2000" spc="-20" dirty="0">
                <a:latin typeface="Calibri"/>
                <a:cs typeface="Calibri"/>
              </a:rPr>
              <a:t> </a:t>
            </a:r>
            <a:r>
              <a:rPr sz="2000" dirty="0">
                <a:latin typeface="Calibri"/>
                <a:cs typeface="Calibri"/>
              </a:rPr>
              <a:t>critical</a:t>
            </a:r>
            <a:r>
              <a:rPr sz="2000" spc="-15" dirty="0">
                <a:latin typeface="Calibri"/>
                <a:cs typeface="Calibri"/>
              </a:rPr>
              <a:t> </a:t>
            </a:r>
            <a:r>
              <a:rPr sz="2000" dirty="0">
                <a:latin typeface="Calibri"/>
                <a:cs typeface="Calibri"/>
              </a:rPr>
              <a:t>ones</a:t>
            </a:r>
            <a:r>
              <a:rPr sz="2000" spc="-20" dirty="0">
                <a:latin typeface="Calibri"/>
                <a:cs typeface="Calibri"/>
              </a:rPr>
              <a:t> </a:t>
            </a:r>
            <a:r>
              <a:rPr sz="2000" dirty="0">
                <a:latin typeface="Calibri"/>
                <a:cs typeface="Calibri"/>
              </a:rPr>
              <a:t>and</a:t>
            </a:r>
            <a:r>
              <a:rPr sz="2000" spc="-35" dirty="0">
                <a:latin typeface="Calibri"/>
                <a:cs typeface="Calibri"/>
              </a:rPr>
              <a:t> </a:t>
            </a:r>
            <a:r>
              <a:rPr sz="2000" spc="-10" dirty="0">
                <a:latin typeface="Calibri"/>
                <a:cs typeface="Calibri"/>
              </a:rPr>
              <a:t>effectively</a:t>
            </a:r>
            <a:r>
              <a:rPr sz="2000" spc="-5" dirty="0">
                <a:latin typeface="Calibri"/>
                <a:cs typeface="Calibri"/>
              </a:rPr>
              <a:t> </a:t>
            </a:r>
            <a:r>
              <a:rPr sz="2000" dirty="0">
                <a:latin typeface="Calibri"/>
                <a:cs typeface="Calibri"/>
              </a:rPr>
              <a:t>engage</a:t>
            </a:r>
            <a:r>
              <a:rPr sz="2000" spc="-45" dirty="0">
                <a:latin typeface="Calibri"/>
                <a:cs typeface="Calibri"/>
              </a:rPr>
              <a:t> </a:t>
            </a:r>
            <a:r>
              <a:rPr sz="2000" dirty="0">
                <a:latin typeface="Calibri"/>
                <a:cs typeface="Calibri"/>
              </a:rPr>
              <a:t>with</a:t>
            </a:r>
            <a:r>
              <a:rPr sz="2000" spc="-15" dirty="0">
                <a:latin typeface="Calibri"/>
                <a:cs typeface="Calibri"/>
              </a:rPr>
              <a:t> </a:t>
            </a:r>
            <a:r>
              <a:rPr sz="2000" spc="-20" dirty="0">
                <a:latin typeface="Calibri"/>
                <a:cs typeface="Calibri"/>
              </a:rPr>
              <a:t>them</a:t>
            </a:r>
            <a:endParaRPr sz="20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7479" rIns="0" bIns="0" rtlCol="0">
            <a:spAutoFit/>
          </a:bodyPr>
          <a:lstStyle/>
          <a:p>
            <a:pPr marL="92075" marR="5080">
              <a:lnSpc>
                <a:spcPts val="4750"/>
              </a:lnSpc>
              <a:spcBef>
                <a:spcPts val="700"/>
              </a:spcBef>
            </a:pPr>
            <a:r>
              <a:rPr dirty="0"/>
              <a:t>Importance</a:t>
            </a:r>
            <a:r>
              <a:rPr spc="-60" dirty="0"/>
              <a:t> </a:t>
            </a:r>
            <a:r>
              <a:rPr dirty="0"/>
              <a:t>of</a:t>
            </a:r>
            <a:r>
              <a:rPr spc="-55" dirty="0"/>
              <a:t> </a:t>
            </a:r>
            <a:r>
              <a:rPr dirty="0"/>
              <a:t>Project</a:t>
            </a:r>
            <a:r>
              <a:rPr spc="-65" dirty="0"/>
              <a:t> </a:t>
            </a:r>
            <a:r>
              <a:rPr spc="-20" dirty="0"/>
              <a:t>Stakeholder </a:t>
            </a:r>
            <a:r>
              <a:rPr spc="-10" dirty="0"/>
              <a:t>Management</a:t>
            </a:r>
          </a:p>
        </p:txBody>
      </p:sp>
      <p:sp>
        <p:nvSpPr>
          <p:cNvPr id="3" name="object 3"/>
          <p:cNvSpPr txBox="1"/>
          <p:nvPr/>
        </p:nvSpPr>
        <p:spPr>
          <a:xfrm>
            <a:off x="1539366" y="1821560"/>
            <a:ext cx="10193020" cy="3657540"/>
          </a:xfrm>
          <a:prstGeom prst="rect">
            <a:avLst/>
          </a:prstGeom>
        </p:spPr>
        <p:txBody>
          <a:bodyPr vert="horz" wrap="square" lIns="0" tIns="48895" rIns="0" bIns="0" rtlCol="0">
            <a:spAutoFit/>
          </a:bodyPr>
          <a:lstStyle/>
          <a:p>
            <a:pPr marL="354965" marR="5080" indent="-342900" algn="just">
              <a:lnSpc>
                <a:spcPct val="90100"/>
              </a:lnSpc>
              <a:spcBef>
                <a:spcPts val="385"/>
              </a:spcBef>
              <a:buClr>
                <a:srgbClr val="F5821F"/>
              </a:buClr>
              <a:buFont typeface="Arial" panose="020B0604020202020204" pitchFamily="34" charset="0"/>
              <a:buChar char="•"/>
              <a:tabLst>
                <a:tab pos="241300" algn="l"/>
              </a:tabLst>
            </a:pPr>
            <a:r>
              <a:rPr lang="en-NZ" sz="2400" dirty="0">
                <a:latin typeface="Calibri"/>
                <a:cs typeface="Calibri"/>
              </a:rPr>
              <a:t>Need to identify all the stakeholders of the project, captured in the stakeholder register. </a:t>
            </a:r>
          </a:p>
          <a:p>
            <a:pPr marL="354965" marR="5080" indent="-342900" algn="just">
              <a:lnSpc>
                <a:spcPct val="90100"/>
              </a:lnSpc>
              <a:spcBef>
                <a:spcPts val="385"/>
              </a:spcBef>
              <a:buClr>
                <a:srgbClr val="F5821F"/>
              </a:buClr>
              <a:buFont typeface="Arial" panose="020B0604020202020204" pitchFamily="34" charset="0"/>
              <a:buChar char="•"/>
              <a:tabLst>
                <a:tab pos="241300" algn="l"/>
              </a:tabLst>
            </a:pPr>
            <a:r>
              <a:rPr lang="en-NZ" sz="2400" dirty="0">
                <a:latin typeface="Calibri"/>
                <a:cs typeface="Calibri"/>
              </a:rPr>
              <a:t>The template used to capture stakeholder details must be comprehensive. Usually need to have the name, position, stakeholder type (category), project role, and contact detail. Adapt to suit your requirements </a:t>
            </a:r>
          </a:p>
          <a:p>
            <a:pPr marL="12065" marR="5080" algn="just">
              <a:lnSpc>
                <a:spcPct val="90100"/>
              </a:lnSpc>
              <a:spcBef>
                <a:spcPts val="385"/>
              </a:spcBef>
              <a:buClr>
                <a:srgbClr val="F5821F"/>
              </a:buClr>
              <a:tabLst>
                <a:tab pos="241300" algn="l"/>
              </a:tabLst>
            </a:pPr>
            <a:r>
              <a:rPr lang="en-NZ" sz="2400" dirty="0">
                <a:latin typeface="Calibri"/>
                <a:cs typeface="Calibri"/>
              </a:rPr>
              <a:t>Two categories-</a:t>
            </a:r>
          </a:p>
          <a:p>
            <a:pPr marL="354965" marR="5080" lvl="7" indent="-342900" algn="just">
              <a:lnSpc>
                <a:spcPct val="90100"/>
              </a:lnSpc>
              <a:spcBef>
                <a:spcPts val="385"/>
              </a:spcBef>
              <a:buClr>
                <a:srgbClr val="F5821F"/>
              </a:buClr>
              <a:buFont typeface="Arial" panose="020B0604020202020204" pitchFamily="34" charset="0"/>
              <a:buChar char="•"/>
              <a:tabLst>
                <a:tab pos="241300" algn="l"/>
              </a:tabLst>
            </a:pPr>
            <a:r>
              <a:rPr lang="en-NZ" i="1" dirty="0">
                <a:latin typeface="Calibri"/>
                <a:cs typeface="Calibri"/>
              </a:rPr>
              <a:t>Internal  stakeholders</a:t>
            </a:r>
            <a:r>
              <a:rPr lang="en-NZ" dirty="0">
                <a:latin typeface="Calibri"/>
                <a:cs typeface="Calibri"/>
              </a:rPr>
              <a:t>- individuals within the organization; the project team members including any other individual interested in the project (passive stakeholders)  </a:t>
            </a:r>
          </a:p>
          <a:p>
            <a:pPr marL="354965" marR="5080" lvl="3" indent="-342900" algn="just">
              <a:lnSpc>
                <a:spcPct val="90100"/>
              </a:lnSpc>
              <a:spcBef>
                <a:spcPts val="385"/>
              </a:spcBef>
              <a:buClr>
                <a:srgbClr val="F5821F"/>
              </a:buClr>
              <a:buFont typeface="Arial" panose="020B0604020202020204" pitchFamily="34" charset="0"/>
              <a:buChar char="•"/>
              <a:tabLst>
                <a:tab pos="241300" algn="l"/>
              </a:tabLst>
            </a:pPr>
            <a:r>
              <a:rPr lang="en-NZ" i="1" dirty="0">
                <a:latin typeface="Calibri"/>
                <a:cs typeface="Calibri"/>
              </a:rPr>
              <a:t>External  Stakeholders</a:t>
            </a:r>
            <a:r>
              <a:rPr lang="en-NZ" sz="2400" dirty="0">
                <a:latin typeface="Calibri"/>
                <a:cs typeface="Calibri"/>
              </a:rPr>
              <a:t>- </a:t>
            </a:r>
            <a:r>
              <a:rPr lang="en-NZ" dirty="0">
                <a:latin typeface="Calibri"/>
                <a:cs typeface="Calibri"/>
              </a:rPr>
              <a:t>outside the organization, suppliers, consultants, contractors, etc. who also contribute to the project</a:t>
            </a:r>
          </a:p>
          <a:p>
            <a:pPr marL="241300" marR="5080" indent="-229235" algn="just">
              <a:lnSpc>
                <a:spcPct val="90100"/>
              </a:lnSpc>
              <a:spcBef>
                <a:spcPts val="385"/>
              </a:spcBef>
              <a:buClr>
                <a:srgbClr val="F5821F"/>
              </a:buClr>
              <a:buFont typeface="Arial"/>
              <a:buChar char="•"/>
              <a:tabLst>
                <a:tab pos="241300" algn="l"/>
              </a:tabLst>
            </a:pPr>
            <a:endParaRPr sz="2000" dirty="0">
              <a:latin typeface="Calibri"/>
              <a:cs typeface="Calibri"/>
            </a:endParaRPr>
          </a:p>
        </p:txBody>
      </p:sp>
    </p:spTree>
    <p:extLst>
      <p:ext uri="{BB962C8B-B14F-4D97-AF65-F5344CB8AC3E}">
        <p14:creationId xmlns:p14="http://schemas.microsoft.com/office/powerpoint/2010/main" val="2687079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1681" rIns="0" bIns="0" rtlCol="0">
            <a:spAutoFit/>
          </a:bodyPr>
          <a:lstStyle/>
          <a:p>
            <a:pPr marL="92075">
              <a:lnSpc>
                <a:spcPct val="100000"/>
              </a:lnSpc>
              <a:spcBef>
                <a:spcPts val="105"/>
              </a:spcBef>
            </a:pPr>
            <a:r>
              <a:rPr spc="-30" dirty="0"/>
              <a:t>Table</a:t>
            </a:r>
            <a:r>
              <a:rPr spc="-100" dirty="0"/>
              <a:t> </a:t>
            </a:r>
            <a:r>
              <a:rPr spc="-10" dirty="0"/>
              <a:t>13-</a:t>
            </a:r>
            <a:r>
              <a:rPr dirty="0"/>
              <a:t>1.</a:t>
            </a:r>
            <a:r>
              <a:rPr spc="-100" dirty="0"/>
              <a:t> </a:t>
            </a:r>
            <a:r>
              <a:rPr dirty="0"/>
              <a:t>Sample</a:t>
            </a:r>
            <a:r>
              <a:rPr spc="-120" dirty="0"/>
              <a:t> </a:t>
            </a:r>
            <a:r>
              <a:rPr spc="-10" dirty="0"/>
              <a:t>Stakeholder</a:t>
            </a:r>
            <a:r>
              <a:rPr spc="-105" dirty="0"/>
              <a:t> </a:t>
            </a:r>
            <a:r>
              <a:rPr spc="-10" dirty="0"/>
              <a:t>Register</a:t>
            </a:r>
          </a:p>
        </p:txBody>
      </p:sp>
      <p:pic>
        <p:nvPicPr>
          <p:cNvPr id="3" name="object 3"/>
          <p:cNvPicPr/>
          <p:nvPr/>
        </p:nvPicPr>
        <p:blipFill>
          <a:blip r:embed="rId3" cstate="print"/>
          <a:stretch>
            <a:fillRect/>
          </a:stretch>
        </p:blipFill>
        <p:spPr>
          <a:xfrm>
            <a:off x="1535662" y="1276905"/>
            <a:ext cx="9813036" cy="5013959"/>
          </a:xfrm>
          <a:prstGeom prst="rect">
            <a:avLst/>
          </a:prstGeom>
        </p:spPr>
      </p:pic>
      <p:sp>
        <p:nvSpPr>
          <p:cNvPr id="4" name="Rectangle 3">
            <a:extLst>
              <a:ext uri="{FF2B5EF4-FFF2-40B4-BE49-F238E27FC236}">
                <a16:creationId xmlns:a16="http://schemas.microsoft.com/office/drawing/2014/main" id="{961A2747-79C9-1474-9D6F-43A4EB560E63}"/>
              </a:ext>
            </a:extLst>
          </p:cNvPr>
          <p:cNvSpPr/>
          <p:nvPr/>
        </p:nvSpPr>
        <p:spPr>
          <a:xfrm>
            <a:off x="6172200" y="2819400"/>
            <a:ext cx="2590800" cy="533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6" name="Rectangle 5">
            <a:extLst>
              <a:ext uri="{FF2B5EF4-FFF2-40B4-BE49-F238E27FC236}">
                <a16:creationId xmlns:a16="http://schemas.microsoft.com/office/drawing/2014/main" id="{1C8FDEA8-6318-6A01-A60C-8250B19CBE5D}"/>
              </a:ext>
            </a:extLst>
          </p:cNvPr>
          <p:cNvSpPr/>
          <p:nvPr/>
        </p:nvSpPr>
        <p:spPr>
          <a:xfrm>
            <a:off x="6019800" y="3429000"/>
            <a:ext cx="2743200" cy="457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7" name="Rectangle 6">
            <a:extLst>
              <a:ext uri="{FF2B5EF4-FFF2-40B4-BE49-F238E27FC236}">
                <a16:creationId xmlns:a16="http://schemas.microsoft.com/office/drawing/2014/main" id="{57AB93B2-E894-2691-C40B-31FCBFF1CC40}"/>
              </a:ext>
            </a:extLst>
          </p:cNvPr>
          <p:cNvSpPr/>
          <p:nvPr/>
        </p:nvSpPr>
        <p:spPr>
          <a:xfrm>
            <a:off x="6096000" y="4267200"/>
            <a:ext cx="2362200" cy="533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9" name="Rectangle 8">
            <a:extLst>
              <a:ext uri="{FF2B5EF4-FFF2-40B4-BE49-F238E27FC236}">
                <a16:creationId xmlns:a16="http://schemas.microsoft.com/office/drawing/2014/main" id="{8E2D52EE-8E0E-5F06-73ED-4F236F8DD805}"/>
              </a:ext>
            </a:extLst>
          </p:cNvPr>
          <p:cNvSpPr/>
          <p:nvPr/>
        </p:nvSpPr>
        <p:spPr>
          <a:xfrm>
            <a:off x="6019800" y="4940300"/>
            <a:ext cx="2971800" cy="533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noFill/>
            </a:endParaRPr>
          </a:p>
        </p:txBody>
      </p:sp>
      <p:sp>
        <p:nvSpPr>
          <p:cNvPr id="10" name="Rectangle 9">
            <a:extLst>
              <a:ext uri="{FF2B5EF4-FFF2-40B4-BE49-F238E27FC236}">
                <a16:creationId xmlns:a16="http://schemas.microsoft.com/office/drawing/2014/main" id="{69F2CB6A-6B8A-BD0A-CDB1-542E8D2A116E}"/>
              </a:ext>
            </a:extLst>
          </p:cNvPr>
          <p:cNvSpPr/>
          <p:nvPr/>
        </p:nvSpPr>
        <p:spPr>
          <a:xfrm>
            <a:off x="6096000" y="1981200"/>
            <a:ext cx="2362200" cy="457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46835" y="1687067"/>
            <a:ext cx="5345164" cy="4509516"/>
          </a:xfrm>
          <a:prstGeom prst="rect">
            <a:avLst/>
          </a:prstGeom>
        </p:spPr>
      </p:pic>
      <p:sp>
        <p:nvSpPr>
          <p:cNvPr id="3" name="object 3"/>
          <p:cNvSpPr txBox="1">
            <a:spLocks noGrp="1"/>
          </p:cNvSpPr>
          <p:nvPr>
            <p:ph type="title"/>
          </p:nvPr>
        </p:nvSpPr>
        <p:spPr>
          <a:prstGeom prst="rect">
            <a:avLst/>
          </a:prstGeom>
        </p:spPr>
        <p:txBody>
          <a:bodyPr vert="horz" wrap="square" lIns="0" tIns="383362" rIns="0" bIns="0" rtlCol="0">
            <a:spAutoFit/>
          </a:bodyPr>
          <a:lstStyle/>
          <a:p>
            <a:pPr marL="92075">
              <a:lnSpc>
                <a:spcPct val="100000"/>
              </a:lnSpc>
              <a:spcBef>
                <a:spcPts val="105"/>
              </a:spcBef>
            </a:pPr>
            <a:r>
              <a:rPr dirty="0"/>
              <a:t>Stakeholder</a:t>
            </a:r>
            <a:r>
              <a:rPr spc="-225" dirty="0"/>
              <a:t> </a:t>
            </a:r>
            <a:r>
              <a:rPr spc="-10" dirty="0"/>
              <a:t>analysis</a:t>
            </a:r>
          </a:p>
        </p:txBody>
      </p:sp>
      <p:sp>
        <p:nvSpPr>
          <p:cNvPr id="4" name="object 4"/>
          <p:cNvSpPr txBox="1"/>
          <p:nvPr/>
        </p:nvSpPr>
        <p:spPr>
          <a:xfrm>
            <a:off x="1539366" y="1793747"/>
            <a:ext cx="5086350" cy="2978785"/>
          </a:xfrm>
          <a:prstGeom prst="rect">
            <a:avLst/>
          </a:prstGeom>
        </p:spPr>
        <p:txBody>
          <a:bodyPr vert="horz" wrap="square" lIns="0" tIns="40640" rIns="0" bIns="0" rtlCol="0">
            <a:spAutoFit/>
          </a:bodyPr>
          <a:lstStyle/>
          <a:p>
            <a:pPr marL="241300" indent="-228600">
              <a:lnSpc>
                <a:spcPct val="100000"/>
              </a:lnSpc>
              <a:spcBef>
                <a:spcPts val="320"/>
              </a:spcBef>
              <a:buClr>
                <a:srgbClr val="F5821F"/>
              </a:buClr>
              <a:buFont typeface="Arial"/>
              <a:buChar char="•"/>
              <a:tabLst>
                <a:tab pos="241300" algn="l"/>
              </a:tabLst>
            </a:pPr>
            <a:r>
              <a:rPr sz="2400" dirty="0">
                <a:latin typeface="Calibri"/>
                <a:cs typeface="Calibri"/>
              </a:rPr>
              <a:t>Done </a:t>
            </a:r>
            <a:r>
              <a:rPr sz="2400" spc="-25" dirty="0">
                <a:latin typeface="Calibri"/>
                <a:cs typeface="Calibri"/>
              </a:rPr>
              <a:t>to:</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Learn</a:t>
            </a:r>
            <a:r>
              <a:rPr sz="2400" spc="-20" dirty="0">
                <a:latin typeface="Calibri"/>
                <a:cs typeface="Calibri"/>
              </a:rPr>
              <a:t> </a:t>
            </a:r>
            <a:r>
              <a:rPr sz="2400" dirty="0">
                <a:latin typeface="Calibri"/>
                <a:cs typeface="Calibri"/>
              </a:rPr>
              <a:t>their</a:t>
            </a:r>
            <a:r>
              <a:rPr sz="2400" spc="-25" dirty="0">
                <a:latin typeface="Calibri"/>
                <a:cs typeface="Calibri"/>
              </a:rPr>
              <a:t> </a:t>
            </a:r>
            <a:r>
              <a:rPr sz="2400" dirty="0">
                <a:latin typeface="Calibri"/>
                <a:cs typeface="Calibri"/>
              </a:rPr>
              <a:t>project</a:t>
            </a:r>
            <a:r>
              <a:rPr sz="2400" spc="-20" dirty="0">
                <a:latin typeface="Calibri"/>
                <a:cs typeface="Calibri"/>
              </a:rPr>
              <a:t> </a:t>
            </a:r>
            <a:r>
              <a:rPr sz="2400" spc="-10" dirty="0">
                <a:latin typeface="Calibri"/>
                <a:cs typeface="Calibri"/>
              </a:rPr>
              <a:t>expectations</a:t>
            </a:r>
            <a:endParaRPr sz="2400">
              <a:latin typeface="Calibri"/>
              <a:cs typeface="Calibri"/>
            </a:endParaRPr>
          </a:p>
          <a:p>
            <a:pPr marL="698500" marR="15875" lvl="1" indent="-228600">
              <a:lnSpc>
                <a:spcPts val="2590"/>
              </a:lnSpc>
              <a:spcBef>
                <a:spcPts val="545"/>
              </a:spcBef>
              <a:buClr>
                <a:srgbClr val="F5821F"/>
              </a:buClr>
              <a:buFont typeface="Arial"/>
              <a:buChar char="•"/>
              <a:tabLst>
                <a:tab pos="698500" algn="l"/>
              </a:tabLst>
            </a:pPr>
            <a:r>
              <a:rPr sz="2400" dirty="0">
                <a:latin typeface="Calibri"/>
                <a:cs typeface="Calibri"/>
              </a:rPr>
              <a:t>Identify</a:t>
            </a:r>
            <a:r>
              <a:rPr sz="2400" spc="-30"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critical</a:t>
            </a:r>
            <a:r>
              <a:rPr sz="2400" spc="-55" dirty="0">
                <a:latin typeface="Calibri"/>
                <a:cs typeface="Calibri"/>
              </a:rPr>
              <a:t> </a:t>
            </a:r>
            <a:r>
              <a:rPr sz="2400" dirty="0">
                <a:latin typeface="Calibri"/>
                <a:cs typeface="Calibri"/>
              </a:rPr>
              <a:t>ones</a:t>
            </a:r>
            <a:r>
              <a:rPr sz="2400" spc="-25" dirty="0">
                <a:latin typeface="Calibri"/>
                <a:cs typeface="Calibri"/>
              </a:rPr>
              <a:t> </a:t>
            </a:r>
            <a:r>
              <a:rPr sz="2400" dirty="0">
                <a:latin typeface="Calibri"/>
                <a:cs typeface="Calibri"/>
              </a:rPr>
              <a:t>to</a:t>
            </a:r>
            <a:r>
              <a:rPr sz="2400" spc="-40" dirty="0">
                <a:latin typeface="Calibri"/>
                <a:cs typeface="Calibri"/>
              </a:rPr>
              <a:t> </a:t>
            </a:r>
            <a:r>
              <a:rPr sz="2400" spc="-10" dirty="0">
                <a:latin typeface="Calibri"/>
                <a:cs typeface="Calibri"/>
              </a:rPr>
              <a:t>manage </a:t>
            </a:r>
            <a:r>
              <a:rPr sz="2400" dirty="0">
                <a:latin typeface="Calibri"/>
                <a:cs typeface="Calibri"/>
              </a:rPr>
              <a:t>them</a:t>
            </a:r>
            <a:r>
              <a:rPr sz="2400" spc="-10" dirty="0">
                <a:latin typeface="Calibri"/>
                <a:cs typeface="Calibri"/>
              </a:rPr>
              <a:t> effectively</a:t>
            </a:r>
            <a:endParaRPr sz="2400">
              <a:latin typeface="Calibri"/>
              <a:cs typeface="Calibri"/>
            </a:endParaRPr>
          </a:p>
          <a:p>
            <a:pPr>
              <a:lnSpc>
                <a:spcPct val="100000"/>
              </a:lnSpc>
              <a:spcBef>
                <a:spcPts val="55"/>
              </a:spcBef>
            </a:pPr>
            <a:endParaRPr sz="2900">
              <a:latin typeface="Calibri"/>
              <a:cs typeface="Calibri"/>
            </a:endParaRPr>
          </a:p>
          <a:p>
            <a:pPr marL="405765" marR="5080">
              <a:lnSpc>
                <a:spcPts val="2590"/>
              </a:lnSpc>
            </a:pPr>
            <a:r>
              <a:rPr sz="2400" dirty="0">
                <a:latin typeface="Calibri"/>
                <a:cs typeface="Calibri"/>
              </a:rPr>
              <a:t>Complete</a:t>
            </a:r>
            <a:r>
              <a:rPr sz="2400" spc="-75" dirty="0">
                <a:latin typeface="Calibri"/>
                <a:cs typeface="Calibri"/>
              </a:rPr>
              <a:t> </a:t>
            </a:r>
            <a:r>
              <a:rPr sz="2400" dirty="0">
                <a:latin typeface="Calibri"/>
                <a:cs typeface="Calibri"/>
              </a:rPr>
              <a:t>a</a:t>
            </a:r>
            <a:r>
              <a:rPr sz="2400" spc="-40" dirty="0">
                <a:latin typeface="Calibri"/>
                <a:cs typeface="Calibri"/>
              </a:rPr>
              <a:t> </a:t>
            </a:r>
            <a:r>
              <a:rPr sz="2400" spc="-10" dirty="0">
                <a:latin typeface="Calibri"/>
                <a:cs typeface="Calibri"/>
              </a:rPr>
              <a:t>power-</a:t>
            </a:r>
            <a:r>
              <a:rPr sz="2400" dirty="0">
                <a:latin typeface="Calibri"/>
                <a:cs typeface="Calibri"/>
              </a:rPr>
              <a:t>interest</a:t>
            </a:r>
            <a:r>
              <a:rPr sz="2400" spc="-40" dirty="0">
                <a:latin typeface="Calibri"/>
                <a:cs typeface="Calibri"/>
              </a:rPr>
              <a:t> </a:t>
            </a:r>
            <a:r>
              <a:rPr sz="2400" dirty="0">
                <a:latin typeface="Calibri"/>
                <a:cs typeface="Calibri"/>
              </a:rPr>
              <a:t>grid</a:t>
            </a:r>
            <a:r>
              <a:rPr sz="2400" spc="-55" dirty="0">
                <a:latin typeface="Calibri"/>
                <a:cs typeface="Calibri"/>
              </a:rPr>
              <a:t> </a:t>
            </a:r>
            <a:r>
              <a:rPr sz="2400" spc="-25" dirty="0">
                <a:latin typeface="Calibri"/>
                <a:cs typeface="Calibri"/>
              </a:rPr>
              <a:t>to </a:t>
            </a:r>
            <a:r>
              <a:rPr sz="2400" dirty="0">
                <a:latin typeface="Calibri"/>
                <a:cs typeface="Calibri"/>
              </a:rPr>
              <a:t>identify</a:t>
            </a:r>
            <a:r>
              <a:rPr sz="2400" spc="-35" dirty="0">
                <a:latin typeface="Calibri"/>
                <a:cs typeface="Calibri"/>
              </a:rPr>
              <a:t> </a:t>
            </a:r>
            <a:r>
              <a:rPr sz="2400" dirty="0">
                <a:latin typeface="Calibri"/>
                <a:cs typeface="Calibri"/>
              </a:rPr>
              <a:t>and</a:t>
            </a:r>
            <a:r>
              <a:rPr sz="2400" spc="-40" dirty="0">
                <a:latin typeface="Calibri"/>
                <a:cs typeface="Calibri"/>
              </a:rPr>
              <a:t> </a:t>
            </a:r>
            <a:r>
              <a:rPr sz="2400" dirty="0">
                <a:latin typeface="Calibri"/>
                <a:cs typeface="Calibri"/>
              </a:rPr>
              <a:t>accordingly</a:t>
            </a:r>
            <a:r>
              <a:rPr sz="2400" spc="-55" dirty="0">
                <a:latin typeface="Calibri"/>
                <a:cs typeface="Calibri"/>
              </a:rPr>
              <a:t> </a:t>
            </a:r>
            <a:r>
              <a:rPr sz="2400" dirty="0">
                <a:latin typeface="Calibri"/>
                <a:cs typeface="Calibri"/>
              </a:rPr>
              <a:t>manage</a:t>
            </a:r>
            <a:r>
              <a:rPr sz="2400" spc="-40" dirty="0">
                <a:latin typeface="Calibri"/>
                <a:cs typeface="Calibri"/>
              </a:rPr>
              <a:t> </a:t>
            </a:r>
            <a:r>
              <a:rPr sz="2400" spc="-10" dirty="0">
                <a:latin typeface="Calibri"/>
                <a:cs typeface="Calibri"/>
              </a:rPr>
              <a:t>their expectation</a:t>
            </a:r>
            <a:endParaRPr sz="24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5325" rIns="0" bIns="0" rtlCol="0">
            <a:spAutoFit/>
          </a:bodyPr>
          <a:lstStyle/>
          <a:p>
            <a:pPr marL="92075">
              <a:lnSpc>
                <a:spcPct val="100000"/>
              </a:lnSpc>
              <a:spcBef>
                <a:spcPts val="105"/>
              </a:spcBef>
            </a:pPr>
            <a:r>
              <a:rPr dirty="0"/>
              <a:t>Figure</a:t>
            </a:r>
            <a:r>
              <a:rPr spc="-90" dirty="0"/>
              <a:t> </a:t>
            </a:r>
            <a:r>
              <a:rPr dirty="0"/>
              <a:t>13-2.</a:t>
            </a:r>
            <a:r>
              <a:rPr spc="-70" dirty="0"/>
              <a:t> </a:t>
            </a:r>
            <a:r>
              <a:rPr spc="-35" dirty="0"/>
              <a:t>Power-</a:t>
            </a:r>
            <a:r>
              <a:rPr dirty="0"/>
              <a:t>Interest</a:t>
            </a:r>
            <a:r>
              <a:rPr spc="-90" dirty="0"/>
              <a:t> </a:t>
            </a:r>
            <a:r>
              <a:rPr spc="-20" dirty="0"/>
              <a:t>Grid</a:t>
            </a:r>
          </a:p>
        </p:txBody>
      </p:sp>
      <p:pic>
        <p:nvPicPr>
          <p:cNvPr id="3" name="object 3"/>
          <p:cNvPicPr/>
          <p:nvPr/>
        </p:nvPicPr>
        <p:blipFill>
          <a:blip r:embed="rId2" cstate="print"/>
          <a:stretch>
            <a:fillRect/>
          </a:stretch>
        </p:blipFill>
        <p:spPr>
          <a:xfrm>
            <a:off x="3212109" y="1522739"/>
            <a:ext cx="5483699" cy="48976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3362" rIns="0" bIns="0" rtlCol="0">
            <a:spAutoFit/>
          </a:bodyPr>
          <a:lstStyle/>
          <a:p>
            <a:pPr marL="92075">
              <a:lnSpc>
                <a:spcPct val="100000"/>
              </a:lnSpc>
              <a:spcBef>
                <a:spcPts val="105"/>
              </a:spcBef>
            </a:pPr>
            <a:r>
              <a:rPr dirty="0"/>
              <a:t>Stakeholder</a:t>
            </a:r>
            <a:r>
              <a:rPr spc="-215" dirty="0"/>
              <a:t> </a:t>
            </a:r>
            <a:r>
              <a:rPr dirty="0"/>
              <a:t>Engagement</a:t>
            </a:r>
            <a:r>
              <a:rPr spc="-225" dirty="0"/>
              <a:t> </a:t>
            </a:r>
            <a:r>
              <a:rPr spc="-10" dirty="0"/>
              <a:t>Levels</a:t>
            </a:r>
          </a:p>
        </p:txBody>
      </p:sp>
      <p:sp>
        <p:nvSpPr>
          <p:cNvPr id="3" name="object 3"/>
          <p:cNvSpPr txBox="1"/>
          <p:nvPr/>
        </p:nvSpPr>
        <p:spPr>
          <a:xfrm>
            <a:off x="1539366" y="1725765"/>
            <a:ext cx="10015855" cy="2612895"/>
          </a:xfrm>
          <a:prstGeom prst="rect">
            <a:avLst/>
          </a:prstGeom>
        </p:spPr>
        <p:txBody>
          <a:bodyPr vert="horz" wrap="square" lIns="0" tIns="98425" rIns="0" bIns="0" rtlCol="0">
            <a:spAutoFit/>
          </a:bodyPr>
          <a:lstStyle/>
          <a:p>
            <a:pPr marL="240665" indent="-227965">
              <a:lnSpc>
                <a:spcPct val="100000"/>
              </a:lnSpc>
              <a:spcBef>
                <a:spcPts val="775"/>
              </a:spcBef>
              <a:buClr>
                <a:srgbClr val="F5821F"/>
              </a:buClr>
              <a:buFont typeface="Arial"/>
              <a:buChar char="•"/>
              <a:tabLst>
                <a:tab pos="240665" algn="l"/>
              </a:tabLst>
            </a:pPr>
            <a:r>
              <a:rPr sz="2800" spc="-10" dirty="0">
                <a:latin typeface="Calibri"/>
                <a:cs typeface="Calibri"/>
              </a:rPr>
              <a:t>Unaware:</a:t>
            </a:r>
            <a:r>
              <a:rPr sz="2800" spc="-85" dirty="0">
                <a:latin typeface="Calibri"/>
                <a:cs typeface="Calibri"/>
              </a:rPr>
              <a:t> </a:t>
            </a:r>
            <a:r>
              <a:rPr sz="2800" spc="-10" dirty="0">
                <a:latin typeface="Calibri"/>
                <a:cs typeface="Calibri"/>
              </a:rPr>
              <a:t>Unaware</a:t>
            </a:r>
            <a:r>
              <a:rPr sz="2800" spc="-80" dirty="0">
                <a:latin typeface="Calibri"/>
                <a:cs typeface="Calibri"/>
              </a:rPr>
              <a:t> </a:t>
            </a:r>
            <a:r>
              <a:rPr sz="2800" dirty="0">
                <a:latin typeface="Calibri"/>
                <a:cs typeface="Calibri"/>
              </a:rPr>
              <a:t>of</a:t>
            </a:r>
            <a:r>
              <a:rPr sz="2800" spc="-85" dirty="0">
                <a:latin typeface="Calibri"/>
                <a:cs typeface="Calibri"/>
              </a:rPr>
              <a:t> </a:t>
            </a:r>
            <a:r>
              <a:rPr sz="2800" dirty="0">
                <a:latin typeface="Calibri"/>
                <a:cs typeface="Calibri"/>
              </a:rPr>
              <a:t>the</a:t>
            </a:r>
            <a:r>
              <a:rPr sz="2800" spc="-75" dirty="0">
                <a:latin typeface="Calibri"/>
                <a:cs typeface="Calibri"/>
              </a:rPr>
              <a:t> </a:t>
            </a:r>
            <a:r>
              <a:rPr sz="2800" dirty="0">
                <a:latin typeface="Calibri"/>
                <a:cs typeface="Calibri"/>
              </a:rPr>
              <a:t>project</a:t>
            </a:r>
            <a:r>
              <a:rPr sz="2800" spc="-65" dirty="0">
                <a:latin typeface="Calibri"/>
                <a:cs typeface="Calibri"/>
              </a:rPr>
              <a:t> </a:t>
            </a:r>
            <a:r>
              <a:rPr sz="2800" dirty="0">
                <a:latin typeface="Calibri"/>
                <a:cs typeface="Calibri"/>
              </a:rPr>
              <a:t>and</a:t>
            </a:r>
            <a:r>
              <a:rPr sz="2800" spc="-85" dirty="0">
                <a:latin typeface="Calibri"/>
                <a:cs typeface="Calibri"/>
              </a:rPr>
              <a:t> </a:t>
            </a:r>
            <a:r>
              <a:rPr sz="2800" dirty="0">
                <a:latin typeface="Calibri"/>
                <a:cs typeface="Calibri"/>
              </a:rPr>
              <a:t>its</a:t>
            </a:r>
            <a:r>
              <a:rPr sz="2800" spc="-70" dirty="0">
                <a:latin typeface="Calibri"/>
                <a:cs typeface="Calibri"/>
              </a:rPr>
              <a:t> </a:t>
            </a:r>
            <a:r>
              <a:rPr sz="2800" spc="-10" dirty="0">
                <a:latin typeface="Calibri"/>
                <a:cs typeface="Calibri"/>
              </a:rPr>
              <a:t>potential</a:t>
            </a:r>
            <a:r>
              <a:rPr sz="2800" spc="-75" dirty="0">
                <a:latin typeface="Calibri"/>
                <a:cs typeface="Calibri"/>
              </a:rPr>
              <a:t> </a:t>
            </a:r>
            <a:r>
              <a:rPr sz="2800" dirty="0">
                <a:latin typeface="Calibri"/>
                <a:cs typeface="Calibri"/>
              </a:rPr>
              <a:t>impact</a:t>
            </a:r>
            <a:r>
              <a:rPr sz="2800" spc="-65" dirty="0">
                <a:latin typeface="Calibri"/>
                <a:cs typeface="Calibri"/>
              </a:rPr>
              <a:t> </a:t>
            </a:r>
            <a:r>
              <a:rPr sz="2800" dirty="0">
                <a:latin typeface="Calibri"/>
                <a:cs typeface="Calibri"/>
              </a:rPr>
              <a:t>on</a:t>
            </a:r>
            <a:r>
              <a:rPr sz="2800" spc="-75" dirty="0">
                <a:latin typeface="Calibri"/>
                <a:cs typeface="Calibri"/>
              </a:rPr>
              <a:t> </a:t>
            </a:r>
            <a:r>
              <a:rPr sz="2800" spc="-20" dirty="0">
                <a:latin typeface="Calibri"/>
                <a:cs typeface="Calibri"/>
              </a:rPr>
              <a:t>them</a:t>
            </a:r>
            <a:endParaRPr sz="2800" dirty="0">
              <a:latin typeface="Calibri"/>
              <a:cs typeface="Calibri"/>
            </a:endParaRPr>
          </a:p>
          <a:p>
            <a:pPr marL="241300" indent="-228600">
              <a:lnSpc>
                <a:spcPct val="100000"/>
              </a:lnSpc>
              <a:spcBef>
                <a:spcPts val="675"/>
              </a:spcBef>
              <a:buClr>
                <a:srgbClr val="F5821F"/>
              </a:buClr>
              <a:buFont typeface="Arial"/>
              <a:buChar char="•"/>
              <a:tabLst>
                <a:tab pos="241300" algn="l"/>
              </a:tabLst>
            </a:pPr>
            <a:r>
              <a:rPr sz="2800" spc="-10" dirty="0">
                <a:latin typeface="Calibri"/>
                <a:cs typeface="Calibri"/>
              </a:rPr>
              <a:t>Resistant:</a:t>
            </a:r>
            <a:r>
              <a:rPr sz="2800" spc="-70" dirty="0">
                <a:latin typeface="Calibri"/>
                <a:cs typeface="Calibri"/>
              </a:rPr>
              <a:t> </a:t>
            </a:r>
            <a:r>
              <a:rPr sz="2800" dirty="0">
                <a:latin typeface="Calibri"/>
                <a:cs typeface="Calibri"/>
              </a:rPr>
              <a:t>Aware</a:t>
            </a:r>
            <a:r>
              <a:rPr sz="2800" spc="-90" dirty="0">
                <a:latin typeface="Calibri"/>
                <a:cs typeface="Calibri"/>
              </a:rPr>
              <a:t> </a:t>
            </a:r>
            <a:r>
              <a:rPr sz="2800" dirty="0">
                <a:latin typeface="Calibri"/>
                <a:cs typeface="Calibri"/>
              </a:rPr>
              <a:t>of</a:t>
            </a:r>
            <a:r>
              <a:rPr sz="2800" spc="-100" dirty="0">
                <a:latin typeface="Calibri"/>
                <a:cs typeface="Calibri"/>
              </a:rPr>
              <a:t> </a:t>
            </a:r>
            <a:r>
              <a:rPr sz="2800" dirty="0">
                <a:latin typeface="Calibri"/>
                <a:cs typeface="Calibri"/>
              </a:rPr>
              <a:t>the</a:t>
            </a:r>
            <a:r>
              <a:rPr sz="2800" spc="-85" dirty="0">
                <a:latin typeface="Calibri"/>
                <a:cs typeface="Calibri"/>
              </a:rPr>
              <a:t> </a:t>
            </a:r>
            <a:r>
              <a:rPr sz="2800" dirty="0">
                <a:latin typeface="Calibri"/>
                <a:cs typeface="Calibri"/>
              </a:rPr>
              <a:t>project</a:t>
            </a:r>
            <a:r>
              <a:rPr sz="2800" spc="-75" dirty="0">
                <a:latin typeface="Calibri"/>
                <a:cs typeface="Calibri"/>
              </a:rPr>
              <a:t> </a:t>
            </a:r>
            <a:r>
              <a:rPr sz="2800" dirty="0">
                <a:latin typeface="Calibri"/>
                <a:cs typeface="Calibri"/>
              </a:rPr>
              <a:t>yet</a:t>
            </a:r>
            <a:r>
              <a:rPr sz="2800" spc="-95" dirty="0">
                <a:latin typeface="Calibri"/>
                <a:cs typeface="Calibri"/>
              </a:rPr>
              <a:t> </a:t>
            </a:r>
            <a:r>
              <a:rPr sz="2800" spc="-20" dirty="0">
                <a:latin typeface="Calibri"/>
                <a:cs typeface="Calibri"/>
              </a:rPr>
              <a:t>resistant</a:t>
            </a:r>
            <a:r>
              <a:rPr sz="2800" spc="-80" dirty="0">
                <a:latin typeface="Calibri"/>
                <a:cs typeface="Calibri"/>
              </a:rPr>
              <a:t> </a:t>
            </a:r>
            <a:r>
              <a:rPr sz="2800" dirty="0">
                <a:latin typeface="Calibri"/>
                <a:cs typeface="Calibri"/>
              </a:rPr>
              <a:t>to</a:t>
            </a:r>
            <a:r>
              <a:rPr sz="2800" spc="-95" dirty="0">
                <a:latin typeface="Calibri"/>
                <a:cs typeface="Calibri"/>
              </a:rPr>
              <a:t> </a:t>
            </a:r>
            <a:r>
              <a:rPr sz="2800" spc="-10" dirty="0">
                <a:latin typeface="Calibri"/>
                <a:cs typeface="Calibri"/>
              </a:rPr>
              <a:t>change</a:t>
            </a:r>
            <a:endParaRPr sz="2800" dirty="0">
              <a:latin typeface="Calibri"/>
              <a:cs typeface="Calibri"/>
            </a:endParaRPr>
          </a:p>
          <a:p>
            <a:pPr marL="241300" indent="-228600">
              <a:lnSpc>
                <a:spcPct val="100000"/>
              </a:lnSpc>
              <a:spcBef>
                <a:spcPts val="660"/>
              </a:spcBef>
              <a:buClr>
                <a:srgbClr val="F5821F"/>
              </a:buClr>
              <a:buFont typeface="Arial"/>
              <a:buChar char="•"/>
              <a:tabLst>
                <a:tab pos="241300" algn="l"/>
              </a:tabLst>
            </a:pPr>
            <a:r>
              <a:rPr sz="2800" spc="-10" dirty="0">
                <a:latin typeface="Calibri"/>
                <a:cs typeface="Calibri"/>
              </a:rPr>
              <a:t>Neutral:</a:t>
            </a:r>
            <a:r>
              <a:rPr sz="2800" spc="-85" dirty="0">
                <a:latin typeface="Calibri"/>
                <a:cs typeface="Calibri"/>
              </a:rPr>
              <a:t> </a:t>
            </a:r>
            <a:r>
              <a:rPr sz="2800" dirty="0">
                <a:latin typeface="Calibri"/>
                <a:cs typeface="Calibri"/>
              </a:rPr>
              <a:t>Aware</a:t>
            </a:r>
            <a:r>
              <a:rPr sz="2800" spc="-95" dirty="0">
                <a:latin typeface="Calibri"/>
                <a:cs typeface="Calibri"/>
              </a:rPr>
              <a:t> </a:t>
            </a:r>
            <a:r>
              <a:rPr sz="2800" dirty="0">
                <a:latin typeface="Calibri"/>
                <a:cs typeface="Calibri"/>
              </a:rPr>
              <a:t>of</a:t>
            </a:r>
            <a:r>
              <a:rPr sz="2800" spc="-90" dirty="0">
                <a:latin typeface="Calibri"/>
                <a:cs typeface="Calibri"/>
              </a:rPr>
              <a:t> </a:t>
            </a:r>
            <a:r>
              <a:rPr sz="2800" dirty="0">
                <a:latin typeface="Calibri"/>
                <a:cs typeface="Calibri"/>
              </a:rPr>
              <a:t>the</a:t>
            </a:r>
            <a:r>
              <a:rPr sz="2800" spc="-90" dirty="0">
                <a:latin typeface="Calibri"/>
                <a:cs typeface="Calibri"/>
              </a:rPr>
              <a:t> </a:t>
            </a:r>
            <a:r>
              <a:rPr sz="2800" dirty="0">
                <a:latin typeface="Calibri"/>
                <a:cs typeface="Calibri"/>
              </a:rPr>
              <a:t>project</a:t>
            </a:r>
            <a:r>
              <a:rPr sz="2800" spc="-85" dirty="0">
                <a:latin typeface="Calibri"/>
                <a:cs typeface="Calibri"/>
              </a:rPr>
              <a:t> </a:t>
            </a:r>
            <a:r>
              <a:rPr sz="2800" dirty="0">
                <a:latin typeface="Calibri"/>
                <a:cs typeface="Calibri"/>
              </a:rPr>
              <a:t>yet</a:t>
            </a:r>
            <a:r>
              <a:rPr sz="2800" spc="-100" dirty="0">
                <a:latin typeface="Calibri"/>
                <a:cs typeface="Calibri"/>
              </a:rPr>
              <a:t> </a:t>
            </a:r>
            <a:r>
              <a:rPr sz="2800" dirty="0">
                <a:latin typeface="Calibri"/>
                <a:cs typeface="Calibri"/>
              </a:rPr>
              <a:t>neither</a:t>
            </a:r>
            <a:r>
              <a:rPr sz="2800" spc="-80" dirty="0">
                <a:latin typeface="Calibri"/>
                <a:cs typeface="Calibri"/>
              </a:rPr>
              <a:t> </a:t>
            </a:r>
            <a:r>
              <a:rPr sz="2800" dirty="0">
                <a:latin typeface="Calibri"/>
                <a:cs typeface="Calibri"/>
              </a:rPr>
              <a:t>supportive</a:t>
            </a:r>
            <a:r>
              <a:rPr sz="2800" spc="-55" dirty="0">
                <a:latin typeface="Calibri"/>
                <a:cs typeface="Calibri"/>
              </a:rPr>
              <a:t> </a:t>
            </a:r>
            <a:r>
              <a:rPr sz="2800" dirty="0">
                <a:latin typeface="Calibri"/>
                <a:cs typeface="Calibri"/>
              </a:rPr>
              <a:t>nor</a:t>
            </a:r>
            <a:r>
              <a:rPr sz="2800" spc="-90" dirty="0">
                <a:latin typeface="Calibri"/>
                <a:cs typeface="Calibri"/>
              </a:rPr>
              <a:t> </a:t>
            </a:r>
            <a:r>
              <a:rPr sz="2800" spc="-10" dirty="0">
                <a:latin typeface="Calibri"/>
                <a:cs typeface="Calibri"/>
              </a:rPr>
              <a:t>resistant</a:t>
            </a:r>
            <a:endParaRPr sz="2800" dirty="0">
              <a:latin typeface="Calibri"/>
              <a:cs typeface="Calibri"/>
            </a:endParaRPr>
          </a:p>
          <a:p>
            <a:pPr marL="240665" indent="-227965">
              <a:lnSpc>
                <a:spcPct val="100000"/>
              </a:lnSpc>
              <a:spcBef>
                <a:spcPts val="660"/>
              </a:spcBef>
              <a:buClr>
                <a:srgbClr val="F5821F"/>
              </a:buClr>
              <a:buFont typeface="Arial"/>
              <a:buChar char="•"/>
              <a:tabLst>
                <a:tab pos="240665" algn="l"/>
              </a:tabLst>
            </a:pPr>
            <a:r>
              <a:rPr sz="2800" spc="-10" dirty="0">
                <a:latin typeface="Calibri"/>
                <a:cs typeface="Calibri"/>
              </a:rPr>
              <a:t>Supportive:</a:t>
            </a:r>
            <a:r>
              <a:rPr sz="2800" spc="-40" dirty="0">
                <a:latin typeface="Calibri"/>
                <a:cs typeface="Calibri"/>
              </a:rPr>
              <a:t> </a:t>
            </a:r>
            <a:r>
              <a:rPr sz="2800" spc="-10" dirty="0">
                <a:latin typeface="Calibri"/>
                <a:cs typeface="Calibri"/>
              </a:rPr>
              <a:t>Aware</a:t>
            </a:r>
            <a:r>
              <a:rPr sz="2800" spc="-85" dirty="0">
                <a:latin typeface="Calibri"/>
                <a:cs typeface="Calibri"/>
              </a:rPr>
              <a:t> </a:t>
            </a:r>
            <a:r>
              <a:rPr sz="2800" dirty="0">
                <a:latin typeface="Calibri"/>
                <a:cs typeface="Calibri"/>
              </a:rPr>
              <a:t>of</a:t>
            </a:r>
            <a:r>
              <a:rPr sz="2800" spc="-75"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project</a:t>
            </a:r>
            <a:r>
              <a:rPr sz="2800" spc="-45" dirty="0">
                <a:latin typeface="Calibri"/>
                <a:cs typeface="Calibri"/>
              </a:rPr>
              <a:t> </a:t>
            </a:r>
            <a:r>
              <a:rPr sz="2800" dirty="0">
                <a:latin typeface="Calibri"/>
                <a:cs typeface="Calibri"/>
              </a:rPr>
              <a:t>and</a:t>
            </a:r>
            <a:r>
              <a:rPr sz="2800" spc="-70" dirty="0">
                <a:latin typeface="Calibri"/>
                <a:cs typeface="Calibri"/>
              </a:rPr>
              <a:t> </a:t>
            </a:r>
            <a:r>
              <a:rPr sz="2800" spc="-10" dirty="0">
                <a:latin typeface="Calibri"/>
                <a:cs typeface="Calibri"/>
              </a:rPr>
              <a:t>supportive</a:t>
            </a:r>
            <a:r>
              <a:rPr sz="2800" spc="-40" dirty="0">
                <a:latin typeface="Calibri"/>
                <a:cs typeface="Calibri"/>
              </a:rPr>
              <a:t> </a:t>
            </a:r>
            <a:r>
              <a:rPr sz="2800" dirty="0">
                <a:latin typeface="Calibri"/>
                <a:cs typeface="Calibri"/>
              </a:rPr>
              <a:t>of</a:t>
            </a:r>
            <a:r>
              <a:rPr sz="2800" spc="-80" dirty="0">
                <a:latin typeface="Calibri"/>
                <a:cs typeface="Calibri"/>
              </a:rPr>
              <a:t> </a:t>
            </a:r>
            <a:r>
              <a:rPr sz="2800" spc="-10" dirty="0">
                <a:latin typeface="Calibri"/>
                <a:cs typeface="Calibri"/>
              </a:rPr>
              <a:t>change</a:t>
            </a:r>
            <a:endParaRPr sz="2800" dirty="0">
              <a:latin typeface="Calibri"/>
              <a:cs typeface="Calibri"/>
            </a:endParaRPr>
          </a:p>
          <a:p>
            <a:pPr marL="241300" indent="-228600">
              <a:lnSpc>
                <a:spcPct val="100000"/>
              </a:lnSpc>
              <a:spcBef>
                <a:spcPts val="675"/>
              </a:spcBef>
              <a:buClr>
                <a:srgbClr val="F5821F"/>
              </a:buClr>
              <a:buFont typeface="Arial"/>
              <a:buChar char="•"/>
              <a:tabLst>
                <a:tab pos="241300" algn="l"/>
              </a:tabLst>
            </a:pPr>
            <a:r>
              <a:rPr sz="2800" dirty="0">
                <a:latin typeface="Calibri"/>
                <a:cs typeface="Calibri"/>
              </a:rPr>
              <a:t>Leading:</a:t>
            </a:r>
            <a:r>
              <a:rPr sz="2800" spc="-80" dirty="0">
                <a:latin typeface="Calibri"/>
                <a:cs typeface="Calibri"/>
              </a:rPr>
              <a:t> </a:t>
            </a:r>
            <a:r>
              <a:rPr sz="2800" dirty="0">
                <a:latin typeface="Calibri"/>
                <a:cs typeface="Calibri"/>
              </a:rPr>
              <a:t>Aware</a:t>
            </a:r>
            <a:r>
              <a:rPr sz="2800" spc="-85" dirty="0">
                <a:latin typeface="Calibri"/>
                <a:cs typeface="Calibri"/>
              </a:rPr>
              <a:t> </a:t>
            </a:r>
            <a:r>
              <a:rPr sz="2800" dirty="0">
                <a:latin typeface="Calibri"/>
                <a:cs typeface="Calibri"/>
              </a:rPr>
              <a:t>of</a:t>
            </a:r>
            <a:r>
              <a:rPr sz="2800" spc="-85" dirty="0">
                <a:latin typeface="Calibri"/>
                <a:cs typeface="Calibri"/>
              </a:rPr>
              <a:t> </a:t>
            </a:r>
            <a:r>
              <a:rPr sz="2800" dirty="0">
                <a:latin typeface="Calibri"/>
                <a:cs typeface="Calibri"/>
              </a:rPr>
              <a:t>the</a:t>
            </a:r>
            <a:r>
              <a:rPr sz="2800" spc="-90" dirty="0">
                <a:latin typeface="Calibri"/>
                <a:cs typeface="Calibri"/>
              </a:rPr>
              <a:t> </a:t>
            </a:r>
            <a:r>
              <a:rPr sz="2800" spc="-10" dirty="0">
                <a:latin typeface="Calibri"/>
                <a:cs typeface="Calibri"/>
              </a:rPr>
              <a:t>project</a:t>
            </a:r>
            <a:endParaRPr sz="28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910E-8324-1E43-741B-0F1396B302B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EDE6B4-0F45-647C-4EB3-A5B49D8216C7}"/>
              </a:ext>
            </a:extLst>
          </p:cNvPr>
          <p:cNvSpPr txBox="1">
            <a:spLocks noGrp="1"/>
          </p:cNvSpPr>
          <p:nvPr>
            <p:ph type="title"/>
          </p:nvPr>
        </p:nvSpPr>
        <p:spPr>
          <a:xfrm>
            <a:off x="1459483" y="239649"/>
            <a:ext cx="9858883" cy="874341"/>
          </a:xfrm>
          <a:prstGeom prst="rect">
            <a:avLst/>
          </a:prstGeom>
        </p:spPr>
        <p:txBody>
          <a:bodyPr vert="horz" wrap="square" lIns="0" tIns="195325" rIns="0" bIns="0" rtlCol="0">
            <a:spAutoFit/>
          </a:bodyPr>
          <a:lstStyle/>
          <a:p>
            <a:pPr marL="92075">
              <a:lnSpc>
                <a:spcPct val="100000"/>
              </a:lnSpc>
              <a:spcBef>
                <a:spcPts val="105"/>
              </a:spcBef>
            </a:pPr>
            <a:r>
              <a:rPr lang="en-NZ" dirty="0"/>
              <a:t>Activity One Stakeholder analysis</a:t>
            </a:r>
            <a:endParaRPr spc="-20" dirty="0"/>
          </a:p>
        </p:txBody>
      </p:sp>
      <p:sp>
        <p:nvSpPr>
          <p:cNvPr id="5" name="TextBox 4">
            <a:extLst>
              <a:ext uri="{FF2B5EF4-FFF2-40B4-BE49-F238E27FC236}">
                <a16:creationId xmlns:a16="http://schemas.microsoft.com/office/drawing/2014/main" id="{5132CCA1-F29F-A196-1F0D-75E9D1F154E6}"/>
              </a:ext>
            </a:extLst>
          </p:cNvPr>
          <p:cNvSpPr txBox="1"/>
          <p:nvPr/>
        </p:nvSpPr>
        <p:spPr>
          <a:xfrm>
            <a:off x="1981200" y="1371600"/>
            <a:ext cx="9220200" cy="452431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NZ" sz="1800" b="0" i="0" u="none" strike="noStrike" kern="0" cap="none" spc="0" normalizeH="0" baseline="0" noProof="0" dirty="0">
                <a:ln>
                  <a:noFill/>
                </a:ln>
                <a:solidFill>
                  <a:sysClr val="windowText" lastClr="000000"/>
                </a:solidFill>
                <a:effectLst/>
                <a:uLnTx/>
                <a:uFillTx/>
              </a:rPr>
              <a:t>AUT’s ICT Service Desk receives a high volume of student queries </a:t>
            </a:r>
            <a:r>
              <a:rPr kumimoji="0" lang="en-US" sz="1800" b="0" i="0" u="none" strike="noStrike" kern="0" cap="none" spc="0" normalizeH="0" baseline="0" noProof="0" dirty="0">
                <a:ln>
                  <a:noFill/>
                </a:ln>
                <a:solidFill>
                  <a:sysClr val="windowText" lastClr="000000"/>
                </a:solidFill>
                <a:effectLst/>
                <a:uLnTx/>
                <a:uFillTx/>
              </a:rPr>
              <a:t>regarding password resets, MFA issues, Wi-Fi access, software installations</a:t>
            </a:r>
            <a:r>
              <a:rPr kumimoji="0" lang="en-NZ" sz="1800" b="0" i="0" u="none" strike="noStrike" kern="0" cap="none" spc="0" normalizeH="0" baseline="0" noProof="0" dirty="0">
                <a:ln>
                  <a:noFill/>
                </a:ln>
                <a:solidFill>
                  <a:sysClr val="windowText" lastClr="000000"/>
                </a:solidFill>
                <a:effectLst/>
                <a:uLnTx/>
                <a:uFillTx/>
              </a:rPr>
              <a:t>, and Canvas access. Students currently use email, phone, and walk-in support, but response times vary, and the same questions keep coming up. The Service Desk Manager wants a prototype “</a:t>
            </a:r>
            <a:r>
              <a:rPr kumimoji="0" lang="en-NZ" sz="1800" b="0" i="0" u="none" strike="noStrike" kern="0" cap="none" spc="0" normalizeH="0" baseline="0" noProof="0" dirty="0" err="1">
                <a:ln>
                  <a:noFill/>
                </a:ln>
                <a:solidFill>
                  <a:sysClr val="windowText" lastClr="000000"/>
                </a:solidFill>
                <a:effectLst/>
                <a:uLnTx/>
                <a:uFillTx/>
              </a:rPr>
              <a:t>MyAUT</a:t>
            </a:r>
            <a:r>
              <a:rPr kumimoji="0" lang="en-NZ" sz="1800" b="0" i="0" u="none" strike="noStrike" kern="0" cap="none" spc="0" normalizeH="0" baseline="0" noProof="0" dirty="0">
                <a:ln>
                  <a:noFill/>
                </a:ln>
                <a:solidFill>
                  <a:sysClr val="windowText" lastClr="000000"/>
                </a:solidFill>
                <a:effectLst/>
                <a:uLnTx/>
                <a:uFillTx/>
              </a:rPr>
              <a:t> Support Hub” that provides a simple self-service portal with FAQs, step-by-step guides, and a ticket submission form that routes requests to the right support queue. The portal must be easy for students to use, must not expose personal data, and must fit within AUT’s approved tools. The prototype will be tested with a small group of students and staff before any production decision is made.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NZ" sz="1800" b="0" i="0" u="none" strike="noStrike" kern="0" cap="none" spc="0" normalizeH="0" baseline="0" noProof="0" dirty="0">
              <a:ln>
                <a:noFill/>
              </a:ln>
              <a:solidFill>
                <a:sysClr val="windowText" lastClr="000000"/>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NZ" sz="1800" b="1" i="0" u="none" strike="noStrike" kern="0" cap="none" spc="0" normalizeH="0" baseline="0" noProof="0" dirty="0">
                <a:ln>
                  <a:noFill/>
                </a:ln>
                <a:solidFill>
                  <a:sysClr val="windowText" lastClr="000000"/>
                </a:solidFill>
                <a:effectLst/>
                <a:uLnTx/>
                <a:uFillTx/>
              </a:rPr>
              <a:t>Task</a:t>
            </a:r>
          </a:p>
          <a:p>
            <a:pPr marL="0" marR="0" lvl="0" indent="0" defTabSz="914400" eaLnBrk="1" fontAlgn="auto" latinLnBrk="0" hangingPunct="1">
              <a:lnSpc>
                <a:spcPct val="100000"/>
              </a:lnSpc>
              <a:spcBef>
                <a:spcPts val="0"/>
              </a:spcBef>
              <a:spcAft>
                <a:spcPts val="0"/>
              </a:spcAft>
              <a:buClrTx/>
              <a:buSzTx/>
              <a:buFontTx/>
              <a:buNone/>
              <a:tabLst/>
              <a:defRPr/>
            </a:pPr>
            <a:r>
              <a:rPr kumimoji="0" lang="en-NZ" sz="1800" b="0" i="0" u="none" strike="noStrike" kern="0" cap="none" spc="0" normalizeH="0" baseline="0" noProof="0" dirty="0">
                <a:ln>
                  <a:noFill/>
                </a:ln>
                <a:solidFill>
                  <a:sysClr val="windowText" lastClr="000000"/>
                </a:solidFill>
                <a:effectLst/>
                <a:uLnTx/>
                <a:uFillTx/>
              </a:rPr>
              <a:t>Who are the key stakeholders?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NZ" sz="18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NZ" sz="1800" b="0" i="0" u="none" strike="noStrike" kern="0" cap="none" spc="0" normalizeH="0" baseline="0" noProof="0" dirty="0">
                <a:ln>
                  <a:noFill/>
                </a:ln>
                <a:solidFill>
                  <a:sysClr val="windowText" lastClr="000000"/>
                </a:solidFill>
                <a:effectLst/>
                <a:uLnTx/>
                <a:uFillTx/>
              </a:rPr>
              <a:t>Based on the case study, how should the key stakeholders be categorised into Actively Consult, Regularly Engage, Keep Informed, and Monitor/Maintain Interest, and why?</a:t>
            </a:r>
          </a:p>
          <a:p>
            <a:pPr marL="0" marR="0" lvl="0" indent="0" defTabSz="914400" eaLnBrk="1" fontAlgn="auto" latinLnBrk="0" hangingPunct="1">
              <a:lnSpc>
                <a:spcPct val="100000"/>
              </a:lnSpc>
              <a:spcBef>
                <a:spcPts val="0"/>
              </a:spcBef>
              <a:spcAft>
                <a:spcPts val="0"/>
              </a:spcAft>
              <a:buClrTx/>
              <a:buSzTx/>
              <a:buFontTx/>
              <a:buNone/>
              <a:tabLst/>
              <a:defRPr/>
            </a:pPr>
            <a:endParaRPr kumimoji="0" lang="en-NZ"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604740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3362" rIns="0" bIns="0" rtlCol="0">
            <a:spAutoFit/>
          </a:bodyPr>
          <a:lstStyle/>
          <a:p>
            <a:pPr marL="92075">
              <a:lnSpc>
                <a:spcPct val="100000"/>
              </a:lnSpc>
              <a:spcBef>
                <a:spcPts val="105"/>
              </a:spcBef>
            </a:pPr>
            <a:r>
              <a:rPr dirty="0"/>
              <a:t>Planning</a:t>
            </a:r>
            <a:r>
              <a:rPr spc="-165" dirty="0"/>
              <a:t> </a:t>
            </a:r>
            <a:r>
              <a:rPr dirty="0"/>
              <a:t>Stakeholder</a:t>
            </a:r>
            <a:r>
              <a:rPr spc="-130" dirty="0"/>
              <a:t> </a:t>
            </a:r>
            <a:r>
              <a:rPr spc="-10" dirty="0"/>
              <a:t>Management</a:t>
            </a:r>
          </a:p>
        </p:txBody>
      </p:sp>
      <p:sp>
        <p:nvSpPr>
          <p:cNvPr id="3" name="object 3"/>
          <p:cNvSpPr txBox="1"/>
          <p:nvPr/>
        </p:nvSpPr>
        <p:spPr>
          <a:xfrm>
            <a:off x="1539366" y="1812112"/>
            <a:ext cx="9758680" cy="2530475"/>
          </a:xfrm>
          <a:prstGeom prst="rect">
            <a:avLst/>
          </a:prstGeom>
        </p:spPr>
        <p:txBody>
          <a:bodyPr vert="horz" wrap="square" lIns="0" tIns="60325" rIns="0" bIns="0" rtlCol="0">
            <a:spAutoFit/>
          </a:bodyPr>
          <a:lstStyle/>
          <a:p>
            <a:pPr marL="240029" marR="5080" indent="-227965">
              <a:lnSpc>
                <a:spcPts val="3030"/>
              </a:lnSpc>
              <a:spcBef>
                <a:spcPts val="475"/>
              </a:spcBef>
              <a:buClr>
                <a:srgbClr val="F5821F"/>
              </a:buClr>
              <a:buFont typeface="Arial"/>
              <a:buChar char="•"/>
              <a:tabLst>
                <a:tab pos="241300" algn="l"/>
                <a:tab pos="2893060" algn="l"/>
              </a:tabLst>
            </a:pPr>
            <a:r>
              <a:rPr sz="2800" dirty="0">
                <a:latin typeface="Calibri"/>
                <a:cs typeface="Calibri"/>
              </a:rPr>
              <a:t>After</a:t>
            </a:r>
            <a:r>
              <a:rPr sz="2800" spc="-100" dirty="0">
                <a:latin typeface="Calibri"/>
                <a:cs typeface="Calibri"/>
              </a:rPr>
              <a:t> </a:t>
            </a:r>
            <a:r>
              <a:rPr sz="2800" spc="-10" dirty="0">
                <a:latin typeface="Calibri"/>
                <a:cs typeface="Calibri"/>
              </a:rPr>
              <a:t>identifying</a:t>
            </a:r>
            <a:r>
              <a:rPr sz="2800" spc="-85" dirty="0">
                <a:latin typeface="Calibri"/>
                <a:cs typeface="Calibri"/>
              </a:rPr>
              <a:t> </a:t>
            </a:r>
            <a:r>
              <a:rPr sz="2800" dirty="0">
                <a:latin typeface="Calibri"/>
                <a:cs typeface="Calibri"/>
              </a:rPr>
              <a:t>and</a:t>
            </a:r>
            <a:r>
              <a:rPr sz="2800" spc="-85" dirty="0">
                <a:latin typeface="Calibri"/>
                <a:cs typeface="Calibri"/>
              </a:rPr>
              <a:t> </a:t>
            </a:r>
            <a:r>
              <a:rPr sz="2800" dirty="0">
                <a:latin typeface="Calibri"/>
                <a:cs typeface="Calibri"/>
              </a:rPr>
              <a:t>analyzing</a:t>
            </a:r>
            <a:r>
              <a:rPr sz="2800" spc="-100" dirty="0">
                <a:latin typeface="Calibri"/>
                <a:cs typeface="Calibri"/>
              </a:rPr>
              <a:t> </a:t>
            </a:r>
            <a:r>
              <a:rPr sz="2800" spc="-25" dirty="0">
                <a:latin typeface="Calibri"/>
                <a:cs typeface="Calibri"/>
              </a:rPr>
              <a:t>stakeholders,</a:t>
            </a:r>
            <a:r>
              <a:rPr sz="2800" spc="-70" dirty="0">
                <a:latin typeface="Calibri"/>
                <a:cs typeface="Calibri"/>
              </a:rPr>
              <a:t> </a:t>
            </a:r>
            <a:r>
              <a:rPr sz="2800" dirty="0">
                <a:latin typeface="Calibri"/>
                <a:cs typeface="Calibri"/>
              </a:rPr>
              <a:t>project</a:t>
            </a:r>
            <a:r>
              <a:rPr sz="2800" spc="-75" dirty="0">
                <a:latin typeface="Calibri"/>
                <a:cs typeface="Calibri"/>
              </a:rPr>
              <a:t> </a:t>
            </a:r>
            <a:r>
              <a:rPr sz="2800" dirty="0">
                <a:latin typeface="Calibri"/>
                <a:cs typeface="Calibri"/>
              </a:rPr>
              <a:t>teams</a:t>
            </a:r>
            <a:r>
              <a:rPr sz="2800" spc="-105" dirty="0">
                <a:latin typeface="Calibri"/>
                <a:cs typeface="Calibri"/>
              </a:rPr>
              <a:t> </a:t>
            </a:r>
            <a:r>
              <a:rPr sz="2800" spc="-10" dirty="0">
                <a:latin typeface="Calibri"/>
                <a:cs typeface="Calibri"/>
              </a:rPr>
              <a:t>should 	</a:t>
            </a:r>
            <a:r>
              <a:rPr sz="2800" dirty="0">
                <a:latin typeface="Calibri"/>
                <a:cs typeface="Calibri"/>
              </a:rPr>
              <a:t>develop</a:t>
            </a:r>
            <a:r>
              <a:rPr sz="2800" spc="-80" dirty="0">
                <a:latin typeface="Calibri"/>
                <a:cs typeface="Calibri"/>
              </a:rPr>
              <a:t> </a:t>
            </a:r>
            <a:r>
              <a:rPr sz="2800" dirty="0">
                <a:latin typeface="Calibri"/>
                <a:cs typeface="Calibri"/>
              </a:rPr>
              <a:t>a</a:t>
            </a:r>
            <a:r>
              <a:rPr sz="2800" spc="-75" dirty="0">
                <a:latin typeface="Calibri"/>
                <a:cs typeface="Calibri"/>
              </a:rPr>
              <a:t> </a:t>
            </a:r>
            <a:r>
              <a:rPr sz="2800" dirty="0">
                <a:latin typeface="Calibri"/>
                <a:cs typeface="Calibri"/>
              </a:rPr>
              <a:t>plan</a:t>
            </a:r>
            <a:r>
              <a:rPr sz="2800" spc="-70" dirty="0">
                <a:latin typeface="Calibri"/>
                <a:cs typeface="Calibri"/>
              </a:rPr>
              <a:t> </a:t>
            </a:r>
            <a:r>
              <a:rPr sz="2800" spc="-25" dirty="0">
                <a:latin typeface="Calibri"/>
                <a:cs typeface="Calibri"/>
              </a:rPr>
              <a:t>to</a:t>
            </a:r>
            <a:r>
              <a:rPr sz="2800" dirty="0">
                <a:latin typeface="Calibri"/>
                <a:cs typeface="Calibri"/>
              </a:rPr>
              <a:t>	manage</a:t>
            </a:r>
            <a:r>
              <a:rPr sz="2800" spc="-114" dirty="0">
                <a:latin typeface="Calibri"/>
                <a:cs typeface="Calibri"/>
              </a:rPr>
              <a:t> </a:t>
            </a:r>
            <a:r>
              <a:rPr sz="2800" spc="-20" dirty="0">
                <a:latin typeface="Calibri"/>
                <a:cs typeface="Calibri"/>
              </a:rPr>
              <a:t>them</a:t>
            </a:r>
            <a:endParaRPr sz="2800">
              <a:latin typeface="Calibri"/>
              <a:cs typeface="Calibri"/>
            </a:endParaRPr>
          </a:p>
          <a:p>
            <a:pPr marL="241300" indent="-228600">
              <a:lnSpc>
                <a:spcPct val="100000"/>
              </a:lnSpc>
              <a:spcBef>
                <a:spcPts val="620"/>
              </a:spcBef>
              <a:buClr>
                <a:srgbClr val="F5821F"/>
              </a:buClr>
              <a:buFont typeface="Arial"/>
              <a:buChar char="•"/>
              <a:tabLst>
                <a:tab pos="241300" algn="l"/>
              </a:tabLst>
            </a:pPr>
            <a:r>
              <a:rPr sz="2800" dirty="0">
                <a:latin typeface="Calibri"/>
                <a:cs typeface="Calibri"/>
              </a:rPr>
              <a:t>The</a:t>
            </a:r>
            <a:r>
              <a:rPr sz="2800" spc="-75" dirty="0">
                <a:latin typeface="Calibri"/>
                <a:cs typeface="Calibri"/>
              </a:rPr>
              <a:t> </a:t>
            </a:r>
            <a:r>
              <a:rPr sz="2800" spc="-20" dirty="0">
                <a:latin typeface="Calibri"/>
                <a:cs typeface="Calibri"/>
              </a:rPr>
              <a:t>stakeholder</a:t>
            </a:r>
            <a:r>
              <a:rPr sz="2800" spc="-60" dirty="0">
                <a:latin typeface="Calibri"/>
                <a:cs typeface="Calibri"/>
              </a:rPr>
              <a:t> </a:t>
            </a:r>
            <a:r>
              <a:rPr sz="2800" spc="-10" dirty="0">
                <a:latin typeface="Calibri"/>
                <a:cs typeface="Calibri"/>
              </a:rPr>
              <a:t>management</a:t>
            </a:r>
            <a:r>
              <a:rPr sz="2800" spc="-65" dirty="0">
                <a:latin typeface="Calibri"/>
                <a:cs typeface="Calibri"/>
              </a:rPr>
              <a:t> </a:t>
            </a:r>
            <a:r>
              <a:rPr sz="2800" dirty="0">
                <a:latin typeface="Calibri"/>
                <a:cs typeface="Calibri"/>
              </a:rPr>
              <a:t>plan</a:t>
            </a:r>
            <a:r>
              <a:rPr sz="2800" spc="-65" dirty="0">
                <a:latin typeface="Calibri"/>
                <a:cs typeface="Calibri"/>
              </a:rPr>
              <a:t> </a:t>
            </a:r>
            <a:r>
              <a:rPr sz="2800" dirty="0">
                <a:latin typeface="Calibri"/>
                <a:cs typeface="Calibri"/>
              </a:rPr>
              <a:t>can</a:t>
            </a:r>
            <a:r>
              <a:rPr sz="2800" spc="-65" dirty="0">
                <a:latin typeface="Calibri"/>
                <a:cs typeface="Calibri"/>
              </a:rPr>
              <a:t> </a:t>
            </a:r>
            <a:r>
              <a:rPr sz="2800" spc="-10" dirty="0">
                <a:latin typeface="Calibri"/>
                <a:cs typeface="Calibri"/>
              </a:rPr>
              <a:t>include:</a:t>
            </a:r>
            <a:endParaRPr sz="2800">
              <a:latin typeface="Calibri"/>
              <a:cs typeface="Calibri"/>
            </a:endParaRPr>
          </a:p>
          <a:p>
            <a:pPr marL="697865" lvl="1" indent="-227965">
              <a:lnSpc>
                <a:spcPct val="100000"/>
              </a:lnSpc>
              <a:spcBef>
                <a:spcPts val="234"/>
              </a:spcBef>
              <a:buClr>
                <a:srgbClr val="F5821F"/>
              </a:buClr>
              <a:buFont typeface="Arial"/>
              <a:buChar char="•"/>
              <a:tabLst>
                <a:tab pos="697865" algn="l"/>
              </a:tabLst>
            </a:pPr>
            <a:r>
              <a:rPr sz="2400" dirty="0">
                <a:latin typeface="Calibri"/>
                <a:cs typeface="Calibri"/>
              </a:rPr>
              <a:t>Potential</a:t>
            </a:r>
            <a:r>
              <a:rPr sz="2400" spc="-75" dirty="0">
                <a:latin typeface="Calibri"/>
                <a:cs typeface="Calibri"/>
              </a:rPr>
              <a:t> </a:t>
            </a:r>
            <a:r>
              <a:rPr sz="2400" dirty="0">
                <a:latin typeface="Calibri"/>
                <a:cs typeface="Calibri"/>
              </a:rPr>
              <a:t>management</a:t>
            </a:r>
            <a:r>
              <a:rPr sz="2400" spc="-60" dirty="0">
                <a:latin typeface="Calibri"/>
                <a:cs typeface="Calibri"/>
              </a:rPr>
              <a:t> </a:t>
            </a:r>
            <a:r>
              <a:rPr sz="2400" spc="-10" dirty="0">
                <a:latin typeface="Calibri"/>
                <a:cs typeface="Calibri"/>
              </a:rPr>
              <a:t>strategies</a:t>
            </a:r>
            <a:r>
              <a:rPr sz="2400" spc="-75"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each</a:t>
            </a:r>
            <a:r>
              <a:rPr sz="2400" spc="-55" dirty="0">
                <a:latin typeface="Calibri"/>
                <a:cs typeface="Calibri"/>
              </a:rPr>
              <a:t> </a:t>
            </a:r>
            <a:r>
              <a:rPr sz="2400" spc="-10" dirty="0">
                <a:latin typeface="Calibri"/>
                <a:cs typeface="Calibri"/>
              </a:rPr>
              <a:t>stakeholders</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Communication</a:t>
            </a:r>
            <a:r>
              <a:rPr sz="2400" spc="-90" dirty="0">
                <a:latin typeface="Calibri"/>
                <a:cs typeface="Calibri"/>
              </a:rPr>
              <a:t> </a:t>
            </a:r>
            <a:r>
              <a:rPr sz="2400" spc="-10" dirty="0">
                <a:latin typeface="Calibri"/>
                <a:cs typeface="Calibri"/>
              </a:rPr>
              <a:t>requirements</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Expectations</a:t>
            </a:r>
            <a:r>
              <a:rPr sz="2400" spc="-90" dirty="0">
                <a:latin typeface="Calibri"/>
                <a:cs typeface="Calibri"/>
              </a:rPr>
              <a:t> </a:t>
            </a:r>
            <a:r>
              <a:rPr sz="2400" dirty="0">
                <a:latin typeface="Calibri"/>
                <a:cs typeface="Calibri"/>
              </a:rPr>
              <a:t>Management</a:t>
            </a:r>
            <a:r>
              <a:rPr sz="2400" spc="-65" dirty="0">
                <a:latin typeface="Calibri"/>
                <a:cs typeface="Calibri"/>
              </a:rPr>
              <a:t> </a:t>
            </a:r>
            <a:r>
              <a:rPr sz="2400" spc="-10" dirty="0">
                <a:latin typeface="Calibri"/>
                <a:cs typeface="Calibri"/>
              </a:rPr>
              <a:t>Matrix</a:t>
            </a:r>
            <a:endParaRPr sz="24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Table</a:t>
            </a:r>
            <a:r>
              <a:rPr spc="-135" dirty="0"/>
              <a:t> </a:t>
            </a:r>
            <a:r>
              <a:rPr dirty="0"/>
              <a:t>13-2.</a:t>
            </a:r>
            <a:r>
              <a:rPr spc="-110" dirty="0"/>
              <a:t> </a:t>
            </a:r>
            <a:r>
              <a:rPr spc="-10" dirty="0"/>
              <a:t>Stakeholder</a:t>
            </a:r>
            <a:r>
              <a:rPr spc="-130" dirty="0"/>
              <a:t> </a:t>
            </a:r>
            <a:r>
              <a:rPr dirty="0"/>
              <a:t>Management</a:t>
            </a:r>
            <a:r>
              <a:rPr spc="-130" dirty="0"/>
              <a:t> </a:t>
            </a:r>
            <a:r>
              <a:rPr spc="-20" dirty="0"/>
              <a:t>Plan</a:t>
            </a:r>
          </a:p>
        </p:txBody>
      </p:sp>
      <p:pic>
        <p:nvPicPr>
          <p:cNvPr id="3" name="object 3"/>
          <p:cNvPicPr/>
          <p:nvPr/>
        </p:nvPicPr>
        <p:blipFill>
          <a:blip r:embed="rId2" cstate="print"/>
          <a:stretch>
            <a:fillRect/>
          </a:stretch>
        </p:blipFill>
        <p:spPr>
          <a:xfrm>
            <a:off x="2506979" y="1056132"/>
            <a:ext cx="7304532" cy="55427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3362" rIns="0" bIns="0" rtlCol="0">
            <a:spAutoFit/>
          </a:bodyPr>
          <a:lstStyle/>
          <a:p>
            <a:pPr marL="92075">
              <a:lnSpc>
                <a:spcPct val="100000"/>
              </a:lnSpc>
              <a:spcBef>
                <a:spcPts val="105"/>
              </a:spcBef>
            </a:pPr>
            <a:r>
              <a:rPr dirty="0"/>
              <a:t>Managing</a:t>
            </a:r>
            <a:r>
              <a:rPr spc="-145" dirty="0"/>
              <a:t> </a:t>
            </a:r>
            <a:r>
              <a:rPr dirty="0"/>
              <a:t>Stakeholder</a:t>
            </a:r>
            <a:r>
              <a:rPr spc="-130" dirty="0"/>
              <a:t> </a:t>
            </a:r>
            <a:r>
              <a:rPr spc="-10" dirty="0"/>
              <a:t>Engagement</a:t>
            </a:r>
          </a:p>
        </p:txBody>
      </p:sp>
      <p:sp>
        <p:nvSpPr>
          <p:cNvPr id="3" name="object 3"/>
          <p:cNvSpPr txBox="1"/>
          <p:nvPr/>
        </p:nvSpPr>
        <p:spPr>
          <a:xfrm>
            <a:off x="1450594" y="1658188"/>
            <a:ext cx="10140950" cy="3010440"/>
          </a:xfrm>
          <a:prstGeom prst="rect">
            <a:avLst/>
          </a:prstGeom>
        </p:spPr>
        <p:txBody>
          <a:bodyPr vert="horz" wrap="square" lIns="0" tIns="60325" rIns="0" bIns="0" rtlCol="0">
            <a:spAutoFit/>
          </a:bodyPr>
          <a:lstStyle/>
          <a:p>
            <a:pPr marL="241300" marR="584835" indent="-228600">
              <a:lnSpc>
                <a:spcPts val="3030"/>
              </a:lnSpc>
              <a:spcBef>
                <a:spcPts val="475"/>
              </a:spcBef>
              <a:buClr>
                <a:srgbClr val="F5821F"/>
              </a:buClr>
              <a:buFont typeface="Arial"/>
              <a:buChar char="•"/>
              <a:tabLst>
                <a:tab pos="241300" algn="l"/>
              </a:tabLst>
            </a:pPr>
            <a:r>
              <a:rPr sz="2800" dirty="0">
                <a:latin typeface="Calibri"/>
                <a:cs typeface="Calibri"/>
              </a:rPr>
              <a:t>Project</a:t>
            </a:r>
            <a:r>
              <a:rPr sz="2800" spc="-70" dirty="0">
                <a:latin typeface="Calibri"/>
                <a:cs typeface="Calibri"/>
              </a:rPr>
              <a:t> </a:t>
            </a:r>
            <a:r>
              <a:rPr sz="2800" dirty="0">
                <a:latin typeface="Calibri"/>
                <a:cs typeface="Calibri"/>
              </a:rPr>
              <a:t>success</a:t>
            </a:r>
            <a:r>
              <a:rPr sz="2800" spc="-55" dirty="0">
                <a:latin typeface="Calibri"/>
                <a:cs typeface="Calibri"/>
              </a:rPr>
              <a:t> </a:t>
            </a:r>
            <a:r>
              <a:rPr sz="2800" dirty="0">
                <a:latin typeface="Calibri"/>
                <a:cs typeface="Calibri"/>
              </a:rPr>
              <a:t>can</a:t>
            </a:r>
            <a:r>
              <a:rPr sz="2800" spc="-85" dirty="0">
                <a:latin typeface="Calibri"/>
                <a:cs typeface="Calibri"/>
              </a:rPr>
              <a:t> </a:t>
            </a:r>
            <a:r>
              <a:rPr sz="2800" dirty="0">
                <a:latin typeface="Calibri"/>
                <a:cs typeface="Calibri"/>
              </a:rPr>
              <a:t>often</a:t>
            </a:r>
            <a:r>
              <a:rPr sz="2800" spc="-80" dirty="0">
                <a:latin typeface="Calibri"/>
                <a:cs typeface="Calibri"/>
              </a:rPr>
              <a:t> </a:t>
            </a:r>
            <a:r>
              <a:rPr sz="2800" dirty="0">
                <a:latin typeface="Calibri"/>
                <a:cs typeface="Calibri"/>
              </a:rPr>
              <a:t>be</a:t>
            </a:r>
            <a:r>
              <a:rPr sz="2800" spc="-80" dirty="0">
                <a:latin typeface="Calibri"/>
                <a:cs typeface="Calibri"/>
              </a:rPr>
              <a:t> </a:t>
            </a:r>
            <a:r>
              <a:rPr sz="2800" spc="-10" dirty="0">
                <a:latin typeface="Calibri"/>
                <a:cs typeface="Calibri"/>
              </a:rPr>
              <a:t>measured</a:t>
            </a:r>
            <a:r>
              <a:rPr sz="2800" spc="-65" dirty="0">
                <a:latin typeface="Calibri"/>
                <a:cs typeface="Calibri"/>
              </a:rPr>
              <a:t> </a:t>
            </a:r>
            <a:r>
              <a:rPr sz="2800" dirty="0">
                <a:latin typeface="Calibri"/>
                <a:cs typeface="Calibri"/>
              </a:rPr>
              <a:t>in</a:t>
            </a:r>
            <a:r>
              <a:rPr sz="2800" spc="-85" dirty="0">
                <a:latin typeface="Calibri"/>
                <a:cs typeface="Calibri"/>
              </a:rPr>
              <a:t> </a:t>
            </a:r>
            <a:r>
              <a:rPr sz="2800" dirty="0">
                <a:latin typeface="Calibri"/>
                <a:cs typeface="Calibri"/>
              </a:rPr>
              <a:t>terms</a:t>
            </a:r>
            <a:r>
              <a:rPr sz="2800" spc="-70" dirty="0">
                <a:latin typeface="Calibri"/>
                <a:cs typeface="Calibri"/>
              </a:rPr>
              <a:t> </a:t>
            </a:r>
            <a:r>
              <a:rPr sz="2800" dirty="0">
                <a:latin typeface="Calibri"/>
                <a:cs typeface="Calibri"/>
              </a:rPr>
              <a:t>of</a:t>
            </a:r>
            <a:r>
              <a:rPr sz="2800" spc="-55" dirty="0">
                <a:latin typeface="Calibri"/>
                <a:cs typeface="Calibri"/>
              </a:rPr>
              <a:t> </a:t>
            </a:r>
            <a:r>
              <a:rPr sz="2800" u="sng" spc="-10" dirty="0">
                <a:uFill>
                  <a:solidFill>
                    <a:srgbClr val="000000"/>
                  </a:solidFill>
                </a:uFill>
                <a:latin typeface="Calibri"/>
                <a:cs typeface="Calibri"/>
              </a:rPr>
              <a:t>customer</a:t>
            </a:r>
            <a:r>
              <a:rPr sz="2800" u="sng" spc="-65" dirty="0">
                <a:uFill>
                  <a:solidFill>
                    <a:srgbClr val="000000"/>
                  </a:solidFill>
                </a:uFill>
                <a:latin typeface="Calibri"/>
                <a:cs typeface="Calibri"/>
              </a:rPr>
              <a:t> </a:t>
            </a:r>
            <a:r>
              <a:rPr sz="2800" u="sng" spc="-25" dirty="0">
                <a:uFill>
                  <a:solidFill>
                    <a:srgbClr val="000000"/>
                  </a:solidFill>
                </a:uFill>
                <a:latin typeface="Calibri"/>
                <a:cs typeface="Calibri"/>
              </a:rPr>
              <a:t>and</a:t>
            </a:r>
            <a:r>
              <a:rPr sz="2800" spc="-25" dirty="0">
                <a:latin typeface="Calibri"/>
                <a:cs typeface="Calibri"/>
              </a:rPr>
              <a:t> </a:t>
            </a:r>
            <a:r>
              <a:rPr sz="2800" u="sng" dirty="0">
                <a:uFill>
                  <a:solidFill>
                    <a:srgbClr val="000000"/>
                  </a:solidFill>
                </a:uFill>
                <a:latin typeface="Calibri"/>
                <a:cs typeface="Calibri"/>
              </a:rPr>
              <a:t>sponsor</a:t>
            </a:r>
            <a:r>
              <a:rPr sz="2800" u="sng" spc="-70" dirty="0">
                <a:uFill>
                  <a:solidFill>
                    <a:srgbClr val="000000"/>
                  </a:solidFill>
                </a:uFill>
                <a:latin typeface="Calibri"/>
                <a:cs typeface="Calibri"/>
              </a:rPr>
              <a:t> </a:t>
            </a:r>
            <a:r>
              <a:rPr sz="2800" u="sng" spc="-10" dirty="0">
                <a:uFill>
                  <a:solidFill>
                    <a:srgbClr val="000000"/>
                  </a:solidFill>
                </a:uFill>
                <a:latin typeface="Calibri"/>
                <a:cs typeface="Calibri"/>
              </a:rPr>
              <a:t>satisfaction</a:t>
            </a:r>
            <a:endParaRPr sz="2800" dirty="0">
              <a:latin typeface="Calibri"/>
              <a:cs typeface="Calibri"/>
            </a:endParaRPr>
          </a:p>
          <a:p>
            <a:pPr marL="241300" marR="369570" indent="-228600">
              <a:lnSpc>
                <a:spcPts val="3020"/>
              </a:lnSpc>
              <a:spcBef>
                <a:spcPts val="1005"/>
              </a:spcBef>
              <a:buClr>
                <a:srgbClr val="F5821F"/>
              </a:buClr>
              <a:buFont typeface="Arial"/>
              <a:buChar char="•"/>
              <a:tabLst>
                <a:tab pos="241300" algn="l"/>
              </a:tabLst>
            </a:pPr>
            <a:r>
              <a:rPr sz="2800" dirty="0">
                <a:latin typeface="Calibri"/>
                <a:cs typeface="Calibri"/>
              </a:rPr>
              <a:t>Project</a:t>
            </a:r>
            <a:r>
              <a:rPr sz="2800" spc="-85" dirty="0">
                <a:latin typeface="Calibri"/>
                <a:cs typeface="Calibri"/>
              </a:rPr>
              <a:t> </a:t>
            </a:r>
            <a:r>
              <a:rPr sz="2800" dirty="0">
                <a:latin typeface="Calibri"/>
                <a:cs typeface="Calibri"/>
              </a:rPr>
              <a:t>sponsors</a:t>
            </a:r>
            <a:r>
              <a:rPr sz="2800" spc="-55" dirty="0">
                <a:latin typeface="Calibri"/>
                <a:cs typeface="Calibri"/>
              </a:rPr>
              <a:t> </a:t>
            </a:r>
            <a:r>
              <a:rPr sz="2800" dirty="0">
                <a:latin typeface="Calibri"/>
                <a:cs typeface="Calibri"/>
              </a:rPr>
              <a:t>often</a:t>
            </a:r>
            <a:r>
              <a:rPr sz="2800" spc="-95" dirty="0">
                <a:latin typeface="Calibri"/>
                <a:cs typeface="Calibri"/>
              </a:rPr>
              <a:t> </a:t>
            </a:r>
            <a:r>
              <a:rPr sz="2800" dirty="0">
                <a:latin typeface="Calibri"/>
                <a:cs typeface="Calibri"/>
              </a:rPr>
              <a:t>rank</a:t>
            </a:r>
            <a:r>
              <a:rPr sz="2800" spc="-70" dirty="0">
                <a:latin typeface="Calibri"/>
                <a:cs typeface="Calibri"/>
              </a:rPr>
              <a:t> </a:t>
            </a:r>
            <a:r>
              <a:rPr sz="2800" u="sng" dirty="0">
                <a:uFill>
                  <a:solidFill>
                    <a:srgbClr val="000000"/>
                  </a:solidFill>
                </a:uFill>
                <a:latin typeface="Calibri"/>
                <a:cs typeface="Calibri"/>
              </a:rPr>
              <a:t>scope,</a:t>
            </a:r>
            <a:r>
              <a:rPr sz="2800" u="sng" spc="-90" dirty="0">
                <a:uFill>
                  <a:solidFill>
                    <a:srgbClr val="000000"/>
                  </a:solidFill>
                </a:uFill>
                <a:latin typeface="Calibri"/>
                <a:cs typeface="Calibri"/>
              </a:rPr>
              <a:t> </a:t>
            </a:r>
            <a:r>
              <a:rPr sz="2800" u="sng" dirty="0">
                <a:uFill>
                  <a:solidFill>
                    <a:srgbClr val="000000"/>
                  </a:solidFill>
                </a:uFill>
                <a:latin typeface="Calibri"/>
                <a:cs typeface="Calibri"/>
              </a:rPr>
              <a:t>time,</a:t>
            </a:r>
            <a:r>
              <a:rPr sz="2800" u="sng" spc="-80" dirty="0">
                <a:uFill>
                  <a:solidFill>
                    <a:srgbClr val="000000"/>
                  </a:solidFill>
                </a:uFill>
                <a:latin typeface="Calibri"/>
                <a:cs typeface="Calibri"/>
              </a:rPr>
              <a:t> </a:t>
            </a:r>
            <a:r>
              <a:rPr sz="2800" u="sng" dirty="0">
                <a:uFill>
                  <a:solidFill>
                    <a:srgbClr val="000000"/>
                  </a:solidFill>
                </a:uFill>
                <a:latin typeface="Calibri"/>
                <a:cs typeface="Calibri"/>
              </a:rPr>
              <a:t>and</a:t>
            </a:r>
            <a:r>
              <a:rPr sz="2800" u="sng" spc="-90" dirty="0">
                <a:uFill>
                  <a:solidFill>
                    <a:srgbClr val="000000"/>
                  </a:solidFill>
                </a:uFill>
                <a:latin typeface="Calibri"/>
                <a:cs typeface="Calibri"/>
              </a:rPr>
              <a:t> </a:t>
            </a:r>
            <a:r>
              <a:rPr sz="2800" u="sng" dirty="0">
                <a:uFill>
                  <a:solidFill>
                    <a:srgbClr val="000000"/>
                  </a:solidFill>
                </a:uFill>
                <a:latin typeface="Calibri"/>
                <a:cs typeface="Calibri"/>
              </a:rPr>
              <a:t>cost</a:t>
            </a:r>
            <a:r>
              <a:rPr sz="2800" spc="-70" dirty="0">
                <a:latin typeface="Calibri"/>
                <a:cs typeface="Calibri"/>
              </a:rPr>
              <a:t> </a:t>
            </a:r>
            <a:r>
              <a:rPr sz="2800" dirty="0">
                <a:latin typeface="Calibri"/>
                <a:cs typeface="Calibri"/>
              </a:rPr>
              <a:t>goals</a:t>
            </a:r>
            <a:r>
              <a:rPr sz="2800" spc="-95" dirty="0">
                <a:latin typeface="Calibri"/>
                <a:cs typeface="Calibri"/>
              </a:rPr>
              <a:t> </a:t>
            </a:r>
            <a:r>
              <a:rPr sz="2800" dirty="0">
                <a:latin typeface="Calibri"/>
                <a:cs typeface="Calibri"/>
              </a:rPr>
              <a:t>in</a:t>
            </a:r>
            <a:r>
              <a:rPr sz="2800" spc="-90" dirty="0">
                <a:latin typeface="Calibri"/>
                <a:cs typeface="Calibri"/>
              </a:rPr>
              <a:t> </a:t>
            </a:r>
            <a:r>
              <a:rPr sz="2800" dirty="0">
                <a:latin typeface="Calibri"/>
                <a:cs typeface="Calibri"/>
              </a:rPr>
              <a:t>order</a:t>
            </a:r>
            <a:r>
              <a:rPr sz="2800" spc="-80" dirty="0">
                <a:latin typeface="Calibri"/>
                <a:cs typeface="Calibri"/>
              </a:rPr>
              <a:t> </a:t>
            </a:r>
            <a:r>
              <a:rPr sz="2800" spc="-25" dirty="0">
                <a:latin typeface="Calibri"/>
                <a:cs typeface="Calibri"/>
              </a:rPr>
              <a:t>of </a:t>
            </a:r>
            <a:r>
              <a:rPr sz="2800" dirty="0">
                <a:latin typeface="Calibri"/>
                <a:cs typeface="Calibri"/>
              </a:rPr>
              <a:t>importance</a:t>
            </a:r>
            <a:r>
              <a:rPr sz="2800" spc="-70" dirty="0">
                <a:latin typeface="Calibri"/>
                <a:cs typeface="Calibri"/>
              </a:rPr>
              <a:t> </a:t>
            </a:r>
            <a:r>
              <a:rPr sz="2800" dirty="0">
                <a:latin typeface="Calibri"/>
                <a:cs typeface="Calibri"/>
              </a:rPr>
              <a:t>and</a:t>
            </a:r>
            <a:r>
              <a:rPr sz="2800" spc="-90" dirty="0">
                <a:latin typeface="Calibri"/>
                <a:cs typeface="Calibri"/>
              </a:rPr>
              <a:t> </a:t>
            </a:r>
            <a:r>
              <a:rPr sz="2800" dirty="0">
                <a:latin typeface="Calibri"/>
                <a:cs typeface="Calibri"/>
              </a:rPr>
              <a:t>provide</a:t>
            </a:r>
            <a:r>
              <a:rPr sz="2800" spc="-65" dirty="0">
                <a:latin typeface="Calibri"/>
                <a:cs typeface="Calibri"/>
              </a:rPr>
              <a:t> </a:t>
            </a:r>
            <a:r>
              <a:rPr sz="2800" dirty="0">
                <a:latin typeface="Calibri"/>
                <a:cs typeface="Calibri"/>
              </a:rPr>
              <a:t>guidelines</a:t>
            </a:r>
            <a:r>
              <a:rPr sz="2800" spc="-85" dirty="0">
                <a:latin typeface="Calibri"/>
                <a:cs typeface="Calibri"/>
              </a:rPr>
              <a:t> </a:t>
            </a:r>
            <a:r>
              <a:rPr sz="2800" dirty="0">
                <a:latin typeface="Calibri"/>
                <a:cs typeface="Calibri"/>
              </a:rPr>
              <a:t>on</a:t>
            </a:r>
            <a:r>
              <a:rPr sz="2800" spc="-85" dirty="0">
                <a:latin typeface="Calibri"/>
                <a:cs typeface="Calibri"/>
              </a:rPr>
              <a:t> </a:t>
            </a:r>
            <a:r>
              <a:rPr sz="2800" dirty="0">
                <a:latin typeface="Calibri"/>
                <a:cs typeface="Calibri"/>
              </a:rPr>
              <a:t>how</a:t>
            </a:r>
            <a:r>
              <a:rPr sz="2800" spc="-85" dirty="0">
                <a:latin typeface="Calibri"/>
                <a:cs typeface="Calibri"/>
              </a:rPr>
              <a:t> </a:t>
            </a:r>
            <a:r>
              <a:rPr sz="2800" dirty="0">
                <a:latin typeface="Calibri"/>
                <a:cs typeface="Calibri"/>
              </a:rPr>
              <a:t>to</a:t>
            </a:r>
            <a:r>
              <a:rPr sz="2800" spc="-95" dirty="0">
                <a:latin typeface="Calibri"/>
                <a:cs typeface="Calibri"/>
              </a:rPr>
              <a:t> </a:t>
            </a:r>
            <a:r>
              <a:rPr sz="2800" dirty="0">
                <a:latin typeface="Calibri"/>
                <a:cs typeface="Calibri"/>
              </a:rPr>
              <a:t>balance</a:t>
            </a:r>
            <a:r>
              <a:rPr sz="2800" spc="-90" dirty="0">
                <a:latin typeface="Calibri"/>
                <a:cs typeface="Calibri"/>
              </a:rPr>
              <a:t> </a:t>
            </a:r>
            <a:r>
              <a:rPr sz="2800" dirty="0">
                <a:latin typeface="Calibri"/>
                <a:cs typeface="Calibri"/>
              </a:rPr>
              <a:t>the</a:t>
            </a:r>
            <a:r>
              <a:rPr sz="2800" spc="-90" dirty="0">
                <a:latin typeface="Calibri"/>
                <a:cs typeface="Calibri"/>
              </a:rPr>
              <a:t> </a:t>
            </a:r>
            <a:r>
              <a:rPr sz="2800" spc="-10" dirty="0">
                <a:latin typeface="Calibri"/>
                <a:cs typeface="Calibri"/>
              </a:rPr>
              <a:t>triple constraint</a:t>
            </a:r>
            <a:endParaRPr sz="2800" dirty="0">
              <a:latin typeface="Calibri"/>
              <a:cs typeface="Calibri"/>
            </a:endParaRPr>
          </a:p>
          <a:p>
            <a:pPr marL="241300" marR="5080" indent="-228600">
              <a:lnSpc>
                <a:spcPts val="3020"/>
              </a:lnSpc>
              <a:spcBef>
                <a:spcPts val="1010"/>
              </a:spcBef>
              <a:buClr>
                <a:srgbClr val="F5821F"/>
              </a:buClr>
              <a:buFont typeface="Arial"/>
              <a:buChar char="•"/>
              <a:tabLst>
                <a:tab pos="241300" algn="l"/>
              </a:tabLst>
            </a:pPr>
            <a:r>
              <a:rPr sz="2800" dirty="0">
                <a:latin typeface="Calibri"/>
                <a:cs typeface="Calibri"/>
              </a:rPr>
              <a:t>This</a:t>
            </a:r>
            <a:r>
              <a:rPr sz="2800" spc="-80" dirty="0">
                <a:latin typeface="Calibri"/>
                <a:cs typeface="Calibri"/>
              </a:rPr>
              <a:t> </a:t>
            </a:r>
            <a:r>
              <a:rPr sz="2800" spc="-10" dirty="0">
                <a:latin typeface="Calibri"/>
                <a:cs typeface="Calibri"/>
              </a:rPr>
              <a:t>ranking</a:t>
            </a:r>
            <a:r>
              <a:rPr sz="2800" spc="-55" dirty="0">
                <a:latin typeface="Calibri"/>
                <a:cs typeface="Calibri"/>
              </a:rPr>
              <a:t> </a:t>
            </a:r>
            <a:r>
              <a:rPr sz="2800" dirty="0">
                <a:latin typeface="Calibri"/>
                <a:cs typeface="Calibri"/>
              </a:rPr>
              <a:t>can</a:t>
            </a:r>
            <a:r>
              <a:rPr sz="2800" spc="-75" dirty="0">
                <a:latin typeface="Calibri"/>
                <a:cs typeface="Calibri"/>
              </a:rPr>
              <a:t> </a:t>
            </a:r>
            <a:r>
              <a:rPr sz="2800" dirty="0">
                <a:latin typeface="Calibri"/>
                <a:cs typeface="Calibri"/>
              </a:rPr>
              <a:t>be</a:t>
            </a:r>
            <a:r>
              <a:rPr sz="2800" spc="-80" dirty="0">
                <a:latin typeface="Calibri"/>
                <a:cs typeface="Calibri"/>
              </a:rPr>
              <a:t> </a:t>
            </a:r>
            <a:r>
              <a:rPr sz="2800" dirty="0">
                <a:latin typeface="Calibri"/>
                <a:cs typeface="Calibri"/>
              </a:rPr>
              <a:t>shown</a:t>
            </a:r>
            <a:r>
              <a:rPr sz="2800" spc="-50" dirty="0">
                <a:latin typeface="Calibri"/>
                <a:cs typeface="Calibri"/>
              </a:rPr>
              <a:t> </a:t>
            </a:r>
            <a:r>
              <a:rPr sz="2800" dirty="0">
                <a:latin typeface="Calibri"/>
                <a:cs typeface="Calibri"/>
              </a:rPr>
              <a:t>in</a:t>
            </a:r>
            <a:r>
              <a:rPr sz="2800" spc="-80" dirty="0">
                <a:latin typeface="Calibri"/>
                <a:cs typeface="Calibri"/>
              </a:rPr>
              <a:t> </a:t>
            </a:r>
            <a:r>
              <a:rPr sz="2800" dirty="0">
                <a:latin typeface="Calibri"/>
                <a:cs typeface="Calibri"/>
              </a:rPr>
              <a:t>an</a:t>
            </a:r>
            <a:r>
              <a:rPr sz="2800" spc="-85" dirty="0">
                <a:latin typeface="Calibri"/>
                <a:cs typeface="Calibri"/>
              </a:rPr>
              <a:t> </a:t>
            </a:r>
            <a:r>
              <a:rPr sz="2800" spc="-10" dirty="0">
                <a:latin typeface="Calibri"/>
                <a:cs typeface="Calibri"/>
              </a:rPr>
              <a:t>expectations</a:t>
            </a:r>
            <a:r>
              <a:rPr sz="2800" spc="-60" dirty="0">
                <a:latin typeface="Calibri"/>
                <a:cs typeface="Calibri"/>
              </a:rPr>
              <a:t> </a:t>
            </a:r>
            <a:r>
              <a:rPr sz="2800" spc="-10" dirty="0">
                <a:latin typeface="Calibri"/>
                <a:cs typeface="Calibri"/>
              </a:rPr>
              <a:t>management</a:t>
            </a:r>
            <a:r>
              <a:rPr sz="2800" spc="-70" dirty="0">
                <a:latin typeface="Calibri"/>
                <a:cs typeface="Calibri"/>
              </a:rPr>
              <a:t> </a:t>
            </a:r>
            <a:r>
              <a:rPr sz="2800" dirty="0">
                <a:latin typeface="Calibri"/>
                <a:cs typeface="Calibri"/>
              </a:rPr>
              <a:t>matrix</a:t>
            </a:r>
            <a:r>
              <a:rPr sz="2800" spc="-85" dirty="0">
                <a:latin typeface="Calibri"/>
                <a:cs typeface="Calibri"/>
              </a:rPr>
              <a:t> </a:t>
            </a:r>
            <a:r>
              <a:rPr sz="2800" spc="-25" dirty="0">
                <a:latin typeface="Calibri"/>
                <a:cs typeface="Calibri"/>
              </a:rPr>
              <a:t>to </a:t>
            </a:r>
            <a:r>
              <a:rPr sz="2800" dirty="0">
                <a:latin typeface="Calibri"/>
                <a:cs typeface="Calibri"/>
              </a:rPr>
              <a:t>help</a:t>
            </a:r>
            <a:r>
              <a:rPr sz="2800" spc="-50" dirty="0">
                <a:latin typeface="Calibri"/>
                <a:cs typeface="Calibri"/>
              </a:rPr>
              <a:t> </a:t>
            </a:r>
            <a:r>
              <a:rPr sz="2800" dirty="0">
                <a:latin typeface="Calibri"/>
                <a:cs typeface="Calibri"/>
              </a:rPr>
              <a:t>clarify</a:t>
            </a:r>
            <a:r>
              <a:rPr sz="2800" spc="-65" dirty="0">
                <a:latin typeface="Calibri"/>
                <a:cs typeface="Calibri"/>
              </a:rPr>
              <a:t> </a:t>
            </a:r>
            <a:r>
              <a:rPr sz="2800" spc="-10" dirty="0">
                <a:latin typeface="Calibri"/>
                <a:cs typeface="Calibri"/>
              </a:rPr>
              <a:t>expectations</a:t>
            </a:r>
            <a:endParaRPr sz="280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7673" rIns="0" bIns="0" rtlCol="0">
            <a:spAutoFit/>
          </a:bodyPr>
          <a:lstStyle/>
          <a:p>
            <a:pPr marL="92075">
              <a:lnSpc>
                <a:spcPct val="100000"/>
              </a:lnSpc>
              <a:spcBef>
                <a:spcPts val="105"/>
              </a:spcBef>
            </a:pPr>
            <a:r>
              <a:rPr dirty="0"/>
              <a:t>Expectations</a:t>
            </a:r>
            <a:r>
              <a:rPr spc="-114" dirty="0"/>
              <a:t> </a:t>
            </a:r>
            <a:r>
              <a:rPr dirty="0"/>
              <a:t>Management</a:t>
            </a:r>
            <a:r>
              <a:rPr spc="-100" dirty="0"/>
              <a:t> </a:t>
            </a:r>
            <a:r>
              <a:rPr dirty="0"/>
              <a:t>Matrix</a:t>
            </a:r>
            <a:r>
              <a:rPr spc="-80" dirty="0"/>
              <a:t> </a:t>
            </a:r>
            <a:r>
              <a:rPr spc="-10" dirty="0"/>
              <a:t>(useful)</a:t>
            </a:r>
          </a:p>
        </p:txBody>
      </p:sp>
      <p:pic>
        <p:nvPicPr>
          <p:cNvPr id="3" name="object 3"/>
          <p:cNvPicPr/>
          <p:nvPr/>
        </p:nvPicPr>
        <p:blipFill>
          <a:blip r:embed="rId2" cstate="print"/>
          <a:stretch>
            <a:fillRect/>
          </a:stretch>
        </p:blipFill>
        <p:spPr>
          <a:xfrm>
            <a:off x="2365248" y="1234439"/>
            <a:ext cx="8279892" cy="5257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52120"/>
            <a:ext cx="3849370" cy="697230"/>
          </a:xfrm>
          <a:prstGeom prst="rect">
            <a:avLst/>
          </a:prstGeom>
        </p:spPr>
        <p:txBody>
          <a:bodyPr vert="horz" wrap="square" lIns="0" tIns="13335" rIns="0" bIns="0" rtlCol="0">
            <a:spAutoFit/>
          </a:bodyPr>
          <a:lstStyle/>
          <a:p>
            <a:pPr marL="12700">
              <a:lnSpc>
                <a:spcPct val="100000"/>
              </a:lnSpc>
              <a:spcBef>
                <a:spcPts val="105"/>
              </a:spcBef>
            </a:pPr>
            <a:r>
              <a:rPr dirty="0"/>
              <a:t>Managing</a:t>
            </a:r>
            <a:r>
              <a:rPr spc="-45" dirty="0"/>
              <a:t> </a:t>
            </a:r>
            <a:r>
              <a:rPr spc="-10" dirty="0"/>
              <a:t>issues</a:t>
            </a:r>
          </a:p>
        </p:txBody>
      </p:sp>
      <p:sp>
        <p:nvSpPr>
          <p:cNvPr id="3" name="object 3"/>
          <p:cNvSpPr txBox="1"/>
          <p:nvPr/>
        </p:nvSpPr>
        <p:spPr>
          <a:xfrm>
            <a:off x="1539366" y="1447800"/>
            <a:ext cx="10045065" cy="3670236"/>
          </a:xfrm>
          <a:prstGeom prst="rect">
            <a:avLst/>
          </a:prstGeom>
        </p:spPr>
        <p:txBody>
          <a:bodyPr vert="horz" wrap="square" lIns="0" tIns="55880" rIns="0" bIns="0" rtlCol="0">
            <a:spAutoFit/>
          </a:bodyPr>
          <a:lstStyle/>
          <a:p>
            <a:pPr marL="121920">
              <a:lnSpc>
                <a:spcPct val="100000"/>
              </a:lnSpc>
              <a:spcBef>
                <a:spcPts val="440"/>
              </a:spcBef>
            </a:pPr>
            <a:r>
              <a:rPr sz="2400" dirty="0">
                <a:latin typeface="Calibri"/>
                <a:cs typeface="Calibri"/>
              </a:rPr>
              <a:t>Need</a:t>
            </a:r>
            <a:r>
              <a:rPr sz="2400" spc="-20" dirty="0">
                <a:latin typeface="Calibri"/>
                <a:cs typeface="Calibri"/>
              </a:rPr>
              <a:t> </a:t>
            </a:r>
            <a:r>
              <a:rPr sz="2400" dirty="0">
                <a:latin typeface="Calibri"/>
                <a:cs typeface="Calibri"/>
              </a:rPr>
              <a:t>an</a:t>
            </a:r>
            <a:r>
              <a:rPr sz="2400" spc="-15" dirty="0">
                <a:latin typeface="Calibri"/>
                <a:cs typeface="Calibri"/>
              </a:rPr>
              <a:t> </a:t>
            </a:r>
            <a:r>
              <a:rPr sz="2400" dirty="0">
                <a:latin typeface="Calibri"/>
                <a:cs typeface="Calibri"/>
              </a:rPr>
              <a:t>issue</a:t>
            </a:r>
            <a:r>
              <a:rPr sz="2400" spc="-10" dirty="0">
                <a:latin typeface="Calibri"/>
                <a:cs typeface="Calibri"/>
              </a:rPr>
              <a:t> </a:t>
            </a:r>
            <a:r>
              <a:rPr sz="2400" dirty="0">
                <a:latin typeface="Calibri"/>
                <a:cs typeface="Calibri"/>
              </a:rPr>
              <a:t>management</a:t>
            </a:r>
            <a:r>
              <a:rPr sz="2400" spc="-20" dirty="0">
                <a:latin typeface="Calibri"/>
                <a:cs typeface="Calibri"/>
              </a:rPr>
              <a:t> plan</a:t>
            </a:r>
            <a:endParaRPr sz="2400" dirty="0">
              <a:latin typeface="Calibri"/>
              <a:cs typeface="Calibri"/>
            </a:endParaRPr>
          </a:p>
          <a:p>
            <a:pPr marL="698500" indent="-228600">
              <a:lnSpc>
                <a:spcPct val="100000"/>
              </a:lnSpc>
              <a:spcBef>
                <a:spcPts val="290"/>
              </a:spcBef>
              <a:buClr>
                <a:srgbClr val="F5821F"/>
              </a:buClr>
              <a:buFont typeface="Arial"/>
              <a:buChar char="•"/>
              <a:tabLst>
                <a:tab pos="698500" algn="l"/>
              </a:tabLst>
            </a:pPr>
            <a:r>
              <a:rPr sz="2000" dirty="0">
                <a:latin typeface="Calibri"/>
                <a:cs typeface="Calibri"/>
              </a:rPr>
              <a:t>Clearly</a:t>
            </a:r>
            <a:r>
              <a:rPr sz="2000" spc="-40" dirty="0">
                <a:latin typeface="Calibri"/>
                <a:cs typeface="Calibri"/>
              </a:rPr>
              <a:t> </a:t>
            </a:r>
            <a:r>
              <a:rPr sz="2000" dirty="0">
                <a:latin typeface="Calibri"/>
                <a:cs typeface="Calibri"/>
              </a:rPr>
              <a:t>identify</a:t>
            </a:r>
            <a:r>
              <a:rPr sz="2000" spc="-25" dirty="0">
                <a:latin typeface="Calibri"/>
                <a:cs typeface="Calibri"/>
              </a:rPr>
              <a:t> </a:t>
            </a:r>
            <a:r>
              <a:rPr sz="2000" dirty="0">
                <a:latin typeface="Calibri"/>
                <a:cs typeface="Calibri"/>
              </a:rPr>
              <a:t>procedures</a:t>
            </a:r>
            <a:r>
              <a:rPr lang="en-NZ" sz="2000" spc="-40" dirty="0">
                <a:latin typeface="Calibri"/>
                <a:cs typeface="Calibri"/>
              </a:rPr>
              <a:t>-</a:t>
            </a:r>
          </a:p>
          <a:p>
            <a:pPr marL="469900" lvl="5">
              <a:spcBef>
                <a:spcPts val="290"/>
              </a:spcBef>
              <a:buClr>
                <a:srgbClr val="F5821F"/>
              </a:buClr>
              <a:tabLst>
                <a:tab pos="698500" algn="l"/>
              </a:tabLst>
            </a:pPr>
            <a:r>
              <a:rPr lang="en-NZ" sz="2000" spc="-40" dirty="0">
                <a:latin typeface="Calibri"/>
                <a:cs typeface="Calibri"/>
              </a:rPr>
              <a:t>- </a:t>
            </a:r>
            <a:r>
              <a:rPr sz="2000" dirty="0">
                <a:latin typeface="Calibri"/>
                <a:cs typeface="Calibri"/>
              </a:rPr>
              <a:t>how</a:t>
            </a:r>
            <a:r>
              <a:rPr sz="2000" spc="-40" dirty="0">
                <a:latin typeface="Calibri"/>
                <a:cs typeface="Calibri"/>
              </a:rPr>
              <a:t> </a:t>
            </a:r>
            <a:r>
              <a:rPr sz="2000" dirty="0">
                <a:latin typeface="Calibri"/>
                <a:cs typeface="Calibri"/>
              </a:rPr>
              <a:t>an</a:t>
            </a:r>
            <a:r>
              <a:rPr sz="2000" spc="-20" dirty="0">
                <a:latin typeface="Calibri"/>
                <a:cs typeface="Calibri"/>
              </a:rPr>
              <a:t> </a:t>
            </a:r>
            <a:r>
              <a:rPr sz="2000" dirty="0">
                <a:latin typeface="Calibri"/>
                <a:cs typeface="Calibri"/>
              </a:rPr>
              <a:t>issue</a:t>
            </a:r>
            <a:r>
              <a:rPr sz="2000" spc="-20" dirty="0">
                <a:latin typeface="Calibri"/>
                <a:cs typeface="Calibri"/>
              </a:rPr>
              <a:t> </a:t>
            </a:r>
            <a:r>
              <a:rPr sz="2000" dirty="0">
                <a:latin typeface="Calibri"/>
                <a:cs typeface="Calibri"/>
              </a:rPr>
              <a:t>will</a:t>
            </a:r>
            <a:r>
              <a:rPr sz="2000" spc="-15" dirty="0">
                <a:latin typeface="Calibri"/>
                <a:cs typeface="Calibri"/>
              </a:rPr>
              <a:t> </a:t>
            </a:r>
            <a:r>
              <a:rPr sz="2000" dirty="0">
                <a:latin typeface="Calibri"/>
                <a:cs typeface="Calibri"/>
              </a:rPr>
              <a:t>be</a:t>
            </a:r>
            <a:r>
              <a:rPr sz="2000" spc="-35" dirty="0">
                <a:latin typeface="Calibri"/>
                <a:cs typeface="Calibri"/>
              </a:rPr>
              <a:t> </a:t>
            </a:r>
            <a:r>
              <a:rPr sz="2000" dirty="0">
                <a:latin typeface="Calibri"/>
                <a:cs typeface="Calibri"/>
              </a:rPr>
              <a:t>captured</a:t>
            </a:r>
            <a:r>
              <a:rPr lang="en-NZ" sz="2000" spc="-45" dirty="0">
                <a:latin typeface="Calibri"/>
                <a:cs typeface="Calibri"/>
              </a:rPr>
              <a:t> (need an </a:t>
            </a:r>
            <a:r>
              <a:rPr lang="en-NZ" sz="2000" dirty="0">
                <a:latin typeface="Calibri"/>
                <a:cs typeface="Calibri"/>
              </a:rPr>
              <a:t>Issue</a:t>
            </a:r>
            <a:r>
              <a:rPr lang="en-NZ" sz="2000" spc="-40" dirty="0">
                <a:latin typeface="Calibri"/>
                <a:cs typeface="Calibri"/>
              </a:rPr>
              <a:t> </a:t>
            </a:r>
            <a:r>
              <a:rPr lang="en-NZ" sz="2000" dirty="0">
                <a:latin typeface="Calibri"/>
                <a:cs typeface="Calibri"/>
              </a:rPr>
              <a:t>log)</a:t>
            </a:r>
            <a:r>
              <a:rPr lang="en-NZ" sz="2000" spc="-30" dirty="0">
                <a:latin typeface="Calibri"/>
                <a:cs typeface="Calibri"/>
              </a:rPr>
              <a:t> and </a:t>
            </a:r>
            <a:r>
              <a:rPr sz="2000" spc="-30" dirty="0">
                <a:latin typeface="Calibri"/>
                <a:cs typeface="Calibri"/>
              </a:rPr>
              <a:t> </a:t>
            </a:r>
            <a:r>
              <a:rPr sz="2000" spc="-10" dirty="0">
                <a:latin typeface="Calibri"/>
                <a:cs typeface="Calibri"/>
              </a:rPr>
              <a:t>addressed</a:t>
            </a:r>
            <a:r>
              <a:rPr lang="en-NZ" sz="2000" spc="-10" dirty="0">
                <a:latin typeface="Calibri"/>
                <a:cs typeface="Calibri"/>
              </a:rPr>
              <a:t> (bullet point steps involved to deal with an issue such as  issue assignment, resolution timeframe, M/C &amp; Closure )</a:t>
            </a:r>
            <a:endParaRPr sz="2000" dirty="0">
              <a:latin typeface="Calibri"/>
              <a:cs typeface="Calibri"/>
            </a:endParaRPr>
          </a:p>
          <a:p>
            <a:pPr marL="698500" indent="-228600">
              <a:lnSpc>
                <a:spcPct val="100000"/>
              </a:lnSpc>
              <a:spcBef>
                <a:spcPts val="254"/>
              </a:spcBef>
              <a:buClr>
                <a:srgbClr val="F5821F"/>
              </a:buClr>
              <a:buFont typeface="Arial"/>
              <a:buChar char="•"/>
              <a:tabLst>
                <a:tab pos="698500" algn="l"/>
              </a:tabLst>
            </a:pPr>
            <a:r>
              <a:rPr lang="en-NZ" sz="2000" dirty="0">
                <a:latin typeface="Calibri"/>
                <a:cs typeface="Calibri"/>
              </a:rPr>
              <a:t>Must </a:t>
            </a:r>
            <a:r>
              <a:rPr sz="2000" dirty="0">
                <a:latin typeface="Calibri"/>
                <a:cs typeface="Calibri"/>
              </a:rPr>
              <a:t>deal</a:t>
            </a:r>
            <a:r>
              <a:rPr sz="2000" spc="-20" dirty="0">
                <a:latin typeface="Calibri"/>
                <a:cs typeface="Calibri"/>
              </a:rPr>
              <a:t> </a:t>
            </a:r>
            <a:r>
              <a:rPr sz="2000" dirty="0">
                <a:latin typeface="Calibri"/>
                <a:cs typeface="Calibri"/>
              </a:rPr>
              <a:t>with</a:t>
            </a:r>
            <a:r>
              <a:rPr sz="2000" spc="-15" dirty="0">
                <a:latin typeface="Calibri"/>
                <a:cs typeface="Calibri"/>
              </a:rPr>
              <a:t> </a:t>
            </a:r>
            <a:r>
              <a:rPr sz="2000" dirty="0">
                <a:latin typeface="Calibri"/>
                <a:cs typeface="Calibri"/>
              </a:rPr>
              <a:t>issues</a:t>
            </a:r>
            <a:r>
              <a:rPr sz="2000" spc="5" dirty="0">
                <a:latin typeface="Calibri"/>
                <a:cs typeface="Calibri"/>
              </a:rPr>
              <a:t> </a:t>
            </a:r>
            <a:r>
              <a:rPr sz="2000" dirty="0">
                <a:latin typeface="Calibri"/>
                <a:cs typeface="Calibri"/>
              </a:rPr>
              <a:t>of</a:t>
            </a:r>
            <a:r>
              <a:rPr sz="2000" spc="-30" dirty="0">
                <a:latin typeface="Calibri"/>
                <a:cs typeface="Calibri"/>
              </a:rPr>
              <a:t> </a:t>
            </a:r>
            <a:r>
              <a:rPr sz="2000" dirty="0">
                <a:latin typeface="Calibri"/>
                <a:cs typeface="Calibri"/>
              </a:rPr>
              <a:t>all</a:t>
            </a:r>
            <a:r>
              <a:rPr sz="2000" spc="-25" dirty="0">
                <a:latin typeface="Calibri"/>
                <a:cs typeface="Calibri"/>
              </a:rPr>
              <a:t> </a:t>
            </a:r>
            <a:r>
              <a:rPr lang="en-NZ" sz="2000" dirty="0">
                <a:latin typeface="Calibri"/>
                <a:cs typeface="Calibri"/>
              </a:rPr>
              <a:t>stakeholders</a:t>
            </a:r>
            <a:r>
              <a:rPr sz="2000" spc="-5" dirty="0">
                <a:latin typeface="Calibri"/>
                <a:cs typeface="Calibri"/>
              </a:rPr>
              <a:t> </a:t>
            </a:r>
            <a:r>
              <a:rPr sz="2000" dirty="0">
                <a:latin typeface="Calibri"/>
                <a:cs typeface="Calibri"/>
              </a:rPr>
              <a:t>–</a:t>
            </a:r>
            <a:r>
              <a:rPr sz="2000" spc="-20" dirty="0">
                <a:latin typeface="Calibri"/>
                <a:cs typeface="Calibri"/>
              </a:rPr>
              <a:t> </a:t>
            </a:r>
            <a:r>
              <a:rPr sz="2000" dirty="0">
                <a:latin typeface="Calibri"/>
                <a:cs typeface="Calibri"/>
              </a:rPr>
              <a:t>including</a:t>
            </a:r>
            <a:r>
              <a:rPr sz="2000" spc="-35"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client, sponsor</a:t>
            </a:r>
            <a:r>
              <a:rPr lang="en-NZ" sz="2000" dirty="0">
                <a:latin typeface="Calibri"/>
                <a:cs typeface="Calibri"/>
              </a:rPr>
              <a:t>,</a:t>
            </a:r>
            <a:r>
              <a:rPr sz="2000" spc="-35" dirty="0">
                <a:latin typeface="Calibri"/>
                <a:cs typeface="Calibri"/>
              </a:rPr>
              <a:t> </a:t>
            </a:r>
            <a:r>
              <a:rPr sz="2000" dirty="0">
                <a:latin typeface="Calibri"/>
                <a:cs typeface="Calibri"/>
              </a:rPr>
              <a:t>and</a:t>
            </a:r>
            <a:r>
              <a:rPr sz="2000" spc="-20" dirty="0">
                <a:latin typeface="Calibri"/>
                <a:cs typeface="Calibri"/>
              </a:rPr>
              <a:t> team</a:t>
            </a:r>
            <a:endParaRPr sz="2000" dirty="0">
              <a:latin typeface="Calibri"/>
              <a:cs typeface="Calibri"/>
            </a:endParaRPr>
          </a:p>
          <a:p>
            <a:pPr marL="698500" marR="5080" indent="-228600">
              <a:lnSpc>
                <a:spcPts val="2160"/>
              </a:lnSpc>
              <a:spcBef>
                <a:spcPts val="540"/>
              </a:spcBef>
              <a:buClr>
                <a:srgbClr val="F5821F"/>
              </a:buClr>
              <a:buFont typeface="Arial"/>
              <a:buChar char="•"/>
              <a:tabLst>
                <a:tab pos="698500" algn="l"/>
              </a:tabLst>
            </a:pPr>
            <a:r>
              <a:rPr sz="2000" dirty="0">
                <a:latin typeface="Calibri"/>
                <a:cs typeface="Calibri"/>
              </a:rPr>
              <a:t>Issues</a:t>
            </a:r>
            <a:r>
              <a:rPr sz="2000" spc="-5" dirty="0">
                <a:latin typeface="Calibri"/>
                <a:cs typeface="Calibri"/>
              </a:rPr>
              <a:t> </a:t>
            </a:r>
            <a:r>
              <a:rPr sz="2000" dirty="0">
                <a:latin typeface="Calibri"/>
                <a:cs typeface="Calibri"/>
              </a:rPr>
              <a:t>should</a:t>
            </a:r>
            <a:r>
              <a:rPr sz="2000" spc="-15" dirty="0">
                <a:latin typeface="Calibri"/>
                <a:cs typeface="Calibri"/>
              </a:rPr>
              <a:t> </a:t>
            </a:r>
            <a:r>
              <a:rPr sz="2000" dirty="0">
                <a:latin typeface="Calibri"/>
                <a:cs typeface="Calibri"/>
              </a:rPr>
              <a:t>be</a:t>
            </a:r>
            <a:r>
              <a:rPr sz="2000" spc="-30" dirty="0">
                <a:latin typeface="Calibri"/>
                <a:cs typeface="Calibri"/>
              </a:rPr>
              <a:t> </a:t>
            </a:r>
            <a:r>
              <a:rPr lang="en-NZ" sz="2000" dirty="0">
                <a:latin typeface="Calibri"/>
                <a:cs typeface="Calibri"/>
              </a:rPr>
              <a:t>captured</a:t>
            </a:r>
            <a:r>
              <a:rPr sz="2000" spc="-25" dirty="0">
                <a:latin typeface="Calibri"/>
                <a:cs typeface="Calibri"/>
              </a:rPr>
              <a:t> </a:t>
            </a:r>
            <a:r>
              <a:rPr sz="2000" dirty="0">
                <a:latin typeface="Calibri"/>
                <a:cs typeface="Calibri"/>
              </a:rPr>
              <a:t>in</a:t>
            </a:r>
            <a:r>
              <a:rPr sz="2000" spc="-25" dirty="0">
                <a:latin typeface="Calibri"/>
                <a:cs typeface="Calibri"/>
              </a:rPr>
              <a:t> </a:t>
            </a:r>
            <a:r>
              <a:rPr sz="2000" dirty="0">
                <a:latin typeface="Calibri"/>
                <a:cs typeface="Calibri"/>
              </a:rPr>
              <a:t>an</a:t>
            </a:r>
            <a:r>
              <a:rPr sz="2000" spc="-10" dirty="0">
                <a:latin typeface="Calibri"/>
                <a:cs typeface="Calibri"/>
              </a:rPr>
              <a:t> </a:t>
            </a:r>
            <a:r>
              <a:rPr sz="2000" b="1" dirty="0">
                <a:latin typeface="Calibri"/>
                <a:cs typeface="Calibri"/>
              </a:rPr>
              <a:t>issue</a:t>
            </a:r>
            <a:r>
              <a:rPr sz="2000" b="1" spc="-20" dirty="0">
                <a:latin typeface="Calibri"/>
                <a:cs typeface="Calibri"/>
              </a:rPr>
              <a:t> </a:t>
            </a:r>
            <a:r>
              <a:rPr sz="2000" b="1" dirty="0">
                <a:latin typeface="Calibri"/>
                <a:cs typeface="Calibri"/>
              </a:rPr>
              <a:t>log</a:t>
            </a:r>
            <a:r>
              <a:rPr lang="en-NZ" sz="2000" b="1" dirty="0">
                <a:latin typeface="Calibri"/>
                <a:cs typeface="Calibri"/>
              </a:rPr>
              <a:t>-</a:t>
            </a:r>
            <a:r>
              <a:rPr sz="2000" spc="-35" dirty="0">
                <a:latin typeface="Calibri"/>
                <a:cs typeface="Calibri"/>
              </a:rPr>
              <a:t> </a:t>
            </a:r>
            <a:r>
              <a:rPr sz="2000" dirty="0">
                <a:latin typeface="Calibri"/>
                <a:cs typeface="Calibri"/>
              </a:rPr>
              <a:t>a</a:t>
            </a:r>
            <a:r>
              <a:rPr sz="2000" spc="-15" dirty="0">
                <a:latin typeface="Calibri"/>
                <a:cs typeface="Calibri"/>
              </a:rPr>
              <a:t> </a:t>
            </a:r>
            <a:r>
              <a:rPr sz="2000" dirty="0">
                <a:latin typeface="Calibri"/>
                <a:cs typeface="Calibri"/>
              </a:rPr>
              <a:t>tool</a:t>
            </a:r>
            <a:r>
              <a:rPr sz="2000" spc="-15" dirty="0">
                <a:latin typeface="Calibri"/>
                <a:cs typeface="Calibri"/>
              </a:rPr>
              <a:t> </a:t>
            </a:r>
            <a:r>
              <a:rPr sz="2000" dirty="0">
                <a:latin typeface="Calibri"/>
                <a:cs typeface="Calibri"/>
              </a:rPr>
              <a:t>used</a:t>
            </a:r>
            <a:r>
              <a:rPr sz="2000" spc="-25"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document,</a:t>
            </a:r>
            <a:r>
              <a:rPr sz="2000" spc="-30" dirty="0">
                <a:latin typeface="Calibri"/>
                <a:cs typeface="Calibri"/>
              </a:rPr>
              <a:t> </a:t>
            </a:r>
            <a:r>
              <a:rPr sz="2000" spc="-10" dirty="0">
                <a:latin typeface="Calibri"/>
                <a:cs typeface="Calibri"/>
              </a:rPr>
              <a:t>monitor, </a:t>
            </a:r>
            <a:r>
              <a:rPr sz="2000" dirty="0">
                <a:latin typeface="Calibri"/>
                <a:cs typeface="Calibri"/>
              </a:rPr>
              <a:t>and</a:t>
            </a:r>
            <a:r>
              <a:rPr sz="2000" spc="-30" dirty="0">
                <a:latin typeface="Calibri"/>
                <a:cs typeface="Calibri"/>
              </a:rPr>
              <a:t> </a:t>
            </a:r>
            <a:r>
              <a:rPr sz="2000" dirty="0">
                <a:latin typeface="Calibri"/>
                <a:cs typeface="Calibri"/>
              </a:rPr>
              <a:t>track</a:t>
            </a:r>
            <a:r>
              <a:rPr sz="2000" spc="-20" dirty="0">
                <a:latin typeface="Calibri"/>
                <a:cs typeface="Calibri"/>
              </a:rPr>
              <a:t> </a:t>
            </a:r>
            <a:r>
              <a:rPr sz="2000" dirty="0">
                <a:latin typeface="Calibri"/>
                <a:cs typeface="Calibri"/>
              </a:rPr>
              <a:t>issues</a:t>
            </a:r>
            <a:r>
              <a:rPr sz="2000" spc="-5" dirty="0">
                <a:latin typeface="Calibri"/>
                <a:cs typeface="Calibri"/>
              </a:rPr>
              <a:t> </a:t>
            </a:r>
            <a:r>
              <a:rPr sz="2000" dirty="0">
                <a:latin typeface="Calibri"/>
                <a:cs typeface="Calibri"/>
              </a:rPr>
              <a:t>that</a:t>
            </a:r>
            <a:r>
              <a:rPr sz="2000" spc="-20" dirty="0">
                <a:latin typeface="Calibri"/>
                <a:cs typeface="Calibri"/>
              </a:rPr>
              <a:t> </a:t>
            </a:r>
            <a:r>
              <a:rPr sz="2000" dirty="0">
                <a:latin typeface="Calibri"/>
                <a:cs typeface="Calibri"/>
              </a:rPr>
              <a:t>need</a:t>
            </a:r>
            <a:r>
              <a:rPr sz="2000" spc="-20" dirty="0">
                <a:latin typeface="Calibri"/>
                <a:cs typeface="Calibri"/>
              </a:rPr>
              <a:t> </a:t>
            </a:r>
            <a:r>
              <a:rPr sz="2000" spc="-10" dirty="0">
                <a:latin typeface="Calibri"/>
                <a:cs typeface="Calibri"/>
              </a:rPr>
              <a:t>resolution</a:t>
            </a:r>
            <a:r>
              <a:rPr lang="en-NZ" sz="2000" spc="-10" dirty="0">
                <a:latin typeface="Calibri"/>
                <a:cs typeface="Calibri"/>
              </a:rPr>
              <a:t>- an Excel SS template (tool) is provided for issue management.</a:t>
            </a:r>
            <a:endParaRPr sz="2000" dirty="0">
              <a:latin typeface="Calibri"/>
              <a:cs typeface="Calibri"/>
            </a:endParaRPr>
          </a:p>
          <a:p>
            <a:pPr marL="240665" indent="-227965">
              <a:lnSpc>
                <a:spcPts val="2735"/>
              </a:lnSpc>
              <a:spcBef>
                <a:spcPts val="660"/>
              </a:spcBef>
              <a:buClr>
                <a:srgbClr val="F5821F"/>
              </a:buClr>
              <a:buFont typeface="Arial"/>
              <a:buChar char="•"/>
              <a:tabLst>
                <a:tab pos="240665" algn="l"/>
              </a:tabLst>
            </a:pPr>
            <a:r>
              <a:rPr sz="2400" dirty="0">
                <a:highlight>
                  <a:srgbClr val="00FF00"/>
                </a:highlight>
                <a:latin typeface="Calibri"/>
                <a:cs typeface="Calibri"/>
              </a:rPr>
              <a:t>Unresolved</a:t>
            </a:r>
            <a:r>
              <a:rPr sz="2400" spc="-35" dirty="0">
                <a:highlight>
                  <a:srgbClr val="00FF00"/>
                </a:highlight>
                <a:latin typeface="Calibri"/>
                <a:cs typeface="Calibri"/>
              </a:rPr>
              <a:t> </a:t>
            </a:r>
            <a:r>
              <a:rPr sz="2400" dirty="0">
                <a:highlight>
                  <a:srgbClr val="00FF00"/>
                </a:highlight>
                <a:latin typeface="Calibri"/>
                <a:cs typeface="Calibri"/>
              </a:rPr>
              <a:t>issues</a:t>
            </a:r>
            <a:r>
              <a:rPr sz="2400" spc="-25" dirty="0">
                <a:highlight>
                  <a:srgbClr val="00FF00"/>
                </a:highlight>
                <a:latin typeface="Calibri"/>
                <a:cs typeface="Calibri"/>
              </a:rPr>
              <a:t> </a:t>
            </a:r>
            <a:r>
              <a:rPr lang="en-NZ" sz="2400" spc="-45" dirty="0">
                <a:highlight>
                  <a:srgbClr val="00FF00"/>
                </a:highlight>
                <a:latin typeface="Calibri"/>
                <a:cs typeface="Calibri"/>
              </a:rPr>
              <a:t>will </a:t>
            </a:r>
            <a:r>
              <a:rPr sz="2400" dirty="0">
                <a:highlight>
                  <a:srgbClr val="00FF00"/>
                </a:highlight>
                <a:latin typeface="Calibri"/>
                <a:cs typeface="Calibri"/>
              </a:rPr>
              <a:t>result</a:t>
            </a:r>
            <a:r>
              <a:rPr sz="2400" spc="-45" dirty="0">
                <a:highlight>
                  <a:srgbClr val="00FF00"/>
                </a:highlight>
                <a:latin typeface="Calibri"/>
                <a:cs typeface="Calibri"/>
              </a:rPr>
              <a:t> </a:t>
            </a:r>
            <a:r>
              <a:rPr sz="2400" dirty="0">
                <a:highlight>
                  <a:srgbClr val="00FF00"/>
                </a:highlight>
                <a:latin typeface="Calibri"/>
                <a:cs typeface="Calibri"/>
              </a:rPr>
              <a:t>in</a:t>
            </a:r>
            <a:r>
              <a:rPr sz="2400" spc="-30" dirty="0">
                <a:highlight>
                  <a:srgbClr val="00FF00"/>
                </a:highlight>
                <a:latin typeface="Calibri"/>
                <a:cs typeface="Calibri"/>
              </a:rPr>
              <a:t> </a:t>
            </a:r>
            <a:r>
              <a:rPr sz="2400" spc="-10" dirty="0">
                <a:highlight>
                  <a:srgbClr val="00FF00"/>
                </a:highlight>
                <a:latin typeface="Calibri"/>
                <a:cs typeface="Calibri"/>
              </a:rPr>
              <a:t>stakeholder</a:t>
            </a:r>
            <a:r>
              <a:rPr lang="en-NZ" sz="2400" spc="-10" dirty="0">
                <a:highlight>
                  <a:srgbClr val="00FF00"/>
                </a:highlight>
                <a:latin typeface="Calibri"/>
                <a:cs typeface="Calibri"/>
              </a:rPr>
              <a:t> </a:t>
            </a:r>
            <a:r>
              <a:rPr sz="2400" dirty="0">
                <a:highlight>
                  <a:srgbClr val="00FF00"/>
                </a:highlight>
                <a:latin typeface="Calibri"/>
                <a:cs typeface="Calibri"/>
              </a:rPr>
              <a:t>expectations</a:t>
            </a:r>
            <a:r>
              <a:rPr sz="2400" spc="-70" dirty="0">
                <a:highlight>
                  <a:srgbClr val="00FF00"/>
                </a:highlight>
                <a:latin typeface="Calibri"/>
                <a:cs typeface="Calibri"/>
              </a:rPr>
              <a:t> </a:t>
            </a:r>
            <a:r>
              <a:rPr sz="2400" dirty="0">
                <a:highlight>
                  <a:srgbClr val="00FF00"/>
                </a:highlight>
                <a:latin typeface="Calibri"/>
                <a:cs typeface="Calibri"/>
              </a:rPr>
              <a:t>not</a:t>
            </a:r>
            <a:r>
              <a:rPr sz="2400" spc="-40" dirty="0">
                <a:highlight>
                  <a:srgbClr val="00FF00"/>
                </a:highlight>
                <a:latin typeface="Calibri"/>
                <a:cs typeface="Calibri"/>
              </a:rPr>
              <a:t> </a:t>
            </a:r>
            <a:r>
              <a:rPr sz="2400" dirty="0">
                <a:highlight>
                  <a:srgbClr val="00FF00"/>
                </a:highlight>
                <a:latin typeface="Calibri"/>
                <a:cs typeface="Calibri"/>
              </a:rPr>
              <a:t>being</a:t>
            </a:r>
            <a:r>
              <a:rPr sz="2400" spc="-30" dirty="0">
                <a:highlight>
                  <a:srgbClr val="00FF00"/>
                </a:highlight>
                <a:latin typeface="Calibri"/>
                <a:cs typeface="Calibri"/>
              </a:rPr>
              <a:t> </a:t>
            </a:r>
            <a:r>
              <a:rPr sz="2400" spc="-25" dirty="0">
                <a:highlight>
                  <a:srgbClr val="00FF00"/>
                </a:highlight>
                <a:latin typeface="Calibri"/>
                <a:cs typeface="Calibri"/>
              </a:rPr>
              <a:t>met</a:t>
            </a:r>
            <a:endParaRPr sz="2400" dirty="0">
              <a:highlight>
                <a:srgbClr val="00FF00"/>
              </a:highlight>
              <a:latin typeface="Calibri"/>
              <a:cs typeface="Calibri"/>
            </a:endParaRPr>
          </a:p>
          <a:p>
            <a:pPr marL="241300" marR="416559" indent="-229235">
              <a:lnSpc>
                <a:spcPts val="2590"/>
              </a:lnSpc>
              <a:spcBef>
                <a:spcPts val="1035"/>
              </a:spcBef>
              <a:buClr>
                <a:srgbClr val="F5821F"/>
              </a:buClr>
              <a:buFont typeface="Arial"/>
              <a:buChar char="•"/>
              <a:tabLst>
                <a:tab pos="241300" algn="l"/>
              </a:tabLst>
            </a:pPr>
            <a:r>
              <a:rPr lang="en-NZ" sz="2400" dirty="0">
                <a:highlight>
                  <a:srgbClr val="00FF00"/>
                </a:highlight>
                <a:latin typeface="Calibri"/>
                <a:cs typeface="Calibri"/>
              </a:rPr>
              <a:t>issues</a:t>
            </a:r>
            <a:r>
              <a:rPr sz="2400" spc="-10" dirty="0">
                <a:highlight>
                  <a:srgbClr val="00FF00"/>
                </a:highlight>
                <a:latin typeface="Calibri"/>
                <a:cs typeface="Calibri"/>
              </a:rPr>
              <a:t> </a:t>
            </a:r>
            <a:r>
              <a:rPr sz="2400" dirty="0">
                <a:highlight>
                  <a:srgbClr val="00FF00"/>
                </a:highlight>
                <a:latin typeface="Calibri"/>
                <a:cs typeface="Calibri"/>
              </a:rPr>
              <a:t>if</a:t>
            </a:r>
            <a:r>
              <a:rPr sz="2400" spc="-10" dirty="0">
                <a:highlight>
                  <a:srgbClr val="00FF00"/>
                </a:highlight>
                <a:latin typeface="Calibri"/>
                <a:cs typeface="Calibri"/>
              </a:rPr>
              <a:t> </a:t>
            </a:r>
            <a:r>
              <a:rPr sz="2400" dirty="0">
                <a:highlight>
                  <a:srgbClr val="00FF00"/>
                </a:highlight>
                <a:latin typeface="Calibri"/>
                <a:cs typeface="Calibri"/>
              </a:rPr>
              <a:t>not</a:t>
            </a:r>
            <a:r>
              <a:rPr sz="2400" spc="-10" dirty="0">
                <a:highlight>
                  <a:srgbClr val="00FF00"/>
                </a:highlight>
                <a:latin typeface="Calibri"/>
                <a:cs typeface="Calibri"/>
              </a:rPr>
              <a:t> </a:t>
            </a:r>
            <a:r>
              <a:rPr sz="2400" dirty="0">
                <a:highlight>
                  <a:srgbClr val="00FF00"/>
                </a:highlight>
                <a:latin typeface="Calibri"/>
                <a:cs typeface="Calibri"/>
              </a:rPr>
              <a:t>dealt</a:t>
            </a:r>
            <a:r>
              <a:rPr sz="2400" spc="-10" dirty="0">
                <a:highlight>
                  <a:srgbClr val="00FF00"/>
                </a:highlight>
                <a:latin typeface="Calibri"/>
                <a:cs typeface="Calibri"/>
              </a:rPr>
              <a:t> </a:t>
            </a:r>
            <a:r>
              <a:rPr lang="en-NZ" sz="2400" spc="-10" dirty="0">
                <a:highlight>
                  <a:srgbClr val="00FF00"/>
                </a:highlight>
                <a:latin typeface="Calibri"/>
                <a:cs typeface="Calibri"/>
              </a:rPr>
              <a:t>with </a:t>
            </a:r>
            <a:r>
              <a:rPr sz="2400" dirty="0">
                <a:highlight>
                  <a:srgbClr val="00FF00"/>
                </a:highlight>
                <a:latin typeface="Calibri"/>
                <a:cs typeface="Calibri"/>
              </a:rPr>
              <a:t>in</a:t>
            </a:r>
            <a:r>
              <a:rPr sz="2400" spc="-10" dirty="0">
                <a:highlight>
                  <a:srgbClr val="00FF00"/>
                </a:highlight>
                <a:latin typeface="Calibri"/>
                <a:cs typeface="Calibri"/>
              </a:rPr>
              <a:t> </a:t>
            </a:r>
            <a:r>
              <a:rPr sz="2400" dirty="0">
                <a:highlight>
                  <a:srgbClr val="00FF00"/>
                </a:highlight>
                <a:latin typeface="Calibri"/>
                <a:cs typeface="Calibri"/>
              </a:rPr>
              <a:t>a</a:t>
            </a:r>
            <a:r>
              <a:rPr sz="2400" spc="-20" dirty="0">
                <a:highlight>
                  <a:srgbClr val="00FF00"/>
                </a:highlight>
                <a:latin typeface="Calibri"/>
                <a:cs typeface="Calibri"/>
              </a:rPr>
              <a:t> </a:t>
            </a:r>
            <a:r>
              <a:rPr sz="2400" dirty="0">
                <a:highlight>
                  <a:srgbClr val="00FF00"/>
                </a:highlight>
                <a:latin typeface="Calibri"/>
                <a:cs typeface="Calibri"/>
              </a:rPr>
              <a:t>timely</a:t>
            </a:r>
            <a:r>
              <a:rPr sz="2400" spc="-30" dirty="0">
                <a:highlight>
                  <a:srgbClr val="00FF00"/>
                </a:highlight>
                <a:latin typeface="Calibri"/>
                <a:cs typeface="Calibri"/>
              </a:rPr>
              <a:t> </a:t>
            </a:r>
            <a:r>
              <a:rPr sz="2400" dirty="0">
                <a:highlight>
                  <a:srgbClr val="00FF00"/>
                </a:highlight>
                <a:latin typeface="Calibri"/>
                <a:cs typeface="Calibri"/>
              </a:rPr>
              <a:t>manner</a:t>
            </a:r>
            <a:r>
              <a:rPr sz="2400" spc="-20" dirty="0">
                <a:highlight>
                  <a:srgbClr val="00FF00"/>
                </a:highlight>
                <a:latin typeface="Calibri"/>
                <a:cs typeface="Calibri"/>
              </a:rPr>
              <a:t> </a:t>
            </a:r>
            <a:r>
              <a:rPr sz="2400" dirty="0">
                <a:highlight>
                  <a:srgbClr val="00FF00"/>
                </a:highlight>
                <a:latin typeface="Calibri"/>
                <a:cs typeface="Calibri"/>
              </a:rPr>
              <a:t>will</a:t>
            </a:r>
            <a:r>
              <a:rPr sz="2400" spc="-20" dirty="0">
                <a:highlight>
                  <a:srgbClr val="00FF00"/>
                </a:highlight>
                <a:latin typeface="Calibri"/>
                <a:cs typeface="Calibri"/>
              </a:rPr>
              <a:t> </a:t>
            </a:r>
            <a:r>
              <a:rPr sz="2400" dirty="0">
                <a:highlight>
                  <a:srgbClr val="00FF00"/>
                </a:highlight>
                <a:latin typeface="Calibri"/>
                <a:cs typeface="Calibri"/>
              </a:rPr>
              <a:t>become</a:t>
            </a:r>
            <a:r>
              <a:rPr sz="2400" spc="-5" dirty="0">
                <a:highlight>
                  <a:srgbClr val="00FF00"/>
                </a:highlight>
                <a:latin typeface="Calibri"/>
                <a:cs typeface="Calibri"/>
              </a:rPr>
              <a:t> </a:t>
            </a:r>
            <a:r>
              <a:rPr sz="2400" dirty="0">
                <a:highlight>
                  <a:srgbClr val="00FF00"/>
                </a:highlight>
                <a:latin typeface="Calibri"/>
                <a:cs typeface="Calibri"/>
              </a:rPr>
              <a:t>a</a:t>
            </a:r>
            <a:r>
              <a:rPr sz="2400" spc="-20" dirty="0">
                <a:highlight>
                  <a:srgbClr val="00FF00"/>
                </a:highlight>
                <a:latin typeface="Calibri"/>
                <a:cs typeface="Calibri"/>
              </a:rPr>
              <a:t> </a:t>
            </a:r>
            <a:r>
              <a:rPr sz="2400" dirty="0">
                <a:highlight>
                  <a:srgbClr val="00FF00"/>
                </a:highlight>
                <a:latin typeface="Calibri"/>
                <a:cs typeface="Calibri"/>
              </a:rPr>
              <a:t>risk</a:t>
            </a:r>
            <a:r>
              <a:rPr sz="2400" spc="-5" dirty="0">
                <a:highlight>
                  <a:srgbClr val="00FF00"/>
                </a:highlight>
                <a:latin typeface="Calibri"/>
                <a:cs typeface="Calibri"/>
              </a:rPr>
              <a:t> </a:t>
            </a:r>
            <a:r>
              <a:rPr sz="2400" dirty="0">
                <a:highlight>
                  <a:srgbClr val="00FF00"/>
                </a:highlight>
                <a:latin typeface="Calibri"/>
                <a:cs typeface="Calibri"/>
              </a:rPr>
              <a:t>–</a:t>
            </a:r>
            <a:r>
              <a:rPr sz="2400" spc="-15" dirty="0">
                <a:highlight>
                  <a:srgbClr val="00FF00"/>
                </a:highlight>
                <a:latin typeface="Calibri"/>
                <a:cs typeface="Calibri"/>
              </a:rPr>
              <a:t> </a:t>
            </a:r>
            <a:r>
              <a:rPr sz="2400" dirty="0">
                <a:highlight>
                  <a:srgbClr val="00FF00"/>
                </a:highlight>
                <a:latin typeface="Calibri"/>
                <a:cs typeface="Calibri"/>
              </a:rPr>
              <a:t>and</a:t>
            </a:r>
            <a:r>
              <a:rPr sz="2400" spc="-10" dirty="0">
                <a:highlight>
                  <a:srgbClr val="00FF00"/>
                </a:highlight>
                <a:latin typeface="Calibri"/>
                <a:cs typeface="Calibri"/>
              </a:rPr>
              <a:t> </a:t>
            </a:r>
            <a:r>
              <a:rPr sz="2400" dirty="0">
                <a:highlight>
                  <a:srgbClr val="00FF00"/>
                </a:highlight>
                <a:latin typeface="Calibri"/>
                <a:cs typeface="Calibri"/>
              </a:rPr>
              <a:t>impact</a:t>
            </a:r>
            <a:r>
              <a:rPr sz="2400" spc="-35" dirty="0">
                <a:highlight>
                  <a:srgbClr val="00FF00"/>
                </a:highlight>
                <a:latin typeface="Calibri"/>
                <a:cs typeface="Calibri"/>
              </a:rPr>
              <a:t> </a:t>
            </a:r>
            <a:r>
              <a:rPr sz="2400" spc="-25" dirty="0">
                <a:highlight>
                  <a:srgbClr val="00FF00"/>
                </a:highlight>
                <a:latin typeface="Calibri"/>
                <a:cs typeface="Calibri"/>
              </a:rPr>
              <a:t>the </a:t>
            </a:r>
            <a:r>
              <a:rPr sz="2400" dirty="0">
                <a:highlight>
                  <a:srgbClr val="00FF00"/>
                </a:highlight>
                <a:latin typeface="Calibri"/>
                <a:cs typeface="Calibri"/>
              </a:rPr>
              <a:t>scope,</a:t>
            </a:r>
            <a:r>
              <a:rPr sz="2400" spc="-15" dirty="0">
                <a:highlight>
                  <a:srgbClr val="00FF00"/>
                </a:highlight>
                <a:latin typeface="Calibri"/>
                <a:cs typeface="Calibri"/>
              </a:rPr>
              <a:t> </a:t>
            </a:r>
            <a:r>
              <a:rPr sz="2400" dirty="0">
                <a:highlight>
                  <a:srgbClr val="00FF00"/>
                </a:highlight>
                <a:latin typeface="Calibri"/>
                <a:cs typeface="Calibri"/>
              </a:rPr>
              <a:t>schedule</a:t>
            </a:r>
            <a:r>
              <a:rPr lang="en-NZ" sz="2400" dirty="0">
                <a:highlight>
                  <a:srgbClr val="00FF00"/>
                </a:highlight>
                <a:latin typeface="Calibri"/>
                <a:cs typeface="Calibri"/>
              </a:rPr>
              <a:t>,</a:t>
            </a:r>
            <a:r>
              <a:rPr sz="2400" spc="-5" dirty="0">
                <a:highlight>
                  <a:srgbClr val="00FF00"/>
                </a:highlight>
                <a:latin typeface="Calibri"/>
                <a:cs typeface="Calibri"/>
              </a:rPr>
              <a:t> </a:t>
            </a:r>
            <a:r>
              <a:rPr sz="2400" dirty="0">
                <a:highlight>
                  <a:srgbClr val="00FF00"/>
                </a:highlight>
                <a:latin typeface="Calibri"/>
                <a:cs typeface="Calibri"/>
              </a:rPr>
              <a:t>and</a:t>
            </a:r>
            <a:r>
              <a:rPr sz="2400" spc="-15" dirty="0">
                <a:highlight>
                  <a:srgbClr val="00FF00"/>
                </a:highlight>
                <a:latin typeface="Calibri"/>
                <a:cs typeface="Calibri"/>
              </a:rPr>
              <a:t> </a:t>
            </a:r>
            <a:r>
              <a:rPr sz="2400" spc="-10" dirty="0">
                <a:highlight>
                  <a:srgbClr val="00FF00"/>
                </a:highlight>
                <a:latin typeface="Calibri"/>
                <a:cs typeface="Calibri"/>
              </a:rPr>
              <a:t>budget</a:t>
            </a:r>
            <a:endParaRPr sz="2400" dirty="0">
              <a:highlight>
                <a:srgbClr val="00FF00"/>
              </a:highlight>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17754"/>
            <a:ext cx="3025140" cy="635000"/>
          </a:xfrm>
          <a:prstGeom prst="rect">
            <a:avLst/>
          </a:prstGeom>
        </p:spPr>
        <p:txBody>
          <a:bodyPr vert="horz" wrap="square" lIns="0" tIns="12065" rIns="0" bIns="0" rtlCol="0">
            <a:spAutoFit/>
          </a:bodyPr>
          <a:lstStyle/>
          <a:p>
            <a:pPr marL="12700">
              <a:lnSpc>
                <a:spcPct val="100000"/>
              </a:lnSpc>
              <a:spcBef>
                <a:spcPts val="95"/>
              </a:spcBef>
            </a:pPr>
            <a:r>
              <a:rPr sz="4000" dirty="0"/>
              <a:t>Risks</a:t>
            </a:r>
            <a:r>
              <a:rPr sz="4000" spc="-65" dirty="0"/>
              <a:t> </a:t>
            </a:r>
            <a:r>
              <a:rPr sz="4000" dirty="0"/>
              <a:t>vs</a:t>
            </a:r>
            <a:r>
              <a:rPr sz="4000" spc="-85" dirty="0"/>
              <a:t> </a:t>
            </a:r>
            <a:r>
              <a:rPr sz="4000" spc="-10" dirty="0"/>
              <a:t>Issues</a:t>
            </a:r>
            <a:endParaRPr sz="4000"/>
          </a:p>
        </p:txBody>
      </p:sp>
      <p:sp>
        <p:nvSpPr>
          <p:cNvPr id="3" name="object 3"/>
          <p:cNvSpPr txBox="1"/>
          <p:nvPr/>
        </p:nvSpPr>
        <p:spPr>
          <a:xfrm>
            <a:off x="1477136" y="1263992"/>
            <a:ext cx="10194290" cy="4305666"/>
          </a:xfrm>
          <a:prstGeom prst="rect">
            <a:avLst/>
          </a:prstGeom>
        </p:spPr>
        <p:txBody>
          <a:bodyPr vert="horz" wrap="square" lIns="0" tIns="98425" rIns="0" bIns="0" rtlCol="0">
            <a:spAutoFit/>
          </a:bodyPr>
          <a:lstStyle/>
          <a:p>
            <a:pPr marL="241300" indent="-228600">
              <a:lnSpc>
                <a:spcPct val="100000"/>
              </a:lnSpc>
              <a:spcBef>
                <a:spcPts val="775"/>
              </a:spcBef>
              <a:buClr>
                <a:srgbClr val="F5821F"/>
              </a:buClr>
              <a:buFont typeface="Arial"/>
              <a:buChar char="•"/>
              <a:tabLst>
                <a:tab pos="241300" algn="l"/>
              </a:tabLst>
            </a:pPr>
            <a:r>
              <a:rPr sz="2000" spc="-80" dirty="0">
                <a:latin typeface="Calibri"/>
                <a:cs typeface="Calibri"/>
              </a:rPr>
              <a:t> </a:t>
            </a:r>
            <a:r>
              <a:rPr lang="en-NZ" sz="2000" dirty="0">
                <a:latin typeface="Calibri"/>
                <a:cs typeface="Calibri"/>
              </a:rPr>
              <a:t>Issues are encountered when </a:t>
            </a:r>
            <a:r>
              <a:rPr lang="en-NZ" sz="2000" dirty="0">
                <a:highlight>
                  <a:srgbClr val="00FF00"/>
                </a:highlight>
                <a:latin typeface="Calibri"/>
                <a:cs typeface="Calibri"/>
              </a:rPr>
              <a:t>project tasks  (work task done as a part of a phase) </a:t>
            </a:r>
            <a:r>
              <a:rPr lang="en-NZ" sz="2000" dirty="0">
                <a:latin typeface="Calibri"/>
                <a:cs typeface="Calibri"/>
              </a:rPr>
              <a:t>are being undertaken. </a:t>
            </a:r>
          </a:p>
          <a:p>
            <a:pPr marL="241300" indent="-228600">
              <a:lnSpc>
                <a:spcPct val="100000"/>
              </a:lnSpc>
              <a:spcBef>
                <a:spcPts val="775"/>
              </a:spcBef>
              <a:buClr>
                <a:srgbClr val="F5821F"/>
              </a:buClr>
              <a:buFont typeface="Arial"/>
              <a:buChar char="•"/>
              <a:tabLst>
                <a:tab pos="241300" algn="l"/>
              </a:tabLst>
            </a:pPr>
            <a:r>
              <a:rPr lang="en-NZ" sz="2000" dirty="0">
                <a:latin typeface="Calibri"/>
                <a:cs typeface="Calibri"/>
              </a:rPr>
              <a:t>It stops an individual from working on the assigned task (due to a lack of understanding, experience, knowledge, or skills, etc.) until it is resolved. </a:t>
            </a:r>
          </a:p>
          <a:p>
            <a:pPr marL="241300" indent="-228600">
              <a:lnSpc>
                <a:spcPct val="100000"/>
              </a:lnSpc>
              <a:spcBef>
                <a:spcPts val="775"/>
              </a:spcBef>
              <a:buClr>
                <a:srgbClr val="F5821F"/>
              </a:buClr>
              <a:buFont typeface="Arial"/>
              <a:buChar char="•"/>
              <a:tabLst>
                <a:tab pos="241300" algn="l"/>
              </a:tabLst>
            </a:pPr>
            <a:r>
              <a:rPr lang="en-NZ" sz="2000" dirty="0">
                <a:latin typeface="Calibri"/>
                <a:cs typeface="Calibri"/>
              </a:rPr>
              <a:t>Risks are identified and captured before the project starts, including strategies identified to prevent risks from emerging during the project. Must M/C risks throughout the </a:t>
            </a:r>
            <a:r>
              <a:rPr lang="en-NZ" sz="2000" dirty="0">
                <a:highlight>
                  <a:srgbClr val="00FF00"/>
                </a:highlight>
                <a:latin typeface="Calibri"/>
                <a:cs typeface="Calibri"/>
              </a:rPr>
              <a:t>project lifecycle </a:t>
            </a:r>
            <a:r>
              <a:rPr lang="en-NZ" sz="2000" dirty="0">
                <a:latin typeface="Calibri"/>
                <a:cs typeface="Calibri"/>
              </a:rPr>
              <a:t>and will also help to identify any emerging risks in the project.</a:t>
            </a:r>
          </a:p>
          <a:p>
            <a:pPr marL="241300" indent="-228600">
              <a:lnSpc>
                <a:spcPct val="100000"/>
              </a:lnSpc>
              <a:spcBef>
                <a:spcPts val="775"/>
              </a:spcBef>
              <a:buClr>
                <a:srgbClr val="F5821F"/>
              </a:buClr>
              <a:buFont typeface="Arial"/>
              <a:buChar char="•"/>
              <a:tabLst>
                <a:tab pos="241300" algn="l"/>
              </a:tabLst>
            </a:pPr>
            <a:r>
              <a:rPr lang="en-NZ" sz="2000" dirty="0">
                <a:latin typeface="Calibri"/>
                <a:cs typeface="Calibri"/>
              </a:rPr>
              <a:t>A</a:t>
            </a:r>
            <a:r>
              <a:rPr sz="2000" spc="-55" dirty="0">
                <a:latin typeface="Calibri"/>
                <a:cs typeface="Calibri"/>
              </a:rPr>
              <a:t> </a:t>
            </a:r>
            <a:r>
              <a:rPr sz="2000" dirty="0">
                <a:latin typeface="Calibri"/>
                <a:cs typeface="Calibri"/>
              </a:rPr>
              <a:t>‘risk’</a:t>
            </a:r>
            <a:r>
              <a:rPr sz="2000" spc="-45" dirty="0">
                <a:latin typeface="Calibri"/>
                <a:cs typeface="Calibri"/>
              </a:rPr>
              <a:t> </a:t>
            </a:r>
            <a:r>
              <a:rPr sz="2000" dirty="0">
                <a:latin typeface="Calibri"/>
                <a:cs typeface="Calibri"/>
              </a:rPr>
              <a:t>may</a:t>
            </a:r>
            <a:r>
              <a:rPr sz="2000" spc="-60" dirty="0">
                <a:latin typeface="Calibri"/>
                <a:cs typeface="Calibri"/>
              </a:rPr>
              <a:t> </a:t>
            </a:r>
            <a:r>
              <a:rPr sz="2000" dirty="0">
                <a:latin typeface="Calibri"/>
                <a:cs typeface="Calibri"/>
              </a:rPr>
              <a:t>or</a:t>
            </a:r>
            <a:r>
              <a:rPr sz="2000" spc="-60" dirty="0">
                <a:latin typeface="Calibri"/>
                <a:cs typeface="Calibri"/>
              </a:rPr>
              <a:t> </a:t>
            </a:r>
            <a:r>
              <a:rPr sz="2000" dirty="0">
                <a:latin typeface="Calibri"/>
                <a:cs typeface="Calibri"/>
              </a:rPr>
              <a:t>may</a:t>
            </a:r>
            <a:r>
              <a:rPr sz="2000" spc="-55" dirty="0">
                <a:latin typeface="Calibri"/>
                <a:cs typeface="Calibri"/>
              </a:rPr>
              <a:t> </a:t>
            </a:r>
            <a:r>
              <a:rPr sz="2000" dirty="0">
                <a:latin typeface="Calibri"/>
                <a:cs typeface="Calibri"/>
              </a:rPr>
              <a:t>not</a:t>
            </a:r>
            <a:r>
              <a:rPr sz="2000" spc="-50" dirty="0">
                <a:latin typeface="Calibri"/>
                <a:cs typeface="Calibri"/>
              </a:rPr>
              <a:t> </a:t>
            </a:r>
            <a:r>
              <a:rPr sz="2000" dirty="0">
                <a:latin typeface="Calibri"/>
                <a:cs typeface="Calibri"/>
              </a:rPr>
              <a:t>happen,</a:t>
            </a:r>
            <a:r>
              <a:rPr sz="2000" spc="-30" dirty="0">
                <a:latin typeface="Calibri"/>
                <a:cs typeface="Calibri"/>
              </a:rPr>
              <a:t> </a:t>
            </a:r>
            <a:r>
              <a:rPr sz="2000" dirty="0">
                <a:latin typeface="Calibri"/>
                <a:cs typeface="Calibri"/>
              </a:rPr>
              <a:t>but</a:t>
            </a:r>
            <a:r>
              <a:rPr sz="2000" spc="-40" dirty="0">
                <a:latin typeface="Calibri"/>
                <a:cs typeface="Calibri"/>
              </a:rPr>
              <a:t> </a:t>
            </a:r>
            <a:r>
              <a:rPr sz="2000" dirty="0">
                <a:latin typeface="Calibri"/>
                <a:cs typeface="Calibri"/>
              </a:rPr>
              <a:t>if</a:t>
            </a:r>
            <a:r>
              <a:rPr sz="2000" spc="-60" dirty="0">
                <a:latin typeface="Calibri"/>
                <a:cs typeface="Calibri"/>
              </a:rPr>
              <a:t> </a:t>
            </a:r>
            <a:r>
              <a:rPr sz="2000" dirty="0">
                <a:latin typeface="Calibri"/>
                <a:cs typeface="Calibri"/>
              </a:rPr>
              <a:t>it</a:t>
            </a:r>
            <a:r>
              <a:rPr sz="2000" spc="-45" dirty="0">
                <a:latin typeface="Calibri"/>
                <a:cs typeface="Calibri"/>
              </a:rPr>
              <a:t> </a:t>
            </a:r>
            <a:r>
              <a:rPr sz="2000" spc="-10" dirty="0">
                <a:latin typeface="Calibri"/>
                <a:cs typeface="Calibri"/>
              </a:rPr>
              <a:t>does,</a:t>
            </a:r>
            <a:r>
              <a:rPr lang="en-NZ" sz="2000" spc="-10" dirty="0">
                <a:latin typeface="Calibri"/>
                <a:cs typeface="Calibri"/>
              </a:rPr>
              <a:t> </a:t>
            </a:r>
            <a:r>
              <a:rPr lang="en-NZ" sz="2000" dirty="0">
                <a:latin typeface="Calibri"/>
                <a:cs typeface="Calibri"/>
              </a:rPr>
              <a:t>I</a:t>
            </a:r>
            <a:r>
              <a:rPr sz="2000" dirty="0">
                <a:latin typeface="Calibri"/>
                <a:cs typeface="Calibri"/>
              </a:rPr>
              <a:t>t</a:t>
            </a:r>
            <a:r>
              <a:rPr sz="2000" spc="-85" dirty="0">
                <a:latin typeface="Calibri"/>
                <a:cs typeface="Calibri"/>
              </a:rPr>
              <a:t> </a:t>
            </a:r>
            <a:r>
              <a:rPr lang="en-NZ" sz="2000" dirty="0">
                <a:latin typeface="Calibri"/>
                <a:cs typeface="Calibri"/>
              </a:rPr>
              <a:t>will</a:t>
            </a:r>
            <a:r>
              <a:rPr sz="2000" spc="-60" dirty="0">
                <a:latin typeface="Calibri"/>
                <a:cs typeface="Calibri"/>
              </a:rPr>
              <a:t> </a:t>
            </a:r>
            <a:r>
              <a:rPr lang="en-NZ" sz="2000" spc="-60" dirty="0">
                <a:latin typeface="Calibri"/>
                <a:cs typeface="Calibri"/>
              </a:rPr>
              <a:t>have a major </a:t>
            </a:r>
            <a:r>
              <a:rPr sz="2000" dirty="0">
                <a:latin typeface="Calibri"/>
                <a:cs typeface="Calibri"/>
              </a:rPr>
              <a:t>impact</a:t>
            </a:r>
            <a:r>
              <a:rPr sz="2000" spc="-55" dirty="0">
                <a:latin typeface="Calibri"/>
                <a:cs typeface="Calibri"/>
              </a:rPr>
              <a:t> </a:t>
            </a:r>
            <a:r>
              <a:rPr lang="en-NZ" sz="2000" dirty="0">
                <a:latin typeface="Calibri"/>
                <a:cs typeface="Calibri"/>
              </a:rPr>
              <a:t>on</a:t>
            </a:r>
            <a:r>
              <a:rPr sz="2000" spc="-80" dirty="0">
                <a:latin typeface="Calibri"/>
                <a:cs typeface="Calibri"/>
              </a:rPr>
              <a:t> </a:t>
            </a:r>
            <a:r>
              <a:rPr lang="en-NZ" sz="2000" spc="-80" dirty="0">
                <a:latin typeface="Calibri"/>
                <a:cs typeface="Calibri"/>
              </a:rPr>
              <a:t>the </a:t>
            </a:r>
            <a:r>
              <a:rPr sz="2000" dirty="0">
                <a:latin typeface="Calibri"/>
                <a:cs typeface="Calibri"/>
              </a:rPr>
              <a:t>project</a:t>
            </a:r>
            <a:r>
              <a:rPr sz="2000" spc="-60" dirty="0">
                <a:latin typeface="Calibri"/>
                <a:cs typeface="Calibri"/>
              </a:rPr>
              <a:t> </a:t>
            </a:r>
            <a:r>
              <a:rPr lang="en-NZ" sz="2000" spc="-60" dirty="0">
                <a:latin typeface="Calibri"/>
                <a:cs typeface="Calibri"/>
              </a:rPr>
              <a:t>(</a:t>
            </a:r>
            <a:r>
              <a:rPr sz="2000" spc="-10" dirty="0">
                <a:latin typeface="Calibri"/>
                <a:cs typeface="Calibri"/>
              </a:rPr>
              <a:t>negatively</a:t>
            </a:r>
            <a:r>
              <a:rPr lang="en-NZ" sz="2000" spc="-10" dirty="0">
                <a:latin typeface="Calibri"/>
                <a:cs typeface="Calibri"/>
              </a:rPr>
              <a:t>). </a:t>
            </a:r>
          </a:p>
          <a:p>
            <a:pPr marL="241300" indent="-228600">
              <a:lnSpc>
                <a:spcPct val="100000"/>
              </a:lnSpc>
              <a:spcBef>
                <a:spcPts val="775"/>
              </a:spcBef>
              <a:buClr>
                <a:srgbClr val="F5821F"/>
              </a:buClr>
              <a:buFont typeface="Arial"/>
              <a:buChar char="•"/>
              <a:tabLst>
                <a:tab pos="241300" algn="l"/>
              </a:tabLst>
            </a:pPr>
            <a:r>
              <a:rPr lang="en-NZ" sz="2000" spc="-10" dirty="0">
                <a:latin typeface="Calibri"/>
                <a:cs typeface="Calibri"/>
              </a:rPr>
              <a:t>Risks can be predicted (based on experience) whereas issues can’t be predicted before the project starts. </a:t>
            </a:r>
          </a:p>
          <a:p>
            <a:pPr marL="241300" indent="-228600">
              <a:lnSpc>
                <a:spcPct val="100000"/>
              </a:lnSpc>
              <a:spcBef>
                <a:spcPts val="775"/>
              </a:spcBef>
              <a:buClr>
                <a:srgbClr val="F5821F"/>
              </a:buClr>
              <a:buFont typeface="Arial"/>
              <a:buChar char="•"/>
              <a:tabLst>
                <a:tab pos="241300" algn="l"/>
              </a:tabLst>
            </a:pPr>
            <a:r>
              <a:rPr lang="en-NZ" sz="2000" spc="-10" dirty="0">
                <a:highlight>
                  <a:srgbClr val="00FF00"/>
                </a:highlight>
                <a:latin typeface="Calibri"/>
                <a:cs typeface="Calibri"/>
              </a:rPr>
              <a:t>Note- both, risks and issues enable learning and gaining project experience (emotional maturity). </a:t>
            </a:r>
            <a:endParaRPr sz="2000" dirty="0">
              <a:highlight>
                <a:srgbClr val="00FF00"/>
              </a:highlight>
              <a:latin typeface="Calibri"/>
              <a:cs typeface="Calibri"/>
            </a:endParaRPr>
          </a:p>
        </p:txBody>
      </p:sp>
      <p:sp>
        <p:nvSpPr>
          <p:cNvPr id="4" name="object 4"/>
          <p:cNvSpPr txBox="1"/>
          <p:nvPr/>
        </p:nvSpPr>
        <p:spPr>
          <a:xfrm>
            <a:off x="8343645" y="6302146"/>
            <a:ext cx="3742054" cy="391795"/>
          </a:xfrm>
          <a:prstGeom prst="rect">
            <a:avLst/>
          </a:prstGeom>
        </p:spPr>
        <p:txBody>
          <a:bodyPr vert="horz" wrap="square" lIns="0" tIns="12700" rIns="0" bIns="0" rtlCol="0">
            <a:spAutoFit/>
          </a:bodyPr>
          <a:lstStyle/>
          <a:p>
            <a:pPr marL="12700" marR="5080">
              <a:lnSpc>
                <a:spcPct val="100000"/>
              </a:lnSpc>
              <a:spcBef>
                <a:spcPts val="100"/>
              </a:spcBef>
            </a:pPr>
            <a:r>
              <a:rPr sz="1200" i="1" spc="-10" dirty="0">
                <a:latin typeface="Calibri"/>
                <a:cs typeface="Calibri"/>
              </a:rPr>
              <a:t>Sankararajan,</a:t>
            </a:r>
            <a:r>
              <a:rPr sz="1200" i="1" spc="15" dirty="0">
                <a:latin typeface="Calibri"/>
                <a:cs typeface="Calibri"/>
              </a:rPr>
              <a:t> </a:t>
            </a:r>
            <a:r>
              <a:rPr sz="1200" i="1" dirty="0">
                <a:latin typeface="Calibri"/>
                <a:cs typeface="Calibri"/>
              </a:rPr>
              <a:t>D.</a:t>
            </a:r>
            <a:r>
              <a:rPr sz="1200" i="1" spc="-5" dirty="0">
                <a:latin typeface="Calibri"/>
                <a:cs typeface="Calibri"/>
              </a:rPr>
              <a:t> </a:t>
            </a:r>
            <a:r>
              <a:rPr sz="1200" i="1" dirty="0">
                <a:latin typeface="Calibri"/>
                <a:cs typeface="Calibri"/>
              </a:rPr>
              <a:t>&amp;</a:t>
            </a:r>
            <a:r>
              <a:rPr sz="1200" i="1" spc="5" dirty="0">
                <a:latin typeface="Calibri"/>
                <a:cs typeface="Calibri"/>
              </a:rPr>
              <a:t> </a:t>
            </a:r>
            <a:r>
              <a:rPr sz="1200" i="1" spc="-10" dirty="0">
                <a:latin typeface="Calibri"/>
                <a:cs typeface="Calibri"/>
              </a:rPr>
              <a:t>Shrivastava,</a:t>
            </a:r>
            <a:r>
              <a:rPr sz="1200" i="1" spc="-20" dirty="0">
                <a:latin typeface="Calibri"/>
                <a:cs typeface="Calibri"/>
              </a:rPr>
              <a:t> </a:t>
            </a:r>
            <a:r>
              <a:rPr sz="1200" i="1" dirty="0">
                <a:latin typeface="Calibri"/>
                <a:cs typeface="Calibri"/>
              </a:rPr>
              <a:t>N.</a:t>
            </a:r>
            <a:r>
              <a:rPr sz="1200" i="1" spc="-5" dirty="0">
                <a:latin typeface="Calibri"/>
                <a:cs typeface="Calibri"/>
              </a:rPr>
              <a:t> </a:t>
            </a:r>
            <a:r>
              <a:rPr sz="1200" i="1" dirty="0">
                <a:latin typeface="Calibri"/>
                <a:cs typeface="Calibri"/>
              </a:rPr>
              <a:t>K. (2012).</a:t>
            </a:r>
            <a:r>
              <a:rPr sz="1200" i="1" spc="10" dirty="0">
                <a:latin typeface="Calibri"/>
                <a:cs typeface="Calibri"/>
              </a:rPr>
              <a:t> </a:t>
            </a:r>
            <a:r>
              <a:rPr sz="1200" i="1" dirty="0">
                <a:latin typeface="Calibri"/>
                <a:cs typeface="Calibri"/>
              </a:rPr>
              <a:t>Risks vs.</a:t>
            </a:r>
            <a:r>
              <a:rPr sz="1200" i="1" spc="-5" dirty="0">
                <a:latin typeface="Calibri"/>
                <a:cs typeface="Calibri"/>
              </a:rPr>
              <a:t> </a:t>
            </a:r>
            <a:r>
              <a:rPr sz="1200" i="1" spc="-10" dirty="0">
                <a:latin typeface="Calibri"/>
                <a:cs typeface="Calibri"/>
              </a:rPr>
              <a:t>issues. </a:t>
            </a:r>
            <a:r>
              <a:rPr sz="1200" i="1" dirty="0">
                <a:latin typeface="Calibri"/>
                <a:cs typeface="Calibri"/>
              </a:rPr>
              <a:t>PM</a:t>
            </a:r>
            <a:r>
              <a:rPr sz="1200" i="1" spc="-20" dirty="0">
                <a:latin typeface="Calibri"/>
                <a:cs typeface="Calibri"/>
              </a:rPr>
              <a:t> </a:t>
            </a:r>
            <a:r>
              <a:rPr sz="1200" i="1" dirty="0">
                <a:latin typeface="Calibri"/>
                <a:cs typeface="Calibri"/>
              </a:rPr>
              <a:t>Network,</a:t>
            </a:r>
            <a:r>
              <a:rPr sz="1200" i="1" spc="20" dirty="0">
                <a:latin typeface="Calibri"/>
                <a:cs typeface="Calibri"/>
              </a:rPr>
              <a:t> </a:t>
            </a:r>
            <a:r>
              <a:rPr sz="1200" i="1" dirty="0">
                <a:latin typeface="Calibri"/>
                <a:cs typeface="Calibri"/>
              </a:rPr>
              <a:t>26(6),</a:t>
            </a:r>
            <a:r>
              <a:rPr sz="1200" i="1" spc="-15" dirty="0">
                <a:latin typeface="Calibri"/>
                <a:cs typeface="Calibri"/>
              </a:rPr>
              <a:t> </a:t>
            </a:r>
            <a:r>
              <a:rPr sz="1200" i="1" spc="-10" dirty="0">
                <a:latin typeface="Calibri"/>
                <a:cs typeface="Calibri"/>
              </a:rPr>
              <a:t>28–29.</a:t>
            </a:r>
            <a:endParaRPr sz="12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7668" rIns="0" bIns="0" rtlCol="0">
            <a:spAutoFit/>
          </a:bodyPr>
          <a:lstStyle/>
          <a:p>
            <a:pPr marL="92075">
              <a:lnSpc>
                <a:spcPct val="100000"/>
              </a:lnSpc>
              <a:spcBef>
                <a:spcPts val="105"/>
              </a:spcBef>
            </a:pPr>
            <a:r>
              <a:rPr spc="-30" dirty="0"/>
              <a:t>Table</a:t>
            </a:r>
            <a:r>
              <a:rPr spc="-70" dirty="0"/>
              <a:t> </a:t>
            </a:r>
            <a:r>
              <a:rPr spc="-10" dirty="0"/>
              <a:t>13-</a:t>
            </a:r>
            <a:r>
              <a:rPr dirty="0"/>
              <a:t>4.</a:t>
            </a:r>
            <a:r>
              <a:rPr spc="-60" dirty="0"/>
              <a:t> </a:t>
            </a:r>
            <a:r>
              <a:rPr dirty="0"/>
              <a:t>Sample</a:t>
            </a:r>
            <a:r>
              <a:rPr spc="-80" dirty="0"/>
              <a:t> </a:t>
            </a:r>
            <a:r>
              <a:rPr dirty="0"/>
              <a:t>Issue</a:t>
            </a:r>
            <a:r>
              <a:rPr spc="-80" dirty="0"/>
              <a:t> </a:t>
            </a:r>
            <a:r>
              <a:rPr spc="-25" dirty="0"/>
              <a:t>Log</a:t>
            </a:r>
          </a:p>
        </p:txBody>
      </p:sp>
      <p:pic>
        <p:nvPicPr>
          <p:cNvPr id="3" name="object 3"/>
          <p:cNvPicPr/>
          <p:nvPr/>
        </p:nvPicPr>
        <p:blipFill>
          <a:blip r:embed="rId2" cstate="print"/>
          <a:stretch>
            <a:fillRect/>
          </a:stretch>
        </p:blipFill>
        <p:spPr>
          <a:xfrm>
            <a:off x="1459991" y="1667255"/>
            <a:ext cx="10079735" cy="40233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05A0D-D041-B7AA-C1AD-94AFF8745C11}"/>
              </a:ext>
            </a:extLst>
          </p:cNvPr>
          <p:cNvSpPr>
            <a:spLocks noGrp="1"/>
          </p:cNvSpPr>
          <p:nvPr>
            <p:ph type="title"/>
          </p:nvPr>
        </p:nvSpPr>
        <p:spPr>
          <a:xfrm>
            <a:off x="1459483" y="239649"/>
            <a:ext cx="9858883" cy="369332"/>
          </a:xfrm>
        </p:spPr>
        <p:txBody>
          <a:bodyPr/>
          <a:lstStyle/>
          <a:p>
            <a:r>
              <a:rPr lang="en-NZ" sz="2400" dirty="0"/>
              <a:t>Procedure for issue management for </a:t>
            </a:r>
            <a:r>
              <a:rPr lang="en-NZ" sz="2400" dirty="0">
                <a:highlight>
                  <a:srgbClr val="00FF00"/>
                </a:highlight>
              </a:rPr>
              <a:t>assignment 1</a:t>
            </a:r>
          </a:p>
        </p:txBody>
      </p:sp>
      <p:sp>
        <p:nvSpPr>
          <p:cNvPr id="3" name="Text Placeholder 2">
            <a:extLst>
              <a:ext uri="{FF2B5EF4-FFF2-40B4-BE49-F238E27FC236}">
                <a16:creationId xmlns:a16="http://schemas.microsoft.com/office/drawing/2014/main" id="{C0A6DDC4-21D1-2730-06E5-E40077088381}"/>
              </a:ext>
            </a:extLst>
          </p:cNvPr>
          <p:cNvSpPr>
            <a:spLocks noGrp="1"/>
          </p:cNvSpPr>
          <p:nvPr>
            <p:ph type="body" idx="1"/>
          </p:nvPr>
        </p:nvSpPr>
        <p:spPr>
          <a:xfrm>
            <a:off x="1412135" y="990600"/>
            <a:ext cx="9728200" cy="4031873"/>
          </a:xfrm>
        </p:spPr>
        <p:txBody>
          <a:bodyPr/>
          <a:lstStyle/>
          <a:p>
            <a:r>
              <a:rPr lang="en-NZ" sz="1800" dirty="0"/>
              <a:t>-The issue log must be accessible to all stakeholders (online)</a:t>
            </a:r>
          </a:p>
          <a:p>
            <a:r>
              <a:rPr lang="en-NZ" sz="1800" dirty="0"/>
              <a:t>- After logging an issue, the individual (stakeholder) must immediately email to notify the team leader</a:t>
            </a:r>
          </a:p>
          <a:p>
            <a:r>
              <a:rPr lang="en-NZ" sz="1800" dirty="0"/>
              <a:t>-The team leader will decide in consultation with the individual (who logged the issue) how the issue must be resolved. Based on the decision, the issue register must be updated with the necessary information by the team leader.</a:t>
            </a:r>
          </a:p>
          <a:p>
            <a:r>
              <a:rPr lang="en-NZ" sz="1800" dirty="0"/>
              <a:t>-Once resolved, the issue log must be updated to close the issue</a:t>
            </a:r>
          </a:p>
          <a:p>
            <a:r>
              <a:rPr lang="en-NZ" sz="1800" dirty="0"/>
              <a:t>-Any issue logged must be dealt with within </a:t>
            </a:r>
            <a:r>
              <a:rPr lang="en-NZ" sz="1800" dirty="0">
                <a:highlight>
                  <a:srgbClr val="00FF00"/>
                </a:highlight>
              </a:rPr>
              <a:t>a 5 working day period  (team decides this rule) </a:t>
            </a:r>
            <a:r>
              <a:rPr lang="en-NZ" sz="1800" dirty="0"/>
              <a:t>to avoid an impact on the schedule. If not, it must be logged in the risk register and a team meeting must be called to discuss it to decide upon appropriate strategies to minimize the impact.  </a:t>
            </a:r>
          </a:p>
          <a:p>
            <a:r>
              <a:rPr lang="en-NZ" sz="1800" dirty="0"/>
              <a:t>-An issue not resolved must be escalated to the lecturer as a risk to the project</a:t>
            </a:r>
          </a:p>
          <a:p>
            <a:endParaRPr lang="en-NZ" sz="1800" dirty="0"/>
          </a:p>
          <a:p>
            <a:r>
              <a:rPr lang="en-NZ" sz="1800" dirty="0">
                <a:highlight>
                  <a:srgbClr val="FFFF00"/>
                </a:highlight>
              </a:rPr>
              <a:t>Note- for assignments, issues will mostly be logged by the team members. For the R&amp;D project, you may also have client logging issues in your Team’s issue register </a:t>
            </a:r>
          </a:p>
          <a:p>
            <a:endParaRPr lang="en-NZ" dirty="0"/>
          </a:p>
        </p:txBody>
      </p:sp>
    </p:spTree>
    <p:extLst>
      <p:ext uri="{BB962C8B-B14F-4D97-AF65-F5344CB8AC3E}">
        <p14:creationId xmlns:p14="http://schemas.microsoft.com/office/powerpoint/2010/main" val="3428934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9975"/>
            <a:ext cx="9858883" cy="508344"/>
          </a:xfrm>
          <a:prstGeom prst="rect">
            <a:avLst/>
          </a:prstGeom>
        </p:spPr>
        <p:txBody>
          <a:bodyPr vert="horz" wrap="square" lIns="0" tIns="137668" rIns="0" bIns="0" rtlCol="0">
            <a:spAutoFit/>
          </a:bodyPr>
          <a:lstStyle/>
          <a:p>
            <a:pPr marL="92075">
              <a:lnSpc>
                <a:spcPct val="100000"/>
              </a:lnSpc>
              <a:spcBef>
                <a:spcPts val="105"/>
              </a:spcBef>
            </a:pPr>
            <a:r>
              <a:rPr sz="2400" dirty="0"/>
              <a:t>Issue</a:t>
            </a:r>
            <a:r>
              <a:rPr sz="2400" spc="-80" dirty="0"/>
              <a:t> </a:t>
            </a:r>
            <a:r>
              <a:rPr sz="2400" spc="-25" dirty="0"/>
              <a:t>Log</a:t>
            </a:r>
            <a:r>
              <a:rPr lang="en-NZ" sz="2400" spc="-25" dirty="0"/>
              <a:t>- wiki Project</a:t>
            </a:r>
            <a:endParaRPr sz="2400" spc="-25" dirty="0"/>
          </a:p>
        </p:txBody>
      </p:sp>
      <p:graphicFrame>
        <p:nvGraphicFramePr>
          <p:cNvPr id="4" name="Table 3">
            <a:extLst>
              <a:ext uri="{FF2B5EF4-FFF2-40B4-BE49-F238E27FC236}">
                <a16:creationId xmlns:a16="http://schemas.microsoft.com/office/drawing/2014/main" id="{1D7BBE68-D46B-F405-8C11-999C99C5EE94}"/>
              </a:ext>
            </a:extLst>
          </p:cNvPr>
          <p:cNvGraphicFramePr>
            <a:graphicFrameLocks noGrp="1"/>
          </p:cNvGraphicFramePr>
          <p:nvPr>
            <p:extLst>
              <p:ext uri="{D42A27DB-BD31-4B8C-83A1-F6EECF244321}">
                <p14:modId xmlns:p14="http://schemas.microsoft.com/office/powerpoint/2010/main" val="2420262806"/>
              </p:ext>
            </p:extLst>
          </p:nvPr>
        </p:nvGraphicFramePr>
        <p:xfrm>
          <a:off x="1524000" y="500946"/>
          <a:ext cx="9528175" cy="7282568"/>
        </p:xfrm>
        <a:graphic>
          <a:graphicData uri="http://schemas.openxmlformats.org/drawingml/2006/table">
            <a:tbl>
              <a:tblPr/>
              <a:tblGrid>
                <a:gridCol w="536575">
                  <a:extLst>
                    <a:ext uri="{9D8B030D-6E8A-4147-A177-3AD203B41FA5}">
                      <a16:colId xmlns:a16="http://schemas.microsoft.com/office/drawing/2014/main" val="1227080247"/>
                    </a:ext>
                  </a:extLst>
                </a:gridCol>
                <a:gridCol w="1548342">
                  <a:extLst>
                    <a:ext uri="{9D8B030D-6E8A-4147-A177-3AD203B41FA5}">
                      <a16:colId xmlns:a16="http://schemas.microsoft.com/office/drawing/2014/main" val="2297226354"/>
                    </a:ext>
                  </a:extLst>
                </a:gridCol>
                <a:gridCol w="1128071">
                  <a:extLst>
                    <a:ext uri="{9D8B030D-6E8A-4147-A177-3AD203B41FA5}">
                      <a16:colId xmlns:a16="http://schemas.microsoft.com/office/drawing/2014/main" val="1741346933"/>
                    </a:ext>
                  </a:extLst>
                </a:gridCol>
                <a:gridCol w="1208649">
                  <a:extLst>
                    <a:ext uri="{9D8B030D-6E8A-4147-A177-3AD203B41FA5}">
                      <a16:colId xmlns:a16="http://schemas.microsoft.com/office/drawing/2014/main" val="2016566768"/>
                    </a:ext>
                  </a:extLst>
                </a:gridCol>
                <a:gridCol w="1074354">
                  <a:extLst>
                    <a:ext uri="{9D8B030D-6E8A-4147-A177-3AD203B41FA5}">
                      <a16:colId xmlns:a16="http://schemas.microsoft.com/office/drawing/2014/main" val="2960583966"/>
                    </a:ext>
                  </a:extLst>
                </a:gridCol>
                <a:gridCol w="1074354">
                  <a:extLst>
                    <a:ext uri="{9D8B030D-6E8A-4147-A177-3AD203B41FA5}">
                      <a16:colId xmlns:a16="http://schemas.microsoft.com/office/drawing/2014/main" val="1399141840"/>
                    </a:ext>
                  </a:extLst>
                </a:gridCol>
                <a:gridCol w="644612">
                  <a:extLst>
                    <a:ext uri="{9D8B030D-6E8A-4147-A177-3AD203B41FA5}">
                      <a16:colId xmlns:a16="http://schemas.microsoft.com/office/drawing/2014/main" val="772044034"/>
                    </a:ext>
                  </a:extLst>
                </a:gridCol>
                <a:gridCol w="713018">
                  <a:extLst>
                    <a:ext uri="{9D8B030D-6E8A-4147-A177-3AD203B41FA5}">
                      <a16:colId xmlns:a16="http://schemas.microsoft.com/office/drawing/2014/main" val="3078726699"/>
                    </a:ext>
                  </a:extLst>
                </a:gridCol>
                <a:gridCol w="533400">
                  <a:extLst>
                    <a:ext uri="{9D8B030D-6E8A-4147-A177-3AD203B41FA5}">
                      <a16:colId xmlns:a16="http://schemas.microsoft.com/office/drawing/2014/main" val="4074551893"/>
                    </a:ext>
                  </a:extLst>
                </a:gridCol>
                <a:gridCol w="1066800">
                  <a:extLst>
                    <a:ext uri="{9D8B030D-6E8A-4147-A177-3AD203B41FA5}">
                      <a16:colId xmlns:a16="http://schemas.microsoft.com/office/drawing/2014/main" val="4207051839"/>
                    </a:ext>
                  </a:extLst>
                </a:gridCol>
              </a:tblGrid>
              <a:tr h="527089">
                <a:tc>
                  <a:txBody>
                    <a:bodyPr/>
                    <a:lstStyle/>
                    <a:p>
                      <a:pPr algn="ctr" fontAlgn="b"/>
                      <a:r>
                        <a:rPr lang="en-NZ" sz="1200" b="1" i="0" u="none" strike="noStrike" dirty="0">
                          <a:solidFill>
                            <a:srgbClr val="000000"/>
                          </a:solidFill>
                          <a:effectLst/>
                          <a:latin typeface="New York"/>
                        </a:rPr>
                        <a:t>Issue #</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a:solidFill>
                            <a:srgbClr val="000000"/>
                          </a:solidFill>
                          <a:effectLst/>
                          <a:latin typeface="New York"/>
                        </a:rPr>
                        <a:t>Issue Description</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NZ" sz="1200" b="1" i="0" u="none" strike="noStrike" dirty="0">
                          <a:solidFill>
                            <a:srgbClr val="000000"/>
                          </a:solidFill>
                          <a:effectLst/>
                          <a:latin typeface="New York"/>
                        </a:rPr>
                        <a:t>Impact on Project</a:t>
                      </a:r>
                    </a:p>
                  </a:txBody>
                  <a:tcPr marL="9525" marR="9525" marT="952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dirty="0">
                          <a:solidFill>
                            <a:srgbClr val="000000"/>
                          </a:solidFill>
                          <a:effectLst/>
                          <a:latin typeface="New York"/>
                        </a:rPr>
                        <a:t>Date Reported</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a:solidFill>
                            <a:srgbClr val="000000"/>
                          </a:solidFill>
                          <a:effectLst/>
                          <a:latin typeface="New York"/>
                        </a:rPr>
                        <a:t>Reported By</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a:solidFill>
                            <a:srgbClr val="000000"/>
                          </a:solidFill>
                          <a:effectLst/>
                          <a:latin typeface="New York"/>
                        </a:rPr>
                        <a:t>Assigned To</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a:solidFill>
                            <a:srgbClr val="000000"/>
                          </a:solidFill>
                          <a:effectLst/>
                          <a:latin typeface="New York"/>
                        </a:rPr>
                        <a:t>Priority(M/H/L)</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a:solidFill>
                            <a:srgbClr val="000000"/>
                          </a:solidFill>
                          <a:effectLst/>
                          <a:latin typeface="New York"/>
                        </a:rPr>
                        <a:t>Due Date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a:solidFill>
                            <a:srgbClr val="000000"/>
                          </a:solidFill>
                          <a:effectLst/>
                          <a:latin typeface="New York"/>
                        </a:rPr>
                        <a:t>Status</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1" i="0" u="none" strike="noStrike">
                          <a:solidFill>
                            <a:srgbClr val="000000"/>
                          </a:solidFill>
                          <a:effectLst/>
                          <a:latin typeface="New York"/>
                        </a:rPr>
                        <a:t>Comments</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2387580"/>
                  </a:ext>
                </a:extLst>
              </a:tr>
              <a:tr h="2164429">
                <a:tc>
                  <a:txBody>
                    <a:bodyPr/>
                    <a:lstStyle/>
                    <a:p>
                      <a:pPr algn="l" fontAlgn="b"/>
                      <a:r>
                        <a:rPr lang="en-NZ" sz="1200" b="0" i="0" u="none" strike="noStrike" dirty="0">
                          <a:solidFill>
                            <a:srgbClr val="000000"/>
                          </a:solidFill>
                          <a:effectLst/>
                          <a:latin typeface="New York"/>
                        </a:rPr>
                        <a:t>1</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Business case- A discount rate not provided </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r>
                        <a:rPr lang="en-NZ" sz="1200" b="0" i="0" u="none" strike="noStrike" dirty="0">
                          <a:solidFill>
                            <a:srgbClr val="000000"/>
                          </a:solidFill>
                          <a:effectLst/>
                          <a:latin typeface="New York"/>
                        </a:rPr>
                        <a:t>Will not be able to do a </a:t>
                      </a:r>
                      <a:r>
                        <a:rPr lang="en-NZ" sz="1200" b="0" i="0" u="none" strike="noStrike" dirty="0">
                          <a:solidFill>
                            <a:srgbClr val="000000"/>
                          </a:solidFill>
                          <a:effectLst/>
                          <a:highlight>
                            <a:srgbClr val="00FF00"/>
                          </a:highlight>
                          <a:latin typeface="New York"/>
                        </a:rPr>
                        <a:t>reliable financial calculation</a:t>
                      </a:r>
                      <a:r>
                        <a:rPr lang="en-NZ" sz="1200" b="0" i="0" u="none" strike="noStrike" dirty="0">
                          <a:solidFill>
                            <a:srgbClr val="000000"/>
                          </a:solidFill>
                          <a:effectLst/>
                          <a:latin typeface="New York"/>
                        </a:rPr>
                        <a:t> for Business Case </a:t>
                      </a:r>
                      <a:r>
                        <a:rPr lang="en-NZ" sz="1200" b="0" i="0" u="none" strike="noStrike" dirty="0">
                          <a:solidFill>
                            <a:srgbClr val="000000"/>
                          </a:solidFill>
                          <a:effectLst/>
                          <a:highlight>
                            <a:srgbClr val="00FF00"/>
                          </a:highlight>
                          <a:latin typeface="New York"/>
                        </a:rPr>
                        <a:t>impacting our 1st deliverable  </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1/08/2023 </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James</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Julia (Team Leader ) to email/talk with client (TA)</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H </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2/08/2023</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Closed</a:t>
                      </a:r>
                    </a:p>
                    <a:p>
                      <a:pPr algn="l" fontAlgn="b"/>
                      <a:endParaRPr lang="en-NZ" sz="1200" b="0" i="0" u="none" strike="noStrike" dirty="0">
                        <a:solidFill>
                          <a:srgbClr val="000000"/>
                        </a:solidFill>
                        <a:effectLst/>
                        <a:latin typeface="New York"/>
                      </a:endParaRPr>
                    </a:p>
                    <a:p>
                      <a:pPr algn="l" fontAlgn="b"/>
                      <a:r>
                        <a:rPr lang="en-NZ" sz="1200" b="0" i="0" u="none" strike="noStrike" dirty="0">
                          <a:solidFill>
                            <a:srgbClr val="000000"/>
                          </a:solidFill>
                          <a:effectLst/>
                          <a:latin typeface="New York"/>
                        </a:rPr>
                        <a:t> </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The client(TA) emailed the Team leader to inform her that the discount rate is 8% </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4749175"/>
                  </a:ext>
                </a:extLst>
              </a:tr>
              <a:tr h="2379751">
                <a:tc>
                  <a:txBody>
                    <a:bodyPr/>
                    <a:lstStyle/>
                    <a:p>
                      <a:pPr algn="ctr" fontAlgn="b"/>
                      <a:r>
                        <a:rPr lang="en-NZ" sz="1200" b="0" i="0" u="none" strike="noStrike" dirty="0">
                          <a:solidFill>
                            <a:srgbClr val="000000"/>
                          </a:solidFill>
                          <a:effectLst/>
                          <a:latin typeface="New York"/>
                        </a:rPr>
                        <a:t>2</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Business case- need background information on BCIS qualification to write up introduction/background section </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t"/>
                      <a:r>
                        <a:rPr lang="en-NZ" sz="1200" b="0" i="0" u="none" strike="noStrike" dirty="0">
                          <a:solidFill>
                            <a:srgbClr val="000000"/>
                          </a:solidFill>
                          <a:effectLst/>
                          <a:latin typeface="New York"/>
                        </a:rPr>
                        <a:t>Will not be able to make a sound Business case for the project </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0" i="0" u="none" strike="noStrike" dirty="0">
                          <a:solidFill>
                            <a:srgbClr val="000000"/>
                          </a:solidFill>
                          <a:effectLst/>
                          <a:latin typeface="New York"/>
                        </a:rPr>
                        <a:t>3/08/2023</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0" i="0" u="none" strike="noStrike" dirty="0">
                          <a:solidFill>
                            <a:srgbClr val="000000"/>
                          </a:solidFill>
                          <a:effectLst/>
                          <a:latin typeface="New York"/>
                        </a:rPr>
                        <a:t>John</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0" i="0" u="none" strike="noStrike" dirty="0">
                          <a:solidFill>
                            <a:srgbClr val="000000"/>
                          </a:solidFill>
                          <a:effectLst/>
                          <a:latin typeface="New York"/>
                        </a:rPr>
                        <a:t>Julia (Team Leader ) to organize a time for the entire team to be co-located and do web (AUT &amp; Department)research  to gather the necessary information</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0" i="0" u="none" strike="noStrike" dirty="0">
                          <a:solidFill>
                            <a:srgbClr val="000000"/>
                          </a:solidFill>
                          <a:effectLst/>
                          <a:latin typeface="New York"/>
                        </a:rPr>
                        <a:t>H</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8/08/2023</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0" i="0" u="none" strike="noStrike" dirty="0">
                          <a:solidFill>
                            <a:srgbClr val="000000"/>
                          </a:solidFill>
                          <a:effectLst/>
                          <a:latin typeface="New York"/>
                        </a:rPr>
                        <a:t>Open</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7667912"/>
                  </a:ext>
                </a:extLst>
              </a:tr>
              <a:tr h="226536">
                <a:tc>
                  <a:txBody>
                    <a:bodyPr/>
                    <a:lstStyle/>
                    <a:p>
                      <a:pPr algn="ctr" fontAlgn="b"/>
                      <a:r>
                        <a:rPr lang="en-NZ" sz="1200" b="0" i="0" u="none" strike="noStrike" dirty="0">
                          <a:solidFill>
                            <a:srgbClr val="000000"/>
                          </a:solidFill>
                          <a:effectLst/>
                          <a:latin typeface="New York"/>
                        </a:rPr>
                        <a:t>3</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Business case- need to identify Business objectives </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eaLnBrk="1" fontAlgn="t" latinLnBrk="0" hangingPunct="1">
                        <a:lnSpc>
                          <a:spcPct val="100000"/>
                        </a:lnSpc>
                        <a:spcBef>
                          <a:spcPts val="0"/>
                        </a:spcBef>
                        <a:spcAft>
                          <a:spcPts val="0"/>
                        </a:spcAft>
                        <a:buClrTx/>
                        <a:buSzTx/>
                        <a:buFontTx/>
                        <a:buNone/>
                        <a:tabLst/>
                        <a:defRPr/>
                      </a:pPr>
                      <a:r>
                        <a:rPr lang="en-NZ" sz="1200" b="0" i="0" u="none" strike="noStrike" dirty="0">
                          <a:solidFill>
                            <a:srgbClr val="000000"/>
                          </a:solidFill>
                          <a:effectLst/>
                          <a:latin typeface="New York"/>
                        </a:rPr>
                        <a:t>Will not be able to make a sound Business case for the project </a:t>
                      </a:r>
                    </a:p>
                    <a:p>
                      <a:pPr algn="ctr" fontAlgn="t"/>
                      <a:r>
                        <a:rPr lang="en-NZ" sz="1200" b="0" i="0" u="none" strike="noStrike" dirty="0">
                          <a:solidFill>
                            <a:srgbClr val="000000"/>
                          </a:solidFill>
                          <a:effectLst/>
                          <a:latin typeface="New York"/>
                        </a:rPr>
                        <a:t> </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en-NZ" sz="1200" b="0" i="0" u="none" strike="noStrike" dirty="0">
                          <a:solidFill>
                            <a:srgbClr val="000000"/>
                          </a:solidFill>
                          <a:effectLst/>
                          <a:latin typeface="New York"/>
                        </a:rPr>
                        <a:t>3/08/2023</a:t>
                      </a: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en-NZ" sz="1200" b="0" i="0" u="none" strike="noStrike" dirty="0">
                          <a:solidFill>
                            <a:srgbClr val="000000"/>
                          </a:solidFill>
                          <a:effectLst/>
                          <a:latin typeface="New York"/>
                        </a:rPr>
                        <a:t>John</a:t>
                      </a: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marL="0" marR="0" lvl="0" indent="0" algn="ctr" defTabSz="914400" eaLnBrk="1" fontAlgn="b" latinLnBrk="0" hangingPunct="1">
                        <a:lnSpc>
                          <a:spcPct val="100000"/>
                        </a:lnSpc>
                        <a:spcBef>
                          <a:spcPts val="0"/>
                        </a:spcBef>
                        <a:spcAft>
                          <a:spcPts val="0"/>
                        </a:spcAft>
                        <a:buClrTx/>
                        <a:buSzTx/>
                        <a:buFontTx/>
                        <a:buNone/>
                        <a:tabLst/>
                        <a:defRPr/>
                      </a:pPr>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eaLnBrk="1" fontAlgn="b" latinLnBrk="0" hangingPunct="1">
                        <a:lnSpc>
                          <a:spcPct val="100000"/>
                        </a:lnSpc>
                        <a:spcBef>
                          <a:spcPts val="0"/>
                        </a:spcBef>
                        <a:spcAft>
                          <a:spcPts val="0"/>
                        </a:spcAft>
                        <a:buClrTx/>
                        <a:buSzTx/>
                        <a:buFontTx/>
                        <a:buNone/>
                        <a:tabLst/>
                        <a:defRPr/>
                      </a:pPr>
                      <a:r>
                        <a:rPr lang="en-NZ" sz="1200" b="0" i="0" u="none" strike="noStrike" dirty="0">
                          <a:solidFill>
                            <a:srgbClr val="000000"/>
                          </a:solidFill>
                          <a:effectLst/>
                          <a:latin typeface="New York"/>
                        </a:rPr>
                        <a:t>Julia (Team Leader ) to organize a meeting with the client (lecturer)to find out the business objective of the school  regarding BCIS qualification </a:t>
                      </a: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0" i="0" u="none" strike="noStrike" dirty="0">
                          <a:solidFill>
                            <a:srgbClr val="000000"/>
                          </a:solidFill>
                          <a:effectLst/>
                          <a:latin typeface="New York"/>
                        </a:rPr>
                        <a:t>H</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8/08/2023</a:t>
                      </a: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endParaRPr lang="en-NZ" sz="1200" b="0" i="0" u="none" strike="noStrike" dirty="0">
                        <a:solidFill>
                          <a:srgbClr val="000000"/>
                        </a:solidFill>
                        <a:effectLst/>
                        <a:latin typeface="New York"/>
                      </a:endParaRPr>
                    </a:p>
                    <a:p>
                      <a:pPr algn="l"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NZ" sz="1200" b="0" i="0" u="none" strike="noStrike" dirty="0">
                          <a:solidFill>
                            <a:srgbClr val="000000"/>
                          </a:solidFill>
                          <a:effectLst/>
                          <a:latin typeface="New York"/>
                        </a:rPr>
                        <a:t>Open</a:t>
                      </a: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endParaRPr lang="en-NZ" sz="1200" b="0" i="0" u="none" strike="noStrike" dirty="0">
                        <a:solidFill>
                          <a:srgbClr val="000000"/>
                        </a:solidFill>
                        <a:effectLst/>
                        <a:latin typeface="New York"/>
                      </a:endParaRPr>
                    </a:p>
                    <a:p>
                      <a:pPr algn="ctr"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NZ" sz="1200" b="0" i="0" u="none" strike="noStrike" dirty="0">
                          <a:solidFill>
                            <a:srgbClr val="000000"/>
                          </a:solidFill>
                          <a:effectLst/>
                          <a:latin typeface="New York"/>
                        </a:rPr>
                        <a:t> </a:t>
                      </a:r>
                    </a:p>
                  </a:txBody>
                  <a:tcPr marL="9525" marR="9525"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8481405"/>
                  </a:ext>
                </a:extLst>
              </a:tr>
            </a:tbl>
          </a:graphicData>
        </a:graphic>
      </p:graphicFrame>
    </p:spTree>
    <p:extLst>
      <p:ext uri="{BB962C8B-B14F-4D97-AF65-F5344CB8AC3E}">
        <p14:creationId xmlns:p14="http://schemas.microsoft.com/office/powerpoint/2010/main" val="3234619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08228"/>
            <a:ext cx="8214234" cy="632674"/>
          </a:xfrm>
          <a:prstGeom prst="rect">
            <a:avLst/>
          </a:prstGeom>
        </p:spPr>
        <p:txBody>
          <a:bodyPr vert="horz" wrap="square" lIns="0" tIns="88900" rIns="0" bIns="0" rtlCol="0">
            <a:spAutoFit/>
          </a:bodyPr>
          <a:lstStyle/>
          <a:p>
            <a:pPr marL="12700" marR="5080">
              <a:lnSpc>
                <a:spcPts val="4750"/>
              </a:lnSpc>
              <a:spcBef>
                <a:spcPts val="700"/>
              </a:spcBef>
            </a:pPr>
            <a:r>
              <a:rPr sz="2400" dirty="0"/>
              <a:t>Monitoring</a:t>
            </a:r>
            <a:r>
              <a:rPr sz="2400" spc="-40" dirty="0"/>
              <a:t> </a:t>
            </a:r>
            <a:r>
              <a:rPr sz="2400" dirty="0"/>
              <a:t>and</a:t>
            </a:r>
            <a:r>
              <a:rPr sz="2400" spc="-35" dirty="0"/>
              <a:t> </a:t>
            </a:r>
            <a:r>
              <a:rPr sz="2400" spc="-10" dirty="0"/>
              <a:t>Controlling </a:t>
            </a:r>
            <a:r>
              <a:rPr sz="2400" dirty="0"/>
              <a:t>Stakeholder</a:t>
            </a:r>
            <a:r>
              <a:rPr sz="2400" spc="-229" dirty="0"/>
              <a:t> </a:t>
            </a:r>
            <a:r>
              <a:rPr sz="2400" spc="-10" dirty="0"/>
              <a:t>Engagement</a:t>
            </a:r>
          </a:p>
        </p:txBody>
      </p:sp>
      <p:sp>
        <p:nvSpPr>
          <p:cNvPr id="3" name="object 3"/>
          <p:cNvSpPr txBox="1">
            <a:spLocks noGrp="1"/>
          </p:cNvSpPr>
          <p:nvPr>
            <p:ph type="body" idx="1"/>
          </p:nvPr>
        </p:nvSpPr>
        <p:spPr>
          <a:xfrm>
            <a:off x="1447800" y="1295400"/>
            <a:ext cx="9728200" cy="3123740"/>
          </a:xfrm>
          <a:prstGeom prst="rect">
            <a:avLst/>
          </a:prstGeom>
        </p:spPr>
        <p:txBody>
          <a:bodyPr vert="horz" wrap="square" lIns="0" tIns="60325" rIns="0" bIns="0" rtlCol="0">
            <a:spAutoFit/>
          </a:bodyPr>
          <a:lstStyle/>
          <a:p>
            <a:pPr marL="240029" marR="5080" indent="-227965">
              <a:lnSpc>
                <a:spcPts val="3030"/>
              </a:lnSpc>
              <a:spcBef>
                <a:spcPts val="475"/>
              </a:spcBef>
              <a:buClr>
                <a:srgbClr val="F5821F"/>
              </a:buClr>
              <a:buFont typeface="Arial"/>
              <a:buChar char="•"/>
              <a:tabLst>
                <a:tab pos="241300" algn="l"/>
              </a:tabLst>
            </a:pPr>
            <a:r>
              <a:rPr lang="en-NZ" sz="2000" spc="-50" dirty="0"/>
              <a:t>Must M/C the </a:t>
            </a:r>
            <a:r>
              <a:rPr sz="2000" dirty="0"/>
              <a:t>level</a:t>
            </a:r>
            <a:r>
              <a:rPr sz="2000" spc="-105" dirty="0"/>
              <a:t> </a:t>
            </a:r>
            <a:r>
              <a:rPr sz="2000" spc="-25" dirty="0"/>
              <a:t>of </a:t>
            </a:r>
            <a:r>
              <a:rPr sz="2000" spc="-10" dirty="0"/>
              <a:t>engagement</a:t>
            </a:r>
            <a:r>
              <a:rPr lang="en-NZ" sz="2000" spc="-10" dirty="0"/>
              <a:t> of the stakeholders </a:t>
            </a:r>
            <a:endParaRPr sz="2000" spc="-10" dirty="0"/>
          </a:p>
          <a:p>
            <a:pPr marL="241300" marR="445134" indent="-229235">
              <a:lnSpc>
                <a:spcPts val="3020"/>
              </a:lnSpc>
              <a:spcBef>
                <a:spcPts val="1005"/>
              </a:spcBef>
              <a:buClr>
                <a:srgbClr val="F5821F"/>
              </a:buClr>
              <a:buFont typeface="Arial"/>
              <a:buChar char="•"/>
              <a:tabLst>
                <a:tab pos="241300" algn="l"/>
              </a:tabLst>
            </a:pPr>
            <a:r>
              <a:rPr lang="en-NZ" sz="2000" spc="-10" dirty="0">
                <a:highlight>
                  <a:srgbClr val="FFFF00"/>
                </a:highlight>
              </a:rPr>
              <a:t>Must have team </a:t>
            </a:r>
            <a:r>
              <a:rPr sz="2000" dirty="0">
                <a:highlight>
                  <a:srgbClr val="FFFF00"/>
                </a:highlight>
              </a:rPr>
              <a:t>meetings,</a:t>
            </a:r>
            <a:r>
              <a:rPr sz="2000" spc="-85" dirty="0">
                <a:highlight>
                  <a:srgbClr val="FFFF00"/>
                </a:highlight>
              </a:rPr>
              <a:t> </a:t>
            </a:r>
            <a:r>
              <a:rPr sz="2000" dirty="0">
                <a:highlight>
                  <a:srgbClr val="FFFF00"/>
                </a:highlight>
              </a:rPr>
              <a:t>show</a:t>
            </a:r>
            <a:r>
              <a:rPr sz="2000" spc="-80" dirty="0">
                <a:highlight>
                  <a:srgbClr val="FFFF00"/>
                </a:highlight>
              </a:rPr>
              <a:t> </a:t>
            </a:r>
            <a:r>
              <a:rPr sz="2000" dirty="0">
                <a:highlight>
                  <a:srgbClr val="FFFF00"/>
                </a:highlight>
              </a:rPr>
              <a:t>and</a:t>
            </a:r>
            <a:r>
              <a:rPr sz="2000" spc="-85" dirty="0">
                <a:highlight>
                  <a:srgbClr val="FFFF00"/>
                </a:highlight>
              </a:rPr>
              <a:t> </a:t>
            </a:r>
            <a:r>
              <a:rPr sz="2000" dirty="0">
                <a:highlight>
                  <a:srgbClr val="FFFF00"/>
                </a:highlight>
              </a:rPr>
              <a:t>tell</a:t>
            </a:r>
            <a:r>
              <a:rPr sz="2000" spc="-105" dirty="0">
                <a:highlight>
                  <a:srgbClr val="FFFF00"/>
                </a:highlight>
              </a:rPr>
              <a:t> </a:t>
            </a:r>
            <a:r>
              <a:rPr sz="2000" spc="-10" dirty="0">
                <a:highlight>
                  <a:srgbClr val="FFFF00"/>
                </a:highlight>
              </a:rPr>
              <a:t>achievements</a:t>
            </a:r>
            <a:r>
              <a:rPr lang="en-NZ" sz="2000" spc="-10" dirty="0">
                <a:highlight>
                  <a:srgbClr val="FFFF00"/>
                </a:highlight>
              </a:rPr>
              <a:t>. An important element for assignment 1 (COMP507)</a:t>
            </a:r>
          </a:p>
          <a:p>
            <a:pPr marL="241300" marR="445134" indent="-229235">
              <a:lnSpc>
                <a:spcPts val="3020"/>
              </a:lnSpc>
              <a:spcBef>
                <a:spcPts val="1005"/>
              </a:spcBef>
              <a:buClr>
                <a:srgbClr val="F5821F"/>
              </a:buClr>
              <a:buFont typeface="Arial"/>
              <a:buChar char="•"/>
              <a:tabLst>
                <a:tab pos="241300" algn="l"/>
              </a:tabLst>
            </a:pPr>
            <a:r>
              <a:rPr sz="2000" spc="-80" dirty="0"/>
              <a:t> </a:t>
            </a:r>
            <a:r>
              <a:rPr lang="en-NZ" sz="2000" spc="-80" dirty="0">
                <a:highlight>
                  <a:srgbClr val="00FF00"/>
                </a:highlight>
              </a:rPr>
              <a:t>Must have client meetings to </a:t>
            </a:r>
            <a:r>
              <a:rPr sz="2000" spc="-10" dirty="0">
                <a:highlight>
                  <a:srgbClr val="00FF00"/>
                </a:highlight>
              </a:rPr>
              <a:t>consult</a:t>
            </a:r>
            <a:r>
              <a:rPr lang="en-NZ" sz="2000" spc="-10" dirty="0">
                <a:highlight>
                  <a:srgbClr val="00FF00"/>
                </a:highlight>
              </a:rPr>
              <a:t> and</a:t>
            </a:r>
            <a:r>
              <a:rPr sz="2000" spc="-10" dirty="0">
                <a:highlight>
                  <a:srgbClr val="00FF00"/>
                </a:highlight>
              </a:rPr>
              <a:t> </a:t>
            </a:r>
            <a:r>
              <a:rPr sz="2000" dirty="0">
                <a:highlight>
                  <a:srgbClr val="00FF00"/>
                </a:highlight>
              </a:rPr>
              <a:t>provide</a:t>
            </a:r>
            <a:r>
              <a:rPr sz="2000" spc="-110" dirty="0">
                <a:highlight>
                  <a:srgbClr val="00FF00"/>
                </a:highlight>
              </a:rPr>
              <a:t> </a:t>
            </a:r>
            <a:r>
              <a:rPr sz="2000" dirty="0">
                <a:highlight>
                  <a:srgbClr val="00FF00"/>
                </a:highlight>
              </a:rPr>
              <a:t>status</a:t>
            </a:r>
            <a:r>
              <a:rPr sz="2000" spc="-110" dirty="0">
                <a:highlight>
                  <a:srgbClr val="00FF00"/>
                </a:highlight>
              </a:rPr>
              <a:t> </a:t>
            </a:r>
            <a:r>
              <a:rPr sz="2000" dirty="0">
                <a:highlight>
                  <a:srgbClr val="00FF00"/>
                </a:highlight>
              </a:rPr>
              <a:t>reports</a:t>
            </a:r>
            <a:r>
              <a:rPr lang="en-NZ" sz="2000" dirty="0">
                <a:highlight>
                  <a:srgbClr val="00FF00"/>
                </a:highlight>
              </a:rPr>
              <a:t> and get </a:t>
            </a:r>
            <a:r>
              <a:rPr sz="2000" spc="-10" dirty="0">
                <a:highlight>
                  <a:srgbClr val="00FF00"/>
                </a:highlight>
              </a:rPr>
              <a:t>feedback</a:t>
            </a:r>
            <a:r>
              <a:rPr lang="en-NZ" sz="2000" spc="-10" dirty="0">
                <a:highlight>
                  <a:srgbClr val="00FF00"/>
                </a:highlight>
              </a:rPr>
              <a:t>- An important element for the R&amp;D project Paper (COMP702 &amp; COMP703) including the team meetings for the purpose stated above. </a:t>
            </a:r>
          </a:p>
          <a:p>
            <a:pPr marL="241300" marR="445134" indent="-229235">
              <a:lnSpc>
                <a:spcPts val="3020"/>
              </a:lnSpc>
              <a:spcBef>
                <a:spcPts val="1005"/>
              </a:spcBef>
              <a:buClr>
                <a:srgbClr val="F5821F"/>
              </a:buClr>
              <a:buFont typeface="Arial"/>
              <a:buChar char="•"/>
              <a:tabLst>
                <a:tab pos="241300" algn="l"/>
              </a:tabLst>
            </a:pPr>
            <a:endParaRPr sz="2400" spc="-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352FC-02AA-ADDB-E99E-71C6B393BD4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DA10DA-02C2-F238-A9CE-D0652DBD4547}"/>
              </a:ext>
            </a:extLst>
          </p:cNvPr>
          <p:cNvSpPr txBox="1">
            <a:spLocks noGrp="1"/>
          </p:cNvSpPr>
          <p:nvPr>
            <p:ph type="title"/>
          </p:nvPr>
        </p:nvSpPr>
        <p:spPr>
          <a:xfrm>
            <a:off x="1459483" y="239649"/>
            <a:ext cx="9858883" cy="874341"/>
          </a:xfrm>
          <a:prstGeom prst="rect">
            <a:avLst/>
          </a:prstGeom>
        </p:spPr>
        <p:txBody>
          <a:bodyPr vert="horz" wrap="square" lIns="0" tIns="195325" rIns="0" bIns="0" rtlCol="0">
            <a:spAutoFit/>
          </a:bodyPr>
          <a:lstStyle/>
          <a:p>
            <a:pPr marL="92075">
              <a:lnSpc>
                <a:spcPct val="100000"/>
              </a:lnSpc>
              <a:spcBef>
                <a:spcPts val="105"/>
              </a:spcBef>
            </a:pPr>
            <a:r>
              <a:rPr lang="en-NZ" dirty="0"/>
              <a:t>Activity Three: Issue management</a:t>
            </a:r>
            <a:endParaRPr spc="-20" dirty="0"/>
          </a:p>
        </p:txBody>
      </p:sp>
      <p:sp>
        <p:nvSpPr>
          <p:cNvPr id="6" name="TextBox 5">
            <a:extLst>
              <a:ext uri="{FF2B5EF4-FFF2-40B4-BE49-F238E27FC236}">
                <a16:creationId xmlns:a16="http://schemas.microsoft.com/office/drawing/2014/main" id="{6917F811-B337-3FE5-5B7A-E7F8ED05E9BA}"/>
              </a:ext>
            </a:extLst>
          </p:cNvPr>
          <p:cNvSpPr txBox="1"/>
          <p:nvPr/>
        </p:nvSpPr>
        <p:spPr>
          <a:xfrm>
            <a:off x="1904618" y="1219200"/>
            <a:ext cx="10134981" cy="4708981"/>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NZ" sz="1400" b="0" i="0" u="none" strike="noStrike" kern="0" cap="none" spc="0" normalizeH="0" baseline="0" noProof="0" dirty="0">
                <a:ln>
                  <a:noFill/>
                </a:ln>
                <a:solidFill>
                  <a:sysClr val="windowText" lastClr="000000"/>
                </a:solidFill>
                <a:effectLst/>
                <a:uLnTx/>
                <a:uFillTx/>
              </a:rPr>
              <a:t>AUT Library wants a prototype online </a:t>
            </a:r>
            <a:r>
              <a:rPr kumimoji="0" lang="en-US" sz="1400" b="0" i="0" u="none" strike="noStrike" kern="0" cap="none" spc="0" normalizeH="0" baseline="0" noProof="0" dirty="0">
                <a:ln>
                  <a:noFill/>
                </a:ln>
                <a:solidFill>
                  <a:sysClr val="windowText" lastClr="000000"/>
                </a:solidFill>
                <a:effectLst/>
                <a:uLnTx/>
                <a:uFillTx/>
              </a:rPr>
              <a:t>study room booking system to replace the current paper sign-up sheet and ad hoc</a:t>
            </a:r>
            <a:r>
              <a:rPr kumimoji="0" lang="en-NZ" sz="1400" b="0" i="0" u="none" strike="noStrike" kern="0" cap="none" spc="0" normalizeH="0" baseline="0" noProof="0" dirty="0">
                <a:ln>
                  <a:noFill/>
                </a:ln>
                <a:solidFill>
                  <a:sysClr val="windowText" lastClr="000000"/>
                </a:solidFill>
                <a:effectLst/>
                <a:uLnTx/>
                <a:uFillTx/>
              </a:rPr>
              <a:t> email requests. Students are frustrated because they often arrive expecting a room and discover someone else is already in it, and staff spend time resolving disputes and checking emails. The library agreed to trial a prototype to see whether a digital booking process would reduce double-bookings and improve visibility of room availability. After the proposal was approved, the team began delivering work in Week 7. By Week 8, the team has identified several problems that need to be captured as issues (things already happening). First, Jordan (team leader) has been unable to confirm final scope decisions because the library contact has been difficult to lock in</a:t>
            </a:r>
            <a:r>
              <a:rPr kumimoji="0" lang="en-US" sz="1400" b="0" i="0" u="none" strike="noStrike" kern="0" cap="none" spc="0" normalizeH="0" baseline="0" noProof="0" dirty="0">
                <a:ln>
                  <a:noFill/>
                </a:ln>
                <a:solidFill>
                  <a:sysClr val="windowText" lastClr="000000"/>
                </a:solidFill>
                <a:effectLst/>
                <a:uLnTx/>
                <a:uFillTx/>
              </a:rPr>
              <a:t>. Jordan needs a confirmed meeting schedule within the next 48 hours so requirements can be agreed upon </a:t>
            </a:r>
            <a:r>
              <a:rPr kumimoji="0" lang="en-NZ" sz="1400" b="0" i="0" u="none" strike="noStrike" kern="0" cap="none" spc="0" normalizeH="0" baseline="0" noProof="0" dirty="0">
                <a:ln>
                  <a:noFill/>
                </a:ln>
                <a:solidFill>
                  <a:sysClr val="windowText" lastClr="000000"/>
                </a:solidFill>
                <a:effectLst/>
                <a:uLnTx/>
                <a:uFillTx/>
              </a:rPr>
              <a:t>and the team can stop guessing. Second, Malia (tech lead) still does not have access to the approved hosting environment</a:t>
            </a:r>
            <a:r>
              <a:rPr kumimoji="0" lang="en-US" sz="1400" b="0" i="0" u="none" strike="noStrike" kern="0" cap="none" spc="0" normalizeH="0" baseline="0" noProof="0" dirty="0">
                <a:ln>
                  <a:noFill/>
                </a:ln>
                <a:solidFill>
                  <a:sysClr val="windowText" lastClr="000000"/>
                </a:solidFill>
                <a:effectLst/>
                <a:uLnTx/>
                <a:uFillTx/>
              </a:rPr>
              <a:t>; without it, the team cannot deploy a live version for proper testing and review. Malia is expected to get access confirmed by Wednesday,</a:t>
            </a:r>
            <a:r>
              <a:rPr kumimoji="0" lang="en-NZ" sz="1400" b="0" i="0" u="none" strike="noStrike" kern="0" cap="none" spc="0" normalizeH="0" baseline="0" noProof="0" dirty="0">
                <a:ln>
                  <a:noFill/>
                </a:ln>
                <a:solidFill>
                  <a:sysClr val="windowText" lastClr="000000"/>
                </a:solidFill>
                <a:effectLst/>
                <a:uLnTx/>
                <a:uFillTx/>
              </a:rPr>
              <a:t> 5:00 pm. Third, during an early trial session, David (UX lead) observed that students </a:t>
            </a:r>
            <a:r>
              <a:rPr kumimoji="0" lang="en-US" sz="1400" b="0" i="0" u="none" strike="noStrike" kern="0" cap="none" spc="0" normalizeH="0" baseline="0" noProof="0" dirty="0">
                <a:ln>
                  <a:noFill/>
                </a:ln>
                <a:solidFill>
                  <a:sysClr val="windowText" lastClr="000000"/>
                </a:solidFill>
                <a:effectLst/>
                <a:uLnTx/>
                <a:uFillTx/>
              </a:rPr>
              <a:t>hesitated and asked for help because the booking screen was not clear about which rooms and time slots were</a:t>
            </a:r>
            <a:r>
              <a:rPr kumimoji="0" lang="en-NZ" sz="1400" b="0" i="0" u="none" strike="noStrike" kern="0" cap="none" spc="0" normalizeH="0" baseline="0" noProof="0" dirty="0">
                <a:ln>
                  <a:noFill/>
                </a:ln>
                <a:solidFill>
                  <a:sysClr val="windowText" lastClr="000000"/>
                </a:solidFill>
                <a:effectLst/>
                <a:uLnTx/>
                <a:uFillTx/>
              </a:rPr>
              <a:t> available</a:t>
            </a:r>
            <a:r>
              <a:rPr kumimoji="0" lang="en-US" sz="1400" b="0" i="0" u="none" strike="noStrike" kern="0" cap="none" spc="0" normalizeH="0" baseline="0" noProof="0" dirty="0">
                <a:ln>
                  <a:noFill/>
                </a:ln>
                <a:solidFill>
                  <a:sysClr val="windowText" lastClr="000000"/>
                </a:solidFill>
                <a:effectLst/>
                <a:uLnTx/>
                <a:uFillTx/>
              </a:rPr>
              <a:t>. David must run another student trial after improving the screen by Friday,</a:t>
            </a:r>
            <a:r>
              <a:rPr kumimoji="0" lang="en-NZ" sz="1400" b="0" i="0" u="none" strike="noStrike" kern="0" cap="none" spc="0" normalizeH="0" baseline="0" noProof="0" dirty="0">
                <a:ln>
                  <a:noFill/>
                </a:ln>
                <a:solidFill>
                  <a:sysClr val="windowText" lastClr="000000"/>
                </a:solidFill>
                <a:effectLst/>
                <a:uLnTx/>
                <a:uFillTx/>
              </a:rPr>
              <a:t> 3:00 pm. Finally, Ava (developer) found a booking outcome that should not be possible: when two booking requests are submitted close together, the same room/time can end up booked more than once</a:t>
            </a:r>
            <a:r>
              <a:rPr kumimoji="0" lang="en-US" sz="1400" b="0" i="0" u="none" strike="noStrike" kern="0" cap="none" spc="0" normalizeH="0" baseline="0" noProof="0" dirty="0">
                <a:ln>
                  <a:noFill/>
                </a:ln>
                <a:solidFill>
                  <a:sysClr val="windowText" lastClr="000000"/>
                </a:solidFill>
                <a:effectLst/>
                <a:uLnTx/>
                <a:uFillTx/>
              </a:rPr>
              <a:t>. Ava must investigate, fix, and re-test this behaviour by Thursday, 4:00 pm,</a:t>
            </a:r>
            <a:r>
              <a:rPr kumimoji="0" lang="en-NZ" sz="1400" b="0" i="0" u="none" strike="noStrike" kern="0" cap="none" spc="0" normalizeH="0" baseline="0" noProof="0" dirty="0">
                <a:ln>
                  <a:noFill/>
                </a:ln>
                <a:solidFill>
                  <a:sysClr val="windowText" lastClr="000000"/>
                </a:solidFill>
                <a:effectLst/>
                <a:uLnTx/>
                <a:uFillTx/>
              </a:rPr>
              <a:t> so the prototype is reliable for further testing.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NZ" sz="1800" b="1" i="0" u="none" strike="noStrike" kern="0" cap="none" spc="0" normalizeH="0" baseline="0" noProof="0" dirty="0">
                <a:ln>
                  <a:noFill/>
                </a:ln>
                <a:solidFill>
                  <a:sysClr val="windowText" lastClr="000000"/>
                </a:solidFill>
                <a:effectLst/>
                <a:uLnTx/>
                <a:uFillTx/>
              </a:rPr>
              <a:t>Tasks </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0" cap="none" spc="0" normalizeH="0" baseline="0" noProof="0" dirty="0">
                <a:ln>
                  <a:noFill/>
                </a:ln>
                <a:solidFill>
                  <a:sysClr val="windowText" lastClr="000000"/>
                </a:solidFill>
                <a:effectLst/>
                <a:uLnTx/>
                <a:uFillTx/>
              </a:rPr>
              <a:t>Based on the case, what are the key issues that have already occurred and must be recorded in the Issue Register?</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0" cap="none" spc="0" normalizeH="0" baseline="0" noProof="0" dirty="0">
                <a:ln>
                  <a:noFill/>
                </a:ln>
                <a:solidFill>
                  <a:sysClr val="windowText" lastClr="000000"/>
                </a:solidFill>
                <a:effectLst/>
                <a:uLnTx/>
                <a:uFillTx/>
              </a:rPr>
              <a:t>For each issue, what is the impact and priority, who should own it, and what actions will be taken to resolve it (including due dates/status)?</a:t>
            </a:r>
          </a:p>
        </p:txBody>
      </p:sp>
    </p:spTree>
    <p:extLst>
      <p:ext uri="{BB962C8B-B14F-4D97-AF65-F5344CB8AC3E}">
        <p14:creationId xmlns:p14="http://schemas.microsoft.com/office/powerpoint/2010/main" val="511962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08228"/>
            <a:ext cx="8214234" cy="632674"/>
          </a:xfrm>
          <a:prstGeom prst="rect">
            <a:avLst/>
          </a:prstGeom>
        </p:spPr>
        <p:txBody>
          <a:bodyPr vert="horz" wrap="square" lIns="0" tIns="88900" rIns="0" bIns="0" rtlCol="0">
            <a:spAutoFit/>
          </a:bodyPr>
          <a:lstStyle/>
          <a:p>
            <a:pPr marL="12700" marR="5080">
              <a:lnSpc>
                <a:spcPts val="4750"/>
              </a:lnSpc>
              <a:spcBef>
                <a:spcPts val="700"/>
              </a:spcBef>
            </a:pPr>
            <a:r>
              <a:rPr lang="en-NZ" sz="2400" dirty="0"/>
              <a:t>Risks</a:t>
            </a:r>
            <a:endParaRPr sz="2400" spc="-10" dirty="0"/>
          </a:p>
        </p:txBody>
      </p:sp>
      <p:sp>
        <p:nvSpPr>
          <p:cNvPr id="3" name="object 3"/>
          <p:cNvSpPr txBox="1">
            <a:spLocks noGrp="1"/>
          </p:cNvSpPr>
          <p:nvPr>
            <p:ph type="body" idx="1"/>
          </p:nvPr>
        </p:nvSpPr>
        <p:spPr>
          <a:xfrm>
            <a:off x="1447800" y="1066800"/>
            <a:ext cx="9728200" cy="4706801"/>
          </a:xfrm>
          <a:prstGeom prst="rect">
            <a:avLst/>
          </a:prstGeom>
        </p:spPr>
        <p:txBody>
          <a:bodyPr vert="horz" wrap="square" lIns="0" tIns="60325" rIns="0" bIns="0" rtlCol="0">
            <a:spAutoFit/>
          </a:bodyPr>
          <a:lstStyle/>
          <a:p>
            <a:pPr marL="241300" marR="445134" indent="-229235">
              <a:lnSpc>
                <a:spcPts val="3020"/>
              </a:lnSpc>
              <a:spcBef>
                <a:spcPts val="1005"/>
              </a:spcBef>
              <a:buClr>
                <a:srgbClr val="F5821F"/>
              </a:buClr>
              <a:buFont typeface="Arial"/>
              <a:buChar char="•"/>
              <a:tabLst>
                <a:tab pos="241300" algn="l"/>
              </a:tabLst>
            </a:pPr>
            <a:r>
              <a:rPr lang="en-NZ" sz="1800" spc="-10" dirty="0"/>
              <a:t>Must write a procedure on how your team will M/C the risks which will also include information relating to regular team meetings specifically to evaluate project risks </a:t>
            </a:r>
          </a:p>
          <a:p>
            <a:pPr marL="241300" marR="445134" indent="-229235">
              <a:lnSpc>
                <a:spcPts val="3020"/>
              </a:lnSpc>
              <a:spcBef>
                <a:spcPts val="1005"/>
              </a:spcBef>
              <a:buClr>
                <a:srgbClr val="F5821F"/>
              </a:buClr>
              <a:buFont typeface="Arial"/>
              <a:buChar char="•"/>
              <a:tabLst>
                <a:tab pos="241300" algn="l"/>
              </a:tabLst>
            </a:pPr>
            <a:r>
              <a:rPr lang="en-NZ" sz="1800" spc="-10" dirty="0"/>
              <a:t>Risks must be identified before the project starts</a:t>
            </a:r>
          </a:p>
          <a:p>
            <a:pPr marL="241300" marR="445134" indent="-229235">
              <a:lnSpc>
                <a:spcPts val="3020"/>
              </a:lnSpc>
              <a:spcBef>
                <a:spcPts val="1005"/>
              </a:spcBef>
              <a:buClr>
                <a:srgbClr val="F5821F"/>
              </a:buClr>
              <a:buFont typeface="Arial"/>
              <a:buChar char="•"/>
              <a:tabLst>
                <a:tab pos="241300" algn="l"/>
              </a:tabLst>
            </a:pPr>
            <a:r>
              <a:rPr lang="en-NZ" sz="1800" spc="-10" dirty="0"/>
              <a:t>New risks will also emerge during the project which must be captured in the risk register </a:t>
            </a:r>
          </a:p>
          <a:p>
            <a:pPr marL="241300" marR="445134" indent="-252000">
              <a:lnSpc>
                <a:spcPts val="3020"/>
              </a:lnSpc>
              <a:buClr>
                <a:srgbClr val="F5821F"/>
              </a:buClr>
              <a:buFont typeface="Arial"/>
              <a:buChar char="•"/>
              <a:tabLst>
                <a:tab pos="241300" algn="l"/>
              </a:tabLst>
            </a:pPr>
            <a:r>
              <a:rPr lang="en-NZ" sz="1800" spc="-10" dirty="0"/>
              <a:t>Risk will come from the following project-related factors-</a:t>
            </a:r>
          </a:p>
          <a:p>
            <a:pPr marL="698500" marR="445134" lvl="1" indent="-252000">
              <a:lnSpc>
                <a:spcPts val="1400"/>
              </a:lnSpc>
              <a:spcAft>
                <a:spcPts val="800"/>
              </a:spcAft>
              <a:buClr>
                <a:srgbClr val="F5821F"/>
              </a:buClr>
              <a:buFont typeface="Arial"/>
              <a:buChar char="•"/>
              <a:tabLst>
                <a:tab pos="241300" algn="l"/>
              </a:tabLst>
            </a:pPr>
            <a:r>
              <a:rPr lang="en-NZ" spc="-10" dirty="0"/>
              <a:t>Scope </a:t>
            </a:r>
          </a:p>
          <a:p>
            <a:pPr marL="698500" marR="445134" lvl="1" indent="-252000">
              <a:lnSpc>
                <a:spcPts val="1400"/>
              </a:lnSpc>
              <a:spcAft>
                <a:spcPts val="800"/>
              </a:spcAft>
              <a:buClr>
                <a:srgbClr val="F5821F"/>
              </a:buClr>
              <a:buFont typeface="Arial"/>
              <a:buChar char="•"/>
              <a:tabLst>
                <a:tab pos="241300" algn="l"/>
              </a:tabLst>
            </a:pPr>
            <a:r>
              <a:rPr lang="en-NZ" spc="-10" dirty="0"/>
              <a:t>Team members </a:t>
            </a:r>
          </a:p>
          <a:p>
            <a:pPr marL="698500" marR="445134" lvl="1" indent="-252000">
              <a:lnSpc>
                <a:spcPts val="1400"/>
              </a:lnSpc>
              <a:spcAft>
                <a:spcPts val="800"/>
              </a:spcAft>
              <a:buClr>
                <a:srgbClr val="F5821F"/>
              </a:buClr>
              <a:buFont typeface="Arial"/>
              <a:buChar char="•"/>
              <a:tabLst>
                <a:tab pos="241300" algn="l"/>
              </a:tabLst>
            </a:pPr>
            <a:r>
              <a:rPr lang="en-NZ" spc="-10" dirty="0"/>
              <a:t>Clients</a:t>
            </a:r>
          </a:p>
          <a:p>
            <a:pPr marL="698500" marR="445134" lvl="1" indent="-252000">
              <a:lnSpc>
                <a:spcPts val="1400"/>
              </a:lnSpc>
              <a:spcAft>
                <a:spcPts val="800"/>
              </a:spcAft>
              <a:buClr>
                <a:srgbClr val="F5821F"/>
              </a:buClr>
              <a:buFont typeface="Arial"/>
              <a:buChar char="•"/>
              <a:tabLst>
                <a:tab pos="241300" algn="l"/>
              </a:tabLst>
            </a:pPr>
            <a:r>
              <a:rPr lang="en-NZ" spc="-10" dirty="0"/>
              <a:t>Schedule/Time frame</a:t>
            </a:r>
          </a:p>
          <a:p>
            <a:pPr marL="698500" marR="445134" lvl="1" indent="-252000">
              <a:lnSpc>
                <a:spcPts val="1400"/>
              </a:lnSpc>
              <a:spcAft>
                <a:spcPts val="800"/>
              </a:spcAft>
              <a:buClr>
                <a:srgbClr val="F5821F"/>
              </a:buClr>
              <a:buFont typeface="Arial"/>
              <a:buChar char="•"/>
              <a:tabLst>
                <a:tab pos="241300" algn="l"/>
              </a:tabLst>
            </a:pPr>
            <a:r>
              <a:rPr lang="en-NZ" spc="-10" dirty="0"/>
              <a:t>Technology/tools used </a:t>
            </a:r>
          </a:p>
          <a:p>
            <a:pPr marL="698500" marR="445134" lvl="1" indent="-252000">
              <a:lnSpc>
                <a:spcPts val="1400"/>
              </a:lnSpc>
              <a:spcAft>
                <a:spcPts val="800"/>
              </a:spcAft>
              <a:buClr>
                <a:srgbClr val="F5821F"/>
              </a:buClr>
              <a:buFont typeface="Arial"/>
              <a:buChar char="•"/>
              <a:tabLst>
                <a:tab pos="241300" algn="l"/>
              </a:tabLst>
            </a:pPr>
            <a:r>
              <a:rPr lang="en-NZ" spc="-10" dirty="0"/>
              <a:t>PM Methodology, templates, practices</a:t>
            </a:r>
          </a:p>
          <a:p>
            <a:pPr marR="445134" indent="-10700">
              <a:lnSpc>
                <a:spcPts val="2800"/>
              </a:lnSpc>
              <a:spcBef>
                <a:spcPts val="600"/>
              </a:spcBef>
              <a:spcAft>
                <a:spcPts val="600"/>
              </a:spcAft>
              <a:buClr>
                <a:srgbClr val="F5821F"/>
              </a:buClr>
              <a:tabLst>
                <a:tab pos="241300" algn="l"/>
              </a:tabLst>
            </a:pPr>
            <a:r>
              <a:rPr lang="en-NZ" sz="2000" spc="-10" dirty="0">
                <a:highlight>
                  <a:srgbClr val="00FF00"/>
                </a:highlight>
              </a:rPr>
              <a:t>Need to identify specific risks relating to the above factors which may impact your project. Note there will be several individual risks for each of the above factors</a:t>
            </a:r>
            <a:endParaRPr sz="2000" spc="-10" dirty="0">
              <a:highlight>
                <a:srgbClr val="00FF00"/>
              </a:highlight>
            </a:endParaRPr>
          </a:p>
        </p:txBody>
      </p:sp>
    </p:spTree>
    <p:extLst>
      <p:ext uri="{BB962C8B-B14F-4D97-AF65-F5344CB8AC3E}">
        <p14:creationId xmlns:p14="http://schemas.microsoft.com/office/powerpoint/2010/main" val="2769570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9847" y="374141"/>
            <a:ext cx="8608060" cy="696595"/>
          </a:xfrm>
          <a:prstGeom prst="rect">
            <a:avLst/>
          </a:prstGeom>
        </p:spPr>
        <p:txBody>
          <a:bodyPr vert="horz" wrap="square" lIns="0" tIns="13335" rIns="0" bIns="0" rtlCol="0">
            <a:spAutoFit/>
          </a:bodyPr>
          <a:lstStyle/>
          <a:p>
            <a:pPr marL="12700">
              <a:lnSpc>
                <a:spcPct val="100000"/>
              </a:lnSpc>
              <a:spcBef>
                <a:spcPts val="105"/>
              </a:spcBef>
            </a:pPr>
            <a:r>
              <a:rPr dirty="0"/>
              <a:t>Risk</a:t>
            </a:r>
            <a:r>
              <a:rPr spc="-70" dirty="0"/>
              <a:t> </a:t>
            </a:r>
            <a:r>
              <a:rPr dirty="0"/>
              <a:t>Register</a:t>
            </a:r>
            <a:r>
              <a:rPr spc="-85" dirty="0"/>
              <a:t> </a:t>
            </a:r>
            <a:r>
              <a:rPr lang="en-NZ" dirty="0"/>
              <a:t>Wiki Project </a:t>
            </a:r>
            <a:endParaRPr spc="-65" dirty="0"/>
          </a:p>
        </p:txBody>
      </p:sp>
      <p:graphicFrame>
        <p:nvGraphicFramePr>
          <p:cNvPr id="4" name="Object 3">
            <a:extLst>
              <a:ext uri="{FF2B5EF4-FFF2-40B4-BE49-F238E27FC236}">
                <a16:creationId xmlns:a16="http://schemas.microsoft.com/office/drawing/2014/main" id="{D7362603-DA85-EAAE-E147-192CE7DFC03F}"/>
              </a:ext>
            </a:extLst>
          </p:cNvPr>
          <p:cNvGraphicFramePr>
            <a:graphicFrameLocks noChangeAspect="1"/>
          </p:cNvGraphicFramePr>
          <p:nvPr>
            <p:extLst>
              <p:ext uri="{D42A27DB-BD31-4B8C-83A1-F6EECF244321}">
                <p14:modId xmlns:p14="http://schemas.microsoft.com/office/powerpoint/2010/main" val="277631837"/>
              </p:ext>
            </p:extLst>
          </p:nvPr>
        </p:nvGraphicFramePr>
        <p:xfrm>
          <a:off x="990600" y="1524000"/>
          <a:ext cx="12093575" cy="5057775"/>
        </p:xfrm>
        <a:graphic>
          <a:graphicData uri="http://schemas.openxmlformats.org/presentationml/2006/ole">
            <mc:AlternateContent xmlns:mc="http://schemas.openxmlformats.org/markup-compatibility/2006">
              <mc:Choice xmlns:v="urn:schemas-microsoft-com:vml" Requires="v">
                <p:oleObj name="Worksheet" r:id="rId2" imgW="11039350" imgH="5057727" progId="Excel.Sheet.8">
                  <p:embed/>
                </p:oleObj>
              </mc:Choice>
              <mc:Fallback>
                <p:oleObj name="Worksheet" r:id="rId2" imgW="11039350" imgH="5057727" progId="Excel.Sheet.8">
                  <p:embed/>
                  <p:pic>
                    <p:nvPicPr>
                      <p:cNvPr id="0" name=""/>
                      <p:cNvPicPr/>
                      <p:nvPr/>
                    </p:nvPicPr>
                    <p:blipFill>
                      <a:blip r:embed="rId3"/>
                      <a:stretch>
                        <a:fillRect/>
                      </a:stretch>
                    </p:blipFill>
                    <p:spPr>
                      <a:xfrm>
                        <a:off x="990600" y="1524000"/>
                        <a:ext cx="12093575" cy="5057775"/>
                      </a:xfrm>
                      <a:prstGeom prst="rect">
                        <a:avLst/>
                      </a:prstGeom>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62AECA-2EB8-5FFD-CC25-AC74401B66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57400" y="990600"/>
            <a:ext cx="7620000" cy="4515867"/>
          </a:xfrm>
          <a:prstGeom prst="rect">
            <a:avLst/>
          </a:prstGeom>
        </p:spPr>
      </p:pic>
    </p:spTree>
    <p:extLst>
      <p:ext uri="{BB962C8B-B14F-4D97-AF65-F5344CB8AC3E}">
        <p14:creationId xmlns:p14="http://schemas.microsoft.com/office/powerpoint/2010/main" val="754949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A1CE8-0E36-40C1-C2B1-8FD722366E2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50FE85-DA9C-AE66-8770-E51DFA36956B}"/>
              </a:ext>
            </a:extLst>
          </p:cNvPr>
          <p:cNvSpPr txBox="1">
            <a:spLocks noGrp="1"/>
          </p:cNvSpPr>
          <p:nvPr>
            <p:ph type="title"/>
          </p:nvPr>
        </p:nvSpPr>
        <p:spPr>
          <a:xfrm>
            <a:off x="1459483" y="239649"/>
            <a:ext cx="9858883" cy="874341"/>
          </a:xfrm>
          <a:prstGeom prst="rect">
            <a:avLst/>
          </a:prstGeom>
        </p:spPr>
        <p:txBody>
          <a:bodyPr vert="horz" wrap="square" lIns="0" tIns="195325" rIns="0" bIns="0" rtlCol="0">
            <a:spAutoFit/>
          </a:bodyPr>
          <a:lstStyle/>
          <a:p>
            <a:pPr marL="92075">
              <a:lnSpc>
                <a:spcPct val="100000"/>
              </a:lnSpc>
              <a:spcBef>
                <a:spcPts val="105"/>
              </a:spcBef>
            </a:pPr>
            <a:r>
              <a:rPr lang="en-NZ" dirty="0"/>
              <a:t>Activity Four: Risk management</a:t>
            </a:r>
            <a:endParaRPr spc="-20" dirty="0"/>
          </a:p>
        </p:txBody>
      </p:sp>
      <p:sp>
        <p:nvSpPr>
          <p:cNvPr id="6" name="TextBox 5">
            <a:extLst>
              <a:ext uri="{FF2B5EF4-FFF2-40B4-BE49-F238E27FC236}">
                <a16:creationId xmlns:a16="http://schemas.microsoft.com/office/drawing/2014/main" id="{09EFDBC4-C865-64E0-EF79-9B7A33527BC4}"/>
              </a:ext>
            </a:extLst>
          </p:cNvPr>
          <p:cNvSpPr txBox="1"/>
          <p:nvPr/>
        </p:nvSpPr>
        <p:spPr>
          <a:xfrm>
            <a:off x="1904618" y="1219200"/>
            <a:ext cx="10134981" cy="5139869"/>
          </a:xfrm>
          <a:prstGeom prst="rect">
            <a:avLst/>
          </a:prstGeom>
          <a:noFill/>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NZ" sz="1400" b="0" i="0" u="none" strike="noStrike" kern="0" cap="none" spc="0" normalizeH="0" baseline="0" noProof="0" dirty="0">
                <a:ln>
                  <a:noFill/>
                </a:ln>
                <a:solidFill>
                  <a:sysClr val="windowText" lastClr="000000"/>
                </a:solidFill>
                <a:effectLst/>
                <a:uLnTx/>
                <a:uFillTx/>
              </a:rPr>
              <a:t>AUT Library wants a prototype online </a:t>
            </a:r>
            <a:r>
              <a:rPr kumimoji="0" lang="en-US" sz="1400" b="0" i="0" u="none" strike="noStrike" kern="0" cap="none" spc="0" normalizeH="0" baseline="0" noProof="0" dirty="0">
                <a:ln>
                  <a:noFill/>
                </a:ln>
                <a:solidFill>
                  <a:sysClr val="windowText" lastClr="000000"/>
                </a:solidFill>
                <a:effectLst/>
                <a:uLnTx/>
                <a:uFillTx/>
              </a:rPr>
              <a:t>study room booking system to replace the current paper sign-up sheet and ad hoc</a:t>
            </a:r>
            <a:r>
              <a:rPr kumimoji="0" lang="en-NZ" sz="1400" b="0" i="0" u="none" strike="noStrike" kern="0" cap="none" spc="0" normalizeH="0" baseline="0" noProof="0" dirty="0">
                <a:ln>
                  <a:noFill/>
                </a:ln>
                <a:solidFill>
                  <a:sysClr val="windowText" lastClr="000000"/>
                </a:solidFill>
                <a:effectLst/>
                <a:uLnTx/>
                <a:uFillTx/>
              </a:rPr>
              <a:t> email requests. Students often arrive expecting a room and find it already occupied, and staff spend time checking paper entries and email threads to work out what was agreed. The library wants a prototype to trial and see whether a digital booking workflow improves clarity and reduces booking conflicts. As the team plans the next stage of delivery, they identify four risks (things that might happen) that could affect delivery. First, Jordan (team leader) is concerned that the library contact may continue to be difficult to lock in for meetings, which could delay requirement decisions and leave the team working with an unclear scope. To reduce this risk, Jordan plans to set a fixed weekly meeting time</a:t>
            </a:r>
            <a:r>
              <a:rPr kumimoji="0" lang="en-US" sz="1400" b="0" i="0" u="none" strike="noStrike" kern="0" cap="none" spc="0" normalizeH="0" baseline="0" noProof="0" dirty="0">
                <a:ln>
                  <a:noFill/>
                </a:ln>
                <a:solidFill>
                  <a:sysClr val="windowText" lastClr="000000"/>
                </a:solidFill>
                <a:effectLst/>
                <a:uLnTx/>
                <a:uFillTx/>
              </a:rPr>
              <a:t>, send an agenda in advance, and confirm decisions in writing by email. If the client still cannot commit, Jordan will escalate through the supervisor and request a </a:t>
            </a:r>
            <a:r>
              <a:rPr kumimoji="0" lang="en-NZ" sz="1400" b="0" i="0" u="none" strike="noStrike" kern="0" cap="none" spc="0" normalizeH="0" baseline="0" noProof="0" dirty="0">
                <a:ln>
                  <a:noFill/>
                </a:ln>
                <a:solidFill>
                  <a:sysClr val="windowText" lastClr="000000"/>
                </a:solidFill>
                <a:effectLst/>
                <a:uLnTx/>
                <a:uFillTx/>
              </a:rPr>
              <a:t>written sign-off for key decisions. Second, Malia (tech lead) is worried that access to the approved hosting environment could be delayed again, limiting deployment and testing. Malia will submit the access request early, follow up twice weekly, and keep a working local demo ready; if access is still delayed, the team will continue local demos and shift testing to local until hosting is approved. Third, Sione (UX lead) believes students may continue to find the booking screen confusing, which would reduce adoption and cause late rework. Sione plans to run early usability tests each cycle and iterate on the interface; if confusion persists, the team will provide a simple help guide and reduce the interface to the core booking flow. Finally, Ava (developer) is concerned that booking conflicts could recur </a:t>
            </a:r>
            <a:r>
              <a:rPr kumimoji="0" lang="en-US" sz="1400" b="0" i="0" u="none" strike="noStrike" kern="0" cap="none" spc="0" normalizeH="0" baseline="0" noProof="0" dirty="0">
                <a:ln>
                  <a:noFill/>
                </a:ln>
                <a:solidFill>
                  <a:sysClr val="windowText" lastClr="000000"/>
                </a:solidFill>
                <a:effectLst/>
                <a:uLnTx/>
                <a:uFillTx/>
              </a:rPr>
              <a:t>during near-simultaneous booking attempts, leading to incorrect bookings and eroding</a:t>
            </a:r>
            <a:r>
              <a:rPr kumimoji="0" lang="en-NZ" sz="1400" b="0" i="0" u="none" strike="noStrike" kern="0" cap="none" spc="0" normalizeH="0" baseline="0" noProof="0" dirty="0">
                <a:ln>
                  <a:noFill/>
                </a:ln>
                <a:solidFill>
                  <a:sysClr val="windowText" lastClr="000000"/>
                </a:solidFill>
                <a:effectLst/>
                <a:uLnTx/>
                <a:uFillTx/>
              </a:rPr>
              <a:t> trust. Ava plans to implement server-side validation/locking and automated tests; if a conflict still occurs during demos, bookings will be temporarily disabled until a fix is deployed, and the team will use manual verification during testing.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NZ" sz="1800" b="1" i="0" u="none" strike="noStrike" kern="0" cap="none" spc="0" normalizeH="0" baseline="0" noProof="0" dirty="0">
                <a:ln>
                  <a:noFill/>
                </a:ln>
                <a:solidFill>
                  <a:sysClr val="windowText" lastClr="000000"/>
                </a:solidFill>
                <a:effectLst/>
                <a:uLnTx/>
                <a:uFillTx/>
              </a:rPr>
              <a:t>Tasks </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0" cap="none" spc="0" normalizeH="0" baseline="0" noProof="0" dirty="0">
                <a:ln>
                  <a:noFill/>
                </a:ln>
                <a:solidFill>
                  <a:sysClr val="windowText" lastClr="000000"/>
                </a:solidFill>
                <a:effectLst/>
                <a:uLnTx/>
                <a:uFillTx/>
              </a:rPr>
              <a:t>From the case, what are the key risks (things that might happen) that should be recorded in the Risk Register? </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Z" sz="1800" b="0" i="0" u="none" strike="noStrike" kern="0" cap="none" spc="0" normalizeH="0" baseline="0" noProof="0" dirty="0">
                <a:ln>
                  <a:noFill/>
                </a:ln>
                <a:solidFill>
                  <a:sysClr val="windowText" lastClr="000000"/>
                </a:solidFill>
                <a:effectLst/>
                <a:uLnTx/>
                <a:uFillTx/>
              </a:rPr>
              <a:t>For each risk, what are the likelihood and impact, who owns it, and what mitigation and contingency actions will be used?</a:t>
            </a:r>
          </a:p>
        </p:txBody>
      </p:sp>
    </p:spTree>
    <p:extLst>
      <p:ext uri="{BB962C8B-B14F-4D97-AF65-F5344CB8AC3E}">
        <p14:creationId xmlns:p14="http://schemas.microsoft.com/office/powerpoint/2010/main" val="719271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2612-02BC-3A94-A123-A8304F9A14F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1ECED08-AB6C-5942-711D-6E73D2A1CA9A}"/>
              </a:ext>
            </a:extLst>
          </p:cNvPr>
          <p:cNvSpPr txBox="1">
            <a:spLocks noGrp="1"/>
          </p:cNvSpPr>
          <p:nvPr>
            <p:ph type="title"/>
          </p:nvPr>
        </p:nvSpPr>
        <p:spPr>
          <a:xfrm>
            <a:off x="1459483" y="239649"/>
            <a:ext cx="9858883" cy="874341"/>
          </a:xfrm>
          <a:prstGeom prst="rect">
            <a:avLst/>
          </a:prstGeom>
        </p:spPr>
        <p:txBody>
          <a:bodyPr vert="horz" wrap="square" lIns="0" tIns="195325" rIns="0" bIns="0" rtlCol="0">
            <a:spAutoFit/>
          </a:bodyPr>
          <a:lstStyle/>
          <a:p>
            <a:pPr marL="92075">
              <a:lnSpc>
                <a:spcPct val="100000"/>
              </a:lnSpc>
              <a:spcBef>
                <a:spcPts val="105"/>
              </a:spcBef>
            </a:pPr>
            <a:r>
              <a:rPr lang="en-NZ" dirty="0"/>
              <a:t>Activity Five: Financial Analysis</a:t>
            </a:r>
            <a:endParaRPr lang="en-NZ" spc="-20" dirty="0"/>
          </a:p>
        </p:txBody>
      </p:sp>
      <p:sp>
        <p:nvSpPr>
          <p:cNvPr id="5" name="TextBox 4">
            <a:extLst>
              <a:ext uri="{FF2B5EF4-FFF2-40B4-BE49-F238E27FC236}">
                <a16:creationId xmlns:a16="http://schemas.microsoft.com/office/drawing/2014/main" id="{8EBEB4DD-4264-1DDE-2241-3B04DF5D1E96}"/>
              </a:ext>
            </a:extLst>
          </p:cNvPr>
          <p:cNvSpPr txBox="1"/>
          <p:nvPr/>
        </p:nvSpPr>
        <p:spPr>
          <a:xfrm>
            <a:off x="2057400" y="1113990"/>
            <a:ext cx="8458919" cy="424731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NZ" sz="1800" b="0" i="0" u="none" strike="noStrike" kern="0" cap="none" spc="0" normalizeH="0" baseline="0" noProof="0" dirty="0">
                <a:ln>
                  <a:noFill/>
                </a:ln>
                <a:solidFill>
                  <a:sysClr val="windowText" lastClr="000000"/>
                </a:solidFill>
                <a:effectLst/>
                <a:uLnTx/>
                <a:uFillTx/>
              </a:rPr>
              <a:t>CMS is considering replacing its current mix of manual course coordination tools, paper-based research supervision records, and separate communication systems with a cloud-based Student Research Collaboration Portal. The new SaaS platform will allow students, supervisors, and administrators to manage project tracking, document sharing, milestone monitoring, and communication in one place. By adopting the SaaS model, ECMS expects to reduce administration, printing, software support, and maintenance costs by $180,000 per year for the next three years. To implement the project, ECMS must invest $300,000 in Year 0 for planning, migration, configuration, staff training, and rollout. The project is expected to start on 1 August 2026, finish implementation by 31 December 2026, and go live on 1 February 2027. The SaaS subscription fee is estimated at $30 per student per year. ECMS expects 500 students per year to use the platform until 2029. In addition, internet and access support </a:t>
            </a:r>
            <a:r>
              <a:rPr kumimoji="0" lang="en-US" sz="1800" b="0" i="0" u="none" strike="noStrike" kern="0" cap="none" spc="0" normalizeH="0" baseline="0" noProof="0" dirty="0">
                <a:ln>
                  <a:noFill/>
                </a:ln>
                <a:solidFill>
                  <a:sysClr val="windowText" lastClr="000000"/>
                </a:solidFill>
                <a:effectLst/>
                <a:uLnTx/>
                <a:uFillTx/>
              </a:rPr>
              <a:t>costs are estimated at $5 per student per month in Year 1, increasing by 8% per year thereafter</a:t>
            </a:r>
            <a:r>
              <a:rPr kumimoji="0" lang="en-NZ" sz="1800" b="0" i="0" u="none" strike="noStrike" kern="0" cap="none" spc="0" normalizeH="0" baseline="0" noProof="0" dirty="0">
                <a:ln>
                  <a:noFill/>
                </a:ln>
                <a:solidFill>
                  <a:sysClr val="windowText" lastClr="000000"/>
                </a:solidFill>
                <a:effectLst/>
                <a:uLnTx/>
                <a:uFillTx/>
              </a:rPr>
              <a:t>. </a:t>
            </a:r>
            <a:r>
              <a:rPr kumimoji="0" lang="en-US" sz="1800" b="0" i="0" u="none" strike="noStrike" kern="0" cap="none" spc="0" normalizeH="0" baseline="0" noProof="0" dirty="0">
                <a:ln>
                  <a:noFill/>
                </a:ln>
                <a:solidFill>
                  <a:sysClr val="windowText" lastClr="000000"/>
                </a:solidFill>
                <a:effectLst/>
                <a:uLnTx/>
                <a:uFillTx/>
              </a:rPr>
              <a:t>The existing IT infrastructure is sufficient, so no additional hardware costs are</a:t>
            </a:r>
            <a:r>
              <a:rPr kumimoji="0" lang="en-NZ" sz="1800" b="0" i="0" u="none" strike="noStrike" kern="0" cap="none" spc="0" normalizeH="0" baseline="0" noProof="0" dirty="0">
                <a:ln>
                  <a:noFill/>
                </a:ln>
                <a:solidFill>
                  <a:sysClr val="windowText" lastClr="000000"/>
                </a:solidFill>
                <a:effectLst/>
                <a:uLnTx/>
                <a:uFillTx/>
              </a:rPr>
              <a:t> required.</a:t>
            </a:r>
          </a:p>
        </p:txBody>
      </p:sp>
    </p:spTree>
    <p:extLst>
      <p:ext uri="{BB962C8B-B14F-4D97-AF65-F5344CB8AC3E}">
        <p14:creationId xmlns:p14="http://schemas.microsoft.com/office/powerpoint/2010/main" val="2671956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3362" rIns="0" bIns="0" rtlCol="0">
            <a:spAutoFit/>
          </a:bodyPr>
          <a:lstStyle/>
          <a:p>
            <a:pPr marL="92075">
              <a:lnSpc>
                <a:spcPct val="100000"/>
              </a:lnSpc>
              <a:spcBef>
                <a:spcPts val="105"/>
              </a:spcBef>
            </a:pPr>
            <a:r>
              <a:rPr spc="-10" dirty="0"/>
              <a:t>Summary</a:t>
            </a:r>
          </a:p>
        </p:txBody>
      </p:sp>
      <p:sp>
        <p:nvSpPr>
          <p:cNvPr id="3" name="object 3"/>
          <p:cNvSpPr txBox="1"/>
          <p:nvPr/>
        </p:nvSpPr>
        <p:spPr>
          <a:xfrm>
            <a:off x="1539366" y="1812112"/>
            <a:ext cx="9309735" cy="2530475"/>
          </a:xfrm>
          <a:prstGeom prst="rect">
            <a:avLst/>
          </a:prstGeom>
        </p:spPr>
        <p:txBody>
          <a:bodyPr vert="horz" wrap="square" lIns="0" tIns="60325" rIns="0" bIns="0" rtlCol="0">
            <a:spAutoFit/>
          </a:bodyPr>
          <a:lstStyle/>
          <a:p>
            <a:pPr marL="240029" marR="5080" indent="-227965">
              <a:lnSpc>
                <a:spcPts val="3030"/>
              </a:lnSpc>
              <a:spcBef>
                <a:spcPts val="475"/>
              </a:spcBef>
              <a:buClr>
                <a:srgbClr val="F5821F"/>
              </a:buClr>
              <a:buFont typeface="Arial"/>
              <a:buChar char="•"/>
              <a:tabLst>
                <a:tab pos="241300" algn="l"/>
              </a:tabLst>
            </a:pPr>
            <a:r>
              <a:rPr sz="2800" dirty="0">
                <a:latin typeface="Calibri"/>
                <a:cs typeface="Calibri"/>
              </a:rPr>
              <a:t>Managing</a:t>
            </a:r>
            <a:r>
              <a:rPr sz="2800" spc="-75" dirty="0">
                <a:latin typeface="Calibri"/>
                <a:cs typeface="Calibri"/>
              </a:rPr>
              <a:t> </a:t>
            </a:r>
            <a:r>
              <a:rPr sz="2800" spc="-25" dirty="0">
                <a:latin typeface="Calibri"/>
                <a:cs typeface="Calibri"/>
              </a:rPr>
              <a:t>stakeholders</a:t>
            </a:r>
            <a:r>
              <a:rPr sz="2800" spc="-65" dirty="0">
                <a:latin typeface="Calibri"/>
                <a:cs typeface="Calibri"/>
              </a:rPr>
              <a:t> </a:t>
            </a:r>
            <a:r>
              <a:rPr sz="2800" dirty="0">
                <a:latin typeface="Calibri"/>
                <a:cs typeface="Calibri"/>
              </a:rPr>
              <a:t>is</a:t>
            </a:r>
            <a:r>
              <a:rPr sz="2800" spc="-85" dirty="0">
                <a:latin typeface="Calibri"/>
                <a:cs typeface="Calibri"/>
              </a:rPr>
              <a:t> </a:t>
            </a:r>
            <a:r>
              <a:rPr sz="2800" dirty="0">
                <a:latin typeface="Calibri"/>
                <a:cs typeface="Calibri"/>
              </a:rPr>
              <a:t>now</a:t>
            </a:r>
            <a:r>
              <a:rPr sz="2800" spc="-70"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tenth</a:t>
            </a:r>
            <a:r>
              <a:rPr sz="2800" spc="-85" dirty="0">
                <a:latin typeface="Calibri"/>
                <a:cs typeface="Calibri"/>
              </a:rPr>
              <a:t> </a:t>
            </a:r>
            <a:r>
              <a:rPr sz="2800" spc="-10" dirty="0">
                <a:latin typeface="Calibri"/>
                <a:cs typeface="Calibri"/>
              </a:rPr>
              <a:t>knowledge</a:t>
            </a:r>
            <a:r>
              <a:rPr sz="2800" spc="-75" dirty="0">
                <a:latin typeface="Calibri"/>
                <a:cs typeface="Calibri"/>
              </a:rPr>
              <a:t> </a:t>
            </a:r>
            <a:r>
              <a:rPr sz="2800" dirty="0">
                <a:latin typeface="Calibri"/>
                <a:cs typeface="Calibri"/>
              </a:rPr>
              <a:t>area</a:t>
            </a:r>
            <a:r>
              <a:rPr sz="2800" spc="-85" dirty="0">
                <a:latin typeface="Calibri"/>
                <a:cs typeface="Calibri"/>
              </a:rPr>
              <a:t> </a:t>
            </a:r>
            <a:r>
              <a:rPr sz="2800" dirty="0">
                <a:latin typeface="Calibri"/>
                <a:cs typeface="Calibri"/>
              </a:rPr>
              <a:t>in</a:t>
            </a:r>
            <a:r>
              <a:rPr sz="2800" spc="-80" dirty="0">
                <a:latin typeface="Calibri"/>
                <a:cs typeface="Calibri"/>
              </a:rPr>
              <a:t> </a:t>
            </a:r>
            <a:r>
              <a:rPr sz="2800" spc="-25" dirty="0">
                <a:latin typeface="Calibri"/>
                <a:cs typeface="Calibri"/>
              </a:rPr>
              <a:t>the 	</a:t>
            </a:r>
            <a:r>
              <a:rPr sz="2800" dirty="0">
                <a:latin typeface="Calibri"/>
                <a:cs typeface="Calibri"/>
              </a:rPr>
              <a:t>PMBOK®</a:t>
            </a:r>
            <a:r>
              <a:rPr sz="2800" spc="-80" dirty="0">
                <a:latin typeface="Calibri"/>
                <a:cs typeface="Calibri"/>
              </a:rPr>
              <a:t> </a:t>
            </a:r>
            <a:r>
              <a:rPr sz="2800" spc="-10" dirty="0">
                <a:latin typeface="Calibri"/>
                <a:cs typeface="Calibri"/>
              </a:rPr>
              <a:t>Guide.</a:t>
            </a:r>
            <a:endParaRPr sz="2800">
              <a:latin typeface="Calibri"/>
              <a:cs typeface="Calibri"/>
            </a:endParaRPr>
          </a:p>
          <a:p>
            <a:pPr marL="241300" indent="-228600">
              <a:lnSpc>
                <a:spcPct val="100000"/>
              </a:lnSpc>
              <a:spcBef>
                <a:spcPts val="620"/>
              </a:spcBef>
              <a:buClr>
                <a:srgbClr val="F5821F"/>
              </a:buClr>
              <a:buFont typeface="Arial"/>
              <a:buChar char="•"/>
              <a:tabLst>
                <a:tab pos="241300" algn="l"/>
              </a:tabLst>
            </a:pPr>
            <a:r>
              <a:rPr sz="2800" spc="-10" dirty="0">
                <a:latin typeface="Calibri"/>
                <a:cs typeface="Calibri"/>
              </a:rPr>
              <a:t>Processes</a:t>
            </a:r>
            <a:r>
              <a:rPr sz="2800" spc="-75" dirty="0">
                <a:latin typeface="Calibri"/>
                <a:cs typeface="Calibri"/>
              </a:rPr>
              <a:t> </a:t>
            </a:r>
            <a:r>
              <a:rPr sz="2800" spc="-10" dirty="0">
                <a:latin typeface="Calibri"/>
                <a:cs typeface="Calibri"/>
              </a:rPr>
              <a:t>include:</a:t>
            </a:r>
            <a:endParaRPr sz="2800">
              <a:latin typeface="Calibri"/>
              <a:cs typeface="Calibri"/>
            </a:endParaRPr>
          </a:p>
          <a:p>
            <a:pPr marL="697865" lvl="1" indent="-227965">
              <a:lnSpc>
                <a:spcPct val="100000"/>
              </a:lnSpc>
              <a:spcBef>
                <a:spcPts val="234"/>
              </a:spcBef>
              <a:buClr>
                <a:srgbClr val="F5821F"/>
              </a:buClr>
              <a:buFont typeface="Arial"/>
              <a:buChar char="•"/>
              <a:tabLst>
                <a:tab pos="697865" algn="l"/>
              </a:tabLst>
            </a:pPr>
            <a:r>
              <a:rPr sz="2400" dirty="0">
                <a:latin typeface="Calibri"/>
                <a:cs typeface="Calibri"/>
              </a:rPr>
              <a:t>Identify</a:t>
            </a:r>
            <a:r>
              <a:rPr sz="2400" spc="-55" dirty="0">
                <a:latin typeface="Calibri"/>
                <a:cs typeface="Calibri"/>
              </a:rPr>
              <a:t> </a:t>
            </a:r>
            <a:r>
              <a:rPr sz="2400" spc="-10" dirty="0">
                <a:latin typeface="Calibri"/>
                <a:cs typeface="Calibri"/>
              </a:rPr>
              <a:t>stakeholders</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Plan</a:t>
            </a:r>
            <a:r>
              <a:rPr sz="2400" spc="-35" dirty="0">
                <a:latin typeface="Calibri"/>
                <a:cs typeface="Calibri"/>
              </a:rPr>
              <a:t> </a:t>
            </a:r>
            <a:r>
              <a:rPr sz="2400" spc="-10" dirty="0">
                <a:latin typeface="Calibri"/>
                <a:cs typeface="Calibri"/>
              </a:rPr>
              <a:t>stakeholder</a:t>
            </a:r>
            <a:r>
              <a:rPr sz="2400" spc="-40" dirty="0">
                <a:latin typeface="Calibri"/>
                <a:cs typeface="Calibri"/>
              </a:rPr>
              <a:t> </a:t>
            </a:r>
            <a:r>
              <a:rPr sz="2400" spc="-10" dirty="0">
                <a:latin typeface="Calibri"/>
                <a:cs typeface="Calibri"/>
              </a:rPr>
              <a:t>management</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Manage</a:t>
            </a:r>
            <a:r>
              <a:rPr sz="2400" spc="-30" dirty="0">
                <a:latin typeface="Calibri"/>
                <a:cs typeface="Calibri"/>
              </a:rPr>
              <a:t> </a:t>
            </a:r>
            <a:r>
              <a:rPr sz="2400" spc="-10" dirty="0">
                <a:latin typeface="Calibri"/>
                <a:cs typeface="Calibri"/>
              </a:rPr>
              <a:t>stakeholder</a:t>
            </a:r>
            <a:r>
              <a:rPr sz="2400" spc="-40" dirty="0">
                <a:latin typeface="Calibri"/>
                <a:cs typeface="Calibri"/>
              </a:rPr>
              <a:t> </a:t>
            </a:r>
            <a:r>
              <a:rPr sz="2400" spc="-10" dirty="0">
                <a:latin typeface="Calibri"/>
                <a:cs typeface="Calibri"/>
              </a:rPr>
              <a:t>engagement</a:t>
            </a:r>
            <a:endParaRPr sz="24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3362" rIns="0" bIns="0" rtlCol="0">
            <a:spAutoFit/>
          </a:bodyPr>
          <a:lstStyle/>
          <a:p>
            <a:pPr marL="92075">
              <a:lnSpc>
                <a:spcPct val="100000"/>
              </a:lnSpc>
              <a:spcBef>
                <a:spcPts val="105"/>
              </a:spcBef>
            </a:pPr>
            <a:r>
              <a:rPr spc="-10" dirty="0"/>
              <a:t>Homework</a:t>
            </a:r>
          </a:p>
        </p:txBody>
      </p:sp>
      <p:sp>
        <p:nvSpPr>
          <p:cNvPr id="3" name="object 3"/>
          <p:cNvSpPr txBox="1">
            <a:spLocks noGrp="1"/>
          </p:cNvSpPr>
          <p:nvPr>
            <p:ph type="body" idx="1"/>
          </p:nvPr>
        </p:nvSpPr>
        <p:spPr>
          <a:prstGeom prst="rect">
            <a:avLst/>
          </a:prstGeom>
        </p:spPr>
        <p:txBody>
          <a:bodyPr vert="horz" wrap="square" lIns="0" tIns="60325" rIns="0" bIns="0" rtlCol="0">
            <a:spAutoFit/>
          </a:bodyPr>
          <a:lstStyle/>
          <a:p>
            <a:pPr marL="240029" marR="278130" indent="-227965">
              <a:lnSpc>
                <a:spcPts val="3030"/>
              </a:lnSpc>
              <a:spcBef>
                <a:spcPts val="475"/>
              </a:spcBef>
              <a:buClr>
                <a:srgbClr val="F5821F"/>
              </a:buClr>
              <a:buFont typeface="Arial"/>
              <a:buChar char="•"/>
              <a:tabLst>
                <a:tab pos="241300" algn="l"/>
              </a:tabLst>
            </a:pPr>
            <a:r>
              <a:rPr spc="-20" dirty="0"/>
              <a:t>Before</a:t>
            </a:r>
            <a:r>
              <a:rPr spc="-105" dirty="0"/>
              <a:t> </a:t>
            </a:r>
            <a:r>
              <a:rPr dirty="0"/>
              <a:t>next</a:t>
            </a:r>
            <a:r>
              <a:rPr spc="-80" dirty="0"/>
              <a:t> </a:t>
            </a:r>
            <a:r>
              <a:rPr spc="-30" dirty="0"/>
              <a:t>week’s</a:t>
            </a:r>
            <a:r>
              <a:rPr spc="-95" dirty="0"/>
              <a:t> </a:t>
            </a:r>
            <a:r>
              <a:rPr dirty="0"/>
              <a:t>class</a:t>
            </a:r>
            <a:r>
              <a:rPr spc="-80" dirty="0"/>
              <a:t> </a:t>
            </a:r>
            <a:r>
              <a:rPr dirty="0"/>
              <a:t>Chapter</a:t>
            </a:r>
            <a:r>
              <a:rPr spc="-90" dirty="0"/>
              <a:t> </a:t>
            </a:r>
            <a:r>
              <a:rPr dirty="0"/>
              <a:t>6</a:t>
            </a:r>
            <a:r>
              <a:rPr spc="-80" dirty="0"/>
              <a:t> </a:t>
            </a:r>
            <a:r>
              <a:rPr dirty="0"/>
              <a:t>from</a:t>
            </a:r>
            <a:r>
              <a:rPr spc="-65" dirty="0"/>
              <a:t> </a:t>
            </a:r>
            <a:r>
              <a:rPr i="1" spc="-10" dirty="0">
                <a:latin typeface="Calibri"/>
                <a:cs typeface="Calibri"/>
              </a:rPr>
              <a:t>Information</a:t>
            </a:r>
            <a:r>
              <a:rPr i="1" spc="-95" dirty="0">
                <a:latin typeface="Calibri"/>
                <a:cs typeface="Calibri"/>
              </a:rPr>
              <a:t> </a:t>
            </a:r>
            <a:r>
              <a:rPr i="1" spc="-10" dirty="0">
                <a:latin typeface="Calibri"/>
                <a:cs typeface="Calibri"/>
              </a:rPr>
              <a:t>Technology 	</a:t>
            </a:r>
            <a:r>
              <a:rPr i="1" dirty="0">
                <a:latin typeface="Calibri"/>
                <a:cs typeface="Calibri"/>
              </a:rPr>
              <a:t>Project</a:t>
            </a:r>
            <a:r>
              <a:rPr i="1" spc="-70" dirty="0">
                <a:latin typeface="Calibri"/>
                <a:cs typeface="Calibri"/>
              </a:rPr>
              <a:t> </a:t>
            </a:r>
            <a:r>
              <a:rPr i="1" spc="-10" dirty="0">
                <a:latin typeface="Calibri"/>
                <a:cs typeface="Calibri"/>
              </a:rPr>
              <a:t>Management</a:t>
            </a:r>
            <a:r>
              <a:rPr i="1" spc="-60" dirty="0">
                <a:latin typeface="Calibri"/>
                <a:cs typeface="Calibri"/>
              </a:rPr>
              <a:t> </a:t>
            </a:r>
            <a:r>
              <a:rPr dirty="0"/>
              <a:t>(2019)</a:t>
            </a:r>
            <a:r>
              <a:rPr spc="-50" dirty="0"/>
              <a:t> </a:t>
            </a:r>
            <a:r>
              <a:rPr dirty="0"/>
              <a:t>by</a:t>
            </a:r>
            <a:r>
              <a:rPr spc="-80" dirty="0"/>
              <a:t> </a:t>
            </a:r>
            <a:r>
              <a:rPr spc="-20" dirty="0"/>
              <a:t>Kathy</a:t>
            </a:r>
            <a:r>
              <a:rPr spc="-85" dirty="0"/>
              <a:t> </a:t>
            </a:r>
            <a:r>
              <a:rPr spc="-10" dirty="0"/>
              <a:t>Schwalbe</a:t>
            </a:r>
          </a:p>
          <a:p>
            <a:pPr marL="241300" marR="5080" indent="-229235">
              <a:lnSpc>
                <a:spcPts val="3020"/>
              </a:lnSpc>
              <a:spcBef>
                <a:spcPts val="1005"/>
              </a:spcBef>
              <a:buClr>
                <a:srgbClr val="F5821F"/>
              </a:buClr>
              <a:buFont typeface="Arial"/>
              <a:buChar char="•"/>
              <a:tabLst>
                <a:tab pos="241300" algn="l"/>
              </a:tabLst>
            </a:pPr>
            <a:r>
              <a:rPr dirty="0"/>
              <a:t>Start</a:t>
            </a:r>
            <a:r>
              <a:rPr spc="-60" dirty="0"/>
              <a:t> </a:t>
            </a:r>
            <a:r>
              <a:rPr dirty="0"/>
              <a:t>looking</a:t>
            </a:r>
            <a:r>
              <a:rPr spc="-70" dirty="0"/>
              <a:t> </a:t>
            </a:r>
            <a:r>
              <a:rPr dirty="0"/>
              <a:t>at</a:t>
            </a:r>
            <a:r>
              <a:rPr spc="-75" dirty="0"/>
              <a:t> </a:t>
            </a:r>
            <a:r>
              <a:rPr dirty="0"/>
              <a:t>your</a:t>
            </a:r>
            <a:r>
              <a:rPr spc="-55" dirty="0"/>
              <a:t> </a:t>
            </a:r>
            <a:r>
              <a:rPr spc="-10" dirty="0"/>
              <a:t>Assignment</a:t>
            </a:r>
            <a:r>
              <a:rPr spc="-40" dirty="0"/>
              <a:t> </a:t>
            </a:r>
            <a:r>
              <a:rPr dirty="0"/>
              <a:t>1</a:t>
            </a:r>
            <a:r>
              <a:rPr spc="-60" dirty="0"/>
              <a:t> </a:t>
            </a:r>
            <a:r>
              <a:rPr dirty="0"/>
              <a:t>Part</a:t>
            </a:r>
            <a:r>
              <a:rPr spc="-70" dirty="0"/>
              <a:t> </a:t>
            </a:r>
            <a:r>
              <a:rPr dirty="0"/>
              <a:t>2</a:t>
            </a:r>
            <a:r>
              <a:rPr spc="-55" dirty="0"/>
              <a:t> </a:t>
            </a:r>
            <a:r>
              <a:rPr dirty="0"/>
              <a:t>and</a:t>
            </a:r>
            <a:r>
              <a:rPr spc="-50" dirty="0"/>
              <a:t> </a:t>
            </a:r>
            <a:r>
              <a:rPr spc="-10" dirty="0"/>
              <a:t>continue</a:t>
            </a:r>
            <a:r>
              <a:rPr spc="-50" dirty="0"/>
              <a:t> </a:t>
            </a:r>
            <a:r>
              <a:rPr dirty="0"/>
              <a:t>to</a:t>
            </a:r>
            <a:r>
              <a:rPr spc="-75" dirty="0"/>
              <a:t> </a:t>
            </a:r>
            <a:r>
              <a:rPr dirty="0"/>
              <a:t>work</a:t>
            </a:r>
            <a:r>
              <a:rPr spc="-70" dirty="0"/>
              <a:t> </a:t>
            </a:r>
            <a:r>
              <a:rPr spc="-25" dirty="0"/>
              <a:t>on </a:t>
            </a:r>
            <a:r>
              <a:rPr dirty="0"/>
              <a:t>Assignment</a:t>
            </a:r>
            <a:r>
              <a:rPr spc="-75" dirty="0"/>
              <a:t> </a:t>
            </a:r>
            <a:r>
              <a:rPr dirty="0"/>
              <a:t>1</a:t>
            </a:r>
            <a:r>
              <a:rPr spc="-95" dirty="0"/>
              <a:t> </a:t>
            </a:r>
            <a:r>
              <a:rPr dirty="0"/>
              <a:t>Part</a:t>
            </a:r>
            <a:r>
              <a:rPr spc="-95" dirty="0"/>
              <a:t> </a:t>
            </a:r>
            <a:r>
              <a:rPr spc="-50" dirty="0"/>
              <a:t>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5884</TotalTime>
  <Words>2786</Words>
  <Application>Microsoft Office PowerPoint</Application>
  <PresentationFormat>Widescreen</PresentationFormat>
  <Paragraphs>307</Paragraphs>
  <Slides>28</Slides>
  <Notes>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3" baseType="lpstr">
      <vt:lpstr>Arial</vt:lpstr>
      <vt:lpstr>Calibri</vt:lpstr>
      <vt:lpstr>New York</vt:lpstr>
      <vt:lpstr>Office Theme</vt:lpstr>
      <vt:lpstr>Worksheet</vt:lpstr>
      <vt:lpstr>COMP507 IT Project Management Stakeholder Management Daniel Vaipulu</vt:lpstr>
      <vt:lpstr>Assignment 1 – Part 1</vt:lpstr>
      <vt:lpstr>Learning Objectives</vt:lpstr>
      <vt:lpstr>Importance of Project Stakeholder Management</vt:lpstr>
      <vt:lpstr>Importance of Project Stakeholder Management</vt:lpstr>
      <vt:lpstr>Table 13-1. Sample Stakeholder Register</vt:lpstr>
      <vt:lpstr>Stakeholder analysis</vt:lpstr>
      <vt:lpstr>Figure 13-2. Power-Interest Grid</vt:lpstr>
      <vt:lpstr>Stakeholder Engagement Levels</vt:lpstr>
      <vt:lpstr>Activity One Stakeholder analysis</vt:lpstr>
      <vt:lpstr>Planning Stakeholder Management</vt:lpstr>
      <vt:lpstr>Table 13-2. Stakeholder Management Plan</vt:lpstr>
      <vt:lpstr>Managing Stakeholder Engagement</vt:lpstr>
      <vt:lpstr>Expectations Management Matrix (useful)</vt:lpstr>
      <vt:lpstr>Managing issues</vt:lpstr>
      <vt:lpstr>Risks vs Issues</vt:lpstr>
      <vt:lpstr>Table 13-4. Sample Issue Log</vt:lpstr>
      <vt:lpstr>Procedure for issue management for assignment 1</vt:lpstr>
      <vt:lpstr>Issue Log- wiki Project</vt:lpstr>
      <vt:lpstr>Monitoring and Controlling Stakeholder Engagement</vt:lpstr>
      <vt:lpstr>Activity Three: Issue management</vt:lpstr>
      <vt:lpstr>Risks</vt:lpstr>
      <vt:lpstr>Risk Register Wiki Project </vt:lpstr>
      <vt:lpstr>PowerPoint Presentation</vt:lpstr>
      <vt:lpstr>Activity Four: Risk management</vt:lpstr>
      <vt:lpstr>Activity Five: Financial Analysis</vt:lpstr>
      <vt:lpstr>Summary</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stephen.thorpe@aut.ac.nz</dc:creator>
  <cp:lastModifiedBy>Daniel Vaipulu</cp:lastModifiedBy>
  <cp:revision>16</cp:revision>
  <dcterms:created xsi:type="dcterms:W3CDTF">2023-08-02T21:54:33Z</dcterms:created>
  <dcterms:modified xsi:type="dcterms:W3CDTF">2026-04-27T09:27:52Z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2022-08-09T00:00:00Z</vt:filetime>
  </property>
  <property fmtid="{D5CDD505-2E9C-101B-9397-08002B2CF9AE}" pid="3" name="Creator">
    <vt:lpwstr>Microsoft® PowerPoint® for Microsoft 365</vt:lpwstr>
  </property>
  <property fmtid="{D5CDD505-2E9C-101B-9397-08002B2CF9AE}" pid="4" name="LastSaved">
    <vt:filetime>2023-08-02T00:00:00Z</vt:filetime>
  </property>
  <property fmtid="{D5CDD505-2E9C-101B-9397-08002B2CF9AE}" pid="5" name="Producer">
    <vt:lpwstr>Microsoft® PowerPoint® for Microsoft 365</vt:lpwstr>
  </property>
</Properties>
</file>